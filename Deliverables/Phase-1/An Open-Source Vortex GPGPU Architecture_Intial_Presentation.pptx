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Lst>
  <p:sldSz cy="6858000" cx="12192000"/>
  <p:notesSz cx="7099300" cy="10234600"/>
  <p:embeddedFontLst>
    <p:embeddedFont>
      <p:font typeface="Roboto"/>
      <p:regular r:id="rId170"/>
      <p:bold r:id="rId171"/>
      <p:italic r:id="rId172"/>
      <p:boldItalic r:id="rId173"/>
    </p:embeddedFont>
    <p:embeddedFont>
      <p:font typeface="Garamond"/>
      <p:regular r:id="rId174"/>
      <p:bold r:id="rId175"/>
      <p:italic r:id="rId176"/>
      <p:boldItalic r:id="rId177"/>
    </p:embeddedFont>
    <p:embeddedFont>
      <p:font typeface="Meddon"/>
      <p:regular r:id="rId178"/>
    </p:embeddedFont>
    <p:embeddedFont>
      <p:font typeface="Arial Narrow"/>
      <p:regular r:id="rId179"/>
      <p:bold r:id="rId180"/>
      <p:italic r:id="rId181"/>
      <p:boldItalic r:id="rId182"/>
    </p:embeddedFont>
    <p:embeddedFont>
      <p:font typeface="Poppins"/>
      <p:regular r:id="rId183"/>
      <p:bold r:id="rId184"/>
      <p:italic r:id="rId185"/>
      <p:boldItalic r:id="rId186"/>
    </p:embeddedFont>
    <p:embeddedFont>
      <p:font typeface="Quattrocento Sans"/>
      <p:regular r:id="rId187"/>
      <p:bold r:id="rId188"/>
      <p:italic r:id="rId189"/>
      <p:boldItalic r:id="rId1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040">
          <p15:clr>
            <a:srgbClr val="A4A3A4"/>
          </p15:clr>
        </p15:guide>
        <p15:guide id="2" pos="4029">
          <p15:clr>
            <a:srgbClr val="A4A3A4"/>
          </p15:clr>
        </p15:guide>
      </p15:sldGuideLst>
    </p:ext>
    <p:ext uri="{2D200454-40CA-4A62-9FC3-DE9A4176ACB9}">
      <p15:notesGuideLst>
        <p15:guide id="1" orient="horz" pos="3224">
          <p15:clr>
            <a:srgbClr val="A4A3A4"/>
          </p15:clr>
        </p15:guide>
        <p15:guide id="2" pos="2237">
          <p15:clr>
            <a:srgbClr val="A4A3A4"/>
          </p15:clr>
        </p15:guide>
      </p15:notesGuideLst>
    </p:ext>
    <p:ext uri="GoogleSlidesCustomDataVersion2">
      <go:slidesCustomData xmlns:go="http://customooxmlschemas.google.com/" r:id="rId191" roundtripDataSignature="AMtx7mjARpdcoEGX+ABXNoKvz9RASp527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165ED7C-3BE8-4FF2-9917-FA1191AF0817}">
  <a:tblStyle styleId="{B165ED7C-3BE8-4FF2-9917-FA1191AF0817}" styleName="Table_0">
    <a:wholeTbl>
      <a:tcTxStyle b="off" i="off">
        <a:font>
          <a:latin typeface="Garamond"/>
          <a:ea typeface="Garamond"/>
          <a:cs typeface="Garamond"/>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C4B52ED-67D0-4601-98DB-54BAD103998F}" styleName="Table_1">
    <a:wholeTbl>
      <a:tcTxStyle b="off" i="off">
        <a:font>
          <a:latin typeface="Garamond"/>
          <a:ea typeface="Garamond"/>
          <a:cs typeface="Garamond"/>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DFBF4"/>
          </a:solidFill>
        </a:fill>
      </a:tcStyle>
    </a:wholeTbl>
    <a:band1H>
      <a:tcTxStyle/>
      <a:tcStyle>
        <a:fill>
          <a:solidFill>
            <a:srgbClr val="FBF7E9"/>
          </a:solidFill>
        </a:fill>
      </a:tcStyle>
    </a:band1H>
    <a:band2H>
      <a:tcTxStyle/>
    </a:band2H>
    <a:band1V>
      <a:tcTxStyle/>
      <a:tcStyle>
        <a:fill>
          <a:solidFill>
            <a:srgbClr val="FBF7E9"/>
          </a:solidFill>
        </a:fill>
      </a:tcStyle>
    </a:band1V>
    <a:band2V>
      <a:tcTxStyle/>
    </a:band2V>
    <a:lastCol>
      <a:tcTxStyle b="on" i="off">
        <a:font>
          <a:latin typeface="Garamond"/>
          <a:ea typeface="Garamond"/>
          <a:cs typeface="Garamond"/>
        </a:font>
        <a:schemeClr val="lt1"/>
      </a:tcTxStyle>
      <a:tcStyle>
        <a:fill>
          <a:solidFill>
            <a:schemeClr val="accent1"/>
          </a:solidFill>
        </a:fill>
      </a:tcStyle>
    </a:lastCol>
    <a:firstCol>
      <a:tcTxStyle b="on" i="off">
        <a:font>
          <a:latin typeface="Garamond"/>
          <a:ea typeface="Garamond"/>
          <a:cs typeface="Garamond"/>
        </a:font>
        <a:schemeClr val="lt1"/>
      </a:tcTxStyle>
      <a:tcStyle>
        <a:fill>
          <a:solidFill>
            <a:schemeClr val="accent1"/>
          </a:solidFill>
        </a:fill>
      </a:tcStyle>
    </a:firstCol>
    <a:lastRow>
      <a:tcTxStyle b="on" i="off">
        <a:font>
          <a:latin typeface="Garamond"/>
          <a:ea typeface="Garamond"/>
          <a:cs typeface="Garamond"/>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Garamond"/>
          <a:ea typeface="Garamond"/>
          <a:cs typeface="Garamond"/>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040" orient="horz"/>
        <p:guide pos="4029"/>
      </p:guideLst>
    </p:cSldViewPr>
  </p:slideViewPr>
  <p:notesViewPr>
    <p:cSldViewPr snapToGrid="0">
      <p:cViewPr varScale="1">
        <p:scale>
          <a:sx n="100" d="100"/>
          <a:sy n="100" d="100"/>
        </p:scale>
        <p:origin x="0" y="0"/>
      </p:cViewPr>
      <p:guideLst>
        <p:guide pos="3224" orient="horz"/>
        <p:guide pos="2237"/>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font" Target="fonts/QuattrocentoSans-boldItalic.fnt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91" Type="http://customschemas.google.com/relationships/presentationmetadata" Target="metadata"/><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187" Type="http://schemas.openxmlformats.org/officeDocument/2006/relationships/font" Target="fonts/QuattrocentoSans-regular.fntdata"/><Relationship Id="rId47" Type="http://schemas.openxmlformats.org/officeDocument/2006/relationships/slide" Target="slides/slide41.xml"/><Relationship Id="rId186" Type="http://schemas.openxmlformats.org/officeDocument/2006/relationships/font" Target="fonts/Poppins-boldItalic.fntdata"/><Relationship Id="rId185" Type="http://schemas.openxmlformats.org/officeDocument/2006/relationships/font" Target="fonts/Poppins-italic.fntdata"/><Relationship Id="rId49" Type="http://schemas.openxmlformats.org/officeDocument/2006/relationships/slide" Target="slides/slide43.xml"/><Relationship Id="rId184" Type="http://schemas.openxmlformats.org/officeDocument/2006/relationships/font" Target="fonts/Poppins-bold.fntdata"/><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89" Type="http://schemas.openxmlformats.org/officeDocument/2006/relationships/font" Target="fonts/QuattrocentoSans-italic.fntdata"/><Relationship Id="rId100" Type="http://schemas.openxmlformats.org/officeDocument/2006/relationships/slide" Target="slides/slide94.xml"/><Relationship Id="rId188" Type="http://schemas.openxmlformats.org/officeDocument/2006/relationships/font" Target="fonts/QuattrocentoSans-bold.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font" Target="fonts/Poppins-regular.fntdata"/><Relationship Id="rId32" Type="http://schemas.openxmlformats.org/officeDocument/2006/relationships/slide" Target="slides/slide26.xml"/><Relationship Id="rId182" Type="http://schemas.openxmlformats.org/officeDocument/2006/relationships/font" Target="fonts/ArialNarrow-boldItalic.fntdata"/><Relationship Id="rId35" Type="http://schemas.openxmlformats.org/officeDocument/2006/relationships/slide" Target="slides/slide29.xml"/><Relationship Id="rId181" Type="http://schemas.openxmlformats.org/officeDocument/2006/relationships/font" Target="fonts/ArialNarrow-italic.fntdata"/><Relationship Id="rId34" Type="http://schemas.openxmlformats.org/officeDocument/2006/relationships/slide" Target="slides/slide28.xml"/><Relationship Id="rId180" Type="http://schemas.openxmlformats.org/officeDocument/2006/relationships/font" Target="fonts/ArialNarrow-bold.fntdata"/><Relationship Id="rId37" Type="http://schemas.openxmlformats.org/officeDocument/2006/relationships/slide" Target="slides/slide31.xml"/><Relationship Id="rId176" Type="http://schemas.openxmlformats.org/officeDocument/2006/relationships/font" Target="fonts/Garamond-italic.fntdata"/><Relationship Id="rId36" Type="http://schemas.openxmlformats.org/officeDocument/2006/relationships/slide" Target="slides/slide30.xml"/><Relationship Id="rId175" Type="http://schemas.openxmlformats.org/officeDocument/2006/relationships/font" Target="fonts/Garamond-bold.fntdata"/><Relationship Id="rId39" Type="http://schemas.openxmlformats.org/officeDocument/2006/relationships/slide" Target="slides/slide33.xml"/><Relationship Id="rId174" Type="http://schemas.openxmlformats.org/officeDocument/2006/relationships/font" Target="fonts/Garamond-regular.fntdata"/><Relationship Id="rId38" Type="http://schemas.openxmlformats.org/officeDocument/2006/relationships/slide" Target="slides/slide32.xml"/><Relationship Id="rId173" Type="http://schemas.openxmlformats.org/officeDocument/2006/relationships/font" Target="fonts/Roboto-boldItalic.fntdata"/><Relationship Id="rId179" Type="http://schemas.openxmlformats.org/officeDocument/2006/relationships/font" Target="fonts/ArialNarrow-regular.fntdata"/><Relationship Id="rId178" Type="http://schemas.openxmlformats.org/officeDocument/2006/relationships/font" Target="fonts/Meddon-regular.fntdata"/><Relationship Id="rId177" Type="http://schemas.openxmlformats.org/officeDocument/2006/relationships/font" Target="fonts/Garamond-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font" Target="fonts/Roboto-italic.fntdata"/><Relationship Id="rId65" Type="http://schemas.openxmlformats.org/officeDocument/2006/relationships/slide" Target="slides/slide59.xml"/><Relationship Id="rId171" Type="http://schemas.openxmlformats.org/officeDocument/2006/relationships/font" Target="fonts/Roboto-bold.fntdata"/><Relationship Id="rId68" Type="http://schemas.openxmlformats.org/officeDocument/2006/relationships/slide" Target="slides/slide62.xml"/><Relationship Id="rId170" Type="http://schemas.openxmlformats.org/officeDocument/2006/relationships/font" Target="fonts/Roboto-regular.fntdata"/><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4988" cy="5111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2pPr>
            <a:lvl3pPr lvl="2"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3pPr>
            <a:lvl4pPr lvl="3"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4pPr>
            <a:lvl5pPr lvl="4"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5pPr>
            <a:lvl6pPr lvl="5"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6pPr>
            <a:lvl7pPr lvl="6"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7pPr>
            <a:lvl8pPr lvl="7"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8pPr>
            <a:lvl9pPr lvl="8"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9pPr>
          </a:lstStyle>
          <a:p/>
        </p:txBody>
      </p:sp>
      <p:sp>
        <p:nvSpPr>
          <p:cNvPr id="4" name="Google Shape;4;n"/>
          <p:cNvSpPr txBox="1"/>
          <p:nvPr>
            <p:ph idx="10" type="dt"/>
          </p:nvPr>
        </p:nvSpPr>
        <p:spPr>
          <a:xfrm>
            <a:off x="4024313" y="0"/>
            <a:ext cx="3074987" cy="5111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2pPr>
            <a:lvl3pPr lvl="2"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3pPr>
            <a:lvl4pPr lvl="3"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4pPr>
            <a:lvl5pPr lvl="4"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5pPr>
            <a:lvl6pPr lvl="5"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6pPr>
            <a:lvl7pPr lvl="6"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7pPr>
            <a:lvl8pPr lvl="7"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8pPr>
            <a:lvl9pPr lvl="8"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9pPr>
          </a:lstStyle>
          <a:p/>
        </p:txBody>
      </p:sp>
      <p:sp>
        <p:nvSpPr>
          <p:cNvPr id="5" name="Google Shape;5;n"/>
          <p:cNvSpPr/>
          <p:nvPr>
            <p:ph idx="3"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Narrow"/>
                <a:ea typeface="Arial Narrow"/>
                <a:cs typeface="Arial Narrow"/>
                <a:sym typeface="Arial Narrow"/>
              </a:defRPr>
            </a:lvl1pPr>
            <a:lvl2pPr indent="-228600" lvl="1" marL="914400" marR="0" rtl="0" algn="l">
              <a:spcBef>
                <a:spcPts val="360"/>
              </a:spcBef>
              <a:spcAft>
                <a:spcPts val="0"/>
              </a:spcAft>
              <a:buSzPts val="1400"/>
              <a:buNone/>
              <a:defRPr b="0" i="0" sz="1200" u="none" cap="none" strike="noStrike">
                <a:solidFill>
                  <a:schemeClr val="dk1"/>
                </a:solidFill>
                <a:latin typeface="Arial Narrow"/>
                <a:ea typeface="Arial Narrow"/>
                <a:cs typeface="Arial Narrow"/>
                <a:sym typeface="Arial Narrow"/>
              </a:defRPr>
            </a:lvl2pPr>
            <a:lvl3pPr indent="-228600" lvl="2" marL="1371600" marR="0" rtl="0" algn="l">
              <a:spcBef>
                <a:spcPts val="360"/>
              </a:spcBef>
              <a:spcAft>
                <a:spcPts val="0"/>
              </a:spcAft>
              <a:buSzPts val="1400"/>
              <a:buNone/>
              <a:defRPr b="0" i="0" sz="1200" u="none" cap="none" strike="noStrike">
                <a:solidFill>
                  <a:schemeClr val="dk1"/>
                </a:solidFill>
                <a:latin typeface="Arial Narrow"/>
                <a:ea typeface="Arial Narrow"/>
                <a:cs typeface="Arial Narrow"/>
                <a:sym typeface="Arial Narrow"/>
              </a:defRPr>
            </a:lvl3pPr>
            <a:lvl4pPr indent="-228600" lvl="3" marL="1828800" marR="0" rtl="0" algn="l">
              <a:spcBef>
                <a:spcPts val="360"/>
              </a:spcBef>
              <a:spcAft>
                <a:spcPts val="0"/>
              </a:spcAft>
              <a:buSzPts val="1400"/>
              <a:buNone/>
              <a:defRPr b="0" i="0" sz="1200" u="none" cap="none" strike="noStrike">
                <a:solidFill>
                  <a:schemeClr val="dk1"/>
                </a:solidFill>
                <a:latin typeface="Arial Narrow"/>
                <a:ea typeface="Arial Narrow"/>
                <a:cs typeface="Arial Narrow"/>
                <a:sym typeface="Arial Narrow"/>
              </a:defRPr>
            </a:lvl4pPr>
            <a:lvl5pPr indent="-228600" lvl="4" marL="2286000" marR="0" rtl="0" algn="l">
              <a:spcBef>
                <a:spcPts val="360"/>
              </a:spcBef>
              <a:spcAft>
                <a:spcPts val="0"/>
              </a:spcAft>
              <a:buSzPts val="1400"/>
              <a:buNone/>
              <a:defRPr b="0" i="0" sz="1200" u="none" cap="none" strike="noStrike">
                <a:solidFill>
                  <a:schemeClr val="dk1"/>
                </a:solidFill>
                <a:latin typeface="Arial Narrow"/>
                <a:ea typeface="Arial Narrow"/>
                <a:cs typeface="Arial Narrow"/>
                <a:sym typeface="Arial Narrow"/>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721850"/>
            <a:ext cx="3074988" cy="51276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2pPr>
            <a:lvl3pPr lvl="2"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3pPr>
            <a:lvl4pPr lvl="3"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4pPr>
            <a:lvl5pPr lvl="4"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5pPr>
            <a:lvl6pPr lvl="5"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6pPr>
            <a:lvl7pPr lvl="6"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7pPr>
            <a:lvl8pPr lvl="7"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8pPr>
            <a:lvl9pPr lvl="8"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9pPr>
          </a:lstStyle>
          <a:p/>
        </p:txBody>
      </p:sp>
      <p:sp>
        <p:nvSpPr>
          <p:cNvPr id="8" name="Google Shape;8;n"/>
          <p:cNvSpPr txBox="1"/>
          <p:nvPr>
            <p:ph idx="12" type="sldNum"/>
          </p:nvPr>
        </p:nvSpPr>
        <p:spPr>
          <a:xfrm>
            <a:off x="4024313" y="9721850"/>
            <a:ext cx="3074987" cy="51276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1: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2" name="Google Shape;72;p1: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2: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1" name="Google Shape;81;p2: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8" name="Google Shape;88;p3: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4" name="Google Shape;94;p4: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0" name="Google Shape;100;p5: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7" name="Google Shape;107;p6: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3" name="Google Shape;113;p7: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9" name="Google Shape;119;p8: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6" name="Google Shape;126;p9: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1" name="Google Shape;131;p10: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1: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8" name="Google Shape;138;p11: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2: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4" name="Google Shape;144;p12: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3: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0" name="Google Shape;150;p13: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6" name="Google Shape;156;p14: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5: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3" name="Google Shape;163;p15: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6: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0" name="Google Shape;170;p16: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7: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5" name="Google Shape;175;p17: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8: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2" name="Google Shape;182;p18: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9: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8" name="Google Shape;188;p19: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0: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5" name="Google Shape;195;p20: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1: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2" name="Google Shape;202;p21: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2: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8" name="Google Shape;208;p22: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3: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4" name="Google Shape;214;p23: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4: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9" name="Google Shape;219;p24: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5: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6" name="Google Shape;226;p25: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6: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2" name="Google Shape;232;p26: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7: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9" name="Google Shape;239;p27: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8: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6" name="Google Shape;246;p28: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9: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2" name="Google Shape;252;p29: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30: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0" name="Google Shape;260;p30: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1: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5" name="Google Shape;265;p31: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2: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2" name="Google Shape;272;p32: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3: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8" name="Google Shape;278;p33: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4: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5" name="Google Shape;285;p34: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5: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3" name="Google Shape;293;p35: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6: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1" name="Google Shape;301;p36: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7: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8" name="Google Shape;308;p37: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8: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4" name="Google Shape;314;p38: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9: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1" name="Google Shape;321;p39: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0: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6" name="Google Shape;326;p40: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41: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3" name="Google Shape;333;p41: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2: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1" name="Google Shape;341;p42: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43: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7" name="Google Shape;347;p43: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44: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3" name="Google Shape;353;p44: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45: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0" name="Google Shape;360;p45: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6: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6" name="Google Shape;366;p46: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47: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3" name="Google Shape;373;p47: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48: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9" name="Google Shape;379;p48: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9: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4" name="Google Shape;384;p49: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50: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01" name="Google Shape;401;p50: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51: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5" name="Google Shape;415;p51: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52: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23" name="Google Shape;423;p52: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53: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37" name="Google Shape;437;p53: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152400" lvl="0" marL="0" rtl="0" algn="l">
              <a:spcBef>
                <a:spcPts val="0"/>
              </a:spcBef>
              <a:spcAft>
                <a:spcPts val="0"/>
              </a:spcAft>
              <a:buClr>
                <a:srgbClr val="29385E"/>
              </a:buClr>
              <a:buSzPts val="2400"/>
              <a:buFont typeface="Noto Sans Symbols"/>
              <a:buChar char="⮚"/>
            </a:pPr>
            <a:r>
              <a:rPr lang="en-US" sz="2400">
                <a:solidFill>
                  <a:srgbClr val="29385E"/>
                </a:solidFill>
                <a:latin typeface="Calibri"/>
                <a:ea typeface="Calibri"/>
                <a:cs typeface="Calibri"/>
                <a:sym typeface="Calibri"/>
              </a:rPr>
              <a:t>The Dependency Checking Problem :</a:t>
            </a:r>
            <a:endParaRPr/>
          </a:p>
          <a:p>
            <a:pPr indent="0" lvl="0" marL="0" rtl="0" algn="l">
              <a:spcBef>
                <a:spcPts val="0"/>
              </a:spcBef>
              <a:spcAft>
                <a:spcPts val="0"/>
              </a:spcAft>
              <a:buNone/>
            </a:pPr>
            <a:r>
              <a:t/>
            </a:r>
            <a:endParaRPr b="0" sz="2400">
              <a:solidFill>
                <a:srgbClr val="000000"/>
              </a:solidFill>
              <a:latin typeface="Calibri"/>
              <a:ea typeface="Calibri"/>
              <a:cs typeface="Calibri"/>
              <a:sym typeface="Calibri"/>
            </a:endParaRPr>
          </a:p>
          <a:p>
            <a:pPr indent="0" lvl="0" marL="0" rtl="0" algn="l">
              <a:spcBef>
                <a:spcPts val="0"/>
              </a:spcBef>
              <a:spcAft>
                <a:spcPts val="0"/>
              </a:spcAft>
              <a:buNone/>
            </a:pPr>
            <a:r>
              <a:rPr b="0" lang="en-US" sz="2400">
                <a:solidFill>
                  <a:srgbClr val="29385E"/>
                </a:solidFill>
                <a:latin typeface="Calibri"/>
                <a:ea typeface="Calibri"/>
                <a:cs typeface="Calibri"/>
                <a:sym typeface="Calibri"/>
              </a:rPr>
              <a:t>L1: </a:t>
            </a:r>
            <a:r>
              <a:rPr b="0" lang="en-US" sz="2400">
                <a:solidFill>
                  <a:schemeClr val="accent4"/>
                </a:solidFill>
                <a:latin typeface="Calibri"/>
                <a:ea typeface="Calibri"/>
                <a:cs typeface="Calibri"/>
                <a:sym typeface="Calibri"/>
              </a:rPr>
              <a:t>MUL</a:t>
            </a:r>
            <a:r>
              <a:rPr b="0" lang="en-US" sz="2400">
                <a:solidFill>
                  <a:srgbClr val="000000"/>
                </a:solidFill>
                <a:latin typeface="Calibri"/>
                <a:ea typeface="Calibri"/>
                <a:cs typeface="Calibri"/>
                <a:sym typeface="Calibri"/>
              </a:rPr>
              <a:t> R5, R1</a:t>
            </a:r>
            <a:r>
              <a:rPr b="0" lang="en-US" sz="2400">
                <a:solidFill>
                  <a:schemeClr val="accent4"/>
                </a:solidFill>
                <a:latin typeface="Calibri"/>
                <a:ea typeface="Calibri"/>
                <a:cs typeface="Calibri"/>
                <a:sym typeface="Calibri"/>
              </a:rPr>
              <a:t>, </a:t>
            </a:r>
            <a:r>
              <a:rPr b="0" lang="en-US" sz="2400">
                <a:solidFill>
                  <a:srgbClr val="000000"/>
                </a:solidFill>
                <a:latin typeface="Calibri"/>
                <a:ea typeface="Calibri"/>
                <a:cs typeface="Calibri"/>
                <a:sym typeface="Calibri"/>
              </a:rPr>
              <a:t>R2 ← Writes R5</a:t>
            </a:r>
            <a:endParaRPr/>
          </a:p>
          <a:p>
            <a:pPr indent="0" lvl="0" marL="0" rtl="0" algn="l">
              <a:spcBef>
                <a:spcPts val="0"/>
              </a:spcBef>
              <a:spcAft>
                <a:spcPts val="0"/>
              </a:spcAft>
              <a:buNone/>
            </a:pPr>
            <a:r>
              <a:t/>
            </a:r>
            <a:endParaRPr b="0" sz="2400">
              <a:solidFill>
                <a:srgbClr val="000000"/>
              </a:solidFill>
              <a:latin typeface="Calibri"/>
              <a:ea typeface="Calibri"/>
              <a:cs typeface="Calibri"/>
              <a:sym typeface="Calibri"/>
            </a:endParaRPr>
          </a:p>
          <a:p>
            <a:pPr indent="0" lvl="0" marL="0" rtl="0" algn="l">
              <a:spcBef>
                <a:spcPts val="0"/>
              </a:spcBef>
              <a:spcAft>
                <a:spcPts val="0"/>
              </a:spcAft>
              <a:buNone/>
            </a:pPr>
            <a:r>
              <a:rPr b="0" lang="en-US" sz="2400">
                <a:solidFill>
                  <a:srgbClr val="29385E"/>
                </a:solidFill>
                <a:latin typeface="Calibri"/>
                <a:ea typeface="Calibri"/>
                <a:cs typeface="Calibri"/>
                <a:sym typeface="Calibri"/>
              </a:rPr>
              <a:t>L2: </a:t>
            </a:r>
            <a:r>
              <a:rPr b="0" lang="en-US" sz="2400">
                <a:solidFill>
                  <a:srgbClr val="000000"/>
                </a:solidFill>
                <a:latin typeface="Calibri"/>
                <a:ea typeface="Calibri"/>
                <a:cs typeface="Calibri"/>
                <a:sym typeface="Calibri"/>
              </a:rPr>
              <a:t>ADD R7, </a:t>
            </a:r>
            <a:r>
              <a:rPr b="0" lang="en-US" sz="2400">
                <a:solidFill>
                  <a:schemeClr val="accent4"/>
                </a:solidFill>
                <a:latin typeface="Calibri"/>
                <a:ea typeface="Calibri"/>
                <a:cs typeface="Calibri"/>
                <a:sym typeface="Calibri"/>
              </a:rPr>
              <a:t>R5</a:t>
            </a:r>
            <a:r>
              <a:rPr b="0" lang="en-US" sz="2400">
                <a:solidFill>
                  <a:srgbClr val="000000"/>
                </a:solidFill>
                <a:latin typeface="Calibri"/>
                <a:ea typeface="Calibri"/>
                <a:cs typeface="Calibri"/>
                <a:sym typeface="Calibri"/>
              </a:rPr>
              <a:t>, R3 ← Reads R5 </a:t>
            </a:r>
            <a:r>
              <a:rPr b="0" lang="en-US" sz="2400">
                <a:solidFill>
                  <a:schemeClr val="accent4"/>
                </a:solidFill>
                <a:latin typeface="Calibri"/>
                <a:ea typeface="Calibri"/>
                <a:cs typeface="Calibri"/>
                <a:sym typeface="Calibri"/>
              </a:rPr>
              <a:t>(depends on L1!)</a:t>
            </a:r>
            <a:endParaRPr/>
          </a:p>
          <a:p>
            <a:pPr indent="0" lvl="0" marL="0" rtl="0" algn="l">
              <a:spcBef>
                <a:spcPts val="0"/>
              </a:spcBef>
              <a:spcAft>
                <a:spcPts val="0"/>
              </a:spcAft>
              <a:buNone/>
            </a:pPr>
            <a:r>
              <a:t/>
            </a:r>
            <a:endParaRPr b="0" sz="2400">
              <a:solidFill>
                <a:schemeClr val="accent4"/>
              </a:solidFill>
              <a:latin typeface="Calibri"/>
              <a:ea typeface="Calibri"/>
              <a:cs typeface="Calibri"/>
              <a:sym typeface="Calibri"/>
            </a:endParaRPr>
          </a:p>
          <a:p>
            <a:pPr indent="-152400" lvl="0" marL="0" rtl="0" algn="l">
              <a:spcBef>
                <a:spcPts val="0"/>
              </a:spcBef>
              <a:spcAft>
                <a:spcPts val="0"/>
              </a:spcAft>
              <a:buClr>
                <a:srgbClr val="29385E"/>
              </a:buClr>
              <a:buSzPts val="2400"/>
              <a:buFont typeface="Noto Sans Symbols"/>
              <a:buChar char="⮚"/>
            </a:pPr>
            <a:r>
              <a:rPr lang="en-US" sz="2400">
                <a:solidFill>
                  <a:srgbClr val="29385E"/>
                </a:solidFill>
                <a:latin typeface="Calibri"/>
                <a:ea typeface="Calibri"/>
                <a:cs typeface="Calibri"/>
                <a:sym typeface="Calibri"/>
              </a:rPr>
              <a:t>Problem: </a:t>
            </a:r>
            <a:endParaRPr/>
          </a:p>
          <a:p>
            <a:pPr indent="0" lvl="1" marL="400050" rtl="0" algn="l">
              <a:spcBef>
                <a:spcPts val="0"/>
              </a:spcBef>
              <a:spcAft>
                <a:spcPts val="0"/>
              </a:spcAft>
              <a:buClr>
                <a:schemeClr val="accent4"/>
              </a:buClr>
              <a:buSzPts val="2400"/>
              <a:buFont typeface="Calibri"/>
              <a:buNone/>
            </a:pPr>
            <a:r>
              <a:rPr b="0" lang="en-US" sz="2400">
                <a:solidFill>
                  <a:schemeClr val="accent4"/>
                </a:solidFill>
                <a:latin typeface="Calibri"/>
                <a:ea typeface="Calibri"/>
                <a:cs typeface="Calibri"/>
                <a:sym typeface="Calibri"/>
              </a:rPr>
              <a:t>If L2 reads</a:t>
            </a:r>
            <a:r>
              <a:rPr b="0" lang="en-US" sz="2400">
                <a:solidFill>
                  <a:srgbClr val="000000"/>
                </a:solidFill>
                <a:latin typeface="Calibri"/>
                <a:ea typeface="Calibri"/>
                <a:cs typeface="Calibri"/>
                <a:sym typeface="Calibri"/>
              </a:rPr>
              <a:t> R5 before L1 finishes writing</a:t>
            </a:r>
            <a:r>
              <a:rPr b="0" lang="en-US" sz="2400">
                <a:solidFill>
                  <a:schemeClr val="accent4"/>
                </a:solidFill>
                <a:latin typeface="Calibri"/>
                <a:ea typeface="Calibri"/>
                <a:cs typeface="Calibri"/>
                <a:sym typeface="Calibri"/>
              </a:rPr>
              <a:t> → </a:t>
            </a:r>
            <a:r>
              <a:rPr b="0" lang="en-US" sz="2400">
                <a:solidFill>
                  <a:srgbClr val="000000"/>
                </a:solidFill>
                <a:latin typeface="Calibri"/>
                <a:ea typeface="Calibri"/>
                <a:cs typeface="Calibri"/>
                <a:sym typeface="Calibri"/>
              </a:rPr>
              <a:t>Stale</a:t>
            </a:r>
            <a:r>
              <a:rPr b="0" lang="en-US" sz="2400">
                <a:solidFill>
                  <a:schemeClr val="accent4"/>
                </a:solidFill>
                <a:latin typeface="Calibri"/>
                <a:ea typeface="Calibri"/>
                <a:cs typeface="Calibri"/>
                <a:sym typeface="Calibri"/>
              </a:rPr>
              <a:t> </a:t>
            </a:r>
            <a:r>
              <a:rPr b="0" lang="en-US" sz="2400">
                <a:solidFill>
                  <a:srgbClr val="000000"/>
                </a:solidFill>
                <a:latin typeface="Calibri"/>
                <a:ea typeface="Calibri"/>
                <a:cs typeface="Calibri"/>
                <a:sym typeface="Calibri"/>
              </a:rPr>
              <a:t>data → </a:t>
            </a:r>
            <a:r>
              <a:rPr b="0" lang="en-US" sz="2400">
                <a:solidFill>
                  <a:srgbClr val="1F1F1F"/>
                </a:solidFill>
                <a:highlight>
                  <a:srgbClr val="FFFFFF"/>
                </a:highlight>
                <a:latin typeface="Calibri"/>
                <a:ea typeface="Calibri"/>
                <a:cs typeface="Calibri"/>
                <a:sym typeface="Calibri"/>
              </a:rPr>
              <a:t>Wrong </a:t>
            </a:r>
            <a:r>
              <a:rPr b="0" lang="en-US" sz="2400">
                <a:solidFill>
                  <a:srgbClr val="000000"/>
                </a:solidFill>
                <a:latin typeface="Calibri"/>
                <a:ea typeface="Calibri"/>
                <a:cs typeface="Calibri"/>
                <a:sym typeface="Calibri"/>
              </a:rPr>
              <a:t>result. </a:t>
            </a:r>
            <a:endParaRPr/>
          </a:p>
          <a:p>
            <a:pPr indent="0" lvl="1" marL="400050" rtl="0" algn="l">
              <a:spcBef>
                <a:spcPts val="0"/>
              </a:spcBef>
              <a:spcAft>
                <a:spcPts val="0"/>
              </a:spcAft>
              <a:buClr>
                <a:srgbClr val="000000"/>
              </a:buClr>
              <a:buSzPts val="2400"/>
              <a:buFont typeface="Calibri"/>
              <a:buNone/>
            </a:pPr>
            <a:r>
              <a:rPr b="0" lang="en-US" sz="2400">
                <a:solidFill>
                  <a:srgbClr val="000000"/>
                </a:solidFill>
                <a:latin typeface="Calibri"/>
                <a:ea typeface="Calibri"/>
                <a:cs typeface="Calibri"/>
                <a:sym typeface="Calibri"/>
              </a:rPr>
              <a:t>This is a common </a:t>
            </a:r>
            <a:r>
              <a:rPr b="0" lang="en-US" sz="2400">
                <a:solidFill>
                  <a:srgbClr val="29385E"/>
                </a:solidFill>
                <a:latin typeface="Calibri"/>
                <a:ea typeface="Calibri"/>
                <a:cs typeface="Calibri"/>
                <a:sym typeface="Calibri"/>
              </a:rPr>
              <a:t>RAW (Read After Write) </a:t>
            </a:r>
            <a:r>
              <a:rPr b="0" lang="en-US" sz="2400">
                <a:solidFill>
                  <a:schemeClr val="accent4"/>
                </a:solidFill>
                <a:latin typeface="Calibri"/>
                <a:ea typeface="Calibri"/>
                <a:cs typeface="Calibri"/>
                <a:sym typeface="Calibri"/>
              </a:rPr>
              <a:t>hazard.</a:t>
            </a:r>
            <a:endParaRPr/>
          </a:p>
          <a:p>
            <a:pPr indent="0" lvl="1" marL="457200" rtl="0" algn="l">
              <a:spcBef>
                <a:spcPts val="0"/>
              </a:spcBef>
              <a:spcAft>
                <a:spcPts val="0"/>
              </a:spcAft>
              <a:buNone/>
            </a:pPr>
            <a:r>
              <a:rPr b="0" lang="en-US" sz="2400">
                <a:solidFill>
                  <a:srgbClr val="29385E"/>
                </a:solidFill>
                <a:latin typeface="Calibri"/>
                <a:ea typeface="Calibri"/>
                <a:cs typeface="Calibri"/>
                <a:sym typeface="Calibri"/>
              </a:rPr>
              <a:t>Solution: </a:t>
            </a:r>
            <a:r>
              <a:rPr b="0" lang="en-US" sz="2400">
                <a:solidFill>
                  <a:srgbClr val="000000"/>
                </a:solidFill>
                <a:latin typeface="Calibri"/>
                <a:ea typeface="Calibri"/>
                <a:cs typeface="Calibri"/>
                <a:sym typeface="Calibri"/>
              </a:rPr>
              <a:t>Track which </a:t>
            </a:r>
            <a:r>
              <a:rPr b="0" lang="en-US" sz="2400">
                <a:solidFill>
                  <a:schemeClr val="accent4"/>
                </a:solidFill>
                <a:latin typeface="Calibri"/>
                <a:ea typeface="Calibri"/>
                <a:cs typeface="Calibri"/>
                <a:sym typeface="Calibri"/>
              </a:rPr>
              <a:t>registers are </a:t>
            </a:r>
            <a:r>
              <a:rPr b="0" lang="en-US" sz="2400">
                <a:solidFill>
                  <a:srgbClr val="0070C0"/>
                </a:solidFill>
                <a:latin typeface="Calibri"/>
                <a:ea typeface="Calibri"/>
                <a:cs typeface="Calibri"/>
                <a:sym typeface="Calibri"/>
              </a:rPr>
              <a:t>"busy"</a:t>
            </a:r>
            <a:r>
              <a:rPr b="0" lang="en-US" sz="2400">
                <a:solidFill>
                  <a:schemeClr val="accent4"/>
                </a:solidFill>
                <a:latin typeface="Calibri"/>
                <a:ea typeface="Calibri"/>
                <a:cs typeface="Calibri"/>
                <a:sym typeface="Calibri"/>
              </a:rPr>
              <a:t> and block dependent reads</a:t>
            </a:r>
            <a:r>
              <a:rPr b="0" lang="en-US" sz="2400">
                <a:solidFill>
                  <a:srgbClr val="000000"/>
                </a:solidFill>
                <a:latin typeface="Calibri"/>
                <a:ea typeface="Calibri"/>
                <a:cs typeface="Calibri"/>
                <a:sym typeface="Calibri"/>
              </a:rPr>
              <a:t>.</a:t>
            </a:r>
            <a:endParaRPr/>
          </a:p>
          <a:p>
            <a:pPr indent="0" lvl="0" marL="0" rtl="0" algn="l">
              <a:spcBef>
                <a:spcPts val="36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54: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48" name="Google Shape;448;p54: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55: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1" name="Google Shape;461;p55: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56: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0" name="Google Shape;470;p56: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57: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2" name="Google Shape;482;p57: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58: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2" name="Google Shape;492;p58: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59: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7" name="Google Shape;497;p59: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60: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9" name="Google Shape;509;p60: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61: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25" name="Google Shape;525;p61: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62: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45" name="Google Shape;545;p62: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63: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53" name="Google Shape;553;p63: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64: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63" name="Google Shape;563;p64: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the Warp-level Handling:</a:t>
            </a:r>
            <a:br>
              <a:rPr lang="en-US"/>
            </a:br>
            <a:r>
              <a:rPr lang="en-US"/>
              <a:t>**Issue Index Mapping:**</a:t>
            </a:r>
            <a:endParaRPr/>
          </a:p>
          <a:p>
            <a:pPr indent="0" lvl="0" marL="0" rtl="0" algn="l">
              <a:spcBef>
                <a:spcPts val="360"/>
              </a:spcBef>
              <a:spcAft>
                <a:spcPts val="0"/>
              </a:spcAft>
              <a:buNone/>
            </a:pPr>
            <a:r>
              <a:rPr lang="en-US"/>
              <a:t>For each execution block, the dispatch unit calculates which issue slot (warp) to route by combining the batch index and block index: `issue_idx = batch_idx * BLOCK_SIZE + block_idx`. [7](#9-6)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This means each block processes one warp from the selected batch, and batches are processed sequentially over multiple cycles when there aren't enough blocks to handle all warps simultaneously.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**Example:**</a:t>
            </a:r>
            <a:endParaRPr/>
          </a:p>
          <a:p>
            <a:pPr indent="0" lvl="0" marL="0" rtl="0" algn="l">
              <a:spcBef>
                <a:spcPts val="360"/>
              </a:spcBef>
              <a:spcAft>
                <a:spcPts val="0"/>
              </a:spcAft>
              <a:buNone/>
            </a:pPr>
            <a:r>
              <a:rPr lang="en-US"/>
              <a:t>For an LSU unit with `ISSUE_WIDTH=4` and `NUM_LSU_BLOCKS=1`: [8](#9-7) </a:t>
            </a:r>
            <a:endParaRPr/>
          </a:p>
          <a:p>
            <a:pPr indent="0" lvl="0" marL="0" rtl="0" algn="l">
              <a:spcBef>
                <a:spcPts val="360"/>
              </a:spcBef>
              <a:spcAft>
                <a:spcPts val="0"/>
              </a:spcAft>
              <a:buNone/>
            </a:pPr>
            <a:r>
              <a:rPr lang="en-US"/>
              <a:t>- `BATCH_COUNT = 4 / 1 = 4` batches</a:t>
            </a:r>
            <a:endParaRPr/>
          </a:p>
          <a:p>
            <a:pPr indent="0" lvl="0" marL="0" rtl="0" algn="l">
              <a:spcBef>
                <a:spcPts val="360"/>
              </a:spcBef>
              <a:spcAft>
                <a:spcPts val="0"/>
              </a:spcAft>
              <a:buNone/>
            </a:pPr>
            <a:r>
              <a:rPr lang="en-US"/>
              <a:t>- Each batch contains 1 instruction</a:t>
            </a:r>
            <a:endParaRPr/>
          </a:p>
          <a:p>
            <a:pPr indent="0" lvl="0" marL="0" rtl="0" algn="l">
              <a:spcBef>
                <a:spcPts val="360"/>
              </a:spcBef>
              <a:spcAft>
                <a:spcPts val="0"/>
              </a:spcAft>
              <a:buNone/>
            </a:pPr>
            <a:r>
              <a:rPr lang="en-US"/>
              <a:t>- The arbiter processes batches 0, 1, 2, 3 sequentially over 4 cycles (assuming no stalls)</a:t>
            </a:r>
            <a:endParaRPr/>
          </a:p>
          <a:p>
            <a:pPr indent="0" lvl="0" marL="0" rtl="0" algn="l">
              <a:spcBef>
                <a:spcPts val="360"/>
              </a:spcBef>
              <a:spcAft>
                <a:spcPts val="0"/>
              </a:spcAft>
              <a:buNone/>
            </a:pPr>
            <a:r>
              <a:rPr lang="en-US"/>
              <a:t>- Only one warp's LSU instruction executes at a time on the single LSU block</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Notes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batching mechanism is necessary because execution units often have fewer blocks than the issue width. For example, the default configuration has `NUM_ALU_BLOCKS = ISSUE_WIDTH` (full parallelism for ALU) but `NUM_LSU_BLOCKS = 1` (sequential processing for LSU). [9](#9-8)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Each execution block can handle instructions from different warps over time, but only one warp's instruction is processed per block per cycle. The dispatch unit's batch selection ensures fair progress across all warps waiting for the same execution unit type.</a:t>
            </a:r>
            <a:endParaRPr/>
          </a:p>
          <a:p>
            <a:pPr indent="0" lvl="0" marL="0" rtl="0" algn="l">
              <a:spcBef>
                <a:spcPts val="36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65: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72" name="Google Shape;572;p65: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the Warp-level Handling:</a:t>
            </a:r>
            <a:br>
              <a:rPr lang="en-US"/>
            </a:br>
            <a:r>
              <a:rPr lang="en-US"/>
              <a:t>**Issue Index Mapping:**</a:t>
            </a:r>
            <a:endParaRPr/>
          </a:p>
          <a:p>
            <a:pPr indent="0" lvl="0" marL="0" rtl="0" algn="l">
              <a:spcBef>
                <a:spcPts val="360"/>
              </a:spcBef>
              <a:spcAft>
                <a:spcPts val="0"/>
              </a:spcAft>
              <a:buNone/>
            </a:pPr>
            <a:r>
              <a:rPr lang="en-US"/>
              <a:t>For each execution block, the dispatch unit calculates which issue slot (warp) to route by combining the batch index and block index: `issue_idx = batch_idx * BLOCK_SIZE + block_idx`. [7](#9-6)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This means each block processes one warp from the selected batch, and batches are processed sequentially over multiple cycles when there aren't enough blocks to handle all warps simultaneously.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**Example:**</a:t>
            </a:r>
            <a:endParaRPr/>
          </a:p>
          <a:p>
            <a:pPr indent="0" lvl="0" marL="0" rtl="0" algn="l">
              <a:spcBef>
                <a:spcPts val="360"/>
              </a:spcBef>
              <a:spcAft>
                <a:spcPts val="0"/>
              </a:spcAft>
              <a:buNone/>
            </a:pPr>
            <a:r>
              <a:rPr lang="en-US"/>
              <a:t>For an LSU unit with `ISSUE_WIDTH=4` and `NUM_LSU_BLOCKS=1`: [8](#9-7) </a:t>
            </a:r>
            <a:endParaRPr/>
          </a:p>
          <a:p>
            <a:pPr indent="0" lvl="0" marL="0" rtl="0" algn="l">
              <a:spcBef>
                <a:spcPts val="360"/>
              </a:spcBef>
              <a:spcAft>
                <a:spcPts val="0"/>
              </a:spcAft>
              <a:buNone/>
            </a:pPr>
            <a:r>
              <a:rPr lang="en-US"/>
              <a:t>- `BATCH_COUNT = 4 / 1 = 4` batches</a:t>
            </a:r>
            <a:endParaRPr/>
          </a:p>
          <a:p>
            <a:pPr indent="0" lvl="0" marL="0" rtl="0" algn="l">
              <a:spcBef>
                <a:spcPts val="360"/>
              </a:spcBef>
              <a:spcAft>
                <a:spcPts val="0"/>
              </a:spcAft>
              <a:buNone/>
            </a:pPr>
            <a:r>
              <a:rPr lang="en-US"/>
              <a:t>- Each batch contains 1 instruction</a:t>
            </a:r>
            <a:endParaRPr/>
          </a:p>
          <a:p>
            <a:pPr indent="0" lvl="0" marL="0" rtl="0" algn="l">
              <a:spcBef>
                <a:spcPts val="360"/>
              </a:spcBef>
              <a:spcAft>
                <a:spcPts val="0"/>
              </a:spcAft>
              <a:buNone/>
            </a:pPr>
            <a:r>
              <a:rPr lang="en-US"/>
              <a:t>- The arbiter processes batches 0, 1, 2, 3 sequentially over 4 cycles (assuming no stalls)</a:t>
            </a:r>
            <a:endParaRPr/>
          </a:p>
          <a:p>
            <a:pPr indent="0" lvl="0" marL="0" rtl="0" algn="l">
              <a:spcBef>
                <a:spcPts val="360"/>
              </a:spcBef>
              <a:spcAft>
                <a:spcPts val="0"/>
              </a:spcAft>
              <a:buNone/>
            </a:pPr>
            <a:r>
              <a:rPr lang="en-US"/>
              <a:t>- Only one warp's LSU instruction executes at a time on the single LSU block</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Notes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batching mechanism is necessary because execution units often have fewer blocks than the issue width. For example, the default configuration has `NUM_ALU_BLOCKS = ISSUE_WIDTH` (full parallelism for ALU) but `NUM_LSU_BLOCKS = 1` (sequential processing for LSU). [9](#9-8)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Each execution block can handle instructions from different warps over time, but only one warp's instruction is processed per block per cycle. The dispatch unit's batch selection ensures fair progress across all warps waiting for the same execution unit type.</a:t>
            </a:r>
            <a:endParaRPr/>
          </a:p>
          <a:p>
            <a:pPr indent="0" lvl="0" marL="0" rtl="0" algn="l">
              <a:spcBef>
                <a:spcPts val="36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66: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81" name="Google Shape;581;p66: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the Warp-level Handling:</a:t>
            </a:r>
            <a:br>
              <a:rPr lang="en-US"/>
            </a:br>
            <a:r>
              <a:rPr lang="en-US"/>
              <a:t>**Issue Index Mapping:**</a:t>
            </a:r>
            <a:endParaRPr/>
          </a:p>
          <a:p>
            <a:pPr indent="0" lvl="0" marL="0" rtl="0" algn="l">
              <a:spcBef>
                <a:spcPts val="360"/>
              </a:spcBef>
              <a:spcAft>
                <a:spcPts val="0"/>
              </a:spcAft>
              <a:buNone/>
            </a:pPr>
            <a:r>
              <a:rPr lang="en-US"/>
              <a:t>For each execution block, the dispatch unit calculates which issue slot (warp) to route by combining the batch index and block index: `issue_idx = batch_idx * BLOCK_SIZE + block_idx`. [7](#9-6)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This means each block processes one warp from the selected batch, and batches are processed sequentially over multiple cycles when there aren't enough blocks to handle all warps simultaneously.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**Example:**</a:t>
            </a:r>
            <a:endParaRPr/>
          </a:p>
          <a:p>
            <a:pPr indent="0" lvl="0" marL="0" rtl="0" algn="l">
              <a:spcBef>
                <a:spcPts val="360"/>
              </a:spcBef>
              <a:spcAft>
                <a:spcPts val="0"/>
              </a:spcAft>
              <a:buNone/>
            </a:pPr>
            <a:r>
              <a:rPr lang="en-US"/>
              <a:t>For an LSU unit with `ISSUE_WIDTH=4` and `NUM_LSU_BLOCKS=1`: [8](#9-7) </a:t>
            </a:r>
            <a:endParaRPr/>
          </a:p>
          <a:p>
            <a:pPr indent="0" lvl="0" marL="0" rtl="0" algn="l">
              <a:spcBef>
                <a:spcPts val="360"/>
              </a:spcBef>
              <a:spcAft>
                <a:spcPts val="0"/>
              </a:spcAft>
              <a:buNone/>
            </a:pPr>
            <a:r>
              <a:rPr lang="en-US"/>
              <a:t>- `BATCH_COUNT = 4 / 1 = 4` batches</a:t>
            </a:r>
            <a:endParaRPr/>
          </a:p>
          <a:p>
            <a:pPr indent="0" lvl="0" marL="0" rtl="0" algn="l">
              <a:spcBef>
                <a:spcPts val="360"/>
              </a:spcBef>
              <a:spcAft>
                <a:spcPts val="0"/>
              </a:spcAft>
              <a:buNone/>
            </a:pPr>
            <a:r>
              <a:rPr lang="en-US"/>
              <a:t>- Each batch contains 1 instruction</a:t>
            </a:r>
            <a:endParaRPr/>
          </a:p>
          <a:p>
            <a:pPr indent="0" lvl="0" marL="0" rtl="0" algn="l">
              <a:spcBef>
                <a:spcPts val="360"/>
              </a:spcBef>
              <a:spcAft>
                <a:spcPts val="0"/>
              </a:spcAft>
              <a:buNone/>
            </a:pPr>
            <a:r>
              <a:rPr lang="en-US"/>
              <a:t>- The arbiter processes batches 0, 1, 2, 3 sequentially over 4 cycles (assuming no stalls)</a:t>
            </a:r>
            <a:endParaRPr/>
          </a:p>
          <a:p>
            <a:pPr indent="0" lvl="0" marL="0" rtl="0" algn="l">
              <a:spcBef>
                <a:spcPts val="360"/>
              </a:spcBef>
              <a:spcAft>
                <a:spcPts val="0"/>
              </a:spcAft>
              <a:buNone/>
            </a:pPr>
            <a:r>
              <a:rPr lang="en-US"/>
              <a:t>- Only one warp's LSU instruction executes at a time on the single LSU block</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Notes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batching mechanism is necessary because execution units often have fewer blocks than the issue width. For example, the default configuration has `NUM_ALU_BLOCKS = ISSUE_WIDTH` (full parallelism for ALU) but `NUM_LSU_BLOCKS = 1` (sequential processing for LSU). [9](#9-8)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Each execution block can handle instructions from different warps over time, but only one warp's instruction is processed per block per cycle. The dispatch unit's batch selection ensures fair progress across all warps waiting for the same execution unit type.</a:t>
            </a:r>
            <a:endParaRPr/>
          </a:p>
          <a:p>
            <a:pPr indent="0" lvl="0" marL="0" rtl="0" algn="l">
              <a:spcBef>
                <a:spcPts val="36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67: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90" name="Google Shape;590;p67: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the Warp-level Handling:</a:t>
            </a:r>
            <a:br>
              <a:rPr lang="en-US"/>
            </a:br>
            <a:r>
              <a:rPr lang="en-US"/>
              <a:t>**Issue Index Mapping:**</a:t>
            </a:r>
            <a:endParaRPr/>
          </a:p>
          <a:p>
            <a:pPr indent="0" lvl="0" marL="0" rtl="0" algn="l">
              <a:spcBef>
                <a:spcPts val="360"/>
              </a:spcBef>
              <a:spcAft>
                <a:spcPts val="0"/>
              </a:spcAft>
              <a:buNone/>
            </a:pPr>
            <a:r>
              <a:rPr lang="en-US"/>
              <a:t>For each execution block, the dispatch unit calculates which issue slot (warp) to route by combining the batch index and block index: `issue_idx = batch_idx * BLOCK_SIZE + block_idx`. [7](#9-6)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This means each block processes one warp from the selected batch, and batches are processed sequentially over multiple cycles when there aren't enough blocks to handle all warps simultaneously.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**Example:**</a:t>
            </a:r>
            <a:endParaRPr/>
          </a:p>
          <a:p>
            <a:pPr indent="0" lvl="0" marL="0" rtl="0" algn="l">
              <a:spcBef>
                <a:spcPts val="360"/>
              </a:spcBef>
              <a:spcAft>
                <a:spcPts val="0"/>
              </a:spcAft>
              <a:buNone/>
            </a:pPr>
            <a:r>
              <a:rPr lang="en-US"/>
              <a:t>For an LSU unit with `ISSUE_WIDTH=4` and `NUM_LSU_BLOCKS=1`: [8](#9-7) </a:t>
            </a:r>
            <a:endParaRPr/>
          </a:p>
          <a:p>
            <a:pPr indent="0" lvl="0" marL="0" rtl="0" algn="l">
              <a:spcBef>
                <a:spcPts val="360"/>
              </a:spcBef>
              <a:spcAft>
                <a:spcPts val="0"/>
              </a:spcAft>
              <a:buNone/>
            </a:pPr>
            <a:r>
              <a:rPr lang="en-US"/>
              <a:t>- `BATCH_COUNT = 4 / 1 = 4` batches</a:t>
            </a:r>
            <a:endParaRPr/>
          </a:p>
          <a:p>
            <a:pPr indent="0" lvl="0" marL="0" rtl="0" algn="l">
              <a:spcBef>
                <a:spcPts val="360"/>
              </a:spcBef>
              <a:spcAft>
                <a:spcPts val="0"/>
              </a:spcAft>
              <a:buNone/>
            </a:pPr>
            <a:r>
              <a:rPr lang="en-US"/>
              <a:t>- Each batch contains 1 instruction</a:t>
            </a:r>
            <a:endParaRPr/>
          </a:p>
          <a:p>
            <a:pPr indent="0" lvl="0" marL="0" rtl="0" algn="l">
              <a:spcBef>
                <a:spcPts val="360"/>
              </a:spcBef>
              <a:spcAft>
                <a:spcPts val="0"/>
              </a:spcAft>
              <a:buNone/>
            </a:pPr>
            <a:r>
              <a:rPr lang="en-US"/>
              <a:t>- The arbiter processes batches 0, 1, 2, 3 sequentially over 4 cycles (assuming no stalls)</a:t>
            </a:r>
            <a:endParaRPr/>
          </a:p>
          <a:p>
            <a:pPr indent="0" lvl="0" marL="0" rtl="0" algn="l">
              <a:spcBef>
                <a:spcPts val="360"/>
              </a:spcBef>
              <a:spcAft>
                <a:spcPts val="0"/>
              </a:spcAft>
              <a:buNone/>
            </a:pPr>
            <a:r>
              <a:rPr lang="en-US"/>
              <a:t>- Only one warp's LSU instruction executes at a time on the single LSU block</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Notes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batching mechanism is necessary because execution units often have fewer blocks than the issue width. For example, the default configuration has `NUM_ALU_BLOCKS = ISSUE_WIDTH` (full parallelism for ALU) but `NUM_LSU_BLOCKS = 1` (sequential processing for LSU). [9](#9-8)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Each execution block can handle instructions from different warps over time, but only one warp's instruction is processed per block per cycle. The dispatch unit's batch selection ensures fair progress across all warps waiting for the same execution unit type.</a:t>
            </a:r>
            <a:endParaRPr/>
          </a:p>
          <a:p>
            <a:pPr indent="0" lvl="0" marL="0" rtl="0" algn="l">
              <a:spcBef>
                <a:spcPts val="36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68: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01" name="Google Shape;601;p68: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the Warp-level Handling:</a:t>
            </a:r>
            <a:br>
              <a:rPr lang="en-US"/>
            </a:br>
            <a:r>
              <a:rPr lang="en-US"/>
              <a:t>**Issue Index Mapping:**</a:t>
            </a:r>
            <a:endParaRPr/>
          </a:p>
          <a:p>
            <a:pPr indent="0" lvl="0" marL="0" rtl="0" algn="l">
              <a:spcBef>
                <a:spcPts val="360"/>
              </a:spcBef>
              <a:spcAft>
                <a:spcPts val="0"/>
              </a:spcAft>
              <a:buNone/>
            </a:pPr>
            <a:r>
              <a:rPr lang="en-US"/>
              <a:t>For each execution block, the dispatch unit calculates which issue slot (warp) to route by combining the batch index and block index: `issue_idx = batch_idx * BLOCK_SIZE + block_idx`. [7](#9-6)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This means each block processes one warp from the selected batch, and batches are processed sequentially over multiple cycles when there aren't enough blocks to handle all warps simultaneously.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**Example:**</a:t>
            </a:r>
            <a:endParaRPr/>
          </a:p>
          <a:p>
            <a:pPr indent="0" lvl="0" marL="0" rtl="0" algn="l">
              <a:spcBef>
                <a:spcPts val="360"/>
              </a:spcBef>
              <a:spcAft>
                <a:spcPts val="0"/>
              </a:spcAft>
              <a:buNone/>
            </a:pPr>
            <a:r>
              <a:rPr lang="en-US"/>
              <a:t>For an LSU unit with `ISSUE_WIDTH=4` and `NUM_LSU_BLOCKS=1`: [8](#9-7) </a:t>
            </a:r>
            <a:endParaRPr/>
          </a:p>
          <a:p>
            <a:pPr indent="0" lvl="0" marL="0" rtl="0" algn="l">
              <a:spcBef>
                <a:spcPts val="360"/>
              </a:spcBef>
              <a:spcAft>
                <a:spcPts val="0"/>
              </a:spcAft>
              <a:buNone/>
            </a:pPr>
            <a:r>
              <a:rPr lang="en-US"/>
              <a:t>- `BATCH_COUNT = 4 / 1 = 4` batches</a:t>
            </a:r>
            <a:endParaRPr/>
          </a:p>
          <a:p>
            <a:pPr indent="0" lvl="0" marL="0" rtl="0" algn="l">
              <a:spcBef>
                <a:spcPts val="360"/>
              </a:spcBef>
              <a:spcAft>
                <a:spcPts val="0"/>
              </a:spcAft>
              <a:buNone/>
            </a:pPr>
            <a:r>
              <a:rPr lang="en-US"/>
              <a:t>- Each batch contains 1 instruction</a:t>
            </a:r>
            <a:endParaRPr/>
          </a:p>
          <a:p>
            <a:pPr indent="0" lvl="0" marL="0" rtl="0" algn="l">
              <a:spcBef>
                <a:spcPts val="360"/>
              </a:spcBef>
              <a:spcAft>
                <a:spcPts val="0"/>
              </a:spcAft>
              <a:buNone/>
            </a:pPr>
            <a:r>
              <a:rPr lang="en-US"/>
              <a:t>- The arbiter processes batches 0, 1, 2, 3 sequentially over 4 cycles (assuming no stalls)</a:t>
            </a:r>
            <a:endParaRPr/>
          </a:p>
          <a:p>
            <a:pPr indent="0" lvl="0" marL="0" rtl="0" algn="l">
              <a:spcBef>
                <a:spcPts val="360"/>
              </a:spcBef>
              <a:spcAft>
                <a:spcPts val="0"/>
              </a:spcAft>
              <a:buNone/>
            </a:pPr>
            <a:r>
              <a:rPr lang="en-US"/>
              <a:t>- Only one warp's LSU instruction executes at a time on the single LSU block</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Notes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batching mechanism is necessary because execution units often have fewer blocks than the issue width. For example, the default configuration has `NUM_ALU_BLOCKS = ISSUE_WIDTH` (full parallelism for ALU) but `NUM_LSU_BLOCKS = 1` (sequential processing for LSU). [9](#9-8)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Each execution block can handle instructions from different warps over time, but only one warp's instruction is processed per block per cycle. The dispatch unit's batch selection ensures fair progress across all warps waiting for the same execution unit type.</a:t>
            </a:r>
            <a:endParaRPr/>
          </a:p>
          <a:p>
            <a:pPr indent="0" lvl="0" marL="0" rtl="0" algn="l">
              <a:spcBef>
                <a:spcPts val="36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69: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12" name="Google Shape;612;p69: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the Warp-level Handling:</a:t>
            </a:r>
            <a:br>
              <a:rPr lang="en-US"/>
            </a:br>
            <a:r>
              <a:rPr lang="en-US"/>
              <a:t>**Issue Index Mapping:**</a:t>
            </a:r>
            <a:endParaRPr/>
          </a:p>
          <a:p>
            <a:pPr indent="0" lvl="0" marL="0" rtl="0" algn="l">
              <a:spcBef>
                <a:spcPts val="360"/>
              </a:spcBef>
              <a:spcAft>
                <a:spcPts val="0"/>
              </a:spcAft>
              <a:buNone/>
            </a:pPr>
            <a:r>
              <a:rPr lang="en-US"/>
              <a:t>For each execution block, the dispatch unit calculates which issue slot (warp) to route by combining the batch index and block index: `issue_idx = batch_idx * BLOCK_SIZE + block_idx`. [7](#9-6)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This means each block processes one warp from the selected batch, and batches are processed sequentially over multiple cycles when there aren't enough blocks to handle all warps simultaneously.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**Example:**</a:t>
            </a:r>
            <a:endParaRPr/>
          </a:p>
          <a:p>
            <a:pPr indent="0" lvl="0" marL="0" rtl="0" algn="l">
              <a:spcBef>
                <a:spcPts val="360"/>
              </a:spcBef>
              <a:spcAft>
                <a:spcPts val="0"/>
              </a:spcAft>
              <a:buNone/>
            </a:pPr>
            <a:r>
              <a:rPr lang="en-US"/>
              <a:t>For an LSU unit with `ISSUE_WIDTH=4` and `NUM_LSU_BLOCKS=1`: [8](#9-7) </a:t>
            </a:r>
            <a:endParaRPr/>
          </a:p>
          <a:p>
            <a:pPr indent="0" lvl="0" marL="0" rtl="0" algn="l">
              <a:spcBef>
                <a:spcPts val="360"/>
              </a:spcBef>
              <a:spcAft>
                <a:spcPts val="0"/>
              </a:spcAft>
              <a:buNone/>
            </a:pPr>
            <a:r>
              <a:rPr lang="en-US"/>
              <a:t>- `BATCH_COUNT = 4 / 1 = 4` batches</a:t>
            </a:r>
            <a:endParaRPr/>
          </a:p>
          <a:p>
            <a:pPr indent="0" lvl="0" marL="0" rtl="0" algn="l">
              <a:spcBef>
                <a:spcPts val="360"/>
              </a:spcBef>
              <a:spcAft>
                <a:spcPts val="0"/>
              </a:spcAft>
              <a:buNone/>
            </a:pPr>
            <a:r>
              <a:rPr lang="en-US"/>
              <a:t>- Each batch contains 1 instruction</a:t>
            </a:r>
            <a:endParaRPr/>
          </a:p>
          <a:p>
            <a:pPr indent="0" lvl="0" marL="0" rtl="0" algn="l">
              <a:spcBef>
                <a:spcPts val="360"/>
              </a:spcBef>
              <a:spcAft>
                <a:spcPts val="0"/>
              </a:spcAft>
              <a:buNone/>
            </a:pPr>
            <a:r>
              <a:rPr lang="en-US"/>
              <a:t>- The arbiter processes batches 0, 1, 2, 3 sequentially over 4 cycles (assuming no stalls)</a:t>
            </a:r>
            <a:endParaRPr/>
          </a:p>
          <a:p>
            <a:pPr indent="0" lvl="0" marL="0" rtl="0" algn="l">
              <a:spcBef>
                <a:spcPts val="360"/>
              </a:spcBef>
              <a:spcAft>
                <a:spcPts val="0"/>
              </a:spcAft>
              <a:buNone/>
            </a:pPr>
            <a:r>
              <a:rPr lang="en-US"/>
              <a:t>- Only one warp's LSU instruction executes at a time on the single LSU block</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Notes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batching mechanism is necessary because execution units often have fewer blocks than the issue width. For example, the default configuration has `NUM_ALU_BLOCKS = ISSUE_WIDTH` (full parallelism for ALU) but `NUM_LSU_BLOCKS = 1` (sequential processing for LSU). [9](#9-8)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Each execution block can handle instructions from different warps over time, but only one warp's instruction is processed per block per cycle. The dispatch unit's batch selection ensures fair progress across all warps waiting for the same execution unit type.</a:t>
            </a:r>
            <a:endParaRPr/>
          </a:p>
          <a:p>
            <a:pPr indent="0" lvl="0" marL="0" rtl="0" algn="l">
              <a:spcBef>
                <a:spcPts val="36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70: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23" name="Google Shape;623;p70: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the Warp-level Handling:</a:t>
            </a:r>
            <a:br>
              <a:rPr lang="en-US"/>
            </a:br>
            <a:r>
              <a:rPr lang="en-US"/>
              <a:t>**Issue Index Mapping:**</a:t>
            </a:r>
            <a:endParaRPr/>
          </a:p>
          <a:p>
            <a:pPr indent="0" lvl="0" marL="0" rtl="0" algn="l">
              <a:spcBef>
                <a:spcPts val="360"/>
              </a:spcBef>
              <a:spcAft>
                <a:spcPts val="0"/>
              </a:spcAft>
              <a:buNone/>
            </a:pPr>
            <a:r>
              <a:rPr lang="en-US"/>
              <a:t>For each execution block, the dispatch unit calculates which issue slot (warp) to route by combining the batch index and block index: `issue_idx = batch_idx * BLOCK_SIZE + block_idx`. [7](#9-6)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This means each block processes one warp from the selected batch, and batches are processed sequentially over multiple cycles when there aren't enough blocks to handle all warps simultaneously.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**Example:**</a:t>
            </a:r>
            <a:endParaRPr/>
          </a:p>
          <a:p>
            <a:pPr indent="0" lvl="0" marL="0" rtl="0" algn="l">
              <a:spcBef>
                <a:spcPts val="360"/>
              </a:spcBef>
              <a:spcAft>
                <a:spcPts val="0"/>
              </a:spcAft>
              <a:buNone/>
            </a:pPr>
            <a:r>
              <a:rPr lang="en-US"/>
              <a:t>For an LSU unit with `ISSUE_WIDTH=4` and `NUM_LSU_BLOCKS=1`: [8](#9-7) </a:t>
            </a:r>
            <a:endParaRPr/>
          </a:p>
          <a:p>
            <a:pPr indent="0" lvl="0" marL="0" rtl="0" algn="l">
              <a:spcBef>
                <a:spcPts val="360"/>
              </a:spcBef>
              <a:spcAft>
                <a:spcPts val="0"/>
              </a:spcAft>
              <a:buNone/>
            </a:pPr>
            <a:r>
              <a:rPr lang="en-US"/>
              <a:t>- `BATCH_COUNT = 4 / 1 = 4` batches</a:t>
            </a:r>
            <a:endParaRPr/>
          </a:p>
          <a:p>
            <a:pPr indent="0" lvl="0" marL="0" rtl="0" algn="l">
              <a:spcBef>
                <a:spcPts val="360"/>
              </a:spcBef>
              <a:spcAft>
                <a:spcPts val="0"/>
              </a:spcAft>
              <a:buNone/>
            </a:pPr>
            <a:r>
              <a:rPr lang="en-US"/>
              <a:t>- Each batch contains 1 instruction</a:t>
            </a:r>
            <a:endParaRPr/>
          </a:p>
          <a:p>
            <a:pPr indent="0" lvl="0" marL="0" rtl="0" algn="l">
              <a:spcBef>
                <a:spcPts val="360"/>
              </a:spcBef>
              <a:spcAft>
                <a:spcPts val="0"/>
              </a:spcAft>
              <a:buNone/>
            </a:pPr>
            <a:r>
              <a:rPr lang="en-US"/>
              <a:t>- The arbiter processes batches 0, 1, 2, 3 sequentially over 4 cycles (assuming no stalls)</a:t>
            </a:r>
            <a:endParaRPr/>
          </a:p>
          <a:p>
            <a:pPr indent="0" lvl="0" marL="0" rtl="0" algn="l">
              <a:spcBef>
                <a:spcPts val="360"/>
              </a:spcBef>
              <a:spcAft>
                <a:spcPts val="0"/>
              </a:spcAft>
              <a:buNone/>
            </a:pPr>
            <a:r>
              <a:rPr lang="en-US"/>
              <a:t>- Only one warp's LSU instruction executes at a time on the single LSU block</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Notes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batching mechanism is necessary because execution units often have fewer blocks than the issue width. For example, the default configuration has `NUM_ALU_BLOCKS = ISSUE_WIDTH` (full parallelism for ALU) but `NUM_LSU_BLOCKS = 1` (sequential processing for LSU). [9](#9-8)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Each execution block can handle instructions from different warps over time, but only one warp's instruction is processed per block per cycle. The dispatch unit's batch selection ensures fair progress across all warps waiting for the same execution unit type.</a:t>
            </a:r>
            <a:endParaRPr/>
          </a:p>
          <a:p>
            <a:pPr indent="0" lvl="0" marL="0" rtl="0" algn="l">
              <a:spcBef>
                <a:spcPts val="36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71: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34" name="Google Shape;634;p71: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the Warp-level Handling:</a:t>
            </a:r>
            <a:br>
              <a:rPr lang="en-US"/>
            </a:br>
            <a:r>
              <a:rPr lang="en-US"/>
              <a:t>**Issue Index Mapping:**</a:t>
            </a:r>
            <a:endParaRPr/>
          </a:p>
          <a:p>
            <a:pPr indent="0" lvl="0" marL="0" rtl="0" algn="l">
              <a:spcBef>
                <a:spcPts val="360"/>
              </a:spcBef>
              <a:spcAft>
                <a:spcPts val="0"/>
              </a:spcAft>
              <a:buNone/>
            </a:pPr>
            <a:r>
              <a:rPr lang="en-US"/>
              <a:t>For each execution block, the dispatch unit calculates which issue slot (warp) to route by combining the batch index and block index: `issue_idx = batch_idx * BLOCK_SIZE + block_idx`. [7](#9-6)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This means each block processes one warp from the selected batch, and batches are processed sequentially over multiple cycles when there aren't enough blocks to handle all warps simultaneously.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**Example:**</a:t>
            </a:r>
            <a:endParaRPr/>
          </a:p>
          <a:p>
            <a:pPr indent="0" lvl="0" marL="0" rtl="0" algn="l">
              <a:spcBef>
                <a:spcPts val="360"/>
              </a:spcBef>
              <a:spcAft>
                <a:spcPts val="0"/>
              </a:spcAft>
              <a:buNone/>
            </a:pPr>
            <a:r>
              <a:rPr lang="en-US"/>
              <a:t>For an LSU unit with `ISSUE_WIDTH=4` and `NUM_LSU_BLOCKS=1`: [8](#9-7) </a:t>
            </a:r>
            <a:endParaRPr/>
          </a:p>
          <a:p>
            <a:pPr indent="0" lvl="0" marL="0" rtl="0" algn="l">
              <a:spcBef>
                <a:spcPts val="360"/>
              </a:spcBef>
              <a:spcAft>
                <a:spcPts val="0"/>
              </a:spcAft>
              <a:buNone/>
            </a:pPr>
            <a:r>
              <a:rPr lang="en-US"/>
              <a:t>- `BATCH_COUNT = 4 / 1 = 4` batches</a:t>
            </a:r>
            <a:endParaRPr/>
          </a:p>
          <a:p>
            <a:pPr indent="0" lvl="0" marL="0" rtl="0" algn="l">
              <a:spcBef>
                <a:spcPts val="360"/>
              </a:spcBef>
              <a:spcAft>
                <a:spcPts val="0"/>
              </a:spcAft>
              <a:buNone/>
            </a:pPr>
            <a:r>
              <a:rPr lang="en-US"/>
              <a:t>- Each batch contains 1 instruction</a:t>
            </a:r>
            <a:endParaRPr/>
          </a:p>
          <a:p>
            <a:pPr indent="0" lvl="0" marL="0" rtl="0" algn="l">
              <a:spcBef>
                <a:spcPts val="360"/>
              </a:spcBef>
              <a:spcAft>
                <a:spcPts val="0"/>
              </a:spcAft>
              <a:buNone/>
            </a:pPr>
            <a:r>
              <a:rPr lang="en-US"/>
              <a:t>- The arbiter processes batches 0, 1, 2, 3 sequentially over 4 cycles (assuming no stalls)</a:t>
            </a:r>
            <a:endParaRPr/>
          </a:p>
          <a:p>
            <a:pPr indent="0" lvl="0" marL="0" rtl="0" algn="l">
              <a:spcBef>
                <a:spcPts val="360"/>
              </a:spcBef>
              <a:spcAft>
                <a:spcPts val="0"/>
              </a:spcAft>
              <a:buNone/>
            </a:pPr>
            <a:r>
              <a:rPr lang="en-US"/>
              <a:t>- Only one warp's LSU instruction executes at a time on the single LSU block</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Notes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batching mechanism is necessary because execution units often have fewer blocks than the issue width. For example, the default configuration has `NUM_ALU_BLOCKS = ISSUE_WIDTH` (full parallelism for ALU) but `NUM_LSU_BLOCKS = 1` (sequential processing for LSU). [9](#9-8)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Each execution block can handle instructions from different warps over time, but only one warp's instruction is processed per block per cycle. The dispatch unit's batch selection ensures fair progress across all warps waiting for the same execution unit type.</a:t>
            </a:r>
            <a:endParaRPr/>
          </a:p>
          <a:p>
            <a:pPr indent="0" lvl="0" marL="0" rtl="0" algn="l">
              <a:spcBef>
                <a:spcPts val="36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72: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44" name="Google Shape;644;p72: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73: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52" name="Google Shape;652;p73: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74: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57" name="Google Shape;657;p74: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75: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68" name="Google Shape;668;p75: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76: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83" name="Google Shape;683;p76: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77: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96" name="Google Shape;696;p77: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78: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03" name="Google Shape;703;p78: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79: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09" name="Google Shape;709;p79: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80: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16" name="Google Shape;716;p80: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81: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22" name="Google Shape;722;p81: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82: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29" name="Google Shape;729;p82: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83: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35" name="Google Shape;735;p83: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84: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54" name="Google Shape;754;p84: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85: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63" name="Google Shape;763;p85: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86: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72" name="Google Shape;772;p86: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87: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81" name="Google Shape;781;p87: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88: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92" name="Google Shape;792;p88: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89: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02" name="Google Shape;802;p89: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90: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12" name="Google Shape;812;p90: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91: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21" name="Google Shape;821;p91: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92: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50" name="Google Shape;850;p92: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93: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36" name="Google Shape;936;p93: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94: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95" name="Google Shape;995;p94: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95: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36" name="Google Shape;1036;p95: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p96: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13" name="Google Shape;1113;p96: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p97: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20" name="Google Shape;1120;p97: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p98: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31" name="Google Shape;1131;p98: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99: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38" name="Google Shape;1138;p99: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p100: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44" name="Google Shape;1144;p100: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p101: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50" name="Google Shape;1150;p101: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p102: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61" name="Google Shape;1161;p102: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p103: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75" name="Google Shape;1175;p103: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p104: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80" name="Google Shape;1180;p104: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p105: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85" name="Google Shape;1185;p105: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p106: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90" name="Google Shape;1190;p106: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p107: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98" name="Google Shape;1198;p107: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p108: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06" name="Google Shape;1206;p108: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p109: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15" name="Google Shape;1215;p109: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p110: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23" name="Google Shape;1223;p110: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p111: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34" name="Google Shape;1234;p111: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p112: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47" name="Google Shape;1247;p112: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p113: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62" name="Google Shape;1262;p113: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p114: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74" name="Google Shape;1274;p114: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p115: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83" name="Google Shape;1283;p115: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p116: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90" name="Google Shape;1290;p116: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p117: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46" name="Google Shape;1346;p117: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p118: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55" name="Google Shape;1355;p118: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p119: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78" name="Google Shape;1378;p119: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p120: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89" name="Google Shape;1389;p120: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p121: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94" name="Google Shape;1394;p121: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p122: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14" name="Google Shape;1414;p122: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p123: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24" name="Google Shape;1424;p123: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1" name="Shape 1431"/>
        <p:cNvGrpSpPr/>
        <p:nvPr/>
      </p:nvGrpSpPr>
      <p:grpSpPr>
        <a:xfrm>
          <a:off x="0" y="0"/>
          <a:ext cx="0" cy="0"/>
          <a:chOff x="0" y="0"/>
          <a:chExt cx="0" cy="0"/>
        </a:xfrm>
      </p:grpSpPr>
      <p:sp>
        <p:nvSpPr>
          <p:cNvPr id="1432" name="Google Shape;1432;p124: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33" name="Google Shape;1433;p124: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p125: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42" name="Google Shape;1442;p125: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 name="Shape 1445"/>
        <p:cNvGrpSpPr/>
        <p:nvPr/>
      </p:nvGrpSpPr>
      <p:grpSpPr>
        <a:xfrm>
          <a:off x="0" y="0"/>
          <a:ext cx="0" cy="0"/>
          <a:chOff x="0" y="0"/>
          <a:chExt cx="0" cy="0"/>
        </a:xfrm>
      </p:grpSpPr>
      <p:sp>
        <p:nvSpPr>
          <p:cNvPr id="1446" name="Google Shape;1446;p126: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47" name="Google Shape;1447;p126: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p127: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52" name="Google Shape;1452;p127: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p128: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57" name="Google Shape;1457;p128: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p129: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65" name="Google Shape;1465;p129: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p130: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73" name="Google Shape;1473;p130: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p131: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80" name="Google Shape;1480;p131: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4" name="Shape 1484"/>
        <p:cNvGrpSpPr/>
        <p:nvPr/>
      </p:nvGrpSpPr>
      <p:grpSpPr>
        <a:xfrm>
          <a:off x="0" y="0"/>
          <a:ext cx="0" cy="0"/>
          <a:chOff x="0" y="0"/>
          <a:chExt cx="0" cy="0"/>
        </a:xfrm>
      </p:grpSpPr>
      <p:sp>
        <p:nvSpPr>
          <p:cNvPr id="1485" name="Google Shape;1485;p132: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86" name="Google Shape;1486;p132: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5" name="Shape 1495"/>
        <p:cNvGrpSpPr/>
        <p:nvPr/>
      </p:nvGrpSpPr>
      <p:grpSpPr>
        <a:xfrm>
          <a:off x="0" y="0"/>
          <a:ext cx="0" cy="0"/>
          <a:chOff x="0" y="0"/>
          <a:chExt cx="0" cy="0"/>
        </a:xfrm>
      </p:grpSpPr>
      <p:sp>
        <p:nvSpPr>
          <p:cNvPr id="1496" name="Google Shape;1496;p133: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97" name="Google Shape;1497;p133: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p134: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07" name="Google Shape;1507;p134: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p135: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13" name="Google Shape;1513;p135: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p136: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18" name="Google Shape;1518;p136: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p137: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24" name="Google Shape;1524;p137: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1" name="Shape 1531"/>
        <p:cNvGrpSpPr/>
        <p:nvPr/>
      </p:nvGrpSpPr>
      <p:grpSpPr>
        <a:xfrm>
          <a:off x="0" y="0"/>
          <a:ext cx="0" cy="0"/>
          <a:chOff x="0" y="0"/>
          <a:chExt cx="0" cy="0"/>
        </a:xfrm>
      </p:grpSpPr>
      <p:sp>
        <p:nvSpPr>
          <p:cNvPr id="1532" name="Google Shape;1532;p138: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33" name="Google Shape;1533;p138: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6" name="Shape 1536"/>
        <p:cNvGrpSpPr/>
        <p:nvPr/>
      </p:nvGrpSpPr>
      <p:grpSpPr>
        <a:xfrm>
          <a:off x="0" y="0"/>
          <a:ext cx="0" cy="0"/>
          <a:chOff x="0" y="0"/>
          <a:chExt cx="0" cy="0"/>
        </a:xfrm>
      </p:grpSpPr>
      <p:sp>
        <p:nvSpPr>
          <p:cNvPr id="1537" name="Google Shape;1537;p139: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38" name="Google Shape;1538;p139: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5" name="Shape 1545"/>
        <p:cNvGrpSpPr/>
        <p:nvPr/>
      </p:nvGrpSpPr>
      <p:grpSpPr>
        <a:xfrm>
          <a:off x="0" y="0"/>
          <a:ext cx="0" cy="0"/>
          <a:chOff x="0" y="0"/>
          <a:chExt cx="0" cy="0"/>
        </a:xfrm>
      </p:grpSpPr>
      <p:sp>
        <p:nvSpPr>
          <p:cNvPr id="1546" name="Google Shape;1546;p140: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47" name="Google Shape;1547;p140: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4" name="Shape 1554"/>
        <p:cNvGrpSpPr/>
        <p:nvPr/>
      </p:nvGrpSpPr>
      <p:grpSpPr>
        <a:xfrm>
          <a:off x="0" y="0"/>
          <a:ext cx="0" cy="0"/>
          <a:chOff x="0" y="0"/>
          <a:chExt cx="0" cy="0"/>
        </a:xfrm>
      </p:grpSpPr>
      <p:sp>
        <p:nvSpPr>
          <p:cNvPr id="1555" name="Google Shape;1555;p141: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56" name="Google Shape;1556;p141: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3" name="Shape 1563"/>
        <p:cNvGrpSpPr/>
        <p:nvPr/>
      </p:nvGrpSpPr>
      <p:grpSpPr>
        <a:xfrm>
          <a:off x="0" y="0"/>
          <a:ext cx="0" cy="0"/>
          <a:chOff x="0" y="0"/>
          <a:chExt cx="0" cy="0"/>
        </a:xfrm>
      </p:grpSpPr>
      <p:sp>
        <p:nvSpPr>
          <p:cNvPr id="1564" name="Google Shape;1564;p142: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65" name="Google Shape;1565;p142: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2" name="Shape 1572"/>
        <p:cNvGrpSpPr/>
        <p:nvPr/>
      </p:nvGrpSpPr>
      <p:grpSpPr>
        <a:xfrm>
          <a:off x="0" y="0"/>
          <a:ext cx="0" cy="0"/>
          <a:chOff x="0" y="0"/>
          <a:chExt cx="0" cy="0"/>
        </a:xfrm>
      </p:grpSpPr>
      <p:sp>
        <p:nvSpPr>
          <p:cNvPr id="1573" name="Google Shape;1573;p143: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74" name="Google Shape;1574;p143: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p144: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79" name="Google Shape;1579;p144: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8" name="Shape 1588"/>
        <p:cNvGrpSpPr/>
        <p:nvPr/>
      </p:nvGrpSpPr>
      <p:grpSpPr>
        <a:xfrm>
          <a:off x="0" y="0"/>
          <a:ext cx="0" cy="0"/>
          <a:chOff x="0" y="0"/>
          <a:chExt cx="0" cy="0"/>
        </a:xfrm>
      </p:grpSpPr>
      <p:sp>
        <p:nvSpPr>
          <p:cNvPr id="1589" name="Google Shape;1589;p145: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90" name="Google Shape;1590;p145: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9" name="Shape 1599"/>
        <p:cNvGrpSpPr/>
        <p:nvPr/>
      </p:nvGrpSpPr>
      <p:grpSpPr>
        <a:xfrm>
          <a:off x="0" y="0"/>
          <a:ext cx="0" cy="0"/>
          <a:chOff x="0" y="0"/>
          <a:chExt cx="0" cy="0"/>
        </a:xfrm>
      </p:grpSpPr>
      <p:sp>
        <p:nvSpPr>
          <p:cNvPr id="1600" name="Google Shape;1600;p146: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01" name="Google Shape;1601;p146: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4" name="Shape 1604"/>
        <p:cNvGrpSpPr/>
        <p:nvPr/>
      </p:nvGrpSpPr>
      <p:grpSpPr>
        <a:xfrm>
          <a:off x="0" y="0"/>
          <a:ext cx="0" cy="0"/>
          <a:chOff x="0" y="0"/>
          <a:chExt cx="0" cy="0"/>
        </a:xfrm>
      </p:grpSpPr>
      <p:sp>
        <p:nvSpPr>
          <p:cNvPr id="1605" name="Google Shape;1605;p147: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06" name="Google Shape;1606;p147: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verification master plan it has 4 phases </a:t>
            </a:r>
            <a:br>
              <a:rPr lang="en-US"/>
            </a:br>
            <a:r>
              <a:rPr lang="en-US"/>
              <a:t>phase 1 🡪 preparation &amp; infrastructure</a:t>
            </a:r>
            <a:endParaRPr/>
          </a:p>
          <a:p>
            <a:pPr indent="0" lvl="0" marL="0" rtl="0" algn="l">
              <a:spcBef>
                <a:spcPts val="360"/>
              </a:spcBef>
              <a:spcAft>
                <a:spcPts val="0"/>
              </a:spcAft>
              <a:buNone/>
            </a:pPr>
            <a:r>
              <a:rPr lang="en-US"/>
              <a:t>Phase 2 🡪 post-synthesis verification</a:t>
            </a:r>
            <a:endParaRPr/>
          </a:p>
          <a:p>
            <a:pPr indent="0" lvl="0" marL="0" rtl="0" algn="l">
              <a:spcBef>
                <a:spcPts val="360"/>
              </a:spcBef>
              <a:spcAft>
                <a:spcPts val="0"/>
              </a:spcAft>
              <a:buNone/>
            </a:pPr>
            <a:r>
              <a:rPr lang="en-US"/>
              <a:t>Phase 3 🡪 physical verification</a:t>
            </a:r>
            <a:endParaRPr/>
          </a:p>
          <a:p>
            <a:pPr indent="0" lvl="0" marL="0" rtl="0" algn="l">
              <a:spcBef>
                <a:spcPts val="360"/>
              </a:spcBef>
              <a:spcAft>
                <a:spcPts val="0"/>
              </a:spcAft>
              <a:buNone/>
            </a:pPr>
            <a:r>
              <a:rPr lang="en-US"/>
              <a:t>Phase 4 🡪 optimization and signoff</a:t>
            </a:r>
            <a:endParaRPr/>
          </a:p>
          <a:p>
            <a:pPr indent="0" lvl="0" marL="0" rtl="0" algn="l">
              <a:spcBef>
                <a:spcPts val="360"/>
              </a:spcBef>
              <a:spcAft>
                <a:spcPts val="0"/>
              </a:spcAft>
              <a:buNone/>
            </a:pPr>
            <a:r>
              <a:rPr lang="en-US"/>
              <a:t>And we will talk about there details later on.</a:t>
            </a:r>
            <a:endParaRPr/>
          </a:p>
          <a:p>
            <a:pPr indent="0" lvl="0" marL="0" rtl="0" algn="l">
              <a:spcBef>
                <a:spcPts val="360"/>
              </a:spcBef>
              <a:spcAft>
                <a:spcPts val="0"/>
              </a:spcAft>
              <a:buNone/>
            </a:pPr>
            <a:r>
              <a:rPr lang="en-US"/>
              <a:t>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8" name="Shape 1618"/>
        <p:cNvGrpSpPr/>
        <p:nvPr/>
      </p:nvGrpSpPr>
      <p:grpSpPr>
        <a:xfrm>
          <a:off x="0" y="0"/>
          <a:ext cx="0" cy="0"/>
          <a:chOff x="0" y="0"/>
          <a:chExt cx="0" cy="0"/>
        </a:xfrm>
      </p:grpSpPr>
      <p:sp>
        <p:nvSpPr>
          <p:cNvPr id="1619" name="Google Shape;1619;p148: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20" name="Google Shape;1620;p148: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Lets start in what we done in the verification</a:t>
            </a:r>
            <a:endParaRPr/>
          </a:p>
          <a:p>
            <a:pPr indent="0" lvl="0" marL="0" rtl="0" algn="l">
              <a:spcBef>
                <a:spcPts val="36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p149: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25" name="Google Shape;1625;p149: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Narrow"/>
                <a:ea typeface="Arial Narrow"/>
                <a:cs typeface="Arial Narrow"/>
                <a:sym typeface="Arial Narrow"/>
              </a:rPr>
              <a:t>The 1</a:t>
            </a:r>
            <a:r>
              <a:rPr b="0" baseline="30000" i="0" lang="en-US" sz="1200">
                <a:solidFill>
                  <a:schemeClr val="dk1"/>
                </a:solidFill>
                <a:latin typeface="Arial Narrow"/>
                <a:ea typeface="Arial Narrow"/>
                <a:cs typeface="Arial Narrow"/>
                <a:sym typeface="Arial Narrow"/>
              </a:rPr>
              <a:t>st</a:t>
            </a:r>
            <a:r>
              <a:rPr b="0" i="0" lang="en-US" sz="1200">
                <a:solidFill>
                  <a:schemeClr val="dk1"/>
                </a:solidFill>
                <a:latin typeface="Arial Narrow"/>
                <a:ea typeface="Arial Narrow"/>
                <a:cs typeface="Arial Narrow"/>
                <a:sym typeface="Arial Narrow"/>
              </a:rPr>
              <a:t> thing we done Is to make sure that the base model (the FPGA model) working as whole system so we done a system level sanity check but before going to any further details we must know how the vortex understand the high level code that written in c++ or python. Which means that there is a translator it’s role is to translate the high level code into an assemply code using the instruction that supported in the vortex.</a:t>
            </a:r>
            <a:endParaRPr/>
          </a:p>
          <a:p>
            <a:pPr indent="0" lvl="0" marL="0" rtl="0" algn="l">
              <a:spcBef>
                <a:spcPts val="360"/>
              </a:spcBef>
              <a:spcAft>
                <a:spcPts val="0"/>
              </a:spcAft>
              <a:buNone/>
            </a:pPr>
            <a:r>
              <a:t/>
            </a:r>
            <a:endParaRPr b="0" i="0" sz="1200">
              <a:solidFill>
                <a:schemeClr val="dk1"/>
              </a:solidFill>
              <a:latin typeface="Arial Narrow"/>
              <a:ea typeface="Arial Narrow"/>
              <a:cs typeface="Arial Narrow"/>
              <a:sym typeface="Arial Narrow"/>
            </a:endParaRPr>
          </a:p>
          <a:p>
            <a:pPr indent="0" lvl="0" marL="0" rtl="0" algn="l">
              <a:spcBef>
                <a:spcPts val="360"/>
              </a:spcBef>
              <a:spcAft>
                <a:spcPts val="0"/>
              </a:spcAft>
              <a:buNone/>
            </a:pPr>
            <a:r>
              <a:rPr b="0" i="0" lang="en-US" sz="1200">
                <a:solidFill>
                  <a:schemeClr val="dk1"/>
                </a:solidFill>
                <a:latin typeface="Arial Narrow"/>
                <a:ea typeface="Arial Narrow"/>
                <a:cs typeface="Arial Narrow"/>
                <a:sym typeface="Arial Narrow"/>
              </a:rPr>
              <a:t>Software satck is the translator that allow us to communicate with the hardware of the vortex GPGPU with high level language like C++ or python and allow the host compiler to also understand the results that the vortex gpgpu do it and so on and do a comparison between the vortex result and the cpu results and decide where the tes passed or not.</a:t>
            </a:r>
            <a:endParaRPr/>
          </a:p>
          <a:p>
            <a:pPr indent="0" lvl="0" marL="0" rtl="0" algn="l">
              <a:spcBef>
                <a:spcPts val="360"/>
              </a:spcBef>
              <a:spcAft>
                <a:spcPts val="0"/>
              </a:spcAft>
              <a:buNone/>
            </a:pPr>
            <a:r>
              <a:rPr b="0" i="0" lang="en-US" sz="1200">
                <a:solidFill>
                  <a:schemeClr val="dk1"/>
                </a:solidFill>
                <a:latin typeface="Arial Narrow"/>
                <a:ea typeface="Arial Narrow"/>
                <a:cs typeface="Arial Narrow"/>
                <a:sym typeface="Arial Narrow"/>
              </a:rPr>
              <a:t>To understand it’s role we need to know what it take to work.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0" name="Shape 1640"/>
        <p:cNvGrpSpPr/>
        <p:nvPr/>
      </p:nvGrpSpPr>
      <p:grpSpPr>
        <a:xfrm>
          <a:off x="0" y="0"/>
          <a:ext cx="0" cy="0"/>
          <a:chOff x="0" y="0"/>
          <a:chExt cx="0" cy="0"/>
        </a:xfrm>
      </p:grpSpPr>
      <p:sp>
        <p:nvSpPr>
          <p:cNvPr id="1641" name="Google Shape;1641;p150: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42" name="Google Shape;1642;p150: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Narrow"/>
                <a:ea typeface="Arial Narrow"/>
                <a:cs typeface="Arial Narrow"/>
                <a:sym typeface="Arial Narrow"/>
              </a:rPr>
              <a:t>It need host code that is manage operation in the host code like memory allocation, data transfer, and it has program flow like the normal c code.</a:t>
            </a:r>
            <a:endParaRPr/>
          </a:p>
          <a:p>
            <a:pPr indent="0" lvl="0" marL="0" rtl="0" algn="l">
              <a:spcBef>
                <a:spcPts val="360"/>
              </a:spcBef>
              <a:spcAft>
                <a:spcPts val="0"/>
              </a:spcAft>
              <a:buNone/>
            </a:pPr>
            <a:r>
              <a:rPr b="0" i="0" lang="en-US" sz="1200">
                <a:solidFill>
                  <a:schemeClr val="dk1"/>
                </a:solidFill>
                <a:latin typeface="Arial Narrow"/>
                <a:ea typeface="Arial Narrow"/>
                <a:cs typeface="Arial Narrow"/>
                <a:sym typeface="Arial Narrow"/>
              </a:rPr>
              <a:t>Also it need kernal code that is will be executed in the vortex hardware so it need a difrente program flow.</a:t>
            </a:r>
            <a:endParaRPr/>
          </a:p>
          <a:p>
            <a:pPr indent="0" lvl="0" marL="0" rtl="0" algn="l">
              <a:spcBef>
                <a:spcPts val="360"/>
              </a:spcBef>
              <a:spcAft>
                <a:spcPts val="0"/>
              </a:spcAft>
              <a:buNone/>
            </a:pPr>
            <a:br>
              <a:rPr b="0" i="0" lang="en-US" sz="1200">
                <a:solidFill>
                  <a:schemeClr val="dk1"/>
                </a:solidFill>
                <a:latin typeface="Arial Narrow"/>
                <a:ea typeface="Arial Narrow"/>
                <a:cs typeface="Arial Narrow"/>
                <a:sym typeface="Arial Narrow"/>
              </a:rPr>
            </a:br>
            <a:r>
              <a:rPr b="0" i="0" lang="en-US" sz="1200">
                <a:solidFill>
                  <a:schemeClr val="dk1"/>
                </a:solidFill>
                <a:latin typeface="Arial Narrow"/>
                <a:ea typeface="Arial Narrow"/>
                <a:cs typeface="Arial Narrow"/>
                <a:sym typeface="Arial Narrow"/>
              </a:rPr>
              <a:t>--------------------------------------------------------------------------------------------------------------------</a:t>
            </a:r>
            <a:endParaRPr/>
          </a:p>
          <a:p>
            <a:pPr indent="0" lvl="0" marL="0" rtl="0" algn="l">
              <a:spcBef>
                <a:spcPts val="360"/>
              </a:spcBef>
              <a:spcAft>
                <a:spcPts val="0"/>
              </a:spcAft>
              <a:buNone/>
            </a:pPr>
            <a:r>
              <a:rPr b="0" i="0" lang="en-US" sz="1200">
                <a:solidFill>
                  <a:schemeClr val="dk1"/>
                </a:solidFill>
                <a:latin typeface="Arial Narrow"/>
                <a:ea typeface="Arial Narrow"/>
                <a:cs typeface="Arial Narrow"/>
                <a:sym typeface="Arial Narrow"/>
              </a:rPr>
              <a:t>And as we said that the comparison is between the cpu output and the vortex output so we need two diffrente codes for each one to be compiled and executed on it.</a:t>
            </a:r>
            <a:endParaRPr/>
          </a:p>
          <a:p>
            <a:pPr indent="0" lvl="0" marL="0" rtl="0" algn="l">
              <a:spcBef>
                <a:spcPts val="360"/>
              </a:spcBef>
              <a:spcAft>
                <a:spcPts val="0"/>
              </a:spcAft>
              <a:buNone/>
            </a:pPr>
            <a:r>
              <a:rPr b="0" i="0" lang="en-US" sz="1200">
                <a:solidFill>
                  <a:schemeClr val="dk1"/>
                </a:solidFill>
                <a:latin typeface="Arial Narrow"/>
                <a:ea typeface="Arial Narrow"/>
                <a:cs typeface="Arial Narrow"/>
                <a:sym typeface="Arial Narrow"/>
              </a:rPr>
              <a:t>So we need host code to be responsible to memory allocation, data transfer, and descriping the logical flow using high level language or human readable code like for loop to loop on the vectors in the vector addition function.</a:t>
            </a:r>
            <a:endParaRPr/>
          </a:p>
          <a:p>
            <a:pPr indent="0" lvl="0" marL="0" rtl="0" algn="l">
              <a:spcBef>
                <a:spcPts val="360"/>
              </a:spcBef>
              <a:spcAft>
                <a:spcPts val="0"/>
              </a:spcAft>
              <a:buNone/>
            </a:pPr>
            <a:r>
              <a:rPr b="0" i="0" lang="en-US" sz="1200">
                <a:solidFill>
                  <a:schemeClr val="dk1"/>
                </a:solidFill>
                <a:latin typeface="Arial Narrow"/>
                <a:ea typeface="Arial Narrow"/>
                <a:cs typeface="Arial Narrow"/>
                <a:sym typeface="Arial Narrow"/>
              </a:rPr>
              <a:t>While the kernel code it focuss purely on the computation of the function using a logic match the way that the vortex understand which is like using thread index instead of for loop fo the vector addition.</a:t>
            </a:r>
            <a:endParaRPr/>
          </a:p>
          <a:p>
            <a:pPr indent="0" lvl="0" marL="0" rtl="0" algn="l">
              <a:spcBef>
                <a:spcPts val="36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9" name="Shape 1649"/>
        <p:cNvGrpSpPr/>
        <p:nvPr/>
      </p:nvGrpSpPr>
      <p:grpSpPr>
        <a:xfrm>
          <a:off x="0" y="0"/>
          <a:ext cx="0" cy="0"/>
          <a:chOff x="0" y="0"/>
          <a:chExt cx="0" cy="0"/>
        </a:xfrm>
      </p:grpSpPr>
      <p:sp>
        <p:nvSpPr>
          <p:cNvPr id="1650" name="Google Shape;1650;p151: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51" name="Google Shape;1651;p151: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each type of the code there is a compilation flow:</a:t>
            </a:r>
            <a:br>
              <a:rPr lang="en-US"/>
            </a:br>
            <a:r>
              <a:rPr lang="en-US"/>
              <a:t>For the host code 🡪 simply convert the high level code into assemply code to be executed on the host cpu also as we said that the host code reasponsiple for memory allocations for both cpu and vortex so it need the vortex runtime liprary as a supporter to understand those functions.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For the kernel code 🡪 it has  compilation stages front end where it simply convert the  kernel code into intermidate code which is lower lang. than the C but still higher that asseamply</a:t>
            </a:r>
            <a:endParaRPr/>
          </a:p>
          <a:p>
            <a:pPr indent="0" lvl="0" marL="0" rtl="0" algn="l">
              <a:spcBef>
                <a:spcPts val="360"/>
              </a:spcBef>
              <a:spcAft>
                <a:spcPts val="0"/>
              </a:spcAft>
              <a:buNone/>
            </a:pPr>
            <a:r>
              <a:rPr lang="en-US"/>
              <a:t>While the second stage is the middle end this is where the IR code will be optimized this is the main function of it.</a:t>
            </a:r>
            <a:endParaRPr/>
          </a:p>
          <a:p>
            <a:pPr indent="0" lvl="0" marL="0" rtl="0" algn="l">
              <a:spcBef>
                <a:spcPts val="360"/>
              </a:spcBef>
              <a:spcAft>
                <a:spcPts val="0"/>
              </a:spcAft>
              <a:buNone/>
            </a:pPr>
            <a:r>
              <a:rPr lang="en-US"/>
              <a:t>For the Back end compiler it convert the optimized IR code into the final asseamply code that will be executed using vortex so it need the kernal library and the vortex ISA.</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t>
            </a:r>
            <a:endParaRPr/>
          </a:p>
          <a:p>
            <a:pPr indent="0" lvl="0" marL="0" rtl="0" algn="l">
              <a:spcBef>
                <a:spcPts val="360"/>
              </a:spcBef>
              <a:spcAft>
                <a:spcPts val="0"/>
              </a:spcAft>
              <a:buNone/>
            </a:pPr>
            <a:r>
              <a:rPr lang="en-US"/>
              <a:t>For the compilation flow of the Host code is simple as any c code compiled in the cpu but in addition to using some function defined for the vortex like memory allocation as we discussed earlier.</a:t>
            </a:r>
            <a:endParaRPr/>
          </a:p>
          <a:p>
            <a:pPr indent="0" lvl="0" marL="0" rtl="0" algn="l">
              <a:spcBef>
                <a:spcPts val="360"/>
              </a:spcBef>
              <a:spcAft>
                <a:spcPts val="0"/>
              </a:spcAft>
              <a:buNone/>
            </a:pPr>
            <a:r>
              <a:rPr lang="en-US"/>
              <a:t>While for the kernel code it need to go through three phases of the compilation:</a:t>
            </a:r>
            <a:br>
              <a:rPr lang="en-US"/>
            </a:br>
            <a:r>
              <a:rPr lang="en-US"/>
              <a:t> 1) front end compiler: which it use built-in library conatin some predefined math function to convert the high level code into kernel code (indermediate representation)</a:t>
            </a:r>
            <a:endParaRPr/>
          </a:p>
          <a:p>
            <a:pPr indent="0" lvl="0" marL="0" rtl="0" algn="l">
              <a:spcBef>
                <a:spcPts val="360"/>
              </a:spcBef>
              <a:spcAft>
                <a:spcPts val="0"/>
              </a:spcAft>
              <a:buNone/>
            </a:pPr>
            <a:r>
              <a:rPr lang="en-US"/>
              <a:t> 2) where in this stage the optimization can be done, the intermediate representation is a lowe level lanfuage that c++ but in the same time not like the assembly code in the level.</a:t>
            </a:r>
            <a:br>
              <a:rPr lang="en-US"/>
            </a:br>
            <a:r>
              <a:rPr lang="en-US"/>
              <a:t> 3) back-end compiler it use the vortex kernel library and the vortex instruction set arch. To mimc the instruction In the kernel code to the instruction set arch. Of the vortex to create the binary representation of the code (or the final assemply code)</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2" name="Shape 1682"/>
        <p:cNvGrpSpPr/>
        <p:nvPr/>
      </p:nvGrpSpPr>
      <p:grpSpPr>
        <a:xfrm>
          <a:off x="0" y="0"/>
          <a:ext cx="0" cy="0"/>
          <a:chOff x="0" y="0"/>
          <a:chExt cx="0" cy="0"/>
        </a:xfrm>
      </p:grpSpPr>
      <p:sp>
        <p:nvSpPr>
          <p:cNvPr id="1683" name="Google Shape;1683;p152: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84" name="Google Shape;1684;p152: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we used the vector addition test that is in vortex repo to test the system level sanity .</a:t>
            </a:r>
            <a:endParaRPr/>
          </a:p>
          <a:p>
            <a:pPr indent="0" lvl="0" marL="0" rtl="0" algn="l">
              <a:spcBef>
                <a:spcPts val="360"/>
              </a:spcBef>
              <a:spcAft>
                <a:spcPts val="0"/>
              </a:spcAft>
              <a:buNone/>
            </a:pPr>
            <a:r>
              <a:rPr lang="en-US"/>
              <a:t>Here is the part from the host code where it represent the golden model or the function that it will be executed in the cpu and the scoreboard that will check after the vortex write bace the result in the memory allocated by the host code and as we can see that the it use normal for loop while in the kernel code it use one line statement.</a:t>
            </a:r>
            <a:endParaRPr/>
          </a:p>
          <a:p>
            <a:pPr indent="0" lvl="0" marL="0" rtl="0" algn="l">
              <a:spcBef>
                <a:spcPts val="360"/>
              </a:spcBef>
              <a:spcAft>
                <a:spcPts val="0"/>
              </a:spcAft>
              <a:buNone/>
            </a:pPr>
            <a:r>
              <a:rPr lang="en-US"/>
              <a:t>And the test passed as the other ones like signed matrix multiplication test.</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4" name="Shape 1694"/>
        <p:cNvGrpSpPr/>
        <p:nvPr/>
      </p:nvGrpSpPr>
      <p:grpSpPr>
        <a:xfrm>
          <a:off x="0" y="0"/>
          <a:ext cx="0" cy="0"/>
          <a:chOff x="0" y="0"/>
          <a:chExt cx="0" cy="0"/>
        </a:xfrm>
      </p:grpSpPr>
      <p:sp>
        <p:nvSpPr>
          <p:cNvPr id="1695" name="Google Shape;1695;p153: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96" name="Google Shape;1696;p153: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6" name="Shape 1706"/>
        <p:cNvGrpSpPr/>
        <p:nvPr/>
      </p:nvGrpSpPr>
      <p:grpSpPr>
        <a:xfrm>
          <a:off x="0" y="0"/>
          <a:ext cx="0" cy="0"/>
          <a:chOff x="0" y="0"/>
          <a:chExt cx="0" cy="0"/>
        </a:xfrm>
      </p:grpSpPr>
      <p:sp>
        <p:nvSpPr>
          <p:cNvPr id="1707" name="Google Shape;1707;p154: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08" name="Google Shape;1708;p154: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5" name="Shape 1715"/>
        <p:cNvGrpSpPr/>
        <p:nvPr/>
      </p:nvGrpSpPr>
      <p:grpSpPr>
        <a:xfrm>
          <a:off x="0" y="0"/>
          <a:ext cx="0" cy="0"/>
          <a:chOff x="0" y="0"/>
          <a:chExt cx="0" cy="0"/>
        </a:xfrm>
      </p:grpSpPr>
      <p:sp>
        <p:nvSpPr>
          <p:cNvPr id="1716" name="Google Shape;1716;p155: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17" name="Google Shape;1717;p155: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1" name="Shape 1721"/>
        <p:cNvGrpSpPr/>
        <p:nvPr/>
      </p:nvGrpSpPr>
      <p:grpSpPr>
        <a:xfrm>
          <a:off x="0" y="0"/>
          <a:ext cx="0" cy="0"/>
          <a:chOff x="0" y="0"/>
          <a:chExt cx="0" cy="0"/>
        </a:xfrm>
      </p:grpSpPr>
      <p:sp>
        <p:nvSpPr>
          <p:cNvPr id="1722" name="Google Shape;1722;p156: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23" name="Google Shape;1723;p156: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8" name="Shape 1728"/>
        <p:cNvGrpSpPr/>
        <p:nvPr/>
      </p:nvGrpSpPr>
      <p:grpSpPr>
        <a:xfrm>
          <a:off x="0" y="0"/>
          <a:ext cx="0" cy="0"/>
          <a:chOff x="0" y="0"/>
          <a:chExt cx="0" cy="0"/>
        </a:xfrm>
      </p:grpSpPr>
      <p:sp>
        <p:nvSpPr>
          <p:cNvPr id="1729" name="Google Shape;1729;g3bfb4d05fca_0_3:notes"/>
          <p:cNvSpPr/>
          <p:nvPr>
            <p:ph idx="2" type="sldImg"/>
          </p:nvPr>
        </p:nvSpPr>
        <p:spPr>
          <a:xfrm>
            <a:off x="138113" y="766763"/>
            <a:ext cx="6823200" cy="3838500"/>
          </a:xfrm>
          <a:custGeom>
            <a:rect b="b" l="l" r="r" t="t"/>
            <a:pathLst>
              <a:path extrusionOk="0" h="120000" w="120000">
                <a:moveTo>
                  <a:pt x="0" y="0"/>
                </a:moveTo>
                <a:lnTo>
                  <a:pt x="120000" y="0"/>
                </a:lnTo>
                <a:lnTo>
                  <a:pt x="120000" y="120000"/>
                </a:lnTo>
                <a:lnTo>
                  <a:pt x="0" y="120000"/>
                </a:lnTo>
                <a:close/>
              </a:path>
            </a:pathLst>
          </a:custGeom>
        </p:spPr>
      </p:sp>
      <p:sp>
        <p:nvSpPr>
          <p:cNvPr id="1730" name="Google Shape;1730;g3bfb4d05fca_0_3:notes"/>
          <p:cNvSpPr txBox="1"/>
          <p:nvPr>
            <p:ph idx="1" type="body"/>
          </p:nvPr>
        </p:nvSpPr>
        <p:spPr>
          <a:xfrm>
            <a:off x="946150" y="4862513"/>
            <a:ext cx="5207100" cy="4605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31" name="Google Shape;1731;g3bfb4d05fca_0_3:notes"/>
          <p:cNvSpPr txBox="1"/>
          <p:nvPr>
            <p:ph idx="12" type="sldNum"/>
          </p:nvPr>
        </p:nvSpPr>
        <p:spPr>
          <a:xfrm>
            <a:off x="4024313" y="9721850"/>
            <a:ext cx="3075000" cy="512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p157: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38" name="Google Shape;1738;p157:notes"/>
          <p:cNvSpPr txBox="1"/>
          <p:nvPr>
            <p:ph idx="1" type="body"/>
          </p:nvPr>
        </p:nvSpPr>
        <p:spPr>
          <a:xfrm>
            <a:off x="946150" y="4862513"/>
            <a:ext cx="5207000" cy="4605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1" name="Shape 1741"/>
        <p:cNvGrpSpPr/>
        <p:nvPr/>
      </p:nvGrpSpPr>
      <p:grpSpPr>
        <a:xfrm>
          <a:off x="0" y="0"/>
          <a:ext cx="0" cy="0"/>
          <a:chOff x="0" y="0"/>
          <a:chExt cx="0" cy="0"/>
        </a:xfrm>
      </p:grpSpPr>
      <p:sp>
        <p:nvSpPr>
          <p:cNvPr id="1742" name="Google Shape;1742;p158: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43" name="Google Shape;1743;p158: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2" name="Shape 1752"/>
        <p:cNvGrpSpPr/>
        <p:nvPr/>
      </p:nvGrpSpPr>
      <p:grpSpPr>
        <a:xfrm>
          <a:off x="0" y="0"/>
          <a:ext cx="0" cy="0"/>
          <a:chOff x="0" y="0"/>
          <a:chExt cx="0" cy="0"/>
        </a:xfrm>
      </p:grpSpPr>
      <p:sp>
        <p:nvSpPr>
          <p:cNvPr id="1753" name="Google Shape;1753;p159: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54" name="Google Shape;1754;p159: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0" name="Shape 1760"/>
        <p:cNvGrpSpPr/>
        <p:nvPr/>
      </p:nvGrpSpPr>
      <p:grpSpPr>
        <a:xfrm>
          <a:off x="0" y="0"/>
          <a:ext cx="0" cy="0"/>
          <a:chOff x="0" y="0"/>
          <a:chExt cx="0" cy="0"/>
        </a:xfrm>
      </p:grpSpPr>
      <p:sp>
        <p:nvSpPr>
          <p:cNvPr id="1761" name="Google Shape;1761;p160: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62" name="Google Shape;1762;p160: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6" name="Shape 1766"/>
        <p:cNvGrpSpPr/>
        <p:nvPr/>
      </p:nvGrpSpPr>
      <p:grpSpPr>
        <a:xfrm>
          <a:off x="0" y="0"/>
          <a:ext cx="0" cy="0"/>
          <a:chOff x="0" y="0"/>
          <a:chExt cx="0" cy="0"/>
        </a:xfrm>
      </p:grpSpPr>
      <p:sp>
        <p:nvSpPr>
          <p:cNvPr id="1767" name="Google Shape;1767;p161: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68" name="Google Shape;1768;p161: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2" name="Shape 1772"/>
        <p:cNvGrpSpPr/>
        <p:nvPr/>
      </p:nvGrpSpPr>
      <p:grpSpPr>
        <a:xfrm>
          <a:off x="0" y="0"/>
          <a:ext cx="0" cy="0"/>
          <a:chOff x="0" y="0"/>
          <a:chExt cx="0" cy="0"/>
        </a:xfrm>
      </p:grpSpPr>
      <p:sp>
        <p:nvSpPr>
          <p:cNvPr id="1773" name="Google Shape;1773;p162:notes"/>
          <p:cNvSpPr txBox="1"/>
          <p:nvPr>
            <p:ph idx="1" type="body"/>
          </p:nvPr>
        </p:nvSpPr>
        <p:spPr>
          <a:xfrm>
            <a:off x="946150" y="4862513"/>
            <a:ext cx="5207000" cy="460533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74" name="Google Shape;1774;p162: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glish Title Slide">
  <p:cSld name="English Title Slide">
    <p:spTree>
      <p:nvGrpSpPr>
        <p:cNvPr id="12" name="Shape 12"/>
        <p:cNvGrpSpPr/>
        <p:nvPr/>
      </p:nvGrpSpPr>
      <p:grpSpPr>
        <a:xfrm>
          <a:off x="0" y="0"/>
          <a:ext cx="0" cy="0"/>
          <a:chOff x="0" y="0"/>
          <a:chExt cx="0" cy="0"/>
        </a:xfrm>
      </p:grpSpPr>
      <p:pic>
        <p:nvPicPr>
          <p:cNvPr id="13" name="Google Shape;13;p164"/>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descr="A close up of a logo&#10;&#10;Description automatically generated" id="14" name="Google Shape;14;p16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A close up of a logo&#10;&#10;Description automatically generated" id="15" name="Google Shape;15;p164"/>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16" name="Google Shape;16;p164"/>
          <p:cNvSpPr txBox="1"/>
          <p:nvPr>
            <p:ph type="ctrTitle"/>
          </p:nvPr>
        </p:nvSpPr>
        <p:spPr>
          <a:xfrm>
            <a:off x="1219200" y="2904335"/>
            <a:ext cx="9753600" cy="1049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i="1" sz="3600">
                <a:solidFill>
                  <a:schemeClr val="dk1"/>
                </a:solidFill>
                <a:latin typeface="Calibri"/>
                <a:ea typeface="Calibri"/>
                <a:cs typeface="Calibri"/>
                <a:sym typeface="Calibri"/>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164"/>
          <p:cNvSpPr txBox="1"/>
          <p:nvPr>
            <p:ph idx="1" type="body"/>
          </p:nvPr>
        </p:nvSpPr>
        <p:spPr>
          <a:xfrm>
            <a:off x="6861626" y="5459446"/>
            <a:ext cx="4144433" cy="307389"/>
          </a:xfrm>
          <a:prstGeom prst="rect">
            <a:avLst/>
          </a:prstGeom>
          <a:noFill/>
          <a:ln>
            <a:noFill/>
          </a:ln>
        </p:spPr>
        <p:txBody>
          <a:bodyPr anchorCtr="0" anchor="t" bIns="45700" lIns="91425" spcFirstLastPara="1" rIns="91425" wrap="square" tIns="45700">
            <a:noAutofit/>
          </a:bodyPr>
          <a:lstStyle>
            <a:lvl1pPr indent="-228600" lvl="0" marL="457200" algn="ctr">
              <a:spcBef>
                <a:spcPts val="320"/>
              </a:spcBef>
              <a:spcAft>
                <a:spcPts val="0"/>
              </a:spcAft>
              <a:buSzPts val="1600"/>
              <a:buNone/>
              <a:defRPr sz="1600" u="sng">
                <a:solidFill>
                  <a:srgbClr val="0B5F9F"/>
                </a:solidFill>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164"/>
          <p:cNvSpPr txBox="1"/>
          <p:nvPr>
            <p:ph idx="2" type="body"/>
          </p:nvPr>
        </p:nvSpPr>
        <p:spPr>
          <a:xfrm>
            <a:off x="6384181" y="5084361"/>
            <a:ext cx="5099321" cy="375085"/>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SzPts val="2000"/>
              <a:buNone/>
              <a:defRPr i="1" u="none">
                <a:solidFill>
                  <a:srgbClr val="0B5F9F"/>
                </a:solidFill>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 close up of a sign&#10;&#10;Description automatically generated" id="19" name="Google Shape;19;p164"/>
          <p:cNvPicPr preferRelativeResize="0"/>
          <p:nvPr/>
        </p:nvPicPr>
        <p:blipFill rotWithShape="1">
          <a:blip r:embed="rId5">
            <a:alphaModFix/>
          </a:blip>
          <a:srcRect b="0" l="0" r="0" t="0"/>
          <a:stretch/>
        </p:blipFill>
        <p:spPr>
          <a:xfrm>
            <a:off x="5318760" y="130343"/>
            <a:ext cx="1554480" cy="1554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glish Slide" type="obj">
  <p:cSld name="OBJECT">
    <p:spTree>
      <p:nvGrpSpPr>
        <p:cNvPr id="20" name="Shape 20"/>
        <p:cNvGrpSpPr/>
        <p:nvPr/>
      </p:nvGrpSpPr>
      <p:grpSpPr>
        <a:xfrm>
          <a:off x="0" y="0"/>
          <a:ext cx="0" cy="0"/>
          <a:chOff x="0" y="0"/>
          <a:chExt cx="0" cy="0"/>
        </a:xfrm>
      </p:grpSpPr>
      <p:pic>
        <p:nvPicPr>
          <p:cNvPr descr="A close up of a logo&#10;&#10;Description automatically generated" id="21" name="Google Shape;21;p165"/>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descr="A close up of a logo&#10;&#10;Description automatically generated" id="22" name="Google Shape;22;p16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 name="Google Shape;23;p165"/>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165"/>
          <p:cNvSpPr txBox="1"/>
          <p:nvPr>
            <p:ph idx="1" type="body"/>
          </p:nvPr>
        </p:nvSpPr>
        <p:spPr>
          <a:xfrm>
            <a:off x="914400" y="1510748"/>
            <a:ext cx="10363200" cy="4984947"/>
          </a:xfrm>
          <a:prstGeom prst="rect">
            <a:avLst/>
          </a:prstGeom>
          <a:noFill/>
          <a:ln>
            <a:noFill/>
          </a:ln>
        </p:spPr>
        <p:txBody>
          <a:bodyPr anchorCtr="0" anchor="t" bIns="45700" lIns="91425" spcFirstLastPara="1" rIns="91425" wrap="square" tIns="45700">
            <a:noAutofit/>
          </a:bodyPr>
          <a:lstStyle>
            <a:lvl1pPr indent="-355600" lvl="0" marL="457200" algn="l">
              <a:spcBef>
                <a:spcPts val="400"/>
              </a:spcBef>
              <a:spcAft>
                <a:spcPts val="0"/>
              </a:spcAft>
              <a:buSzPts val="2000"/>
              <a:buChar char="•"/>
              <a:defRPr sz="2000">
                <a:solidFill>
                  <a:srgbClr val="0B5F9F"/>
                </a:solidFill>
              </a:defRPr>
            </a:lvl1pPr>
            <a:lvl2pPr indent="-355600" lvl="1" marL="914400" algn="l">
              <a:spcBef>
                <a:spcPts val="400"/>
              </a:spcBef>
              <a:spcAft>
                <a:spcPts val="0"/>
              </a:spcAft>
              <a:buClr>
                <a:srgbClr val="5D5D5E"/>
              </a:buClr>
              <a:buSzPts val="2000"/>
              <a:buFont typeface="Courier New"/>
              <a:buChar char="o"/>
              <a:defRPr>
                <a:solidFill>
                  <a:srgbClr val="0B5F9F"/>
                </a:solidFill>
              </a:defRPr>
            </a:lvl2pPr>
            <a:lvl3pPr indent="-330200" lvl="2" marL="1371600" algn="l">
              <a:spcBef>
                <a:spcPts val="400"/>
              </a:spcBef>
              <a:spcAft>
                <a:spcPts val="0"/>
              </a:spcAft>
              <a:buClr>
                <a:srgbClr val="5D5D5E"/>
              </a:buClr>
              <a:buSzPts val="1600"/>
              <a:buFont typeface="Arial"/>
              <a:buChar char="•"/>
              <a:defRPr>
                <a:solidFill>
                  <a:srgbClr val="0B5F9F"/>
                </a:solidFill>
              </a:defRPr>
            </a:lvl3pPr>
            <a:lvl4pPr indent="-342900" lvl="3" marL="1828800" algn="l">
              <a:spcBef>
                <a:spcPts val="360"/>
              </a:spcBef>
              <a:spcAft>
                <a:spcPts val="0"/>
              </a:spcAft>
              <a:buClr>
                <a:srgbClr val="5D5D5E"/>
              </a:buClr>
              <a:buSzPts val="1800"/>
              <a:buFont typeface="Arial"/>
              <a:buChar char="•"/>
              <a:defRPr>
                <a:solidFill>
                  <a:srgbClr val="0B5F9F"/>
                </a:solidFill>
              </a:defRPr>
            </a:lvl4pPr>
            <a:lvl5pPr indent="-342900" lvl="4" marL="2286000" algn="l">
              <a:spcBef>
                <a:spcPts val="360"/>
              </a:spcBef>
              <a:spcAft>
                <a:spcPts val="0"/>
              </a:spcAft>
              <a:buClr>
                <a:srgbClr val="5D5D5E"/>
              </a:buClr>
              <a:buSzPts val="1800"/>
              <a:buFont typeface="Arial"/>
              <a:buChar char="•"/>
              <a:defRPr>
                <a:solidFill>
                  <a:srgbClr val="0B5F9F"/>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165"/>
          <p:cNvSpPr txBox="1"/>
          <p:nvPr/>
        </p:nvSpPr>
        <p:spPr>
          <a:xfrm>
            <a:off x="9331036" y="6414871"/>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800" u="none" cap="none" strike="noStrike">
                <a:solidFill>
                  <a:srgbClr val="5D5D5E"/>
                </a:solidFill>
                <a:latin typeface="Calibri"/>
                <a:ea typeface="Calibri"/>
                <a:cs typeface="Calibri"/>
                <a:sym typeface="Calibri"/>
              </a:rPr>
              <a:t>‹#›</a:t>
            </a:fld>
            <a:endParaRPr b="0" i="0" sz="1800" u="none" cap="none" strike="noStrike">
              <a:solidFill>
                <a:srgbClr val="5D5D5E"/>
              </a:solidFill>
              <a:latin typeface="Calibri"/>
              <a:ea typeface="Calibri"/>
              <a:cs typeface="Calibri"/>
              <a:sym typeface="Calibri"/>
            </a:endParaRPr>
          </a:p>
        </p:txBody>
      </p:sp>
      <p:pic>
        <p:nvPicPr>
          <p:cNvPr id="26" name="Google Shape;26;p165"/>
          <p:cNvPicPr preferRelativeResize="0"/>
          <p:nvPr/>
        </p:nvPicPr>
        <p:blipFill rotWithShape="1">
          <a:blip r:embed="rId4">
            <a:alphaModFix/>
          </a:blip>
          <a:srcRect b="0" l="0" r="0" t="0"/>
          <a:stretch/>
        </p:blipFill>
        <p:spPr>
          <a:xfrm>
            <a:off x="165347" y="92358"/>
            <a:ext cx="1049894" cy="104989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glish Separator">
  <p:cSld name="English Separator">
    <p:spTree>
      <p:nvGrpSpPr>
        <p:cNvPr id="27" name="Shape 27"/>
        <p:cNvGrpSpPr/>
        <p:nvPr/>
      </p:nvGrpSpPr>
      <p:grpSpPr>
        <a:xfrm>
          <a:off x="0" y="0"/>
          <a:ext cx="0" cy="0"/>
          <a:chOff x="0" y="0"/>
          <a:chExt cx="0" cy="0"/>
        </a:xfrm>
      </p:grpSpPr>
      <p:pic>
        <p:nvPicPr>
          <p:cNvPr descr="A close up of a logo&#10;&#10;Description automatically generated" id="28" name="Google Shape;28;p166"/>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descr="A close up of a logo&#10;&#10;Description automatically generated" id="29" name="Google Shape;29;p16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 name="Google Shape;30;p166"/>
          <p:cNvSpPr txBox="1"/>
          <p:nvPr>
            <p:ph type="title"/>
          </p:nvPr>
        </p:nvSpPr>
        <p:spPr>
          <a:xfrm>
            <a:off x="946151" y="2852321"/>
            <a:ext cx="10299700" cy="730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i="1" sz="3600">
                <a:solidFill>
                  <a:schemeClr val="dk1"/>
                </a:solidFill>
                <a:latin typeface="Calibri"/>
                <a:ea typeface="Calibri"/>
                <a:cs typeface="Calibri"/>
                <a:sym typeface="Calibri"/>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abic Separator">
  <p:cSld name="Arabic Separator">
    <p:spTree>
      <p:nvGrpSpPr>
        <p:cNvPr id="31" name="Shape 31"/>
        <p:cNvGrpSpPr/>
        <p:nvPr/>
      </p:nvGrpSpPr>
      <p:grpSpPr>
        <a:xfrm>
          <a:off x="0" y="0"/>
          <a:ext cx="0" cy="0"/>
          <a:chOff x="0" y="0"/>
          <a:chExt cx="0" cy="0"/>
        </a:xfrm>
      </p:grpSpPr>
      <p:pic>
        <p:nvPicPr>
          <p:cNvPr descr="A close up of a logo&#10;&#10;Description automatically generated" id="32" name="Google Shape;32;p167"/>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descr="A close up of a logo&#10;&#10;Description automatically generated" id="33" name="Google Shape;33;p16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 name="Google Shape;34;p167"/>
          <p:cNvSpPr txBox="1"/>
          <p:nvPr>
            <p:ph type="title"/>
          </p:nvPr>
        </p:nvSpPr>
        <p:spPr>
          <a:xfrm>
            <a:off x="946151" y="2852321"/>
            <a:ext cx="10299700" cy="730762"/>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b="1" i="0" sz="3600">
                <a:solidFill>
                  <a:schemeClr val="dk1"/>
                </a:solidFill>
                <a:latin typeface="Calibri"/>
                <a:ea typeface="Calibri"/>
                <a:cs typeface="Calibri"/>
                <a:sym typeface="Calibri"/>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glish Slide 2 Columns">
  <p:cSld name="English Slide 2 Columns">
    <p:spTree>
      <p:nvGrpSpPr>
        <p:cNvPr id="35" name="Shape 35"/>
        <p:cNvGrpSpPr/>
        <p:nvPr/>
      </p:nvGrpSpPr>
      <p:grpSpPr>
        <a:xfrm>
          <a:off x="0" y="0"/>
          <a:ext cx="0" cy="0"/>
          <a:chOff x="0" y="0"/>
          <a:chExt cx="0" cy="0"/>
        </a:xfrm>
      </p:grpSpPr>
      <p:pic>
        <p:nvPicPr>
          <p:cNvPr descr="A close up of a logo&#10;&#10;Description automatically generated" id="36" name="Google Shape;36;p168"/>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descr="A close up of a logo&#10;&#10;Description automatically generated" id="37" name="Google Shape;37;p16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8" name="Google Shape;38;p168"/>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168"/>
          <p:cNvSpPr txBox="1"/>
          <p:nvPr>
            <p:ph idx="1" type="body"/>
          </p:nvPr>
        </p:nvSpPr>
        <p:spPr>
          <a:xfrm>
            <a:off x="914400" y="1510748"/>
            <a:ext cx="5049078" cy="4984947"/>
          </a:xfrm>
          <a:prstGeom prst="rect">
            <a:avLst/>
          </a:prstGeom>
          <a:noFill/>
          <a:ln>
            <a:noFill/>
          </a:ln>
        </p:spPr>
        <p:txBody>
          <a:bodyPr anchorCtr="0" anchor="t" bIns="45700" lIns="91425" spcFirstLastPara="1" rIns="91425" wrap="square" tIns="45700">
            <a:noAutofit/>
          </a:bodyPr>
          <a:lstStyle>
            <a:lvl1pPr indent="-355600" lvl="0" marL="457200" algn="l">
              <a:spcBef>
                <a:spcPts val="400"/>
              </a:spcBef>
              <a:spcAft>
                <a:spcPts val="0"/>
              </a:spcAft>
              <a:buSzPts val="2000"/>
              <a:buChar char="•"/>
              <a:defRPr sz="2000">
                <a:solidFill>
                  <a:srgbClr val="0B5F9F"/>
                </a:solidFill>
              </a:defRPr>
            </a:lvl1pPr>
            <a:lvl2pPr indent="-355600" lvl="1" marL="914400" algn="l">
              <a:spcBef>
                <a:spcPts val="400"/>
              </a:spcBef>
              <a:spcAft>
                <a:spcPts val="0"/>
              </a:spcAft>
              <a:buClr>
                <a:srgbClr val="5D5D5E"/>
              </a:buClr>
              <a:buSzPts val="2000"/>
              <a:buFont typeface="Courier New"/>
              <a:buChar char="o"/>
              <a:defRPr>
                <a:solidFill>
                  <a:srgbClr val="0B5F9F"/>
                </a:solidFill>
              </a:defRPr>
            </a:lvl2pPr>
            <a:lvl3pPr indent="-330200" lvl="2" marL="1371600" algn="l">
              <a:spcBef>
                <a:spcPts val="400"/>
              </a:spcBef>
              <a:spcAft>
                <a:spcPts val="0"/>
              </a:spcAft>
              <a:buClr>
                <a:srgbClr val="5D5D5E"/>
              </a:buClr>
              <a:buSzPts val="1600"/>
              <a:buFont typeface="Arial"/>
              <a:buChar char="•"/>
              <a:defRPr>
                <a:solidFill>
                  <a:srgbClr val="0B5F9F"/>
                </a:solidFill>
              </a:defRPr>
            </a:lvl3pPr>
            <a:lvl4pPr indent="-342900" lvl="3" marL="1828800" algn="l">
              <a:spcBef>
                <a:spcPts val="360"/>
              </a:spcBef>
              <a:spcAft>
                <a:spcPts val="0"/>
              </a:spcAft>
              <a:buClr>
                <a:srgbClr val="5D5D5E"/>
              </a:buClr>
              <a:buSzPts val="1800"/>
              <a:buFont typeface="Arial"/>
              <a:buChar char="•"/>
              <a:defRPr>
                <a:solidFill>
                  <a:srgbClr val="0B5F9F"/>
                </a:solidFill>
              </a:defRPr>
            </a:lvl4pPr>
            <a:lvl5pPr indent="-342900" lvl="4" marL="2286000" algn="l">
              <a:spcBef>
                <a:spcPts val="360"/>
              </a:spcBef>
              <a:spcAft>
                <a:spcPts val="0"/>
              </a:spcAft>
              <a:buClr>
                <a:srgbClr val="5D5D5E"/>
              </a:buClr>
              <a:buSzPts val="1800"/>
              <a:buFont typeface="Arial"/>
              <a:buChar char="•"/>
              <a:defRPr>
                <a:solidFill>
                  <a:srgbClr val="0B5F9F"/>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0" name="Google Shape;40;p168"/>
          <p:cNvSpPr txBox="1"/>
          <p:nvPr/>
        </p:nvSpPr>
        <p:spPr>
          <a:xfrm>
            <a:off x="9331036" y="6414871"/>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800">
                <a:solidFill>
                  <a:srgbClr val="5D5D5E"/>
                </a:solidFill>
                <a:latin typeface="Calibri"/>
                <a:ea typeface="Calibri"/>
                <a:cs typeface="Calibri"/>
                <a:sym typeface="Calibri"/>
              </a:rPr>
              <a:t>‹#›</a:t>
            </a:fld>
            <a:endParaRPr sz="1800">
              <a:solidFill>
                <a:srgbClr val="5D5D5E"/>
              </a:solidFill>
              <a:latin typeface="Calibri"/>
              <a:ea typeface="Calibri"/>
              <a:cs typeface="Calibri"/>
              <a:sym typeface="Calibri"/>
            </a:endParaRPr>
          </a:p>
        </p:txBody>
      </p:sp>
      <p:pic>
        <p:nvPicPr>
          <p:cNvPr id="41" name="Google Shape;41;p168"/>
          <p:cNvPicPr preferRelativeResize="0"/>
          <p:nvPr/>
        </p:nvPicPr>
        <p:blipFill rotWithShape="1">
          <a:blip r:embed="rId4">
            <a:alphaModFix/>
          </a:blip>
          <a:srcRect b="0" l="0" r="0" t="0"/>
          <a:stretch/>
        </p:blipFill>
        <p:spPr>
          <a:xfrm>
            <a:off x="165347" y="92358"/>
            <a:ext cx="1049894" cy="1049894"/>
          </a:xfrm>
          <a:prstGeom prst="rect">
            <a:avLst/>
          </a:prstGeom>
          <a:noFill/>
          <a:ln>
            <a:noFill/>
          </a:ln>
        </p:spPr>
      </p:pic>
      <p:sp>
        <p:nvSpPr>
          <p:cNvPr id="42" name="Google Shape;42;p168"/>
          <p:cNvSpPr txBox="1"/>
          <p:nvPr>
            <p:ph idx="2" type="body"/>
          </p:nvPr>
        </p:nvSpPr>
        <p:spPr>
          <a:xfrm>
            <a:off x="6196773" y="1510748"/>
            <a:ext cx="5049078" cy="4984947"/>
          </a:xfrm>
          <a:prstGeom prst="rect">
            <a:avLst/>
          </a:prstGeom>
          <a:noFill/>
          <a:ln>
            <a:noFill/>
          </a:ln>
        </p:spPr>
        <p:txBody>
          <a:bodyPr anchorCtr="0" anchor="t" bIns="45700" lIns="91425" spcFirstLastPara="1" rIns="91425" wrap="square" tIns="45700">
            <a:noAutofit/>
          </a:bodyPr>
          <a:lstStyle>
            <a:lvl1pPr indent="-355600" lvl="0" marL="457200" algn="l">
              <a:spcBef>
                <a:spcPts val="400"/>
              </a:spcBef>
              <a:spcAft>
                <a:spcPts val="0"/>
              </a:spcAft>
              <a:buSzPts val="2000"/>
              <a:buChar char="•"/>
              <a:defRPr sz="2000">
                <a:solidFill>
                  <a:srgbClr val="0B5F9F"/>
                </a:solidFill>
              </a:defRPr>
            </a:lvl1pPr>
            <a:lvl2pPr indent="-355600" lvl="1" marL="914400" algn="l">
              <a:spcBef>
                <a:spcPts val="400"/>
              </a:spcBef>
              <a:spcAft>
                <a:spcPts val="0"/>
              </a:spcAft>
              <a:buClr>
                <a:srgbClr val="5D5D5E"/>
              </a:buClr>
              <a:buSzPts val="2000"/>
              <a:buFont typeface="Courier New"/>
              <a:buChar char="o"/>
              <a:defRPr>
                <a:solidFill>
                  <a:srgbClr val="0B5F9F"/>
                </a:solidFill>
              </a:defRPr>
            </a:lvl2pPr>
            <a:lvl3pPr indent="-330200" lvl="2" marL="1371600" algn="l">
              <a:spcBef>
                <a:spcPts val="400"/>
              </a:spcBef>
              <a:spcAft>
                <a:spcPts val="0"/>
              </a:spcAft>
              <a:buClr>
                <a:srgbClr val="5D5D5E"/>
              </a:buClr>
              <a:buSzPts val="1600"/>
              <a:buFont typeface="Arial"/>
              <a:buChar char="•"/>
              <a:defRPr>
                <a:solidFill>
                  <a:srgbClr val="0B5F9F"/>
                </a:solidFill>
              </a:defRPr>
            </a:lvl3pPr>
            <a:lvl4pPr indent="-342900" lvl="3" marL="1828800" algn="l">
              <a:spcBef>
                <a:spcPts val="360"/>
              </a:spcBef>
              <a:spcAft>
                <a:spcPts val="0"/>
              </a:spcAft>
              <a:buClr>
                <a:srgbClr val="5D5D5E"/>
              </a:buClr>
              <a:buSzPts val="1800"/>
              <a:buFont typeface="Arial"/>
              <a:buChar char="•"/>
              <a:defRPr>
                <a:solidFill>
                  <a:srgbClr val="0B5F9F"/>
                </a:solidFill>
              </a:defRPr>
            </a:lvl4pPr>
            <a:lvl5pPr indent="-342900" lvl="4" marL="2286000" algn="l">
              <a:spcBef>
                <a:spcPts val="360"/>
              </a:spcBef>
              <a:spcAft>
                <a:spcPts val="0"/>
              </a:spcAft>
              <a:buClr>
                <a:srgbClr val="5D5D5E"/>
              </a:buClr>
              <a:buSzPts val="1800"/>
              <a:buFont typeface="Arial"/>
              <a:buChar char="•"/>
              <a:defRPr>
                <a:solidFill>
                  <a:srgbClr val="0B5F9F"/>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abic Title Slide">
  <p:cSld name="Arabic Title Slide">
    <p:spTree>
      <p:nvGrpSpPr>
        <p:cNvPr id="43" name="Shape 43"/>
        <p:cNvGrpSpPr/>
        <p:nvPr/>
      </p:nvGrpSpPr>
      <p:grpSpPr>
        <a:xfrm>
          <a:off x="0" y="0"/>
          <a:ext cx="0" cy="0"/>
          <a:chOff x="0" y="0"/>
          <a:chExt cx="0" cy="0"/>
        </a:xfrm>
      </p:grpSpPr>
      <p:pic>
        <p:nvPicPr>
          <p:cNvPr descr="A close up of a logo&#10;&#10;Description automatically generated" id="44" name="Google Shape;44;p169"/>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45" name="Google Shape;45;p16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A close up of a logo&#10;&#10;Description automatically generated" id="46" name="Google Shape;46;p169"/>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47" name="Google Shape;47;p169"/>
          <p:cNvSpPr txBox="1"/>
          <p:nvPr>
            <p:ph type="ctrTitle"/>
          </p:nvPr>
        </p:nvSpPr>
        <p:spPr>
          <a:xfrm>
            <a:off x="1219200" y="2904335"/>
            <a:ext cx="9753600" cy="104933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i="0" sz="3600">
                <a:solidFill>
                  <a:schemeClr val="dk1"/>
                </a:solidFill>
                <a:latin typeface="Calibri"/>
                <a:ea typeface="Calibri"/>
                <a:cs typeface="Calibri"/>
                <a:sym typeface="Calibri"/>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169"/>
          <p:cNvSpPr txBox="1"/>
          <p:nvPr>
            <p:ph idx="1" type="body"/>
          </p:nvPr>
        </p:nvSpPr>
        <p:spPr>
          <a:xfrm>
            <a:off x="6861626" y="5459446"/>
            <a:ext cx="4144433" cy="307389"/>
          </a:xfrm>
          <a:prstGeom prst="rect">
            <a:avLst/>
          </a:prstGeom>
          <a:noFill/>
          <a:ln>
            <a:noFill/>
          </a:ln>
        </p:spPr>
        <p:txBody>
          <a:bodyPr anchorCtr="0" anchor="t" bIns="45700" lIns="91425" spcFirstLastPara="1" rIns="91425" wrap="square" tIns="45700">
            <a:noAutofit/>
          </a:bodyPr>
          <a:lstStyle>
            <a:lvl1pPr indent="-228600" lvl="0" marL="457200" algn="ctr">
              <a:spcBef>
                <a:spcPts val="320"/>
              </a:spcBef>
              <a:spcAft>
                <a:spcPts val="0"/>
              </a:spcAft>
              <a:buSzPts val="1600"/>
              <a:buNone/>
              <a:defRPr sz="1600" u="sng">
                <a:solidFill>
                  <a:srgbClr val="0B5F9F"/>
                </a:solidFill>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9" name="Google Shape;49;p169"/>
          <p:cNvSpPr txBox="1"/>
          <p:nvPr>
            <p:ph idx="2" type="body"/>
          </p:nvPr>
        </p:nvSpPr>
        <p:spPr>
          <a:xfrm>
            <a:off x="6395260" y="5084360"/>
            <a:ext cx="5099320" cy="375085"/>
          </a:xfrm>
          <a:prstGeom prst="rect">
            <a:avLst/>
          </a:prstGeom>
          <a:noFill/>
          <a:ln>
            <a:noFill/>
          </a:ln>
        </p:spPr>
        <p:txBody>
          <a:bodyPr anchorCtr="0" anchor="t" bIns="45700" lIns="91425" spcFirstLastPara="1" rIns="91425" wrap="square" tIns="45700">
            <a:noAutofit/>
          </a:bodyPr>
          <a:lstStyle>
            <a:lvl1pPr indent="-228600" lvl="0" marL="457200" algn="ctr">
              <a:spcBef>
                <a:spcPts val="480"/>
              </a:spcBef>
              <a:spcAft>
                <a:spcPts val="0"/>
              </a:spcAft>
              <a:buSzPts val="2400"/>
              <a:buNone/>
              <a:defRPr i="0" sz="2400" u="none">
                <a:solidFill>
                  <a:srgbClr val="0B5F9F"/>
                </a:solidFill>
                <a:latin typeface="Sakkal Majalla"/>
                <a:ea typeface="Sakkal Majalla"/>
                <a:cs typeface="Sakkal Majalla"/>
                <a:sym typeface="Sakkal Majalla"/>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 close up of a sign&#10;&#10;Description automatically generated" id="50" name="Google Shape;50;p169"/>
          <p:cNvPicPr preferRelativeResize="0"/>
          <p:nvPr/>
        </p:nvPicPr>
        <p:blipFill rotWithShape="1">
          <a:blip r:embed="rId5">
            <a:alphaModFix/>
          </a:blip>
          <a:srcRect b="0" l="0" r="0" t="0"/>
          <a:stretch/>
        </p:blipFill>
        <p:spPr>
          <a:xfrm>
            <a:off x="5318760" y="130343"/>
            <a:ext cx="1554480" cy="1554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abic Slide">
  <p:cSld name="Arabic Slide">
    <p:spTree>
      <p:nvGrpSpPr>
        <p:cNvPr id="51" name="Shape 51"/>
        <p:cNvGrpSpPr/>
        <p:nvPr/>
      </p:nvGrpSpPr>
      <p:grpSpPr>
        <a:xfrm>
          <a:off x="0" y="0"/>
          <a:ext cx="0" cy="0"/>
          <a:chOff x="0" y="0"/>
          <a:chExt cx="0" cy="0"/>
        </a:xfrm>
      </p:grpSpPr>
      <p:pic>
        <p:nvPicPr>
          <p:cNvPr descr="A close up of a logo&#10;&#10;Description automatically generated" id="52" name="Google Shape;52;p170"/>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descr="A close up of a logo&#10;&#10;Description automatically generated" id="53" name="Google Shape;53;p17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4" name="Google Shape;54;p170"/>
          <p:cNvSpPr txBox="1"/>
          <p:nvPr>
            <p:ph idx="1" type="body"/>
          </p:nvPr>
        </p:nvSpPr>
        <p:spPr>
          <a:xfrm>
            <a:off x="914400" y="1508759"/>
            <a:ext cx="10363200" cy="4983480"/>
          </a:xfrm>
          <a:prstGeom prst="rect">
            <a:avLst/>
          </a:prstGeom>
          <a:noFill/>
          <a:ln>
            <a:noFill/>
          </a:ln>
        </p:spPr>
        <p:txBody>
          <a:bodyPr anchorCtr="0" anchor="t" bIns="45700" lIns="91425" spcFirstLastPara="1" rIns="91425" wrap="square" tIns="45700">
            <a:noAutofit/>
          </a:bodyPr>
          <a:lstStyle>
            <a:lvl1pPr indent="-355600" lvl="0" marL="457200" rtl="1" algn="r">
              <a:spcBef>
                <a:spcPts val="400"/>
              </a:spcBef>
              <a:spcAft>
                <a:spcPts val="0"/>
              </a:spcAft>
              <a:buClr>
                <a:srgbClr val="5D5D5E"/>
              </a:buClr>
              <a:buSzPts val="2000"/>
              <a:buFont typeface="Arial"/>
              <a:buChar char="•"/>
              <a:defRPr sz="2000">
                <a:solidFill>
                  <a:srgbClr val="0B5F9F"/>
                </a:solidFill>
                <a:latin typeface="Calibri"/>
                <a:ea typeface="Calibri"/>
                <a:cs typeface="Calibri"/>
                <a:sym typeface="Calibri"/>
              </a:defRPr>
            </a:lvl1pPr>
            <a:lvl2pPr indent="-355600" lvl="1" marL="914400" rtl="1" algn="r">
              <a:spcBef>
                <a:spcPts val="400"/>
              </a:spcBef>
              <a:spcAft>
                <a:spcPts val="0"/>
              </a:spcAft>
              <a:buClr>
                <a:srgbClr val="5D5D5E"/>
              </a:buClr>
              <a:buSzPts val="2000"/>
              <a:buFont typeface="Courier New"/>
              <a:buChar char="o"/>
              <a:defRPr>
                <a:solidFill>
                  <a:srgbClr val="0B5F9F"/>
                </a:solidFill>
                <a:latin typeface="Calibri"/>
                <a:ea typeface="Calibri"/>
                <a:cs typeface="Calibri"/>
                <a:sym typeface="Calibri"/>
              </a:defRPr>
            </a:lvl2pPr>
            <a:lvl3pPr indent="-330200" lvl="2" marL="1371600" rtl="1" algn="r">
              <a:spcBef>
                <a:spcPts val="400"/>
              </a:spcBef>
              <a:spcAft>
                <a:spcPts val="0"/>
              </a:spcAft>
              <a:buClr>
                <a:srgbClr val="5D5D5E"/>
              </a:buClr>
              <a:buSzPts val="1600"/>
              <a:buFont typeface="Arial"/>
              <a:buChar char="•"/>
              <a:defRPr>
                <a:solidFill>
                  <a:srgbClr val="0B5F9F"/>
                </a:solidFill>
                <a:latin typeface="Calibri"/>
                <a:ea typeface="Calibri"/>
                <a:cs typeface="Calibri"/>
                <a:sym typeface="Calibri"/>
              </a:defRPr>
            </a:lvl3pPr>
            <a:lvl4pPr indent="-342900" lvl="3" marL="1828800" rtl="1" algn="r">
              <a:spcBef>
                <a:spcPts val="360"/>
              </a:spcBef>
              <a:spcAft>
                <a:spcPts val="0"/>
              </a:spcAft>
              <a:buClr>
                <a:srgbClr val="5D5D5E"/>
              </a:buClr>
              <a:buSzPts val="1800"/>
              <a:buFont typeface="Arial"/>
              <a:buChar char="•"/>
              <a:defRPr>
                <a:solidFill>
                  <a:srgbClr val="0B5F9F"/>
                </a:solidFill>
                <a:latin typeface="Calibri"/>
                <a:ea typeface="Calibri"/>
                <a:cs typeface="Calibri"/>
                <a:sym typeface="Calibri"/>
              </a:defRPr>
            </a:lvl4pPr>
            <a:lvl5pPr indent="-342900" lvl="4" marL="2286000" rtl="1" algn="r">
              <a:spcBef>
                <a:spcPts val="360"/>
              </a:spcBef>
              <a:spcAft>
                <a:spcPts val="0"/>
              </a:spcAft>
              <a:buClr>
                <a:srgbClr val="5D5D5E"/>
              </a:buClr>
              <a:buSzPts val="1800"/>
              <a:buFont typeface="Arial"/>
              <a:buChar char="•"/>
              <a:defRPr>
                <a:solidFill>
                  <a:srgbClr val="0B5F9F"/>
                </a:solidFill>
                <a:latin typeface="Calibri"/>
                <a:ea typeface="Calibri"/>
                <a:cs typeface="Calibri"/>
                <a:sym typeface="Calibri"/>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5" name="Google Shape;55;p170"/>
          <p:cNvSpPr txBox="1"/>
          <p:nvPr>
            <p:ph type="title"/>
          </p:nvPr>
        </p:nvSpPr>
        <p:spPr>
          <a:xfrm>
            <a:off x="946151" y="576072"/>
            <a:ext cx="10299700" cy="7307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i="0">
                <a:solidFill>
                  <a:schemeClr val="dk1"/>
                </a:solidFill>
                <a:latin typeface="Calibri"/>
                <a:ea typeface="Calibri"/>
                <a:cs typeface="Calibri"/>
                <a:sym typeface="Calibri"/>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170"/>
          <p:cNvSpPr txBox="1"/>
          <p:nvPr/>
        </p:nvSpPr>
        <p:spPr>
          <a:xfrm>
            <a:off x="9331036" y="6414871"/>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800">
                <a:solidFill>
                  <a:srgbClr val="5D5D5E"/>
                </a:solidFill>
                <a:latin typeface="Calibri"/>
                <a:ea typeface="Calibri"/>
                <a:cs typeface="Calibri"/>
                <a:sym typeface="Calibri"/>
              </a:rPr>
              <a:t>‹#›</a:t>
            </a:fld>
            <a:endParaRPr sz="1800">
              <a:solidFill>
                <a:srgbClr val="5D5D5E"/>
              </a:solidFill>
              <a:latin typeface="Calibri"/>
              <a:ea typeface="Calibri"/>
              <a:cs typeface="Calibri"/>
              <a:sym typeface="Calibri"/>
            </a:endParaRPr>
          </a:p>
        </p:txBody>
      </p:sp>
      <p:pic>
        <p:nvPicPr>
          <p:cNvPr id="57" name="Google Shape;57;p170"/>
          <p:cNvPicPr preferRelativeResize="0"/>
          <p:nvPr/>
        </p:nvPicPr>
        <p:blipFill rotWithShape="1">
          <a:blip r:embed="rId4">
            <a:alphaModFix/>
          </a:blip>
          <a:srcRect b="0" l="0" r="0" t="0"/>
          <a:stretch/>
        </p:blipFill>
        <p:spPr>
          <a:xfrm>
            <a:off x="165347" y="92358"/>
            <a:ext cx="1049894" cy="104989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71"/>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2400">
                <a:solidFill>
                  <a:schemeClr val="dk1"/>
                </a:solidFill>
                <a:latin typeface="Meddon"/>
                <a:ea typeface="Meddon"/>
                <a:cs typeface="Meddon"/>
                <a:sym typeface="Meddon"/>
              </a:defRPr>
            </a:lvl1pPr>
            <a:lvl2pPr lvl="1"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2pPr>
            <a:lvl3pPr lvl="2"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3pPr>
            <a:lvl4pPr lvl="3"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4pPr>
            <a:lvl5pPr lvl="4"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5pPr>
            <a:lvl6pPr lvl="5"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6pPr>
            <a:lvl7pPr lvl="6"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7pPr>
            <a:lvl8pPr lvl="7"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8pPr>
            <a:lvl9pPr lvl="8"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9pPr>
          </a:lstStyle>
          <a:p/>
        </p:txBody>
      </p:sp>
      <p:sp>
        <p:nvSpPr>
          <p:cNvPr id="60" name="Google Shape;60;p171"/>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2400">
                <a:solidFill>
                  <a:schemeClr val="dk1"/>
                </a:solidFill>
                <a:latin typeface="Meddon"/>
                <a:ea typeface="Meddon"/>
                <a:cs typeface="Meddon"/>
                <a:sym typeface="Meddon"/>
              </a:defRPr>
            </a:lvl1pPr>
            <a:lvl2pPr lvl="1"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2pPr>
            <a:lvl3pPr lvl="2"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3pPr>
            <a:lvl4pPr lvl="3"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4pPr>
            <a:lvl5pPr lvl="4"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5pPr>
            <a:lvl6pPr lvl="5"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6pPr>
            <a:lvl7pPr lvl="6"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7pPr>
            <a:lvl8pPr lvl="7"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8pPr>
            <a:lvl9pPr lvl="8" marR="0" rtl="0" algn="l">
              <a:spcBef>
                <a:spcPts val="0"/>
              </a:spcBef>
              <a:spcAft>
                <a:spcPts val="0"/>
              </a:spcAft>
              <a:buSzPts val="1400"/>
              <a:buNone/>
              <a:defRPr b="0" i="0" sz="2400" u="none" cap="none" strike="noStrike">
                <a:solidFill>
                  <a:schemeClr val="dk1"/>
                </a:solidFill>
                <a:latin typeface="Meddon"/>
                <a:ea typeface="Meddon"/>
                <a:cs typeface="Meddon"/>
                <a:sym typeface="Meddon"/>
              </a:defRPr>
            </a:lvl9pPr>
          </a:lstStyle>
          <a:p/>
        </p:txBody>
      </p:sp>
      <p:sp>
        <p:nvSpPr>
          <p:cNvPr id="61" name="Google Shape;61;p171"/>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sz="2400">
                <a:solidFill>
                  <a:schemeClr val="dk1"/>
                </a:solidFill>
                <a:latin typeface="Meddon"/>
                <a:ea typeface="Meddon"/>
                <a:cs typeface="Meddon"/>
                <a:sym typeface="Meddon"/>
              </a:defRPr>
            </a:lvl1pPr>
            <a:lvl2pPr indent="0" lvl="1" marL="0" marR="0" rtl="0" algn="l">
              <a:spcBef>
                <a:spcPts val="0"/>
              </a:spcBef>
              <a:spcAft>
                <a:spcPts val="0"/>
              </a:spcAft>
              <a:buNone/>
              <a:defRPr sz="2400">
                <a:solidFill>
                  <a:schemeClr val="dk1"/>
                </a:solidFill>
                <a:latin typeface="Meddon"/>
                <a:ea typeface="Meddon"/>
                <a:cs typeface="Meddon"/>
                <a:sym typeface="Meddon"/>
              </a:defRPr>
            </a:lvl2pPr>
            <a:lvl3pPr indent="0" lvl="2" marL="0" marR="0" rtl="0" algn="l">
              <a:spcBef>
                <a:spcPts val="0"/>
              </a:spcBef>
              <a:spcAft>
                <a:spcPts val="0"/>
              </a:spcAft>
              <a:buNone/>
              <a:defRPr sz="2400">
                <a:solidFill>
                  <a:schemeClr val="dk1"/>
                </a:solidFill>
                <a:latin typeface="Meddon"/>
                <a:ea typeface="Meddon"/>
                <a:cs typeface="Meddon"/>
                <a:sym typeface="Meddon"/>
              </a:defRPr>
            </a:lvl3pPr>
            <a:lvl4pPr indent="0" lvl="3" marL="0" marR="0" rtl="0" algn="l">
              <a:spcBef>
                <a:spcPts val="0"/>
              </a:spcBef>
              <a:spcAft>
                <a:spcPts val="0"/>
              </a:spcAft>
              <a:buNone/>
              <a:defRPr sz="2400">
                <a:solidFill>
                  <a:schemeClr val="dk1"/>
                </a:solidFill>
                <a:latin typeface="Meddon"/>
                <a:ea typeface="Meddon"/>
                <a:cs typeface="Meddon"/>
                <a:sym typeface="Meddon"/>
              </a:defRPr>
            </a:lvl4pPr>
            <a:lvl5pPr indent="0" lvl="4" marL="0" marR="0" rtl="0" algn="l">
              <a:spcBef>
                <a:spcPts val="0"/>
              </a:spcBef>
              <a:spcAft>
                <a:spcPts val="0"/>
              </a:spcAft>
              <a:buNone/>
              <a:defRPr sz="2400">
                <a:solidFill>
                  <a:schemeClr val="dk1"/>
                </a:solidFill>
                <a:latin typeface="Meddon"/>
                <a:ea typeface="Meddon"/>
                <a:cs typeface="Meddon"/>
                <a:sym typeface="Meddon"/>
              </a:defRPr>
            </a:lvl5pPr>
            <a:lvl6pPr indent="0" lvl="5" marL="0" marR="0" rtl="0" algn="l">
              <a:spcBef>
                <a:spcPts val="0"/>
              </a:spcBef>
              <a:spcAft>
                <a:spcPts val="0"/>
              </a:spcAft>
              <a:buNone/>
              <a:defRPr sz="2400">
                <a:solidFill>
                  <a:schemeClr val="dk1"/>
                </a:solidFill>
                <a:latin typeface="Meddon"/>
                <a:ea typeface="Meddon"/>
                <a:cs typeface="Meddon"/>
                <a:sym typeface="Meddon"/>
              </a:defRPr>
            </a:lvl6pPr>
            <a:lvl7pPr indent="0" lvl="6" marL="0" marR="0" rtl="0" algn="l">
              <a:spcBef>
                <a:spcPts val="0"/>
              </a:spcBef>
              <a:spcAft>
                <a:spcPts val="0"/>
              </a:spcAft>
              <a:buNone/>
              <a:defRPr sz="2400">
                <a:solidFill>
                  <a:schemeClr val="dk1"/>
                </a:solidFill>
                <a:latin typeface="Meddon"/>
                <a:ea typeface="Meddon"/>
                <a:cs typeface="Meddon"/>
                <a:sym typeface="Meddon"/>
              </a:defRPr>
            </a:lvl7pPr>
            <a:lvl8pPr indent="0" lvl="7" marL="0" marR="0" rtl="0" algn="l">
              <a:spcBef>
                <a:spcPts val="0"/>
              </a:spcBef>
              <a:spcAft>
                <a:spcPts val="0"/>
              </a:spcAft>
              <a:buNone/>
              <a:defRPr sz="2400">
                <a:solidFill>
                  <a:schemeClr val="dk1"/>
                </a:solidFill>
                <a:latin typeface="Meddon"/>
                <a:ea typeface="Meddon"/>
                <a:cs typeface="Meddon"/>
                <a:sym typeface="Meddon"/>
              </a:defRPr>
            </a:lvl8pPr>
            <a:lvl9pPr indent="0" lvl="8" marL="0" marR="0" rtl="0" algn="l">
              <a:spcBef>
                <a:spcPts val="0"/>
              </a:spcBef>
              <a:spcAft>
                <a:spcPts val="0"/>
              </a:spcAft>
              <a:buNone/>
              <a:defRPr sz="2400">
                <a:solidFill>
                  <a:schemeClr val="dk1"/>
                </a:solidFill>
                <a:latin typeface="Meddon"/>
                <a:ea typeface="Meddon"/>
                <a:cs typeface="Meddon"/>
                <a:sym typeface="Meddo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abic Slide 2 columns">
  <p:cSld name="Arabic Slide 2 columns">
    <p:spTree>
      <p:nvGrpSpPr>
        <p:cNvPr id="62" name="Shape 62"/>
        <p:cNvGrpSpPr/>
        <p:nvPr/>
      </p:nvGrpSpPr>
      <p:grpSpPr>
        <a:xfrm>
          <a:off x="0" y="0"/>
          <a:ext cx="0" cy="0"/>
          <a:chOff x="0" y="0"/>
          <a:chExt cx="0" cy="0"/>
        </a:xfrm>
      </p:grpSpPr>
      <p:pic>
        <p:nvPicPr>
          <p:cNvPr descr="A close up of a logo&#10;&#10;Description automatically generated" id="63" name="Google Shape;63;p172"/>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descr="A close up of a logo&#10;&#10;Description automatically generated" id="64" name="Google Shape;64;p17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5" name="Google Shape;65;p172"/>
          <p:cNvSpPr txBox="1"/>
          <p:nvPr>
            <p:ph idx="1" type="body"/>
          </p:nvPr>
        </p:nvSpPr>
        <p:spPr>
          <a:xfrm>
            <a:off x="6198363" y="1508759"/>
            <a:ext cx="5047488" cy="4983480"/>
          </a:xfrm>
          <a:prstGeom prst="rect">
            <a:avLst/>
          </a:prstGeom>
          <a:noFill/>
          <a:ln>
            <a:noFill/>
          </a:ln>
        </p:spPr>
        <p:txBody>
          <a:bodyPr anchorCtr="0" anchor="t" bIns="45700" lIns="91425" spcFirstLastPara="1" rIns="91425" wrap="square" tIns="45700">
            <a:noAutofit/>
          </a:bodyPr>
          <a:lstStyle>
            <a:lvl1pPr indent="-355600" lvl="0" marL="457200" rtl="1" algn="r">
              <a:spcBef>
                <a:spcPts val="400"/>
              </a:spcBef>
              <a:spcAft>
                <a:spcPts val="0"/>
              </a:spcAft>
              <a:buClr>
                <a:srgbClr val="5D5D5E"/>
              </a:buClr>
              <a:buSzPts val="2000"/>
              <a:buFont typeface="Arial"/>
              <a:buChar char="•"/>
              <a:defRPr sz="2000">
                <a:solidFill>
                  <a:srgbClr val="0B5F9F"/>
                </a:solidFill>
                <a:latin typeface="Calibri"/>
                <a:ea typeface="Calibri"/>
                <a:cs typeface="Calibri"/>
                <a:sym typeface="Calibri"/>
              </a:defRPr>
            </a:lvl1pPr>
            <a:lvl2pPr indent="-355600" lvl="1" marL="914400" rtl="1" algn="r">
              <a:spcBef>
                <a:spcPts val="400"/>
              </a:spcBef>
              <a:spcAft>
                <a:spcPts val="0"/>
              </a:spcAft>
              <a:buClr>
                <a:srgbClr val="5D5D5E"/>
              </a:buClr>
              <a:buSzPts val="2000"/>
              <a:buFont typeface="Courier New"/>
              <a:buChar char="o"/>
              <a:defRPr>
                <a:solidFill>
                  <a:srgbClr val="0B5F9F"/>
                </a:solidFill>
                <a:latin typeface="Calibri"/>
                <a:ea typeface="Calibri"/>
                <a:cs typeface="Calibri"/>
                <a:sym typeface="Calibri"/>
              </a:defRPr>
            </a:lvl2pPr>
            <a:lvl3pPr indent="-330200" lvl="2" marL="1371600" rtl="1" algn="r">
              <a:spcBef>
                <a:spcPts val="400"/>
              </a:spcBef>
              <a:spcAft>
                <a:spcPts val="0"/>
              </a:spcAft>
              <a:buClr>
                <a:srgbClr val="5D5D5E"/>
              </a:buClr>
              <a:buSzPts val="1600"/>
              <a:buFont typeface="Arial"/>
              <a:buChar char="•"/>
              <a:defRPr>
                <a:solidFill>
                  <a:srgbClr val="0B5F9F"/>
                </a:solidFill>
                <a:latin typeface="Calibri"/>
                <a:ea typeface="Calibri"/>
                <a:cs typeface="Calibri"/>
                <a:sym typeface="Calibri"/>
              </a:defRPr>
            </a:lvl3pPr>
            <a:lvl4pPr indent="-342900" lvl="3" marL="1828800" rtl="1" algn="r">
              <a:spcBef>
                <a:spcPts val="360"/>
              </a:spcBef>
              <a:spcAft>
                <a:spcPts val="0"/>
              </a:spcAft>
              <a:buClr>
                <a:srgbClr val="5D5D5E"/>
              </a:buClr>
              <a:buSzPts val="1800"/>
              <a:buFont typeface="Arial"/>
              <a:buChar char="•"/>
              <a:defRPr>
                <a:solidFill>
                  <a:srgbClr val="0B5F9F"/>
                </a:solidFill>
                <a:latin typeface="Calibri"/>
                <a:ea typeface="Calibri"/>
                <a:cs typeface="Calibri"/>
                <a:sym typeface="Calibri"/>
              </a:defRPr>
            </a:lvl4pPr>
            <a:lvl5pPr indent="-342900" lvl="4" marL="2286000" rtl="1" algn="r">
              <a:spcBef>
                <a:spcPts val="360"/>
              </a:spcBef>
              <a:spcAft>
                <a:spcPts val="0"/>
              </a:spcAft>
              <a:buClr>
                <a:srgbClr val="5D5D5E"/>
              </a:buClr>
              <a:buSzPts val="1800"/>
              <a:buFont typeface="Arial"/>
              <a:buChar char="•"/>
              <a:defRPr>
                <a:solidFill>
                  <a:srgbClr val="0B5F9F"/>
                </a:solidFill>
                <a:latin typeface="Calibri"/>
                <a:ea typeface="Calibri"/>
                <a:cs typeface="Calibri"/>
                <a:sym typeface="Calibri"/>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6" name="Google Shape;66;p172"/>
          <p:cNvSpPr txBox="1"/>
          <p:nvPr>
            <p:ph type="title"/>
          </p:nvPr>
        </p:nvSpPr>
        <p:spPr>
          <a:xfrm>
            <a:off x="946151" y="576072"/>
            <a:ext cx="10299700" cy="7307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i="0">
                <a:solidFill>
                  <a:schemeClr val="dk1"/>
                </a:solidFill>
                <a:latin typeface="Calibri"/>
                <a:ea typeface="Calibri"/>
                <a:cs typeface="Calibri"/>
                <a:sym typeface="Calibri"/>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72"/>
          <p:cNvSpPr txBox="1"/>
          <p:nvPr/>
        </p:nvSpPr>
        <p:spPr>
          <a:xfrm>
            <a:off x="9331036" y="6414871"/>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800">
                <a:solidFill>
                  <a:srgbClr val="5D5D5E"/>
                </a:solidFill>
                <a:latin typeface="Calibri"/>
                <a:ea typeface="Calibri"/>
                <a:cs typeface="Calibri"/>
                <a:sym typeface="Calibri"/>
              </a:rPr>
              <a:t>‹#›</a:t>
            </a:fld>
            <a:endParaRPr sz="1800">
              <a:solidFill>
                <a:srgbClr val="5D5D5E"/>
              </a:solidFill>
              <a:latin typeface="Calibri"/>
              <a:ea typeface="Calibri"/>
              <a:cs typeface="Calibri"/>
              <a:sym typeface="Calibri"/>
            </a:endParaRPr>
          </a:p>
        </p:txBody>
      </p:sp>
      <p:pic>
        <p:nvPicPr>
          <p:cNvPr id="68" name="Google Shape;68;p172"/>
          <p:cNvPicPr preferRelativeResize="0"/>
          <p:nvPr/>
        </p:nvPicPr>
        <p:blipFill rotWithShape="1">
          <a:blip r:embed="rId4">
            <a:alphaModFix/>
          </a:blip>
          <a:srcRect b="0" l="0" r="0" t="0"/>
          <a:stretch/>
        </p:blipFill>
        <p:spPr>
          <a:xfrm>
            <a:off x="165347" y="92358"/>
            <a:ext cx="1049894" cy="1049894"/>
          </a:xfrm>
          <a:prstGeom prst="rect">
            <a:avLst/>
          </a:prstGeom>
          <a:noFill/>
          <a:ln>
            <a:noFill/>
          </a:ln>
        </p:spPr>
      </p:pic>
      <p:sp>
        <p:nvSpPr>
          <p:cNvPr id="69" name="Google Shape;69;p172"/>
          <p:cNvSpPr txBox="1"/>
          <p:nvPr>
            <p:ph idx="2" type="body"/>
          </p:nvPr>
        </p:nvSpPr>
        <p:spPr>
          <a:xfrm>
            <a:off x="946150" y="1508386"/>
            <a:ext cx="5047488" cy="4983480"/>
          </a:xfrm>
          <a:prstGeom prst="rect">
            <a:avLst/>
          </a:prstGeom>
          <a:noFill/>
          <a:ln>
            <a:noFill/>
          </a:ln>
        </p:spPr>
        <p:txBody>
          <a:bodyPr anchorCtr="0" anchor="t" bIns="45700" lIns="91425" spcFirstLastPara="1" rIns="91425" wrap="square" tIns="45700">
            <a:noAutofit/>
          </a:bodyPr>
          <a:lstStyle>
            <a:lvl1pPr indent="-355600" lvl="0" marL="457200" rtl="1" algn="r">
              <a:spcBef>
                <a:spcPts val="400"/>
              </a:spcBef>
              <a:spcAft>
                <a:spcPts val="0"/>
              </a:spcAft>
              <a:buClr>
                <a:srgbClr val="5D5D5E"/>
              </a:buClr>
              <a:buSzPts val="2000"/>
              <a:buFont typeface="Arial"/>
              <a:buChar char="•"/>
              <a:defRPr sz="2000">
                <a:solidFill>
                  <a:srgbClr val="0B5F9F"/>
                </a:solidFill>
                <a:latin typeface="Calibri"/>
                <a:ea typeface="Calibri"/>
                <a:cs typeface="Calibri"/>
                <a:sym typeface="Calibri"/>
              </a:defRPr>
            </a:lvl1pPr>
            <a:lvl2pPr indent="-355600" lvl="1" marL="914400" rtl="1" algn="r">
              <a:spcBef>
                <a:spcPts val="400"/>
              </a:spcBef>
              <a:spcAft>
                <a:spcPts val="0"/>
              </a:spcAft>
              <a:buClr>
                <a:srgbClr val="5D5D5E"/>
              </a:buClr>
              <a:buSzPts val="2000"/>
              <a:buFont typeface="Courier New"/>
              <a:buChar char="o"/>
              <a:defRPr>
                <a:solidFill>
                  <a:srgbClr val="0B5F9F"/>
                </a:solidFill>
                <a:latin typeface="Calibri"/>
                <a:ea typeface="Calibri"/>
                <a:cs typeface="Calibri"/>
                <a:sym typeface="Calibri"/>
              </a:defRPr>
            </a:lvl2pPr>
            <a:lvl3pPr indent="-330200" lvl="2" marL="1371600" rtl="1" algn="r">
              <a:spcBef>
                <a:spcPts val="400"/>
              </a:spcBef>
              <a:spcAft>
                <a:spcPts val="0"/>
              </a:spcAft>
              <a:buClr>
                <a:srgbClr val="5D5D5E"/>
              </a:buClr>
              <a:buSzPts val="1600"/>
              <a:buFont typeface="Arial"/>
              <a:buChar char="•"/>
              <a:defRPr>
                <a:solidFill>
                  <a:srgbClr val="0B5F9F"/>
                </a:solidFill>
                <a:latin typeface="Calibri"/>
                <a:ea typeface="Calibri"/>
                <a:cs typeface="Calibri"/>
                <a:sym typeface="Calibri"/>
              </a:defRPr>
            </a:lvl3pPr>
            <a:lvl4pPr indent="-342900" lvl="3" marL="1828800" rtl="1" algn="r">
              <a:spcBef>
                <a:spcPts val="360"/>
              </a:spcBef>
              <a:spcAft>
                <a:spcPts val="0"/>
              </a:spcAft>
              <a:buClr>
                <a:srgbClr val="5D5D5E"/>
              </a:buClr>
              <a:buSzPts val="1800"/>
              <a:buFont typeface="Arial"/>
              <a:buChar char="•"/>
              <a:defRPr>
                <a:solidFill>
                  <a:srgbClr val="0B5F9F"/>
                </a:solidFill>
                <a:latin typeface="Calibri"/>
                <a:ea typeface="Calibri"/>
                <a:cs typeface="Calibri"/>
                <a:sym typeface="Calibri"/>
              </a:defRPr>
            </a:lvl4pPr>
            <a:lvl5pPr indent="-342900" lvl="4" marL="2286000" rtl="1" algn="r">
              <a:spcBef>
                <a:spcPts val="360"/>
              </a:spcBef>
              <a:spcAft>
                <a:spcPts val="0"/>
              </a:spcAft>
              <a:buClr>
                <a:srgbClr val="5D5D5E"/>
              </a:buClr>
              <a:buSzPts val="1800"/>
              <a:buFont typeface="Arial"/>
              <a:buChar char="•"/>
              <a:defRPr>
                <a:solidFill>
                  <a:srgbClr val="0B5F9F"/>
                </a:solidFill>
                <a:latin typeface="Calibri"/>
                <a:ea typeface="Calibri"/>
                <a:cs typeface="Calibri"/>
                <a:sym typeface="Calibri"/>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3"/>
          <p:cNvSpPr txBox="1"/>
          <p:nvPr>
            <p:ph type="title"/>
          </p:nvPr>
        </p:nvSpPr>
        <p:spPr>
          <a:xfrm>
            <a:off x="946151" y="943501"/>
            <a:ext cx="10299700" cy="776287"/>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1" sz="2800" u="none" cap="none" strike="noStrike">
                <a:solidFill>
                  <a:srgbClr val="5D5D5E"/>
                </a:solidFill>
                <a:latin typeface="Calibri"/>
                <a:ea typeface="Calibri"/>
                <a:cs typeface="Calibri"/>
                <a:sym typeface="Calibri"/>
              </a:defRPr>
            </a:lvl1pPr>
            <a:lvl2pPr lvl="1" marR="0" rtl="0" algn="ctr">
              <a:spcBef>
                <a:spcPts val="0"/>
              </a:spcBef>
              <a:spcAft>
                <a:spcPts val="0"/>
              </a:spcAft>
              <a:buSzPts val="1400"/>
              <a:buNone/>
              <a:defRPr b="1" i="1" sz="28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1" i="1" sz="28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1" i="1" sz="28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1" i="1" sz="28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1" i="1" sz="28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1" i="1" sz="28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1" i="1" sz="28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1" i="1" sz="2800" u="none" cap="none" strike="noStrike">
                <a:solidFill>
                  <a:schemeClr val="dk2"/>
                </a:solidFill>
                <a:latin typeface="Times New Roman"/>
                <a:ea typeface="Times New Roman"/>
                <a:cs typeface="Times New Roman"/>
                <a:sym typeface="Times New Roman"/>
              </a:defRPr>
            </a:lvl9pPr>
          </a:lstStyle>
          <a:p/>
        </p:txBody>
      </p:sp>
      <p:sp>
        <p:nvSpPr>
          <p:cNvPr id="11" name="Google Shape;11;p163"/>
          <p:cNvSpPr txBox="1"/>
          <p:nvPr>
            <p:ph idx="1" type="body"/>
          </p:nvPr>
        </p:nvSpPr>
        <p:spPr>
          <a:xfrm>
            <a:off x="914400" y="1855286"/>
            <a:ext cx="10363200" cy="4640409"/>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rgbClr val="5D5D5E"/>
              </a:buClr>
              <a:buSzPts val="2000"/>
              <a:buFont typeface="Arial"/>
              <a:buChar char="•"/>
              <a:defRPr b="1" i="0" sz="2000" u="none" cap="none" strike="noStrike">
                <a:solidFill>
                  <a:srgbClr val="0B5F9F"/>
                </a:solidFill>
                <a:latin typeface="Calibri"/>
                <a:ea typeface="Calibri"/>
                <a:cs typeface="Calibri"/>
                <a:sym typeface="Calibri"/>
              </a:defRPr>
            </a:lvl1pPr>
            <a:lvl2pPr indent="-355600" lvl="1" marL="914400" marR="0" rtl="0" algn="l">
              <a:spcBef>
                <a:spcPts val="400"/>
              </a:spcBef>
              <a:spcAft>
                <a:spcPts val="0"/>
              </a:spcAft>
              <a:buClr>
                <a:srgbClr val="5D5D5E"/>
              </a:buClr>
              <a:buSzPts val="2000"/>
              <a:buFont typeface="Arial"/>
              <a:buChar char="•"/>
              <a:defRPr b="1" i="0" sz="2000" u="none" cap="none" strike="noStrike">
                <a:solidFill>
                  <a:srgbClr val="0B5F9F"/>
                </a:solidFill>
                <a:latin typeface="Calibri"/>
                <a:ea typeface="Calibri"/>
                <a:cs typeface="Calibri"/>
                <a:sym typeface="Calibri"/>
              </a:defRPr>
            </a:lvl2pPr>
            <a:lvl3pPr indent="-355600" lvl="2" marL="1371600" marR="0" rtl="0" algn="l">
              <a:spcBef>
                <a:spcPts val="400"/>
              </a:spcBef>
              <a:spcAft>
                <a:spcPts val="0"/>
              </a:spcAft>
              <a:buClr>
                <a:srgbClr val="5D5D5E"/>
              </a:buClr>
              <a:buSzPts val="2000"/>
              <a:buFont typeface="Arial"/>
              <a:buChar char="•"/>
              <a:defRPr b="1" i="0" sz="2000" u="none" cap="none" strike="noStrike">
                <a:solidFill>
                  <a:srgbClr val="0B5F9F"/>
                </a:solidFill>
                <a:latin typeface="Calibri"/>
                <a:ea typeface="Calibri"/>
                <a:cs typeface="Calibri"/>
                <a:sym typeface="Calibri"/>
              </a:defRPr>
            </a:lvl3pPr>
            <a:lvl4pPr indent="-342900" lvl="3" marL="1828800" marR="0" rtl="0" algn="l">
              <a:spcBef>
                <a:spcPts val="360"/>
              </a:spcBef>
              <a:spcAft>
                <a:spcPts val="0"/>
              </a:spcAft>
              <a:buClr>
                <a:srgbClr val="5D5D5E"/>
              </a:buClr>
              <a:buSzPts val="1800"/>
              <a:buFont typeface="Arial"/>
              <a:buChar char="•"/>
              <a:defRPr b="1" i="0" sz="1800" u="none" cap="none" strike="noStrike">
                <a:solidFill>
                  <a:srgbClr val="0B5F9F"/>
                </a:solidFill>
                <a:latin typeface="Calibri"/>
                <a:ea typeface="Calibri"/>
                <a:cs typeface="Calibri"/>
                <a:sym typeface="Calibri"/>
              </a:defRPr>
            </a:lvl4pPr>
            <a:lvl5pPr indent="-342900" lvl="4" marL="2286000" marR="0" rtl="0" algn="l">
              <a:spcBef>
                <a:spcPts val="360"/>
              </a:spcBef>
              <a:spcAft>
                <a:spcPts val="0"/>
              </a:spcAft>
              <a:buClr>
                <a:srgbClr val="5D5D5E"/>
              </a:buClr>
              <a:buSzPts val="1800"/>
              <a:buFont typeface="Arial"/>
              <a:buChar char="•"/>
              <a:defRPr b="1" i="0" sz="1800" u="none" cap="none" strike="noStrike">
                <a:solidFill>
                  <a:srgbClr val="0B5F9F"/>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Garamond"/>
              <a:buChar char="»"/>
              <a:defRPr b="1" i="0" sz="1800" u="none" cap="none" strike="noStrike">
                <a:solidFill>
                  <a:schemeClr val="dk1"/>
                </a:solidFill>
                <a:latin typeface="Garamond"/>
                <a:ea typeface="Garamond"/>
                <a:cs typeface="Garamond"/>
                <a:sym typeface="Garamond"/>
              </a:defRPr>
            </a:lvl6pPr>
            <a:lvl7pPr indent="-342900" lvl="6" marL="3200400" marR="0" rtl="0" algn="l">
              <a:spcBef>
                <a:spcPts val="360"/>
              </a:spcBef>
              <a:spcAft>
                <a:spcPts val="0"/>
              </a:spcAft>
              <a:buClr>
                <a:schemeClr val="dk1"/>
              </a:buClr>
              <a:buSzPts val="1800"/>
              <a:buFont typeface="Garamond"/>
              <a:buChar char="»"/>
              <a:defRPr b="1" i="0" sz="1800" u="none" cap="none" strike="noStrike">
                <a:solidFill>
                  <a:schemeClr val="dk1"/>
                </a:solidFill>
                <a:latin typeface="Garamond"/>
                <a:ea typeface="Garamond"/>
                <a:cs typeface="Garamond"/>
                <a:sym typeface="Garamond"/>
              </a:defRPr>
            </a:lvl7pPr>
            <a:lvl8pPr indent="-342900" lvl="7" marL="3657600" marR="0" rtl="0" algn="l">
              <a:spcBef>
                <a:spcPts val="360"/>
              </a:spcBef>
              <a:spcAft>
                <a:spcPts val="0"/>
              </a:spcAft>
              <a:buClr>
                <a:schemeClr val="dk1"/>
              </a:buClr>
              <a:buSzPts val="1800"/>
              <a:buFont typeface="Garamond"/>
              <a:buChar char="»"/>
              <a:defRPr b="1" i="0" sz="1800" u="none" cap="none" strike="noStrike">
                <a:solidFill>
                  <a:schemeClr val="dk1"/>
                </a:solidFill>
                <a:latin typeface="Garamond"/>
                <a:ea typeface="Garamond"/>
                <a:cs typeface="Garamond"/>
                <a:sym typeface="Garamond"/>
              </a:defRPr>
            </a:lvl8pPr>
            <a:lvl9pPr indent="-342900" lvl="8" marL="4114800" marR="0" rtl="0" algn="l">
              <a:spcBef>
                <a:spcPts val="360"/>
              </a:spcBef>
              <a:spcAft>
                <a:spcPts val="0"/>
              </a:spcAft>
              <a:buClr>
                <a:schemeClr val="dk1"/>
              </a:buClr>
              <a:buSzPts val="1800"/>
              <a:buFont typeface="Garamond"/>
              <a:buChar char="»"/>
              <a:defRPr b="1" i="0" sz="1800" u="none" cap="none" strike="noStrike">
                <a:solidFill>
                  <a:schemeClr val="dk1"/>
                </a:solidFill>
                <a:latin typeface="Garamond"/>
                <a:ea typeface="Garamond"/>
                <a:cs typeface="Garamond"/>
                <a:sym typeface="Garamond"/>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8.png"/><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6.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2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image" Target="../media/image2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image" Target="../media/image2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 Id="rId3" Type="http://schemas.openxmlformats.org/officeDocument/2006/relationships/image" Target="../media/image3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image" Target="../media/image2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40.png"/><Relationship Id="rId4" Type="http://schemas.openxmlformats.org/officeDocument/2006/relationships/image" Target="../media/image3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 Id="rId3" Type="http://schemas.openxmlformats.org/officeDocument/2006/relationships/image" Target="../media/image2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 Id="rId3" Type="http://schemas.openxmlformats.org/officeDocument/2006/relationships/image" Target="../media/image2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 Id="rId3" Type="http://schemas.openxmlformats.org/officeDocument/2006/relationships/image" Target="../media/image2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 Id="rId3" Type="http://schemas.openxmlformats.org/officeDocument/2006/relationships/image" Target="../media/image2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 Id="rId3" Type="http://schemas.openxmlformats.org/officeDocument/2006/relationships/image" Target="../media/image3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 Id="rId3" Type="http://schemas.openxmlformats.org/officeDocument/2006/relationships/image" Target="../media/image3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4.xml"/><Relationship Id="rId3" Type="http://schemas.openxmlformats.org/officeDocument/2006/relationships/image" Target="../media/image2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 Id="rId3" Type="http://schemas.openxmlformats.org/officeDocument/2006/relationships/image" Target="../media/image2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6.xml"/><Relationship Id="rId3" Type="http://schemas.openxmlformats.org/officeDocument/2006/relationships/image" Target="../media/image2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7.xml"/><Relationship Id="rId3" Type="http://schemas.openxmlformats.org/officeDocument/2006/relationships/image" Target="../media/image2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4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4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3.xml"/><Relationship Id="rId3" Type="http://schemas.openxmlformats.org/officeDocument/2006/relationships/image" Target="../media/image45.png"/><Relationship Id="rId4" Type="http://schemas.openxmlformats.org/officeDocument/2006/relationships/image" Target="../media/image42.png"/><Relationship Id="rId5" Type="http://schemas.openxmlformats.org/officeDocument/2006/relationships/image" Target="../media/image50.png"/><Relationship Id="rId6" Type="http://schemas.openxmlformats.org/officeDocument/2006/relationships/image" Target="../media/image4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4.xml"/><Relationship Id="rId3" Type="http://schemas.openxmlformats.org/officeDocument/2006/relationships/image" Target="../media/image45.png"/><Relationship Id="rId4" Type="http://schemas.openxmlformats.org/officeDocument/2006/relationships/image" Target="../media/image42.png"/><Relationship Id="rId5" Type="http://schemas.openxmlformats.org/officeDocument/2006/relationships/image" Target="../media/image5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5.xml"/><Relationship Id="rId3" Type="http://schemas.openxmlformats.org/officeDocument/2006/relationships/image" Target="../media/image45.png"/><Relationship Id="rId4" Type="http://schemas.openxmlformats.org/officeDocument/2006/relationships/image" Target="../media/image42.png"/><Relationship Id="rId5" Type="http://schemas.openxmlformats.org/officeDocument/2006/relationships/image" Target="../media/image5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6.xml"/><Relationship Id="rId3" Type="http://schemas.openxmlformats.org/officeDocument/2006/relationships/image" Target="../media/image45.png"/><Relationship Id="rId4" Type="http://schemas.openxmlformats.org/officeDocument/2006/relationships/image" Target="../media/image42.png"/><Relationship Id="rId5" Type="http://schemas.openxmlformats.org/officeDocument/2006/relationships/image" Target="../media/image5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7.xml"/><Relationship Id="rId3" Type="http://schemas.openxmlformats.org/officeDocument/2006/relationships/image" Target="../media/image45.png"/><Relationship Id="rId4" Type="http://schemas.openxmlformats.org/officeDocument/2006/relationships/image" Target="../media/image42.png"/><Relationship Id="rId5" Type="http://schemas.openxmlformats.org/officeDocument/2006/relationships/image" Target="../media/image5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8.xml"/><Relationship Id="rId3" Type="http://schemas.openxmlformats.org/officeDocument/2006/relationships/image" Target="../media/image45.png"/><Relationship Id="rId4" Type="http://schemas.openxmlformats.org/officeDocument/2006/relationships/image" Target="../media/image42.png"/><Relationship Id="rId5" Type="http://schemas.openxmlformats.org/officeDocument/2006/relationships/image" Target="../media/image50.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9.xml"/><Relationship Id="rId3" Type="http://schemas.openxmlformats.org/officeDocument/2006/relationships/image" Target="../media/image45.png"/><Relationship Id="rId4" Type="http://schemas.openxmlformats.org/officeDocument/2006/relationships/image" Target="../media/image42.png"/><Relationship Id="rId5" Type="http://schemas.openxmlformats.org/officeDocument/2006/relationships/image" Target="../media/image5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0.xml"/><Relationship Id="rId3" Type="http://schemas.openxmlformats.org/officeDocument/2006/relationships/image" Target="../media/image48.png"/><Relationship Id="rId4" Type="http://schemas.openxmlformats.org/officeDocument/2006/relationships/image" Target="../media/image47.png"/><Relationship Id="rId5" Type="http://schemas.openxmlformats.org/officeDocument/2006/relationships/image" Target="../media/image49.png"/><Relationship Id="rId6" Type="http://schemas.openxmlformats.org/officeDocument/2006/relationships/image" Target="../media/image5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1.xml"/><Relationship Id="rId3" Type="http://schemas.openxmlformats.org/officeDocument/2006/relationships/image" Target="../media/image45.png"/><Relationship Id="rId4" Type="http://schemas.openxmlformats.org/officeDocument/2006/relationships/image" Target="../media/image42.png"/><Relationship Id="rId5" Type="http://schemas.openxmlformats.org/officeDocument/2006/relationships/image" Target="../media/image50.png"/><Relationship Id="rId6" Type="http://schemas.openxmlformats.org/officeDocument/2006/relationships/image" Target="../media/image53.png"/></Relationships>
</file>

<file path=ppt/slides/_rels/slide92.xml.rels><?xml version="1.0" encoding="UTF-8" standalone="yes"?><Relationships xmlns="http://schemas.openxmlformats.org/package/2006/relationships"><Relationship Id="rId11" Type="http://schemas.openxmlformats.org/officeDocument/2006/relationships/image" Target="../media/image58.png"/><Relationship Id="rId10" Type="http://schemas.openxmlformats.org/officeDocument/2006/relationships/image" Target="../media/image54.png"/><Relationship Id="rId13" Type="http://schemas.openxmlformats.org/officeDocument/2006/relationships/image" Target="../media/image60.png"/><Relationship Id="rId12" Type="http://schemas.openxmlformats.org/officeDocument/2006/relationships/image" Target="../media/image61.png"/><Relationship Id="rId1" Type="http://schemas.openxmlformats.org/officeDocument/2006/relationships/slideLayout" Target="../slideLayouts/slideLayout8.xml"/><Relationship Id="rId2" Type="http://schemas.openxmlformats.org/officeDocument/2006/relationships/notesSlide" Target="../notesSlides/notesSlide92.xml"/><Relationship Id="rId3" Type="http://schemas.openxmlformats.org/officeDocument/2006/relationships/image" Target="../media/image45.png"/><Relationship Id="rId4" Type="http://schemas.openxmlformats.org/officeDocument/2006/relationships/image" Target="../media/image42.png"/><Relationship Id="rId9" Type="http://schemas.openxmlformats.org/officeDocument/2006/relationships/image" Target="../media/image55.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6.png"/><Relationship Id="rId8" Type="http://schemas.openxmlformats.org/officeDocument/2006/relationships/image" Target="../media/image52.png"/></Relationships>
</file>

<file path=ppt/slides/_rels/slide93.xml.rels><?xml version="1.0" encoding="UTF-8" standalone="yes"?><Relationships xmlns="http://schemas.openxmlformats.org/package/2006/relationships"><Relationship Id="rId11" Type="http://schemas.openxmlformats.org/officeDocument/2006/relationships/image" Target="../media/image65.png"/><Relationship Id="rId10" Type="http://schemas.openxmlformats.org/officeDocument/2006/relationships/image" Target="../media/image66.png"/><Relationship Id="rId1" Type="http://schemas.openxmlformats.org/officeDocument/2006/relationships/slideLayout" Target="../slideLayouts/slideLayout8.xml"/><Relationship Id="rId2" Type="http://schemas.openxmlformats.org/officeDocument/2006/relationships/notesSlide" Target="../notesSlides/notesSlide93.xml"/><Relationship Id="rId3" Type="http://schemas.openxmlformats.org/officeDocument/2006/relationships/image" Target="../media/image45.png"/><Relationship Id="rId4" Type="http://schemas.openxmlformats.org/officeDocument/2006/relationships/image" Target="../media/image42.png"/><Relationship Id="rId9" Type="http://schemas.openxmlformats.org/officeDocument/2006/relationships/image" Target="../media/image71.png"/><Relationship Id="rId5" Type="http://schemas.openxmlformats.org/officeDocument/2006/relationships/image" Target="../media/image59.png"/><Relationship Id="rId6" Type="http://schemas.openxmlformats.org/officeDocument/2006/relationships/image" Target="../media/image57.png"/><Relationship Id="rId7" Type="http://schemas.openxmlformats.org/officeDocument/2006/relationships/image" Target="../media/image50.png"/><Relationship Id="rId8" Type="http://schemas.openxmlformats.org/officeDocument/2006/relationships/image" Target="../media/image6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4.xml"/><Relationship Id="rId3" Type="http://schemas.openxmlformats.org/officeDocument/2006/relationships/image" Target="../media/image45.png"/><Relationship Id="rId4" Type="http://schemas.openxmlformats.org/officeDocument/2006/relationships/image" Target="../media/image42.png"/><Relationship Id="rId5" Type="http://schemas.openxmlformats.org/officeDocument/2006/relationships/image" Target="../media/image5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5.xml"/><Relationship Id="rId3" Type="http://schemas.openxmlformats.org/officeDocument/2006/relationships/image" Target="../media/image45.png"/><Relationship Id="rId4" Type="http://schemas.openxmlformats.org/officeDocument/2006/relationships/image" Target="../media/image42.png"/><Relationship Id="rId5" Type="http://schemas.openxmlformats.org/officeDocument/2006/relationships/image" Target="../media/image50.png"/><Relationship Id="rId6" Type="http://schemas.openxmlformats.org/officeDocument/2006/relationships/image" Target="../media/image68.png"/><Relationship Id="rId7" Type="http://schemas.openxmlformats.org/officeDocument/2006/relationships/image" Target="../media/image67.png"/><Relationship Id="rId8" Type="http://schemas.openxmlformats.org/officeDocument/2006/relationships/image" Target="../media/image6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 Id="rId3" Type="http://schemas.openxmlformats.org/officeDocument/2006/relationships/image" Target="../media/image86.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 Id="rId3" Type="http://schemas.openxmlformats.org/officeDocument/2006/relationships/image" Target="../media/image87.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89.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69.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8.xml"/><Relationship Id="rId3" Type="http://schemas.openxmlformats.org/officeDocument/2006/relationships/image" Target="../media/image9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9.xml"/><Relationship Id="rId3" Type="http://schemas.openxmlformats.org/officeDocument/2006/relationships/image" Target="../media/image7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0.xml"/><Relationship Id="rId3" Type="http://schemas.openxmlformats.org/officeDocument/2006/relationships/image" Target="../media/image7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4.xml"/><Relationship Id="rId3" Type="http://schemas.openxmlformats.org/officeDocument/2006/relationships/image" Target="../media/image70.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7.xml"/><Relationship Id="rId3" Type="http://schemas.openxmlformats.org/officeDocument/2006/relationships/image" Target="../media/image8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8.xml"/><Relationship Id="rId3" Type="http://schemas.openxmlformats.org/officeDocument/2006/relationships/image" Target="../media/image78.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7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 Id="rId3" Type="http://schemas.openxmlformats.org/officeDocument/2006/relationships/image" Target="../media/image76.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image" Target="../media/image73.png"/><Relationship Id="rId4" Type="http://schemas.openxmlformats.org/officeDocument/2006/relationships/image" Target="../media/image9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 Id="rId3" Type="http://schemas.openxmlformats.org/officeDocument/2006/relationships/image" Target="../media/image77.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 Id="rId3" Type="http://schemas.openxmlformats.org/officeDocument/2006/relationships/image" Target="../media/image84.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 Id="rId3" Type="http://schemas.openxmlformats.org/officeDocument/2006/relationships/image" Target="../media/image88.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 Id="rId3" Type="http://schemas.openxmlformats.org/officeDocument/2006/relationships/image" Target="../media/image8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0.xml"/><Relationship Id="rId3" Type="http://schemas.openxmlformats.org/officeDocument/2006/relationships/image" Target="../media/image79.png"/><Relationship Id="rId4" Type="http://schemas.openxmlformats.org/officeDocument/2006/relationships/image" Target="../media/image92.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2.xml"/><Relationship Id="rId3" Type="http://schemas.openxmlformats.org/officeDocument/2006/relationships/image" Target="../media/image79.png"/><Relationship Id="rId4" Type="http://schemas.openxmlformats.org/officeDocument/2006/relationships/image" Target="../media/image92.png"/><Relationship Id="rId5" Type="http://schemas.openxmlformats.org/officeDocument/2006/relationships/image" Target="../media/image8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 Id="rId3" Type="http://schemas.openxmlformats.org/officeDocument/2006/relationships/image" Target="../media/image85.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 Id="rId3" Type="http://schemas.openxmlformats.org/officeDocument/2006/relationships/image" Target="../media/image98.jp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 Id="rId3" Type="http://schemas.openxmlformats.org/officeDocument/2006/relationships/image" Target="../media/image95.jpg"/><Relationship Id="rId4" Type="http://schemas.openxmlformats.org/officeDocument/2006/relationships/image" Target="../media/image94.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 Id="rId3" Type="http://schemas.openxmlformats.org/officeDocument/2006/relationships/image" Target="../media/image96.jpg"/><Relationship Id="rId4" Type="http://schemas.openxmlformats.org/officeDocument/2006/relationships/image" Target="../media/image97.jp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 Id="rId3" Type="http://schemas.openxmlformats.org/officeDocument/2006/relationships/hyperlink" Target="https://carrv.github.io/2019/papers/carrv2019_paper_10.pdf" TargetMode="Externa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
          <p:cNvSpPr txBox="1"/>
          <p:nvPr>
            <p:ph type="ctrTitle"/>
          </p:nvPr>
        </p:nvSpPr>
        <p:spPr>
          <a:xfrm>
            <a:off x="1219200" y="2708392"/>
            <a:ext cx="9753600" cy="144122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i="0" lang="en-US" sz="4000">
                <a:latin typeface="Calibri"/>
                <a:ea typeface="Calibri"/>
                <a:cs typeface="Calibri"/>
                <a:sym typeface="Calibri"/>
              </a:rPr>
              <a:t>Vortex RISC-V GPGPU </a:t>
            </a:r>
            <a:br>
              <a:rPr i="0" lang="en-US" sz="4000">
                <a:latin typeface="Calibri"/>
                <a:ea typeface="Calibri"/>
                <a:cs typeface="Calibri"/>
                <a:sym typeface="Calibri"/>
              </a:rPr>
            </a:br>
            <a:r>
              <a:rPr i="0" lang="en-US" sz="4000">
                <a:latin typeface="Calibri"/>
                <a:ea typeface="Calibri"/>
                <a:cs typeface="Calibri"/>
                <a:sym typeface="Calibri"/>
              </a:rPr>
              <a:t>Presentation </a:t>
            </a:r>
            <a:endParaRPr/>
          </a:p>
        </p:txBody>
      </p:sp>
      <p:pic>
        <p:nvPicPr>
          <p:cNvPr descr="News1" id="75" name="Google Shape;75;p1"/>
          <p:cNvPicPr preferRelativeResize="0"/>
          <p:nvPr/>
        </p:nvPicPr>
        <p:blipFill rotWithShape="1">
          <a:blip r:embed="rId3">
            <a:alphaModFix/>
          </a:blip>
          <a:srcRect b="36377" l="0" r="0" t="30465"/>
          <a:stretch/>
        </p:blipFill>
        <p:spPr>
          <a:xfrm>
            <a:off x="681898" y="5173098"/>
            <a:ext cx="2514600" cy="606391"/>
          </a:xfrm>
          <a:prstGeom prst="rect">
            <a:avLst/>
          </a:prstGeom>
          <a:noFill/>
          <a:ln>
            <a:noFill/>
          </a:ln>
        </p:spPr>
      </p:pic>
      <p:sp>
        <p:nvSpPr>
          <p:cNvPr id="76" name="Google Shape;76;p1"/>
          <p:cNvSpPr txBox="1"/>
          <p:nvPr/>
        </p:nvSpPr>
        <p:spPr>
          <a:xfrm>
            <a:off x="963595" y="4478595"/>
            <a:ext cx="205868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2400" u="none" cap="none" strike="noStrike">
                <a:solidFill>
                  <a:srgbClr val="2668AE"/>
                </a:solidFill>
                <a:latin typeface="Times New Roman"/>
                <a:ea typeface="Times New Roman"/>
                <a:cs typeface="Times New Roman"/>
                <a:sym typeface="Times New Roman"/>
              </a:rPr>
              <a:t>Sponsored</a:t>
            </a:r>
            <a:r>
              <a:rPr b="1" i="1" lang="en-US" sz="3200" u="none" cap="none" strike="noStrike">
                <a:solidFill>
                  <a:srgbClr val="3676B3"/>
                </a:solidFill>
                <a:latin typeface="Times New Roman"/>
                <a:ea typeface="Times New Roman"/>
                <a:cs typeface="Times New Roman"/>
                <a:sym typeface="Times New Roman"/>
              </a:rPr>
              <a:t> </a:t>
            </a:r>
            <a:r>
              <a:rPr b="1" i="1" lang="en-US" sz="2400" u="none" cap="none" strike="noStrike">
                <a:solidFill>
                  <a:srgbClr val="2668AE"/>
                </a:solidFill>
                <a:latin typeface="Times New Roman"/>
                <a:ea typeface="Times New Roman"/>
                <a:cs typeface="Times New Roman"/>
                <a:sym typeface="Times New Roman"/>
              </a:rPr>
              <a:t>by</a:t>
            </a:r>
            <a:endParaRPr/>
          </a:p>
        </p:txBody>
      </p:sp>
      <p:sp>
        <p:nvSpPr>
          <p:cNvPr id="77" name="Google Shape;77;p1"/>
          <p:cNvSpPr txBox="1"/>
          <p:nvPr/>
        </p:nvSpPr>
        <p:spPr>
          <a:xfrm>
            <a:off x="7548616" y="4711433"/>
            <a:ext cx="3679789"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2400" u="none" cap="none" strike="noStrike">
                <a:solidFill>
                  <a:srgbClr val="2668AE"/>
                </a:solidFill>
                <a:latin typeface="Times New Roman"/>
                <a:ea typeface="Times New Roman"/>
                <a:cs typeface="Times New Roman"/>
                <a:sym typeface="Times New Roman"/>
              </a:rPr>
              <a:t>Supervisors</a:t>
            </a:r>
            <a:endParaRPr/>
          </a:p>
        </p:txBody>
      </p:sp>
      <p:sp>
        <p:nvSpPr>
          <p:cNvPr id="78" name="Google Shape;78;p1"/>
          <p:cNvSpPr txBox="1"/>
          <p:nvPr/>
        </p:nvSpPr>
        <p:spPr>
          <a:xfrm>
            <a:off x="7918704" y="5173098"/>
            <a:ext cx="3191256"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2000" u="none" cap="none" strike="noStrike">
                <a:solidFill>
                  <a:srgbClr val="2668AE"/>
                </a:solidFill>
                <a:latin typeface="Times New Roman"/>
                <a:ea typeface="Times New Roman"/>
                <a:cs typeface="Times New Roman"/>
                <a:sym typeface="Times New Roman"/>
              </a:rPr>
              <a:t>Dr. Diaa Eldin Khalil</a:t>
            </a:r>
            <a:endParaRPr/>
          </a:p>
          <a:p>
            <a:pPr indent="0" lvl="0" marL="0" marR="0" rtl="0" algn="ctr">
              <a:spcBef>
                <a:spcPts val="0"/>
              </a:spcBef>
              <a:spcAft>
                <a:spcPts val="0"/>
              </a:spcAft>
              <a:buNone/>
            </a:pPr>
            <a:r>
              <a:rPr b="0" i="1" lang="en-US" sz="2000" u="none" cap="none" strike="noStrike">
                <a:solidFill>
                  <a:srgbClr val="2668AE"/>
                </a:solidFill>
                <a:latin typeface="Times New Roman"/>
                <a:ea typeface="Times New Roman"/>
                <a:cs typeface="Times New Roman"/>
                <a:sym typeface="Times New Roman"/>
              </a:rPr>
              <a:t>Dr. Hossam Hassan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2"/>
          <p:cNvSpPr txBox="1"/>
          <p:nvPr>
            <p:ph type="title"/>
          </p:nvPr>
        </p:nvSpPr>
        <p:spPr>
          <a:xfrm>
            <a:off x="924380" y="578201"/>
            <a:ext cx="10354128" cy="75253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latin typeface="Calibri"/>
                <a:ea typeface="Calibri"/>
                <a:cs typeface="Calibri"/>
                <a:sym typeface="Calibri"/>
              </a:rPr>
              <a:t>Presented by </a:t>
            </a:r>
            <a:endParaRPr b="0" sz="3600">
              <a:latin typeface="Calibri"/>
              <a:ea typeface="Calibri"/>
              <a:cs typeface="Calibri"/>
              <a:sym typeface="Calibri"/>
            </a:endParaRPr>
          </a:p>
        </p:txBody>
      </p:sp>
      <p:sp>
        <p:nvSpPr>
          <p:cNvPr id="84" name="Google Shape;84;p2"/>
          <p:cNvSpPr txBox="1"/>
          <p:nvPr>
            <p:ph idx="1" type="body"/>
          </p:nvPr>
        </p:nvSpPr>
        <p:spPr>
          <a:xfrm>
            <a:off x="925285" y="1325691"/>
            <a:ext cx="10504715" cy="4984947"/>
          </a:xfrm>
          <a:prstGeom prst="rect">
            <a:avLst/>
          </a:prstGeom>
          <a:noFill/>
          <a:ln>
            <a:noFill/>
          </a:ln>
        </p:spPr>
        <p:txBody>
          <a:bodyPr anchorCtr="0" anchor="t" bIns="45700" lIns="91425" spcFirstLastPara="1" rIns="91425" wrap="square" tIns="45700">
            <a:noAutofit/>
          </a:bodyPr>
          <a:lstStyle/>
          <a:p>
            <a:pPr indent="-190500" lvl="0" marL="342900" rtl="0" algn="l">
              <a:spcBef>
                <a:spcPts val="0"/>
              </a:spcBef>
              <a:spcAft>
                <a:spcPts val="0"/>
              </a:spcAft>
              <a:buSzPts val="2400"/>
              <a:buFont typeface="Arial"/>
              <a:buNone/>
            </a:pPr>
            <a:r>
              <a:t/>
            </a:r>
            <a:endParaRPr b="0" sz="2400">
              <a:solidFill>
                <a:srgbClr val="000000"/>
              </a:solidFill>
            </a:endParaRPr>
          </a:p>
          <a:p>
            <a:pPr indent="-190500" lvl="0" marL="342900" rtl="0" algn="l">
              <a:spcBef>
                <a:spcPts val="480"/>
              </a:spcBef>
              <a:spcAft>
                <a:spcPts val="0"/>
              </a:spcAft>
              <a:buSzPts val="2400"/>
              <a:buNone/>
            </a:pPr>
            <a:r>
              <a:t/>
            </a:r>
            <a:endParaRPr sz="2400"/>
          </a:p>
        </p:txBody>
      </p:sp>
      <p:graphicFrame>
        <p:nvGraphicFramePr>
          <p:cNvPr id="85" name="Google Shape;85;p2"/>
          <p:cNvGraphicFramePr/>
          <p:nvPr/>
        </p:nvGraphicFramePr>
        <p:xfrm>
          <a:off x="2048719" y="1654151"/>
          <a:ext cx="3000000" cy="3000000"/>
        </p:xfrm>
        <a:graphic>
          <a:graphicData uri="http://schemas.openxmlformats.org/drawingml/2006/table">
            <a:tbl>
              <a:tblPr bandRow="1" firstRow="1">
                <a:noFill/>
                <a:tableStyleId>{B165ED7C-3BE8-4FF2-9917-FA1191AF0817}</a:tableStyleId>
              </a:tblPr>
              <a:tblGrid>
                <a:gridCol w="4047275"/>
                <a:gridCol w="4064000"/>
              </a:tblGrid>
              <a:tr h="548650">
                <a:tc>
                  <a:txBody>
                    <a:bodyPr/>
                    <a:lstStyle/>
                    <a:p>
                      <a:pPr indent="0" lvl="0" marL="0" marR="0" rtl="0" algn="ctr">
                        <a:lnSpc>
                          <a:spcPct val="100000"/>
                        </a:lnSpc>
                        <a:spcBef>
                          <a:spcPts val="0"/>
                        </a:spcBef>
                        <a:spcAft>
                          <a:spcPts val="0"/>
                        </a:spcAft>
                        <a:buClr>
                          <a:schemeClr val="dk1"/>
                        </a:buClr>
                        <a:buSzPts val="2400"/>
                        <a:buFont typeface="Garamond"/>
                        <a:buNone/>
                      </a:pPr>
                      <a:r>
                        <a:rPr b="1" lang="en-US" sz="2400" u="none" cap="none" strike="noStrike">
                          <a:solidFill>
                            <a:schemeClr val="dk1"/>
                          </a:solidFill>
                        </a:rPr>
                        <a:t>Abdelhmed Mahmoud</a:t>
                      </a:r>
                      <a:endParaRPr b="1" sz="2400" u="none" cap="none" strike="noStrike">
                        <a:solidFill>
                          <a:schemeClr val="dk1"/>
                        </a:solidFill>
                        <a:latin typeface="Calibri"/>
                        <a:ea typeface="Calibri"/>
                        <a:cs typeface="Calibri"/>
                        <a:sym typeface="Calibri"/>
                      </a:endParaRPr>
                    </a:p>
                  </a:txBody>
                  <a:tcPr marT="0" marB="0" marR="68575" marL="68575" anchor="ctr">
                    <a:lnL cap="flat" cmpd="sng" w="12700">
                      <a:solidFill>
                        <a:srgbClr val="2668AE"/>
                      </a:solidFill>
                      <a:prstDash val="solid"/>
                      <a:round/>
                      <a:headEnd len="sm" w="sm" type="none"/>
                      <a:tailEnd len="sm" w="sm" type="none"/>
                    </a:lnL>
                    <a:lnR cap="flat" cmpd="sng" w="12700">
                      <a:solidFill>
                        <a:srgbClr val="2668AE"/>
                      </a:solidFill>
                      <a:prstDash val="solid"/>
                      <a:round/>
                      <a:headEnd len="sm" w="sm" type="none"/>
                      <a:tailEnd len="sm" w="sm" type="none"/>
                    </a:lnR>
                    <a:lnT cap="flat" cmpd="sng" w="12700">
                      <a:solidFill>
                        <a:srgbClr val="2668AE"/>
                      </a:solidFill>
                      <a:prstDash val="solid"/>
                      <a:round/>
                      <a:headEnd len="sm" w="sm" type="none"/>
                      <a:tailEnd len="sm" w="sm" type="none"/>
                    </a:lnT>
                    <a:lnB cap="flat" cmpd="sng" w="12700">
                      <a:solidFill>
                        <a:srgbClr val="2668AE"/>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2400" u="none" cap="none" strike="noStrike">
                          <a:solidFill>
                            <a:schemeClr val="dk1"/>
                          </a:solidFill>
                        </a:rPr>
                        <a:t>21P0171</a:t>
                      </a:r>
                      <a:endParaRPr sz="2400" u="none" cap="none" strike="noStrike">
                        <a:solidFill>
                          <a:schemeClr val="dk1"/>
                        </a:solidFill>
                        <a:latin typeface="Calibri"/>
                        <a:ea typeface="Calibri"/>
                        <a:cs typeface="Calibri"/>
                        <a:sym typeface="Calibri"/>
                      </a:endParaRPr>
                    </a:p>
                  </a:txBody>
                  <a:tcPr marT="45725" marB="45725" marR="91450" marL="91450" anchor="ctr">
                    <a:lnL cap="flat" cmpd="sng" w="12700">
                      <a:solidFill>
                        <a:srgbClr val="2668AE"/>
                      </a:solidFill>
                      <a:prstDash val="solid"/>
                      <a:round/>
                      <a:headEnd len="sm" w="sm" type="none"/>
                      <a:tailEnd len="sm" w="sm" type="none"/>
                    </a:lnL>
                    <a:lnR cap="flat" cmpd="sng" w="12700">
                      <a:solidFill>
                        <a:srgbClr val="2668AE"/>
                      </a:solidFill>
                      <a:prstDash val="solid"/>
                      <a:round/>
                      <a:headEnd len="sm" w="sm" type="none"/>
                      <a:tailEnd len="sm" w="sm" type="none"/>
                    </a:lnR>
                    <a:lnT cap="flat" cmpd="sng" w="12700">
                      <a:solidFill>
                        <a:srgbClr val="2668AE"/>
                      </a:solidFill>
                      <a:prstDash val="solid"/>
                      <a:round/>
                      <a:headEnd len="sm" w="sm" type="none"/>
                      <a:tailEnd len="sm" w="sm" type="none"/>
                    </a:lnT>
                    <a:lnB cap="flat" cmpd="sng" w="12700">
                      <a:solidFill>
                        <a:srgbClr val="2668AE"/>
                      </a:solidFill>
                      <a:prstDash val="solid"/>
                      <a:round/>
                      <a:headEnd len="sm" w="sm" type="none"/>
                      <a:tailEnd len="sm" w="sm" type="none"/>
                    </a:lnB>
                  </a:tcPr>
                </a:tc>
              </a:tr>
              <a:tr h="548650">
                <a:tc>
                  <a:txBody>
                    <a:bodyPr/>
                    <a:lstStyle/>
                    <a:p>
                      <a:pPr indent="0" lvl="0" marL="0" marR="0" rtl="0" algn="ctr">
                        <a:lnSpc>
                          <a:spcPct val="100000"/>
                        </a:lnSpc>
                        <a:spcBef>
                          <a:spcPts val="0"/>
                        </a:spcBef>
                        <a:spcAft>
                          <a:spcPts val="0"/>
                        </a:spcAft>
                        <a:buClr>
                          <a:schemeClr val="dk1"/>
                        </a:buClr>
                        <a:buSzPts val="2400"/>
                        <a:buFont typeface="Garamond"/>
                        <a:buNone/>
                      </a:pPr>
                      <a:r>
                        <a:rPr b="1" lang="en-US" sz="2400" u="none" cap="none" strike="noStrike">
                          <a:solidFill>
                            <a:schemeClr val="dk1"/>
                          </a:solidFill>
                        </a:rPr>
                        <a:t>Abdullah Ahmed Youssef</a:t>
                      </a:r>
                      <a:endParaRPr b="1" sz="2400" u="none" cap="none" strike="noStrike">
                        <a:solidFill>
                          <a:schemeClr val="dk1"/>
                        </a:solidFill>
                        <a:latin typeface="Calibri"/>
                        <a:ea typeface="Calibri"/>
                        <a:cs typeface="Calibri"/>
                        <a:sym typeface="Calibri"/>
                      </a:endParaRPr>
                    </a:p>
                  </a:txBody>
                  <a:tcPr marT="0" marB="0" marR="68575" marL="68575" anchor="ctr">
                    <a:lnL cap="flat" cmpd="sng" w="12700">
                      <a:solidFill>
                        <a:srgbClr val="2668AE"/>
                      </a:solidFill>
                      <a:prstDash val="solid"/>
                      <a:round/>
                      <a:headEnd len="sm" w="sm" type="none"/>
                      <a:tailEnd len="sm" w="sm" type="none"/>
                    </a:lnL>
                    <a:lnR cap="flat" cmpd="sng" w="12700">
                      <a:solidFill>
                        <a:srgbClr val="2668AE"/>
                      </a:solidFill>
                      <a:prstDash val="solid"/>
                      <a:round/>
                      <a:headEnd len="sm" w="sm" type="none"/>
                      <a:tailEnd len="sm" w="sm" type="none"/>
                    </a:lnR>
                    <a:lnT cap="flat" cmpd="sng" w="12700">
                      <a:solidFill>
                        <a:srgbClr val="2668AE"/>
                      </a:solidFill>
                      <a:prstDash val="solid"/>
                      <a:round/>
                      <a:headEnd len="sm" w="sm" type="none"/>
                      <a:tailEnd len="sm" w="sm" type="none"/>
                    </a:lnT>
                    <a:lnB cap="flat" cmpd="sng" w="12700">
                      <a:solidFill>
                        <a:srgbClr val="2668AE"/>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2400" u="none" cap="none" strike="noStrike">
                          <a:solidFill>
                            <a:schemeClr val="dk1"/>
                          </a:solidFill>
                        </a:rPr>
                        <a:t>2100369</a:t>
                      </a:r>
                      <a:endParaRPr sz="2400" u="none" cap="none" strike="noStrike">
                        <a:solidFill>
                          <a:schemeClr val="dk1"/>
                        </a:solidFill>
                        <a:latin typeface="Calibri"/>
                        <a:ea typeface="Calibri"/>
                        <a:cs typeface="Calibri"/>
                        <a:sym typeface="Calibri"/>
                      </a:endParaRPr>
                    </a:p>
                  </a:txBody>
                  <a:tcPr marT="45725" marB="45725" marR="91450" marL="91450" anchor="ctr">
                    <a:lnL cap="flat" cmpd="sng" w="12700">
                      <a:solidFill>
                        <a:srgbClr val="2668AE"/>
                      </a:solidFill>
                      <a:prstDash val="solid"/>
                      <a:round/>
                      <a:headEnd len="sm" w="sm" type="none"/>
                      <a:tailEnd len="sm" w="sm" type="none"/>
                    </a:lnL>
                    <a:lnR cap="flat" cmpd="sng" w="12700">
                      <a:solidFill>
                        <a:srgbClr val="2668AE"/>
                      </a:solidFill>
                      <a:prstDash val="solid"/>
                      <a:round/>
                      <a:headEnd len="sm" w="sm" type="none"/>
                      <a:tailEnd len="sm" w="sm" type="none"/>
                    </a:lnR>
                    <a:lnT cap="flat" cmpd="sng" w="12700">
                      <a:solidFill>
                        <a:srgbClr val="2668AE"/>
                      </a:solidFill>
                      <a:prstDash val="solid"/>
                      <a:round/>
                      <a:headEnd len="sm" w="sm" type="none"/>
                      <a:tailEnd len="sm" w="sm" type="none"/>
                    </a:lnT>
                    <a:lnB cap="flat" cmpd="sng" w="12700">
                      <a:solidFill>
                        <a:srgbClr val="2668AE"/>
                      </a:solidFill>
                      <a:prstDash val="solid"/>
                      <a:round/>
                      <a:headEnd len="sm" w="sm" type="none"/>
                      <a:tailEnd len="sm" w="sm" type="none"/>
                    </a:lnB>
                  </a:tcPr>
                </a:tc>
              </a:tr>
              <a:tr h="548650">
                <a:tc>
                  <a:txBody>
                    <a:bodyPr/>
                    <a:lstStyle/>
                    <a:p>
                      <a:pPr indent="0" lvl="0" marL="0" marR="0" rtl="0" algn="ctr">
                        <a:lnSpc>
                          <a:spcPct val="100000"/>
                        </a:lnSpc>
                        <a:spcBef>
                          <a:spcPts val="0"/>
                        </a:spcBef>
                        <a:spcAft>
                          <a:spcPts val="0"/>
                        </a:spcAft>
                        <a:buClr>
                          <a:schemeClr val="dk1"/>
                        </a:buClr>
                        <a:buSzPts val="2400"/>
                        <a:buFont typeface="Garamond"/>
                        <a:buNone/>
                      </a:pPr>
                      <a:r>
                        <a:rPr b="1" lang="en-US" sz="2400" u="none" cap="none" strike="noStrike">
                          <a:solidFill>
                            <a:schemeClr val="dk1"/>
                          </a:solidFill>
                        </a:rPr>
                        <a:t>Ahmed Mostafa Gomaa</a:t>
                      </a:r>
                      <a:endParaRPr b="1" sz="2400" u="none" cap="none" strike="noStrike">
                        <a:solidFill>
                          <a:schemeClr val="dk1"/>
                        </a:solidFill>
                        <a:latin typeface="Calibri"/>
                        <a:ea typeface="Calibri"/>
                        <a:cs typeface="Calibri"/>
                        <a:sym typeface="Calibri"/>
                      </a:endParaRPr>
                    </a:p>
                  </a:txBody>
                  <a:tcPr marT="0" marB="0" marR="68575" marL="68575" anchor="ctr">
                    <a:lnL cap="flat" cmpd="sng" w="12700">
                      <a:solidFill>
                        <a:srgbClr val="2668AE"/>
                      </a:solidFill>
                      <a:prstDash val="solid"/>
                      <a:round/>
                      <a:headEnd len="sm" w="sm" type="none"/>
                      <a:tailEnd len="sm" w="sm" type="none"/>
                    </a:lnL>
                    <a:lnR cap="flat" cmpd="sng" w="12700">
                      <a:solidFill>
                        <a:srgbClr val="2668AE"/>
                      </a:solidFill>
                      <a:prstDash val="solid"/>
                      <a:round/>
                      <a:headEnd len="sm" w="sm" type="none"/>
                      <a:tailEnd len="sm" w="sm" type="none"/>
                    </a:lnR>
                    <a:lnT cap="flat" cmpd="sng" w="12700">
                      <a:solidFill>
                        <a:srgbClr val="2668AE"/>
                      </a:solidFill>
                      <a:prstDash val="solid"/>
                      <a:round/>
                      <a:headEnd len="sm" w="sm" type="none"/>
                      <a:tailEnd len="sm" w="sm" type="none"/>
                    </a:lnT>
                    <a:lnB cap="flat" cmpd="sng" w="12700">
                      <a:solidFill>
                        <a:srgbClr val="2668AE"/>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2400" u="none" cap="none" strike="noStrike">
                          <a:solidFill>
                            <a:schemeClr val="dk1"/>
                          </a:solidFill>
                        </a:rPr>
                        <a:t>21P0407</a:t>
                      </a:r>
                      <a:endParaRPr sz="2400" u="none" cap="none" strike="noStrike">
                        <a:solidFill>
                          <a:schemeClr val="dk1"/>
                        </a:solidFill>
                        <a:latin typeface="Calibri"/>
                        <a:ea typeface="Calibri"/>
                        <a:cs typeface="Calibri"/>
                        <a:sym typeface="Calibri"/>
                      </a:endParaRPr>
                    </a:p>
                  </a:txBody>
                  <a:tcPr marT="45725" marB="45725" marR="91450" marL="91450" anchor="ctr">
                    <a:lnL cap="flat" cmpd="sng" w="12700">
                      <a:solidFill>
                        <a:srgbClr val="2668AE"/>
                      </a:solidFill>
                      <a:prstDash val="solid"/>
                      <a:round/>
                      <a:headEnd len="sm" w="sm" type="none"/>
                      <a:tailEnd len="sm" w="sm" type="none"/>
                    </a:lnL>
                    <a:lnR cap="flat" cmpd="sng" w="12700">
                      <a:solidFill>
                        <a:srgbClr val="2668AE"/>
                      </a:solidFill>
                      <a:prstDash val="solid"/>
                      <a:round/>
                      <a:headEnd len="sm" w="sm" type="none"/>
                      <a:tailEnd len="sm" w="sm" type="none"/>
                    </a:lnR>
                    <a:lnT cap="flat" cmpd="sng" w="12700">
                      <a:solidFill>
                        <a:srgbClr val="2668AE"/>
                      </a:solidFill>
                      <a:prstDash val="solid"/>
                      <a:round/>
                      <a:headEnd len="sm" w="sm" type="none"/>
                      <a:tailEnd len="sm" w="sm" type="none"/>
                    </a:lnT>
                    <a:lnB cap="flat" cmpd="sng" w="12700">
                      <a:solidFill>
                        <a:srgbClr val="2668AE"/>
                      </a:solidFill>
                      <a:prstDash val="solid"/>
                      <a:round/>
                      <a:headEnd len="sm" w="sm" type="none"/>
                      <a:tailEnd len="sm" w="sm" type="none"/>
                    </a:lnB>
                  </a:tcPr>
                </a:tc>
              </a:tr>
              <a:tr h="548650">
                <a:tc>
                  <a:txBody>
                    <a:bodyPr/>
                    <a:lstStyle/>
                    <a:p>
                      <a:pPr indent="0" lvl="0" marL="0" marR="0" rtl="0" algn="ctr">
                        <a:lnSpc>
                          <a:spcPct val="100000"/>
                        </a:lnSpc>
                        <a:spcBef>
                          <a:spcPts val="0"/>
                        </a:spcBef>
                        <a:spcAft>
                          <a:spcPts val="0"/>
                        </a:spcAft>
                        <a:buClr>
                          <a:schemeClr val="dk1"/>
                        </a:buClr>
                        <a:buSzPts val="2400"/>
                        <a:buFont typeface="Garamond"/>
                        <a:buNone/>
                      </a:pPr>
                      <a:r>
                        <a:rPr b="1" lang="en-US" sz="2400" u="none" cap="none" strike="noStrike">
                          <a:solidFill>
                            <a:schemeClr val="dk1"/>
                          </a:solidFill>
                        </a:rPr>
                        <a:t>Amir Raed</a:t>
                      </a:r>
                      <a:endParaRPr b="1" sz="2400" u="none" cap="none" strike="noStrike">
                        <a:solidFill>
                          <a:schemeClr val="dk1"/>
                        </a:solidFill>
                        <a:latin typeface="Calibri"/>
                        <a:ea typeface="Calibri"/>
                        <a:cs typeface="Calibri"/>
                        <a:sym typeface="Calibri"/>
                      </a:endParaRPr>
                    </a:p>
                  </a:txBody>
                  <a:tcPr marT="0" marB="0" marR="68575" marL="68575" anchor="ctr">
                    <a:lnL cap="flat" cmpd="sng" w="12700">
                      <a:solidFill>
                        <a:srgbClr val="2668AE"/>
                      </a:solidFill>
                      <a:prstDash val="solid"/>
                      <a:round/>
                      <a:headEnd len="sm" w="sm" type="none"/>
                      <a:tailEnd len="sm" w="sm" type="none"/>
                    </a:lnL>
                    <a:lnR cap="flat" cmpd="sng" w="12700">
                      <a:solidFill>
                        <a:srgbClr val="2668AE"/>
                      </a:solidFill>
                      <a:prstDash val="solid"/>
                      <a:round/>
                      <a:headEnd len="sm" w="sm" type="none"/>
                      <a:tailEnd len="sm" w="sm" type="none"/>
                    </a:lnR>
                    <a:lnT cap="flat" cmpd="sng" w="12700">
                      <a:solidFill>
                        <a:srgbClr val="2668AE"/>
                      </a:solidFill>
                      <a:prstDash val="solid"/>
                      <a:round/>
                      <a:headEnd len="sm" w="sm" type="none"/>
                      <a:tailEnd len="sm" w="sm" type="none"/>
                    </a:lnT>
                    <a:lnB cap="flat" cmpd="sng" w="12700">
                      <a:solidFill>
                        <a:srgbClr val="2668AE"/>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2400" u="none" cap="none" strike="noStrike">
                          <a:solidFill>
                            <a:schemeClr val="dk1"/>
                          </a:solidFill>
                        </a:rPr>
                        <a:t>21P0380</a:t>
                      </a:r>
                      <a:endParaRPr sz="2400" u="none" cap="none" strike="noStrike">
                        <a:solidFill>
                          <a:schemeClr val="dk1"/>
                        </a:solidFill>
                        <a:latin typeface="Calibri"/>
                        <a:ea typeface="Calibri"/>
                        <a:cs typeface="Calibri"/>
                        <a:sym typeface="Calibri"/>
                      </a:endParaRPr>
                    </a:p>
                  </a:txBody>
                  <a:tcPr marT="45725" marB="45725" marR="91450" marL="91450" anchor="ctr">
                    <a:lnL cap="flat" cmpd="sng" w="12700">
                      <a:solidFill>
                        <a:srgbClr val="2668AE"/>
                      </a:solidFill>
                      <a:prstDash val="solid"/>
                      <a:round/>
                      <a:headEnd len="sm" w="sm" type="none"/>
                      <a:tailEnd len="sm" w="sm" type="none"/>
                    </a:lnL>
                    <a:lnR cap="flat" cmpd="sng" w="12700">
                      <a:solidFill>
                        <a:srgbClr val="2668AE"/>
                      </a:solidFill>
                      <a:prstDash val="solid"/>
                      <a:round/>
                      <a:headEnd len="sm" w="sm" type="none"/>
                      <a:tailEnd len="sm" w="sm" type="none"/>
                    </a:lnR>
                    <a:lnT cap="flat" cmpd="sng" w="12700">
                      <a:solidFill>
                        <a:srgbClr val="2668AE"/>
                      </a:solidFill>
                      <a:prstDash val="solid"/>
                      <a:round/>
                      <a:headEnd len="sm" w="sm" type="none"/>
                      <a:tailEnd len="sm" w="sm" type="none"/>
                    </a:lnT>
                    <a:lnB cap="flat" cmpd="sng" w="12700">
                      <a:solidFill>
                        <a:srgbClr val="2668AE"/>
                      </a:solidFill>
                      <a:prstDash val="solid"/>
                      <a:round/>
                      <a:headEnd len="sm" w="sm" type="none"/>
                      <a:tailEnd len="sm" w="sm" type="none"/>
                    </a:lnB>
                  </a:tcPr>
                </a:tc>
              </a:tr>
              <a:tr h="548650">
                <a:tc>
                  <a:txBody>
                    <a:bodyPr/>
                    <a:lstStyle/>
                    <a:p>
                      <a:pPr indent="0" lvl="0" marL="0" marR="0" rtl="0" algn="ctr">
                        <a:lnSpc>
                          <a:spcPct val="100000"/>
                        </a:lnSpc>
                        <a:spcBef>
                          <a:spcPts val="0"/>
                        </a:spcBef>
                        <a:spcAft>
                          <a:spcPts val="0"/>
                        </a:spcAft>
                        <a:buClr>
                          <a:schemeClr val="dk1"/>
                        </a:buClr>
                        <a:buSzPts val="2400"/>
                        <a:buFont typeface="Garamond"/>
                        <a:buNone/>
                      </a:pPr>
                      <a:r>
                        <a:rPr b="1" lang="en-US" sz="2400" u="none" cap="none" strike="noStrike">
                          <a:solidFill>
                            <a:schemeClr val="dk1"/>
                          </a:solidFill>
                        </a:rPr>
                        <a:t>Eiz Eldeen Housam</a:t>
                      </a:r>
                      <a:endParaRPr b="1" sz="2400" u="none" cap="none" strike="noStrike">
                        <a:solidFill>
                          <a:schemeClr val="dk1"/>
                        </a:solidFill>
                        <a:latin typeface="Calibri"/>
                        <a:ea typeface="Calibri"/>
                        <a:cs typeface="Calibri"/>
                        <a:sym typeface="Calibri"/>
                      </a:endParaRPr>
                    </a:p>
                  </a:txBody>
                  <a:tcPr marT="0" marB="0" marR="68575" marL="68575" anchor="ctr">
                    <a:lnL cap="flat" cmpd="sng" w="12700">
                      <a:solidFill>
                        <a:srgbClr val="2668AE"/>
                      </a:solidFill>
                      <a:prstDash val="solid"/>
                      <a:round/>
                      <a:headEnd len="sm" w="sm" type="none"/>
                      <a:tailEnd len="sm" w="sm" type="none"/>
                    </a:lnL>
                    <a:lnR cap="flat" cmpd="sng" w="12700">
                      <a:solidFill>
                        <a:srgbClr val="2668AE"/>
                      </a:solidFill>
                      <a:prstDash val="solid"/>
                      <a:round/>
                      <a:headEnd len="sm" w="sm" type="none"/>
                      <a:tailEnd len="sm" w="sm" type="none"/>
                    </a:lnR>
                    <a:lnT cap="flat" cmpd="sng" w="12700">
                      <a:solidFill>
                        <a:srgbClr val="2668AE"/>
                      </a:solidFill>
                      <a:prstDash val="solid"/>
                      <a:round/>
                      <a:headEnd len="sm" w="sm" type="none"/>
                      <a:tailEnd len="sm" w="sm" type="none"/>
                    </a:lnT>
                    <a:lnB cap="flat" cmpd="sng" w="12700">
                      <a:solidFill>
                        <a:srgbClr val="2668AE"/>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2400" u="none" cap="none" strike="noStrike">
                          <a:solidFill>
                            <a:schemeClr val="dk1"/>
                          </a:solidFill>
                        </a:rPr>
                        <a:t>21P0170</a:t>
                      </a:r>
                      <a:endParaRPr sz="2400" u="none" cap="none" strike="noStrike">
                        <a:solidFill>
                          <a:schemeClr val="dk1"/>
                        </a:solidFill>
                        <a:latin typeface="Calibri"/>
                        <a:ea typeface="Calibri"/>
                        <a:cs typeface="Calibri"/>
                        <a:sym typeface="Calibri"/>
                      </a:endParaRPr>
                    </a:p>
                  </a:txBody>
                  <a:tcPr marT="45725" marB="45725" marR="91450" marL="91450" anchor="ctr">
                    <a:lnL cap="flat" cmpd="sng" w="12700">
                      <a:solidFill>
                        <a:srgbClr val="2668AE"/>
                      </a:solidFill>
                      <a:prstDash val="solid"/>
                      <a:round/>
                      <a:headEnd len="sm" w="sm" type="none"/>
                      <a:tailEnd len="sm" w="sm" type="none"/>
                    </a:lnL>
                    <a:lnR cap="flat" cmpd="sng" w="12700">
                      <a:solidFill>
                        <a:srgbClr val="2668AE"/>
                      </a:solidFill>
                      <a:prstDash val="solid"/>
                      <a:round/>
                      <a:headEnd len="sm" w="sm" type="none"/>
                      <a:tailEnd len="sm" w="sm" type="none"/>
                    </a:lnR>
                    <a:lnT cap="flat" cmpd="sng" w="12700">
                      <a:solidFill>
                        <a:srgbClr val="2668AE"/>
                      </a:solidFill>
                      <a:prstDash val="solid"/>
                      <a:round/>
                      <a:headEnd len="sm" w="sm" type="none"/>
                      <a:tailEnd len="sm" w="sm" type="none"/>
                    </a:lnT>
                    <a:lnB cap="flat" cmpd="sng" w="12700">
                      <a:solidFill>
                        <a:srgbClr val="2668AE"/>
                      </a:solidFill>
                      <a:prstDash val="solid"/>
                      <a:round/>
                      <a:headEnd len="sm" w="sm" type="none"/>
                      <a:tailEnd len="sm" w="sm" type="none"/>
                    </a:lnB>
                  </a:tcPr>
                </a:tc>
              </a:tr>
              <a:tr h="548650">
                <a:tc>
                  <a:txBody>
                    <a:bodyPr/>
                    <a:lstStyle/>
                    <a:p>
                      <a:pPr indent="0" lvl="0" marL="0" marR="0" rtl="0" algn="ctr">
                        <a:lnSpc>
                          <a:spcPct val="100000"/>
                        </a:lnSpc>
                        <a:spcBef>
                          <a:spcPts val="0"/>
                        </a:spcBef>
                        <a:spcAft>
                          <a:spcPts val="0"/>
                        </a:spcAft>
                        <a:buClr>
                          <a:schemeClr val="dk1"/>
                        </a:buClr>
                        <a:buSzPts val="2400"/>
                        <a:buFont typeface="Garamond"/>
                        <a:buNone/>
                      </a:pPr>
                      <a:r>
                        <a:rPr b="1" lang="en-US" sz="2400" u="none" cap="none" strike="noStrike">
                          <a:solidFill>
                            <a:schemeClr val="dk1"/>
                          </a:solidFill>
                        </a:rPr>
                        <a:t>Mark Maher</a:t>
                      </a:r>
                      <a:endParaRPr b="1" sz="2400" u="none" cap="none" strike="noStrike">
                        <a:solidFill>
                          <a:schemeClr val="dk1"/>
                        </a:solidFill>
                        <a:latin typeface="Calibri"/>
                        <a:ea typeface="Calibri"/>
                        <a:cs typeface="Calibri"/>
                        <a:sym typeface="Calibri"/>
                      </a:endParaRPr>
                    </a:p>
                  </a:txBody>
                  <a:tcPr marT="0" marB="0" marR="68575" marL="68575" anchor="ctr">
                    <a:lnL cap="flat" cmpd="sng" w="12700">
                      <a:solidFill>
                        <a:srgbClr val="2668AE"/>
                      </a:solidFill>
                      <a:prstDash val="solid"/>
                      <a:round/>
                      <a:headEnd len="sm" w="sm" type="none"/>
                      <a:tailEnd len="sm" w="sm" type="none"/>
                    </a:lnL>
                    <a:lnR cap="flat" cmpd="sng" w="12700">
                      <a:solidFill>
                        <a:srgbClr val="2668AE"/>
                      </a:solidFill>
                      <a:prstDash val="solid"/>
                      <a:round/>
                      <a:headEnd len="sm" w="sm" type="none"/>
                      <a:tailEnd len="sm" w="sm" type="none"/>
                    </a:lnR>
                    <a:lnT cap="flat" cmpd="sng" w="12700">
                      <a:solidFill>
                        <a:srgbClr val="2668AE"/>
                      </a:solidFill>
                      <a:prstDash val="solid"/>
                      <a:round/>
                      <a:headEnd len="sm" w="sm" type="none"/>
                      <a:tailEnd len="sm" w="sm" type="none"/>
                    </a:lnT>
                    <a:lnB cap="flat" cmpd="sng" w="12700">
                      <a:solidFill>
                        <a:srgbClr val="2668AE"/>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2400" u="none" cap="none" strike="noStrike">
                          <a:solidFill>
                            <a:schemeClr val="dk1"/>
                          </a:solidFill>
                        </a:rPr>
                        <a:t>21P0355</a:t>
                      </a:r>
                      <a:endParaRPr sz="2400" u="none" cap="none" strike="noStrike">
                        <a:solidFill>
                          <a:schemeClr val="dk1"/>
                        </a:solidFill>
                        <a:latin typeface="Calibri"/>
                        <a:ea typeface="Calibri"/>
                        <a:cs typeface="Calibri"/>
                        <a:sym typeface="Calibri"/>
                      </a:endParaRPr>
                    </a:p>
                  </a:txBody>
                  <a:tcPr marT="45725" marB="45725" marR="91450" marL="91450" anchor="ctr">
                    <a:lnL cap="flat" cmpd="sng" w="12700">
                      <a:solidFill>
                        <a:srgbClr val="2668AE"/>
                      </a:solidFill>
                      <a:prstDash val="solid"/>
                      <a:round/>
                      <a:headEnd len="sm" w="sm" type="none"/>
                      <a:tailEnd len="sm" w="sm" type="none"/>
                    </a:lnL>
                    <a:lnR cap="flat" cmpd="sng" w="12700">
                      <a:solidFill>
                        <a:srgbClr val="2668AE"/>
                      </a:solidFill>
                      <a:prstDash val="solid"/>
                      <a:round/>
                      <a:headEnd len="sm" w="sm" type="none"/>
                      <a:tailEnd len="sm" w="sm" type="none"/>
                    </a:lnR>
                    <a:lnT cap="flat" cmpd="sng" w="12700">
                      <a:solidFill>
                        <a:srgbClr val="2668AE"/>
                      </a:solidFill>
                      <a:prstDash val="solid"/>
                      <a:round/>
                      <a:headEnd len="sm" w="sm" type="none"/>
                      <a:tailEnd len="sm" w="sm" type="none"/>
                    </a:lnT>
                    <a:lnB cap="flat" cmpd="sng" w="12700">
                      <a:solidFill>
                        <a:srgbClr val="2668AE"/>
                      </a:solidFill>
                      <a:prstDash val="solid"/>
                      <a:round/>
                      <a:headEnd len="sm" w="sm" type="none"/>
                      <a:tailEnd len="sm" w="sm" type="none"/>
                    </a:lnB>
                  </a:tcPr>
                </a:tc>
              </a:tr>
              <a:tr h="548650">
                <a:tc>
                  <a:txBody>
                    <a:bodyPr/>
                    <a:lstStyle/>
                    <a:p>
                      <a:pPr indent="0" lvl="0" marL="0" marR="0" rtl="0" algn="ctr">
                        <a:lnSpc>
                          <a:spcPct val="100000"/>
                        </a:lnSpc>
                        <a:spcBef>
                          <a:spcPts val="0"/>
                        </a:spcBef>
                        <a:spcAft>
                          <a:spcPts val="0"/>
                        </a:spcAft>
                        <a:buClr>
                          <a:schemeClr val="dk1"/>
                        </a:buClr>
                        <a:buSzPts val="2400"/>
                        <a:buFont typeface="Garamond"/>
                        <a:buNone/>
                      </a:pPr>
                      <a:r>
                        <a:rPr b="1" lang="en-US" sz="2400" u="none" cap="none" strike="noStrike">
                          <a:solidFill>
                            <a:schemeClr val="dk1"/>
                          </a:solidFill>
                        </a:rPr>
                        <a:t>Sama Ashraf</a:t>
                      </a:r>
                      <a:endParaRPr b="1" sz="2400" u="none" cap="none" strike="noStrike">
                        <a:solidFill>
                          <a:schemeClr val="dk1"/>
                        </a:solidFill>
                        <a:latin typeface="Calibri"/>
                        <a:ea typeface="Calibri"/>
                        <a:cs typeface="Calibri"/>
                        <a:sym typeface="Calibri"/>
                      </a:endParaRPr>
                    </a:p>
                  </a:txBody>
                  <a:tcPr marT="0" marB="0" marR="68575" marL="68575" anchor="ctr">
                    <a:lnL cap="flat" cmpd="sng" w="12700">
                      <a:solidFill>
                        <a:srgbClr val="2668AE"/>
                      </a:solidFill>
                      <a:prstDash val="solid"/>
                      <a:round/>
                      <a:headEnd len="sm" w="sm" type="none"/>
                      <a:tailEnd len="sm" w="sm" type="none"/>
                    </a:lnL>
                    <a:lnR cap="flat" cmpd="sng" w="12700">
                      <a:solidFill>
                        <a:srgbClr val="2668AE"/>
                      </a:solidFill>
                      <a:prstDash val="solid"/>
                      <a:round/>
                      <a:headEnd len="sm" w="sm" type="none"/>
                      <a:tailEnd len="sm" w="sm" type="none"/>
                    </a:lnR>
                    <a:lnT cap="flat" cmpd="sng" w="12700">
                      <a:solidFill>
                        <a:srgbClr val="2668AE"/>
                      </a:solidFill>
                      <a:prstDash val="solid"/>
                      <a:round/>
                      <a:headEnd len="sm" w="sm" type="none"/>
                      <a:tailEnd len="sm" w="sm" type="none"/>
                    </a:lnT>
                    <a:lnB cap="flat" cmpd="sng" w="12700">
                      <a:solidFill>
                        <a:srgbClr val="2668AE"/>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2400" u="none" cap="none" strike="noStrike">
                          <a:solidFill>
                            <a:schemeClr val="dk1"/>
                          </a:solidFill>
                        </a:rPr>
                        <a:t>21P0066</a:t>
                      </a:r>
                      <a:endParaRPr sz="2400" u="none" cap="none" strike="noStrike">
                        <a:solidFill>
                          <a:schemeClr val="dk1"/>
                        </a:solidFill>
                        <a:latin typeface="Calibri"/>
                        <a:ea typeface="Calibri"/>
                        <a:cs typeface="Calibri"/>
                        <a:sym typeface="Calibri"/>
                      </a:endParaRPr>
                    </a:p>
                  </a:txBody>
                  <a:tcPr marT="45725" marB="45725" marR="91450" marL="91450" anchor="ctr">
                    <a:lnL cap="flat" cmpd="sng" w="12700">
                      <a:solidFill>
                        <a:srgbClr val="2668AE"/>
                      </a:solidFill>
                      <a:prstDash val="solid"/>
                      <a:round/>
                      <a:headEnd len="sm" w="sm" type="none"/>
                      <a:tailEnd len="sm" w="sm" type="none"/>
                    </a:lnL>
                    <a:lnR cap="flat" cmpd="sng" w="12700">
                      <a:solidFill>
                        <a:srgbClr val="2668AE"/>
                      </a:solidFill>
                      <a:prstDash val="solid"/>
                      <a:round/>
                      <a:headEnd len="sm" w="sm" type="none"/>
                      <a:tailEnd len="sm" w="sm" type="none"/>
                    </a:lnR>
                    <a:lnT cap="flat" cmpd="sng" w="12700">
                      <a:solidFill>
                        <a:srgbClr val="2668AE"/>
                      </a:solidFill>
                      <a:prstDash val="solid"/>
                      <a:round/>
                      <a:headEnd len="sm" w="sm" type="none"/>
                      <a:tailEnd len="sm" w="sm" type="none"/>
                    </a:lnT>
                    <a:lnB cap="flat" cmpd="sng" w="12700">
                      <a:solidFill>
                        <a:srgbClr val="2668AE"/>
                      </a:solidFill>
                      <a:prstDash val="solid"/>
                      <a:round/>
                      <a:headEnd len="sm" w="sm" type="none"/>
                      <a:tailEnd len="sm" w="sm" type="none"/>
                    </a:lnB>
                  </a:tcPr>
                </a:tc>
              </a:tr>
              <a:tr h="548650">
                <a:tc>
                  <a:txBody>
                    <a:bodyPr/>
                    <a:lstStyle/>
                    <a:p>
                      <a:pPr indent="0" lvl="0" marL="0" marR="0" rtl="0" algn="ctr">
                        <a:lnSpc>
                          <a:spcPct val="100000"/>
                        </a:lnSpc>
                        <a:spcBef>
                          <a:spcPts val="0"/>
                        </a:spcBef>
                        <a:spcAft>
                          <a:spcPts val="0"/>
                        </a:spcAft>
                        <a:buClr>
                          <a:schemeClr val="dk1"/>
                        </a:buClr>
                        <a:buSzPts val="2400"/>
                        <a:buFont typeface="Garamond"/>
                        <a:buNone/>
                      </a:pPr>
                      <a:r>
                        <a:rPr b="1" lang="en-US" sz="2400" u="none" cap="none" strike="noStrike">
                          <a:solidFill>
                            <a:schemeClr val="dk1"/>
                          </a:solidFill>
                        </a:rPr>
                        <a:t>Youssef Khaled</a:t>
                      </a:r>
                      <a:endParaRPr b="1" sz="2400" u="none" cap="none" strike="noStrike">
                        <a:solidFill>
                          <a:schemeClr val="dk1"/>
                        </a:solidFill>
                        <a:latin typeface="Calibri"/>
                        <a:ea typeface="Calibri"/>
                        <a:cs typeface="Calibri"/>
                        <a:sym typeface="Calibri"/>
                      </a:endParaRPr>
                    </a:p>
                  </a:txBody>
                  <a:tcPr marT="0" marB="0" marR="68575" marL="68575" anchor="ctr">
                    <a:lnL cap="flat" cmpd="sng" w="12700">
                      <a:solidFill>
                        <a:srgbClr val="2668AE"/>
                      </a:solidFill>
                      <a:prstDash val="solid"/>
                      <a:round/>
                      <a:headEnd len="sm" w="sm" type="none"/>
                      <a:tailEnd len="sm" w="sm" type="none"/>
                    </a:lnL>
                    <a:lnR cap="flat" cmpd="sng" w="12700">
                      <a:solidFill>
                        <a:srgbClr val="2668AE"/>
                      </a:solidFill>
                      <a:prstDash val="solid"/>
                      <a:round/>
                      <a:headEnd len="sm" w="sm" type="none"/>
                      <a:tailEnd len="sm" w="sm" type="none"/>
                    </a:lnR>
                    <a:lnT cap="flat" cmpd="sng" w="12700">
                      <a:solidFill>
                        <a:srgbClr val="2668AE"/>
                      </a:solidFill>
                      <a:prstDash val="solid"/>
                      <a:round/>
                      <a:headEnd len="sm" w="sm" type="none"/>
                      <a:tailEnd len="sm" w="sm" type="none"/>
                    </a:lnT>
                    <a:lnB cap="flat" cmpd="sng" w="12700">
                      <a:solidFill>
                        <a:srgbClr val="2668AE"/>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2400" u="none" cap="none" strike="noStrike">
                          <a:solidFill>
                            <a:schemeClr val="dk1"/>
                          </a:solidFill>
                        </a:rPr>
                        <a:t>22P0278</a:t>
                      </a:r>
                      <a:endParaRPr sz="2400" u="none" cap="none" strike="noStrike">
                        <a:solidFill>
                          <a:schemeClr val="dk1"/>
                        </a:solidFill>
                        <a:latin typeface="Calibri"/>
                        <a:ea typeface="Calibri"/>
                        <a:cs typeface="Calibri"/>
                        <a:sym typeface="Calibri"/>
                      </a:endParaRPr>
                    </a:p>
                  </a:txBody>
                  <a:tcPr marT="45725" marB="45725" marR="91450" marL="91450" anchor="ctr">
                    <a:lnL cap="flat" cmpd="sng" w="12700">
                      <a:solidFill>
                        <a:srgbClr val="2668AE"/>
                      </a:solidFill>
                      <a:prstDash val="solid"/>
                      <a:round/>
                      <a:headEnd len="sm" w="sm" type="none"/>
                      <a:tailEnd len="sm" w="sm" type="none"/>
                    </a:lnL>
                    <a:lnR cap="flat" cmpd="sng" w="12700">
                      <a:solidFill>
                        <a:srgbClr val="2668AE"/>
                      </a:solidFill>
                      <a:prstDash val="solid"/>
                      <a:round/>
                      <a:headEnd len="sm" w="sm" type="none"/>
                      <a:tailEnd len="sm" w="sm" type="none"/>
                    </a:lnR>
                    <a:lnT cap="flat" cmpd="sng" w="12700">
                      <a:solidFill>
                        <a:srgbClr val="2668AE"/>
                      </a:solidFill>
                      <a:prstDash val="solid"/>
                      <a:round/>
                      <a:headEnd len="sm" w="sm" type="none"/>
                      <a:tailEnd len="sm" w="sm" type="none"/>
                    </a:lnT>
                    <a:lnB cap="flat" cmpd="sng" w="12700">
                      <a:solidFill>
                        <a:srgbClr val="2668AE"/>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3"/>
          <p:cNvSpPr txBox="1"/>
          <p:nvPr>
            <p:ph type="title"/>
          </p:nvPr>
        </p:nvSpPr>
        <p:spPr>
          <a:xfrm>
            <a:off x="946150" y="433276"/>
            <a:ext cx="10299700" cy="45719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Outlines</a:t>
            </a:r>
            <a:r>
              <a:rPr lang="en-US">
                <a:latin typeface="Arial"/>
                <a:ea typeface="Arial"/>
                <a:cs typeface="Arial"/>
                <a:sym typeface="Arial"/>
              </a:rPr>
              <a:t>:</a:t>
            </a:r>
            <a:endParaRPr/>
          </a:p>
        </p:txBody>
      </p:sp>
      <p:sp>
        <p:nvSpPr>
          <p:cNvPr id="91" name="Google Shape;91;p3"/>
          <p:cNvSpPr txBox="1"/>
          <p:nvPr/>
        </p:nvSpPr>
        <p:spPr>
          <a:xfrm>
            <a:off x="1595079" y="661875"/>
            <a:ext cx="9408160" cy="65556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28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b="0" i="0" lang="en-US" sz="2800" u="none" cap="none" strike="noStrike">
                <a:solidFill>
                  <a:schemeClr val="dk1"/>
                </a:solidFill>
                <a:latin typeface="Calibri"/>
                <a:ea typeface="Calibri"/>
                <a:cs typeface="Calibri"/>
                <a:sym typeface="Calibri"/>
              </a:rPr>
              <a:t>Introduction </a:t>
            </a:r>
            <a:endParaRPr/>
          </a:p>
          <a:p>
            <a:pPr indent="-165100" lvl="0" marL="342900" marR="0" rtl="0" algn="l">
              <a:spcBef>
                <a:spcPts val="0"/>
              </a:spcBef>
              <a:spcAft>
                <a:spcPts val="0"/>
              </a:spcAft>
              <a:buClr>
                <a:srgbClr val="0070C0"/>
              </a:buClr>
              <a:buSzPts val="2800"/>
              <a:buFont typeface="Arial"/>
              <a:buNone/>
            </a:pPr>
            <a:r>
              <a:t/>
            </a:r>
            <a:endParaRPr b="0" i="0" sz="28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b="0" i="0" lang="en-US" sz="2800" u="none" cap="none" strike="noStrike">
                <a:solidFill>
                  <a:schemeClr val="dk1"/>
                </a:solidFill>
                <a:latin typeface="Calibri"/>
                <a:ea typeface="Calibri"/>
                <a:cs typeface="Calibri"/>
                <a:sym typeface="Calibri"/>
              </a:rPr>
              <a:t>Motivation </a:t>
            </a:r>
            <a:endParaRPr/>
          </a:p>
          <a:p>
            <a:pPr indent="0" lvl="0" marL="0" marR="0" rtl="0" algn="l">
              <a:spcBef>
                <a:spcPts val="0"/>
              </a:spcBef>
              <a:spcAft>
                <a:spcPts val="0"/>
              </a:spcAft>
              <a:buNone/>
            </a:pPr>
            <a:r>
              <a:t/>
            </a:r>
            <a:endParaRPr b="0" i="0" sz="28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b="0" i="0" lang="en-US" sz="2800" u="none" cap="none" strike="noStrike">
                <a:solidFill>
                  <a:schemeClr val="dk1"/>
                </a:solidFill>
                <a:latin typeface="Calibri"/>
                <a:ea typeface="Calibri"/>
                <a:cs typeface="Calibri"/>
                <a:sym typeface="Calibri"/>
              </a:rPr>
              <a:t> Architecture</a:t>
            </a:r>
            <a:endParaRPr b="0" i="0" sz="2800" u="none" cap="none" strike="noStrike">
              <a:solidFill>
                <a:schemeClr val="dk1"/>
              </a:solidFill>
              <a:latin typeface="Calibri"/>
              <a:ea typeface="Calibri"/>
              <a:cs typeface="Calibri"/>
              <a:sym typeface="Calibri"/>
            </a:endParaRPr>
          </a:p>
          <a:p>
            <a:pPr indent="-165100" lvl="0" marL="342900" marR="0" rtl="0" algn="l">
              <a:spcBef>
                <a:spcPts val="0"/>
              </a:spcBef>
              <a:spcAft>
                <a:spcPts val="0"/>
              </a:spcAft>
              <a:buClr>
                <a:srgbClr val="0070C0"/>
              </a:buClr>
              <a:buSzPts val="2800"/>
              <a:buFont typeface="Arial"/>
              <a:buNone/>
            </a:pPr>
            <a:r>
              <a:t/>
            </a:r>
            <a:endParaRPr b="0" i="0" sz="28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b="0" i="0" lang="en-US" sz="2800" u="none" cap="none" strike="noStrike">
                <a:solidFill>
                  <a:schemeClr val="dk1"/>
                </a:solidFill>
                <a:latin typeface="Calibri"/>
                <a:ea typeface="Calibri"/>
                <a:cs typeface="Calibri"/>
                <a:sym typeface="Calibri"/>
              </a:rPr>
              <a:t>ASIC Implantation</a:t>
            </a:r>
            <a:endParaRPr/>
          </a:p>
          <a:p>
            <a:pPr indent="-165100" lvl="0" marL="342900" marR="0" rtl="0" algn="l">
              <a:spcBef>
                <a:spcPts val="0"/>
              </a:spcBef>
              <a:spcAft>
                <a:spcPts val="0"/>
              </a:spcAft>
              <a:buClr>
                <a:srgbClr val="0070C0"/>
              </a:buClr>
              <a:buSzPts val="2800"/>
              <a:buFont typeface="Arial"/>
              <a:buNone/>
            </a:pPr>
            <a:r>
              <a:t/>
            </a:r>
            <a:endParaRPr b="0" i="0" sz="28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b="0" i="0" lang="en-US" sz="2800" u="none" cap="none" strike="noStrike">
                <a:solidFill>
                  <a:schemeClr val="dk1"/>
                </a:solidFill>
                <a:latin typeface="Calibri"/>
                <a:ea typeface="Calibri"/>
                <a:cs typeface="Calibri"/>
                <a:sym typeface="Calibri"/>
              </a:rPr>
              <a:t>Verification Plan and Results</a:t>
            </a:r>
            <a:endParaRPr/>
          </a:p>
          <a:p>
            <a:pPr indent="-165100" lvl="0" marL="342900" marR="0" rtl="0" algn="l">
              <a:spcBef>
                <a:spcPts val="0"/>
              </a:spcBef>
              <a:spcAft>
                <a:spcPts val="0"/>
              </a:spcAft>
              <a:buClr>
                <a:srgbClr val="0070C0"/>
              </a:buClr>
              <a:buSzPts val="2800"/>
              <a:buFont typeface="Arial"/>
              <a:buNone/>
            </a:pPr>
            <a:r>
              <a:t/>
            </a:r>
            <a:endParaRPr b="0" i="0" sz="28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b="0" i="0" lang="en-US" sz="2800" u="none" cap="none" strike="noStrike">
                <a:solidFill>
                  <a:schemeClr val="dk1"/>
                </a:solidFill>
                <a:latin typeface="Calibri"/>
                <a:ea typeface="Calibri"/>
                <a:cs typeface="Calibri"/>
                <a:sym typeface="Calibri"/>
              </a:rPr>
              <a:t>Future Work  </a:t>
            </a:r>
            <a:endParaRPr/>
          </a:p>
          <a:p>
            <a:pPr indent="-165100" lvl="0" marL="342900" marR="0" rtl="0" algn="l">
              <a:spcBef>
                <a:spcPts val="0"/>
              </a:spcBef>
              <a:spcAft>
                <a:spcPts val="0"/>
              </a:spcAft>
              <a:buClr>
                <a:srgbClr val="0070C0"/>
              </a:buClr>
              <a:buSzPts val="2800"/>
              <a:buFont typeface="Arial"/>
              <a:buNone/>
            </a:pPr>
            <a:r>
              <a:t/>
            </a:r>
            <a:endParaRPr b="0" i="0" sz="2800" u="none" cap="none" strike="noStrike">
              <a:solidFill>
                <a:schemeClr val="dk1"/>
              </a:solidFill>
              <a:latin typeface="Calibri"/>
              <a:ea typeface="Calibri"/>
              <a:cs typeface="Calibri"/>
              <a:sym typeface="Calibri"/>
            </a:endParaRPr>
          </a:p>
          <a:p>
            <a:pPr indent="-165100" lvl="0" marL="342900" marR="0" rtl="0" algn="l">
              <a:spcBef>
                <a:spcPts val="0"/>
              </a:spcBef>
              <a:spcAft>
                <a:spcPts val="0"/>
              </a:spcAft>
              <a:buClr>
                <a:srgbClr val="0070C0"/>
              </a:buClr>
              <a:buSzPts val="2800"/>
              <a:buFont typeface="Arial"/>
              <a:buNone/>
            </a:pPr>
            <a:r>
              <a:t/>
            </a:r>
            <a:endParaRPr b="0" i="0" sz="2800" u="none" cap="none" strike="noStrike">
              <a:solidFill>
                <a:schemeClr val="dk1"/>
              </a:solidFill>
              <a:latin typeface="Calibri"/>
              <a:ea typeface="Calibri"/>
              <a:cs typeface="Calibri"/>
              <a:sym typeface="Calibri"/>
            </a:endParaRPr>
          </a:p>
          <a:p>
            <a:pPr indent="-165100" lvl="0" marL="342900" marR="0" rtl="0" algn="l">
              <a:spcBef>
                <a:spcPts val="0"/>
              </a:spcBef>
              <a:spcAft>
                <a:spcPts val="0"/>
              </a:spcAft>
              <a:buClr>
                <a:srgbClr val="0070C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4"/>
          <p:cNvSpPr txBox="1"/>
          <p:nvPr>
            <p:ph type="title"/>
          </p:nvPr>
        </p:nvSpPr>
        <p:spPr>
          <a:xfrm>
            <a:off x="924380" y="578201"/>
            <a:ext cx="10354128" cy="75253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latin typeface="Calibri"/>
                <a:ea typeface="Calibri"/>
                <a:cs typeface="Calibri"/>
                <a:sym typeface="Calibri"/>
              </a:rPr>
              <a:t>Introduction</a:t>
            </a:r>
            <a:endParaRPr b="0" sz="3600">
              <a:latin typeface="Calibri"/>
              <a:ea typeface="Calibri"/>
              <a:cs typeface="Calibri"/>
              <a:sym typeface="Calibri"/>
            </a:endParaRPr>
          </a:p>
        </p:txBody>
      </p:sp>
      <p:sp>
        <p:nvSpPr>
          <p:cNvPr id="97" name="Google Shape;97;p4"/>
          <p:cNvSpPr txBox="1"/>
          <p:nvPr>
            <p:ph idx="1" type="body"/>
          </p:nvPr>
        </p:nvSpPr>
        <p:spPr>
          <a:xfrm>
            <a:off x="925285" y="1325691"/>
            <a:ext cx="10504715" cy="4984947"/>
          </a:xfrm>
          <a:prstGeom prst="rect">
            <a:avLst/>
          </a:prstGeom>
          <a:noFill/>
          <a:ln>
            <a:noFill/>
          </a:ln>
        </p:spPr>
        <p:txBody>
          <a:bodyPr anchorCtr="0" anchor="t" bIns="45700" lIns="91425" spcFirstLastPara="1" rIns="91425" wrap="square" tIns="45700">
            <a:noAutofit/>
          </a:bodyPr>
          <a:lstStyle/>
          <a:p>
            <a:pPr indent="-285750" lvl="0" marL="285750" rtl="0" algn="l">
              <a:lnSpc>
                <a:spcPct val="265500"/>
              </a:lnSpc>
              <a:spcBef>
                <a:spcPts val="0"/>
              </a:spcBef>
              <a:spcAft>
                <a:spcPts val="0"/>
              </a:spcAft>
              <a:buSzPts val="2400"/>
              <a:buFont typeface="Arial"/>
              <a:buChar char="•"/>
            </a:pPr>
            <a:r>
              <a:rPr b="0" lang="en-US" sz="2400">
                <a:solidFill>
                  <a:srgbClr val="000000"/>
                </a:solidFill>
                <a:latin typeface="Calibri"/>
                <a:ea typeface="Calibri"/>
                <a:cs typeface="Calibri"/>
                <a:sym typeface="Calibri"/>
              </a:rPr>
              <a:t>What does GPGPU stand for ?</a:t>
            </a:r>
            <a:endParaRPr/>
          </a:p>
          <a:p>
            <a:pPr indent="0" lvl="0" marL="0" rtl="0" algn="l">
              <a:lnSpc>
                <a:spcPct val="265500"/>
              </a:lnSpc>
              <a:spcBef>
                <a:spcPts val="0"/>
              </a:spcBef>
              <a:spcAft>
                <a:spcPts val="0"/>
              </a:spcAft>
              <a:buSzPts val="2400"/>
              <a:buNone/>
            </a:pPr>
            <a:r>
              <a:rPr b="0" lang="en-US" sz="2400">
                <a:solidFill>
                  <a:srgbClr val="000000"/>
                </a:solidFill>
                <a:latin typeface="Calibri"/>
                <a:ea typeface="Calibri"/>
                <a:cs typeface="Calibri"/>
                <a:sym typeface="Calibri"/>
              </a:rPr>
              <a:t>GPGPU stands for General Purpose Graphic Processing Unit.</a:t>
            </a:r>
            <a:endParaRPr/>
          </a:p>
          <a:p>
            <a:pPr indent="-285750" lvl="0" marL="285750" rtl="0" algn="l">
              <a:lnSpc>
                <a:spcPct val="265500"/>
              </a:lnSpc>
              <a:spcBef>
                <a:spcPts val="0"/>
              </a:spcBef>
              <a:spcAft>
                <a:spcPts val="0"/>
              </a:spcAft>
              <a:buSzPts val="2400"/>
              <a:buFont typeface="Arial"/>
              <a:buChar char="•"/>
            </a:pPr>
            <a:r>
              <a:rPr b="0" lang="en-US" sz="2400">
                <a:solidFill>
                  <a:srgbClr val="000000"/>
                </a:solidFill>
                <a:latin typeface="Calibri"/>
                <a:ea typeface="Calibri"/>
                <a:cs typeface="Calibri"/>
                <a:sym typeface="Calibri"/>
              </a:rPr>
              <a:t>Why would we use it?</a:t>
            </a:r>
            <a:endParaRPr/>
          </a:p>
          <a:p>
            <a:pPr indent="0" lvl="0" marL="0" rtl="0" algn="l">
              <a:lnSpc>
                <a:spcPct val="265500"/>
              </a:lnSpc>
              <a:spcBef>
                <a:spcPts val="0"/>
              </a:spcBef>
              <a:spcAft>
                <a:spcPts val="0"/>
              </a:spcAft>
              <a:buSzPts val="2400"/>
              <a:buNone/>
            </a:pPr>
            <a:r>
              <a:rPr b="0" lang="en-US" sz="2400">
                <a:solidFill>
                  <a:srgbClr val="000000"/>
                </a:solidFill>
                <a:latin typeface="Calibri"/>
                <a:ea typeface="Calibri"/>
                <a:cs typeface="Calibri"/>
                <a:sym typeface="Calibri"/>
              </a:rPr>
              <a:t>It is a general-purpose processing unit which provides a high parallel computation capability.</a:t>
            </a:r>
            <a:endParaRPr/>
          </a:p>
          <a:p>
            <a:pPr indent="-190500" lvl="0" marL="342900" rtl="0" algn="l">
              <a:spcBef>
                <a:spcPts val="0"/>
              </a:spcBef>
              <a:spcAft>
                <a:spcPts val="0"/>
              </a:spcAft>
              <a:buSzPts val="2400"/>
              <a:buFont typeface="Arial"/>
              <a:buNone/>
            </a:pPr>
            <a:r>
              <a:t/>
            </a:r>
            <a:endParaRPr b="0" sz="2400">
              <a:solidFill>
                <a:srgbClr val="000000"/>
              </a:solidFill>
            </a:endParaRPr>
          </a:p>
          <a:p>
            <a:pPr indent="-190500" lvl="0" marL="342900" rtl="0" algn="l">
              <a:spcBef>
                <a:spcPts val="480"/>
              </a:spcBef>
              <a:spcAft>
                <a:spcPts val="0"/>
              </a:spcAft>
              <a:buSzPts val="2400"/>
              <a:buNone/>
            </a:pPr>
            <a:r>
              <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5"/>
          <p:cNvSpPr txBox="1"/>
          <p:nvPr>
            <p:ph type="title"/>
          </p:nvPr>
        </p:nvSpPr>
        <p:spPr>
          <a:xfrm>
            <a:off x="924380" y="578201"/>
            <a:ext cx="10354128" cy="75253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latin typeface="Calibri"/>
                <a:ea typeface="Calibri"/>
                <a:cs typeface="Calibri"/>
                <a:sym typeface="Calibri"/>
              </a:rPr>
              <a:t>Introduction</a:t>
            </a:r>
            <a:endParaRPr b="0" sz="3600">
              <a:latin typeface="Calibri"/>
              <a:ea typeface="Calibri"/>
              <a:cs typeface="Calibri"/>
              <a:sym typeface="Calibri"/>
            </a:endParaRPr>
          </a:p>
        </p:txBody>
      </p:sp>
      <p:sp>
        <p:nvSpPr>
          <p:cNvPr id="103" name="Google Shape;103;p5"/>
          <p:cNvSpPr txBox="1"/>
          <p:nvPr>
            <p:ph idx="1" type="body"/>
          </p:nvPr>
        </p:nvSpPr>
        <p:spPr>
          <a:xfrm>
            <a:off x="925285" y="1325691"/>
            <a:ext cx="5954487" cy="4375347"/>
          </a:xfrm>
          <a:prstGeom prst="rect">
            <a:avLst/>
          </a:prstGeom>
          <a:noFill/>
          <a:ln>
            <a:noFill/>
          </a:ln>
        </p:spPr>
        <p:txBody>
          <a:bodyPr anchorCtr="0" anchor="t" bIns="45700" lIns="91425" spcFirstLastPara="1" rIns="91425" wrap="square" tIns="45700">
            <a:noAutofit/>
          </a:bodyPr>
          <a:lstStyle/>
          <a:p>
            <a:pPr indent="-342900" lvl="0" marL="342900" rtl="0" algn="l">
              <a:lnSpc>
                <a:spcPct val="235999"/>
              </a:lnSpc>
              <a:spcBef>
                <a:spcPts val="0"/>
              </a:spcBef>
              <a:spcAft>
                <a:spcPts val="0"/>
              </a:spcAft>
              <a:buSzPts val="2700"/>
              <a:buChar char="•"/>
            </a:pPr>
            <a:r>
              <a:rPr b="0" lang="en-US" sz="2700">
                <a:solidFill>
                  <a:srgbClr val="000000"/>
                </a:solidFill>
                <a:latin typeface="Calibri"/>
                <a:ea typeface="Calibri"/>
                <a:cs typeface="Calibri"/>
                <a:sym typeface="Calibri"/>
              </a:rPr>
              <a:t>Vortex RISC-V:</a:t>
            </a:r>
            <a:endParaRPr/>
          </a:p>
          <a:p>
            <a:pPr indent="0" lvl="0" marL="0" rtl="0" algn="l">
              <a:lnSpc>
                <a:spcPct val="265500"/>
              </a:lnSpc>
              <a:spcBef>
                <a:spcPts val="0"/>
              </a:spcBef>
              <a:spcAft>
                <a:spcPts val="0"/>
              </a:spcAft>
              <a:buSzPts val="2400"/>
              <a:buNone/>
            </a:pPr>
            <a:r>
              <a:rPr b="0" lang="en-US" sz="2400">
                <a:solidFill>
                  <a:srgbClr val="000000"/>
                </a:solidFill>
                <a:latin typeface="Calibri"/>
                <a:ea typeface="Calibri"/>
                <a:cs typeface="Calibri"/>
                <a:sym typeface="Calibri"/>
              </a:rPr>
              <a:t>Open-source hardware and software platform for (GPGPUs), built on the open RISC-V instruction set architecture (ISA).</a:t>
            </a:r>
            <a:endParaRPr sz="2400"/>
          </a:p>
          <a:p>
            <a:pPr indent="-114300" lvl="0" marL="285750" rtl="0" algn="l">
              <a:lnSpc>
                <a:spcPct val="235999"/>
              </a:lnSpc>
              <a:spcBef>
                <a:spcPts val="0"/>
              </a:spcBef>
              <a:spcAft>
                <a:spcPts val="0"/>
              </a:spcAft>
              <a:buSzPts val="2700"/>
              <a:buFont typeface="Arial"/>
              <a:buNone/>
            </a:pPr>
            <a:r>
              <a:t/>
            </a:r>
            <a:endParaRPr b="0" sz="2700">
              <a:solidFill>
                <a:srgbClr val="000000"/>
              </a:solidFill>
            </a:endParaRPr>
          </a:p>
        </p:txBody>
      </p:sp>
      <p:pic>
        <p:nvPicPr>
          <p:cNvPr descr="A blue and gold logo&#10;&#10;AI-generated content may be incorrect." id="104" name="Google Shape;104;p5"/>
          <p:cNvPicPr preferRelativeResize="0"/>
          <p:nvPr/>
        </p:nvPicPr>
        <p:blipFill rotWithShape="1">
          <a:blip r:embed="rId3">
            <a:alphaModFix/>
          </a:blip>
          <a:srcRect b="0" l="0" r="0" t="0"/>
          <a:stretch/>
        </p:blipFill>
        <p:spPr>
          <a:xfrm>
            <a:off x="7040336" y="1325336"/>
            <a:ext cx="4381500" cy="4381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6"/>
          <p:cNvSpPr txBox="1"/>
          <p:nvPr>
            <p:ph type="title"/>
          </p:nvPr>
        </p:nvSpPr>
        <p:spPr>
          <a:xfrm>
            <a:off x="924380" y="578201"/>
            <a:ext cx="10354128" cy="75253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latin typeface="Calibri"/>
                <a:ea typeface="Calibri"/>
                <a:cs typeface="Calibri"/>
                <a:sym typeface="Calibri"/>
              </a:rPr>
              <a:t>Introduction</a:t>
            </a:r>
            <a:endParaRPr b="0" sz="3600">
              <a:latin typeface="Calibri"/>
              <a:ea typeface="Calibri"/>
              <a:cs typeface="Calibri"/>
              <a:sym typeface="Calibri"/>
            </a:endParaRPr>
          </a:p>
        </p:txBody>
      </p:sp>
      <p:sp>
        <p:nvSpPr>
          <p:cNvPr id="110" name="Google Shape;110;p6"/>
          <p:cNvSpPr txBox="1"/>
          <p:nvPr>
            <p:ph idx="1" type="body"/>
          </p:nvPr>
        </p:nvSpPr>
        <p:spPr>
          <a:xfrm>
            <a:off x="925285" y="1325691"/>
            <a:ext cx="10352313" cy="5072033"/>
          </a:xfrm>
          <a:prstGeom prst="rect">
            <a:avLst/>
          </a:prstGeom>
          <a:noFill/>
          <a:ln>
            <a:noFill/>
          </a:ln>
        </p:spPr>
        <p:txBody>
          <a:bodyPr anchorCtr="0" anchor="t" bIns="45700" lIns="91425" spcFirstLastPara="1" rIns="91425" wrap="square" tIns="45700">
            <a:noAutofit/>
          </a:bodyPr>
          <a:lstStyle/>
          <a:p>
            <a:pPr indent="-571500" lvl="0" marL="571500" rtl="0" algn="l">
              <a:lnSpc>
                <a:spcPct val="265500"/>
              </a:lnSpc>
              <a:spcBef>
                <a:spcPts val="0"/>
              </a:spcBef>
              <a:spcAft>
                <a:spcPts val="0"/>
              </a:spcAft>
              <a:buSzPts val="2400"/>
              <a:buFont typeface="Arial"/>
              <a:buChar char="•"/>
            </a:pPr>
            <a:r>
              <a:rPr b="0" lang="en-US" sz="2400">
                <a:solidFill>
                  <a:srgbClr val="000000"/>
                </a:solidFill>
                <a:latin typeface="Calibri"/>
                <a:ea typeface="Calibri"/>
                <a:cs typeface="Calibri"/>
                <a:sym typeface="Calibri"/>
              </a:rPr>
              <a:t>Architecture: </a:t>
            </a:r>
            <a:r>
              <a:rPr b="0" lang="en-US" sz="2400">
                <a:latin typeface="Calibri"/>
                <a:ea typeface="Calibri"/>
                <a:cs typeface="Calibri"/>
                <a:sym typeface="Calibri"/>
              </a:rPr>
              <a:t>S</a:t>
            </a:r>
            <a:r>
              <a:rPr b="0" lang="en-US" sz="2400">
                <a:solidFill>
                  <a:srgbClr val="000000"/>
                </a:solidFill>
                <a:latin typeface="Calibri"/>
                <a:ea typeface="Calibri"/>
                <a:cs typeface="Calibri"/>
                <a:sym typeface="Calibri"/>
              </a:rPr>
              <a:t>ingle-</a:t>
            </a:r>
            <a:r>
              <a:rPr b="0" lang="en-US" sz="2400">
                <a:latin typeface="Calibri"/>
                <a:ea typeface="Calibri"/>
                <a:cs typeface="Calibri"/>
                <a:sym typeface="Calibri"/>
              </a:rPr>
              <a:t>I</a:t>
            </a:r>
            <a:r>
              <a:rPr b="0" lang="en-US" sz="2400">
                <a:solidFill>
                  <a:srgbClr val="000000"/>
                </a:solidFill>
                <a:latin typeface="Calibri"/>
                <a:ea typeface="Calibri"/>
                <a:cs typeface="Calibri"/>
                <a:sym typeface="Calibri"/>
              </a:rPr>
              <a:t>nstruction </a:t>
            </a:r>
            <a:r>
              <a:rPr b="0" lang="en-US" sz="2400">
                <a:latin typeface="Calibri"/>
                <a:ea typeface="Calibri"/>
                <a:cs typeface="Calibri"/>
                <a:sym typeface="Calibri"/>
              </a:rPr>
              <a:t>M</a:t>
            </a:r>
            <a:r>
              <a:rPr b="0" lang="en-US" sz="2400">
                <a:solidFill>
                  <a:srgbClr val="000000"/>
                </a:solidFill>
                <a:latin typeface="Calibri"/>
                <a:ea typeface="Calibri"/>
                <a:cs typeface="Calibri"/>
                <a:sym typeface="Calibri"/>
              </a:rPr>
              <a:t>ultiple-</a:t>
            </a:r>
            <a:r>
              <a:rPr b="0" lang="en-US" sz="2400">
                <a:latin typeface="Calibri"/>
                <a:ea typeface="Calibri"/>
                <a:cs typeface="Calibri"/>
                <a:sym typeface="Calibri"/>
              </a:rPr>
              <a:t>T</a:t>
            </a:r>
            <a:r>
              <a:rPr b="0" lang="en-US" sz="2400">
                <a:solidFill>
                  <a:srgbClr val="000000"/>
                </a:solidFill>
                <a:latin typeface="Calibri"/>
                <a:ea typeface="Calibri"/>
                <a:cs typeface="Calibri"/>
                <a:sym typeface="Calibri"/>
              </a:rPr>
              <a:t>hreads (</a:t>
            </a:r>
            <a:r>
              <a:rPr b="0" lang="en-US" sz="2400">
                <a:latin typeface="Calibri"/>
                <a:ea typeface="Calibri"/>
                <a:cs typeface="Calibri"/>
                <a:sym typeface="Calibri"/>
              </a:rPr>
              <a:t>SIMT</a:t>
            </a:r>
            <a:r>
              <a:rPr b="0" lang="en-US" sz="2400">
                <a:solidFill>
                  <a:srgbClr val="000000"/>
                </a:solidFill>
                <a:latin typeface="Calibri"/>
                <a:ea typeface="Calibri"/>
                <a:cs typeface="Calibri"/>
                <a:sym typeface="Calibri"/>
              </a:rPr>
              <a:t>) execution model.</a:t>
            </a:r>
            <a:endParaRPr/>
          </a:p>
          <a:p>
            <a:pPr indent="-571500" lvl="0" marL="571500" rtl="0" algn="l">
              <a:lnSpc>
                <a:spcPct val="265500"/>
              </a:lnSpc>
              <a:spcBef>
                <a:spcPts val="0"/>
              </a:spcBef>
              <a:spcAft>
                <a:spcPts val="0"/>
              </a:spcAft>
              <a:buSzPts val="2400"/>
              <a:buChar char="•"/>
            </a:pPr>
            <a:r>
              <a:rPr b="0" lang="en-US" sz="2400">
                <a:solidFill>
                  <a:srgbClr val="000000"/>
                </a:solidFill>
                <a:latin typeface="Calibri"/>
                <a:ea typeface="Calibri"/>
                <a:cs typeface="Calibri"/>
                <a:sym typeface="Calibri"/>
              </a:rPr>
              <a:t>Vortex includes a full compiler, driver and runtime. It supports high-capability debugging.</a:t>
            </a:r>
            <a:endParaRPr/>
          </a:p>
          <a:p>
            <a:pPr indent="-419100" lvl="0" marL="571500" rtl="0" algn="l">
              <a:lnSpc>
                <a:spcPct val="265500"/>
              </a:lnSpc>
              <a:spcBef>
                <a:spcPts val="0"/>
              </a:spcBef>
              <a:spcAft>
                <a:spcPts val="0"/>
              </a:spcAft>
              <a:buSzPts val="2400"/>
              <a:buNone/>
            </a:pPr>
            <a:r>
              <a:t/>
            </a:r>
            <a:endParaRPr b="0" sz="2400">
              <a:solidFill>
                <a:srgbClr val="000000"/>
              </a:solidFill>
            </a:endParaRPr>
          </a:p>
          <a:p>
            <a:pPr indent="-133350" lvl="0" marL="285750" rtl="0" algn="l">
              <a:lnSpc>
                <a:spcPct val="265500"/>
              </a:lnSpc>
              <a:spcBef>
                <a:spcPts val="0"/>
              </a:spcBef>
              <a:spcAft>
                <a:spcPts val="0"/>
              </a:spcAft>
              <a:buSzPts val="2400"/>
              <a:buFont typeface="Arial"/>
              <a:buNone/>
            </a:pPr>
            <a:r>
              <a:t/>
            </a:r>
            <a:endParaRPr b="0" sz="2400">
              <a:solidFill>
                <a:srgbClr val="000000"/>
              </a:solidFill>
              <a:latin typeface="Calibri"/>
              <a:ea typeface="Calibri"/>
              <a:cs typeface="Calibri"/>
              <a:sym typeface="Calibri"/>
            </a:endParaRPr>
          </a:p>
          <a:p>
            <a:pPr indent="-419100" lvl="0" marL="571500" rtl="0" algn="l">
              <a:lnSpc>
                <a:spcPct val="265500"/>
              </a:lnSpc>
              <a:spcBef>
                <a:spcPts val="0"/>
              </a:spcBef>
              <a:spcAft>
                <a:spcPts val="0"/>
              </a:spcAft>
              <a:buSzPts val="2400"/>
              <a:buFont typeface="Arial"/>
              <a:buNone/>
            </a:pPr>
            <a:r>
              <a:t/>
            </a:r>
            <a:endParaRPr b="0" sz="2400">
              <a:solidFill>
                <a:srgbClr val="000000"/>
              </a:solidFill>
              <a:latin typeface="Calibri"/>
              <a:ea typeface="Calibri"/>
              <a:cs typeface="Calibri"/>
              <a:sym typeface="Calibri"/>
            </a:endParaRPr>
          </a:p>
          <a:p>
            <a:pPr indent="-190500" lvl="0" marL="342900" rtl="0" algn="l">
              <a:lnSpc>
                <a:spcPct val="265500"/>
              </a:lnSpc>
              <a:spcBef>
                <a:spcPts val="0"/>
              </a:spcBef>
              <a:spcAft>
                <a:spcPts val="0"/>
              </a:spcAft>
              <a:buSzPts val="2400"/>
              <a:buNone/>
            </a:pPr>
            <a:r>
              <a:t/>
            </a:r>
            <a:endParaRPr b="0" sz="24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7"/>
          <p:cNvSpPr txBox="1"/>
          <p:nvPr>
            <p:ph type="title"/>
          </p:nvPr>
        </p:nvSpPr>
        <p:spPr>
          <a:xfrm>
            <a:off x="924380" y="578201"/>
            <a:ext cx="10354128" cy="75253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latin typeface="Calibri"/>
                <a:ea typeface="Calibri"/>
                <a:cs typeface="Calibri"/>
                <a:sym typeface="Calibri"/>
              </a:rPr>
              <a:t>Motivation</a:t>
            </a:r>
            <a:endParaRPr/>
          </a:p>
        </p:txBody>
      </p:sp>
      <p:sp>
        <p:nvSpPr>
          <p:cNvPr id="116" name="Google Shape;116;p7"/>
          <p:cNvSpPr txBox="1"/>
          <p:nvPr>
            <p:ph idx="1" type="body"/>
          </p:nvPr>
        </p:nvSpPr>
        <p:spPr>
          <a:xfrm>
            <a:off x="718456" y="1195062"/>
            <a:ext cx="10765970" cy="5300633"/>
          </a:xfrm>
          <a:prstGeom prst="rect">
            <a:avLst/>
          </a:prstGeom>
          <a:noFill/>
          <a:ln>
            <a:noFill/>
          </a:ln>
        </p:spPr>
        <p:txBody>
          <a:bodyPr anchorCtr="0" anchor="t" bIns="45700" lIns="91425" spcFirstLastPara="1" rIns="91425" wrap="square" tIns="45700">
            <a:noAutofit/>
          </a:bodyPr>
          <a:lstStyle/>
          <a:p>
            <a:pPr indent="0" lvl="0" marL="0" rtl="0" algn="l">
              <a:lnSpc>
                <a:spcPct val="254880"/>
              </a:lnSpc>
              <a:spcBef>
                <a:spcPts val="0"/>
              </a:spcBef>
              <a:spcAft>
                <a:spcPts val="0"/>
              </a:spcAft>
              <a:buSzPts val="2500"/>
              <a:buNone/>
            </a:pPr>
            <a:r>
              <a:rPr b="0" lang="en-US" sz="2500">
                <a:solidFill>
                  <a:srgbClr val="000000"/>
                </a:solidFill>
                <a:latin typeface="Calibri"/>
                <a:ea typeface="Calibri"/>
                <a:cs typeface="Calibri"/>
                <a:sym typeface="Calibri"/>
              </a:rPr>
              <a:t>Why bother with GPGPUs instead of just having regular cores processor ?</a:t>
            </a:r>
            <a:endParaRPr/>
          </a:p>
          <a:p>
            <a:pPr indent="-342900" lvl="0" marL="342900" rtl="0" algn="l">
              <a:lnSpc>
                <a:spcPct val="254880"/>
              </a:lnSpc>
              <a:spcBef>
                <a:spcPts val="0"/>
              </a:spcBef>
              <a:spcAft>
                <a:spcPts val="0"/>
              </a:spcAft>
              <a:buSzPts val="2500"/>
              <a:buFont typeface="Calibri"/>
              <a:buChar char="-"/>
            </a:pPr>
            <a:r>
              <a:rPr b="0" lang="en-US" sz="2500">
                <a:solidFill>
                  <a:srgbClr val="000000"/>
                </a:solidFill>
                <a:latin typeface="Calibri"/>
                <a:ea typeface="Calibri"/>
                <a:cs typeface="Calibri"/>
                <a:sym typeface="Calibri"/>
              </a:rPr>
              <a:t>Used for regular tasks that are ordinary CPU alike and that is why it is called General Purpose.</a:t>
            </a:r>
            <a:endParaRPr>
              <a:latin typeface="Calibri"/>
              <a:ea typeface="Calibri"/>
              <a:cs typeface="Calibri"/>
              <a:sym typeface="Calibri"/>
            </a:endParaRPr>
          </a:p>
          <a:p>
            <a:pPr indent="-342900" lvl="0" marL="342900" rtl="0" algn="l">
              <a:spcBef>
                <a:spcPts val="500"/>
              </a:spcBef>
              <a:spcAft>
                <a:spcPts val="0"/>
              </a:spcAft>
              <a:buSzPts val="2500"/>
              <a:buFont typeface="Calibri"/>
              <a:buChar char="-"/>
            </a:pPr>
            <a:r>
              <a:rPr b="0" lang="en-US" sz="2500">
                <a:solidFill>
                  <a:srgbClr val="000000"/>
                </a:solidFill>
                <a:latin typeface="Calibri"/>
                <a:ea typeface="Calibri"/>
                <a:cs typeface="Calibri"/>
                <a:sym typeface="Calibri"/>
              </a:rPr>
              <a:t>High parallel computational capability feature suitable for AI and ML training.</a:t>
            </a:r>
            <a:endParaRPr/>
          </a:p>
          <a:p>
            <a:pPr indent="-184150" lvl="0" marL="342900" rtl="0" algn="l">
              <a:spcBef>
                <a:spcPts val="500"/>
              </a:spcBef>
              <a:spcAft>
                <a:spcPts val="0"/>
              </a:spcAft>
              <a:buSzPts val="2500"/>
              <a:buFont typeface="Calibri"/>
              <a:buNone/>
            </a:pPr>
            <a:r>
              <a:t/>
            </a:r>
            <a:endParaRPr b="0" sz="2500">
              <a:solidFill>
                <a:srgbClr val="000000"/>
              </a:solidFill>
              <a:latin typeface="Calibri"/>
              <a:ea typeface="Calibri"/>
              <a:cs typeface="Calibri"/>
              <a:sym typeface="Calibri"/>
            </a:endParaRPr>
          </a:p>
          <a:p>
            <a:pPr indent="-342900" lvl="0" marL="342900" rtl="0" algn="l">
              <a:spcBef>
                <a:spcPts val="500"/>
              </a:spcBef>
              <a:spcAft>
                <a:spcPts val="0"/>
              </a:spcAft>
              <a:buSzPts val="2500"/>
              <a:buFont typeface="Calibri"/>
              <a:buChar char="-"/>
            </a:pPr>
            <a:r>
              <a:rPr b="0" lang="en-US" sz="2500">
                <a:solidFill>
                  <a:srgbClr val="000000"/>
                </a:solidFill>
                <a:latin typeface="Calibri"/>
                <a:ea typeface="Calibri"/>
                <a:cs typeface="Calibri"/>
                <a:sym typeface="Calibri"/>
              </a:rPr>
              <a:t>HW/SW Co-design is a great motive to adopt the thought of GPGPUs.</a:t>
            </a:r>
            <a:endParaRPr b="0" sz="2500">
              <a:solidFill>
                <a:srgbClr val="000000"/>
              </a:solidFill>
            </a:endParaRPr>
          </a:p>
          <a:p>
            <a:pPr indent="0" lvl="0" marL="0" rtl="0" algn="l">
              <a:spcBef>
                <a:spcPts val="500"/>
              </a:spcBef>
              <a:spcAft>
                <a:spcPts val="0"/>
              </a:spcAft>
              <a:buSzPts val="2500"/>
              <a:buNone/>
            </a:pPr>
            <a:r>
              <a:t/>
            </a:r>
            <a:endParaRPr b="0" sz="250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8"/>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Calibri"/>
                <a:ea typeface="Calibri"/>
                <a:cs typeface="Calibri"/>
                <a:sym typeface="Calibri"/>
              </a:rPr>
              <a:t>CPU VS GPU</a:t>
            </a:r>
            <a:endParaRPr/>
          </a:p>
        </p:txBody>
      </p:sp>
      <p:sp>
        <p:nvSpPr>
          <p:cNvPr id="122" name="Google Shape;122;p8"/>
          <p:cNvSpPr txBox="1"/>
          <p:nvPr>
            <p:ph idx="1" type="body"/>
          </p:nvPr>
        </p:nvSpPr>
        <p:spPr>
          <a:xfrm>
            <a:off x="768723" y="1309042"/>
            <a:ext cx="10329584" cy="533232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sz="1800">
              <a:latin typeface="Calibri"/>
              <a:ea typeface="Calibri"/>
              <a:cs typeface="Calibri"/>
              <a:sym typeface="Calibri"/>
            </a:endParaRPr>
          </a:p>
          <a:p>
            <a:pPr indent="-190500" lvl="0" marL="342900" rtl="0" algn="l">
              <a:spcBef>
                <a:spcPts val="480"/>
              </a:spcBef>
              <a:spcAft>
                <a:spcPts val="0"/>
              </a:spcAft>
              <a:buSzPts val="2400"/>
              <a:buNone/>
            </a:pPr>
            <a:r>
              <a:t/>
            </a:r>
            <a:endParaRPr b="0" sz="2400">
              <a:solidFill>
                <a:schemeClr val="dk1"/>
              </a:solidFill>
            </a:endParaRPr>
          </a:p>
          <a:p>
            <a:pPr indent="-190500" lvl="0" marL="342900" rtl="0" algn="l">
              <a:spcBef>
                <a:spcPts val="480"/>
              </a:spcBef>
              <a:spcAft>
                <a:spcPts val="0"/>
              </a:spcAft>
              <a:buSzPts val="2400"/>
              <a:buNone/>
            </a:pPr>
            <a:r>
              <a:t/>
            </a:r>
            <a:endParaRPr sz="2400">
              <a:solidFill>
                <a:schemeClr val="dk1"/>
              </a:solidFill>
            </a:endParaRPr>
          </a:p>
        </p:txBody>
      </p:sp>
      <p:pic>
        <p:nvPicPr>
          <p:cNvPr id="123" name="Google Shape;123;p8"/>
          <p:cNvPicPr preferRelativeResize="0"/>
          <p:nvPr/>
        </p:nvPicPr>
        <p:blipFill rotWithShape="1">
          <a:blip r:embed="rId3">
            <a:alphaModFix/>
          </a:blip>
          <a:srcRect b="0" l="0" r="0" t="0"/>
          <a:stretch/>
        </p:blipFill>
        <p:spPr>
          <a:xfrm>
            <a:off x="1188383" y="1311088"/>
            <a:ext cx="9490262" cy="4953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nvSpPr>
        <p:spPr>
          <a:xfrm>
            <a:off x="1219200" y="2379663"/>
            <a:ext cx="9753600" cy="1049337"/>
          </a:xfrm>
          <a:prstGeom prst="rect">
            <a:avLst/>
          </a:prstGeom>
          <a:noFill/>
          <a:ln>
            <a:noFill/>
          </a:ln>
        </p:spPr>
        <p:txBody>
          <a:bodyPr anchorCtr="0" anchor="ctr" bIns="45700" lIns="91425" spcFirstLastPara="1" rIns="91425" wrap="square" tIns="45700">
            <a:noAutofit/>
          </a:bodyPr>
          <a:lstStyle/>
          <a:p>
            <a:pPr indent="0" lvl="0" marL="0" marR="0" rtl="1" algn="ctr">
              <a:spcBef>
                <a:spcPts val="0"/>
              </a:spcBef>
              <a:spcAft>
                <a:spcPts val="0"/>
              </a:spcAft>
              <a:buNone/>
            </a:pPr>
            <a:r>
              <a:rPr b="1" i="0" lang="en-US" sz="3600" u="none" cap="none" strike="noStrike">
                <a:solidFill>
                  <a:schemeClr val="dk1"/>
                </a:solidFill>
                <a:latin typeface="Calibri"/>
                <a:ea typeface="Calibri"/>
                <a:cs typeface="Calibri"/>
                <a:sym typeface="Calibri"/>
              </a:rPr>
              <a:t>Overview on RISC V Architecture</a:t>
            </a:r>
            <a:endParaRPr b="1" i="1" sz="36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solidFill>
                  <a:srgbClr val="000000"/>
                </a:solidFill>
                <a:latin typeface="Calibri"/>
                <a:ea typeface="Calibri"/>
                <a:cs typeface="Calibri"/>
                <a:sym typeface="Calibri"/>
              </a:rPr>
              <a:t>RISC-V GPGPU Architecture</a:t>
            </a:r>
            <a:endParaRPr/>
          </a:p>
        </p:txBody>
      </p:sp>
      <p:sp>
        <p:nvSpPr>
          <p:cNvPr id="134" name="Google Shape;134;p10"/>
          <p:cNvSpPr txBox="1"/>
          <p:nvPr>
            <p:ph idx="1" type="body"/>
          </p:nvPr>
        </p:nvSpPr>
        <p:spPr>
          <a:xfrm>
            <a:off x="782902" y="1510748"/>
            <a:ext cx="3807760" cy="4984947"/>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2000"/>
              <a:buChar char="•"/>
            </a:pPr>
            <a:r>
              <a:rPr b="0" lang="en-US">
                <a:solidFill>
                  <a:schemeClr val="dk1"/>
                </a:solidFill>
                <a:latin typeface="Calibri"/>
                <a:ea typeface="Calibri"/>
                <a:cs typeface="Calibri"/>
                <a:sym typeface="Calibri"/>
              </a:rPr>
              <a:t>The Vortex architecture follows a hierarchical SIMT execution model with configurable parameters for cores, warps, and threads. The </a:t>
            </a:r>
            <a:r>
              <a:rPr lang="en-US">
                <a:solidFill>
                  <a:schemeClr val="dk1"/>
                </a:solidFill>
                <a:latin typeface="Calibri"/>
                <a:ea typeface="Calibri"/>
                <a:cs typeface="Calibri"/>
                <a:sym typeface="Calibri"/>
              </a:rPr>
              <a:t>6-stage pipeline</a:t>
            </a:r>
            <a:r>
              <a:rPr b="0" lang="en-US">
                <a:solidFill>
                  <a:schemeClr val="dk1"/>
                </a:solidFill>
                <a:latin typeface="Calibri"/>
                <a:ea typeface="Calibri"/>
                <a:cs typeface="Calibri"/>
                <a:sym typeface="Calibri"/>
              </a:rPr>
              <a:t> (</a:t>
            </a:r>
            <a:r>
              <a:rPr b="0" i="1" lang="en-US">
                <a:solidFill>
                  <a:schemeClr val="dk1"/>
                </a:solidFill>
                <a:latin typeface="Calibri"/>
                <a:ea typeface="Calibri"/>
                <a:cs typeface="Calibri"/>
                <a:sym typeface="Calibri"/>
              </a:rPr>
              <a:t>Schedule → Fetch → Decode → Issue → Execute → Commit</a:t>
            </a:r>
            <a:r>
              <a:rPr b="0" lang="en-US">
                <a:solidFill>
                  <a:schemeClr val="dk1"/>
                </a:solidFill>
                <a:latin typeface="Calibri"/>
                <a:ea typeface="Calibri"/>
                <a:cs typeface="Calibri"/>
                <a:sym typeface="Calibri"/>
              </a:rPr>
              <a:t>) processes instructions through specialized execution units.</a:t>
            </a:r>
            <a:endParaRPr/>
          </a:p>
          <a:p>
            <a:pPr indent="0" lvl="0" marL="0" rtl="0" algn="l">
              <a:spcBef>
                <a:spcPts val="400"/>
              </a:spcBef>
              <a:spcAft>
                <a:spcPts val="0"/>
              </a:spcAft>
              <a:buSzPts val="2000"/>
              <a:buNone/>
            </a:pPr>
            <a:br>
              <a:rPr b="0" lang="en-US">
                <a:solidFill>
                  <a:schemeClr val="dk1"/>
                </a:solidFill>
                <a:latin typeface="Calibri"/>
                <a:ea typeface="Calibri"/>
                <a:cs typeface="Calibri"/>
                <a:sym typeface="Calibri"/>
              </a:rPr>
            </a:br>
            <a:endParaRPr b="0">
              <a:solidFill>
                <a:schemeClr val="dk1"/>
              </a:solidFill>
            </a:endParaRPr>
          </a:p>
        </p:txBody>
      </p:sp>
      <p:pic>
        <p:nvPicPr>
          <p:cNvPr id="135" name="Google Shape;135;p10"/>
          <p:cNvPicPr preferRelativeResize="0"/>
          <p:nvPr/>
        </p:nvPicPr>
        <p:blipFill rotWithShape="1">
          <a:blip r:embed="rId3">
            <a:alphaModFix/>
          </a:blip>
          <a:srcRect b="38222" l="0" r="182" t="0"/>
          <a:stretch/>
        </p:blipFill>
        <p:spPr>
          <a:xfrm>
            <a:off x="4895705" y="1510748"/>
            <a:ext cx="7014154" cy="375934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1"/>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Calibri"/>
                <a:ea typeface="Calibri"/>
                <a:cs typeface="Calibri"/>
                <a:sym typeface="Calibri"/>
              </a:rPr>
              <a:t>RISC-V GPGPU Architecture</a:t>
            </a:r>
            <a:endParaRPr b="0" i="0">
              <a:latin typeface="Calibri"/>
              <a:ea typeface="Calibri"/>
              <a:cs typeface="Calibri"/>
              <a:sym typeface="Calibri"/>
            </a:endParaRPr>
          </a:p>
        </p:txBody>
      </p:sp>
      <p:sp>
        <p:nvSpPr>
          <p:cNvPr id="141" name="Google Shape;141;p11"/>
          <p:cNvSpPr txBox="1"/>
          <p:nvPr>
            <p:ph idx="1" type="body"/>
          </p:nvPr>
        </p:nvSpPr>
        <p:spPr>
          <a:xfrm>
            <a:off x="914400" y="1510748"/>
            <a:ext cx="10363200" cy="498494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00"/>
              <a:buChar char="•"/>
            </a:pPr>
            <a:r>
              <a:rPr lang="en-US">
                <a:solidFill>
                  <a:srgbClr val="0070C0"/>
                </a:solidFill>
                <a:latin typeface="Calibri"/>
                <a:ea typeface="Calibri"/>
                <a:cs typeface="Calibri"/>
                <a:sym typeface="Calibri"/>
              </a:rPr>
              <a:t>Schedule</a:t>
            </a:r>
            <a:endParaRPr>
              <a:solidFill>
                <a:srgbClr val="0070C0"/>
              </a:solidFill>
              <a:latin typeface="Calibri"/>
              <a:ea typeface="Calibri"/>
              <a:cs typeface="Calibri"/>
              <a:sym typeface="Calibri"/>
            </a:endParaRPr>
          </a:p>
          <a:p>
            <a:pPr indent="-215900" lvl="0" marL="342900" rtl="0" algn="l">
              <a:spcBef>
                <a:spcPts val="400"/>
              </a:spcBef>
              <a:spcAft>
                <a:spcPts val="0"/>
              </a:spcAft>
              <a:buSzPts val="2000"/>
              <a:buNone/>
            </a:pPr>
            <a:r>
              <a:t/>
            </a:r>
            <a:endParaRPr>
              <a:solidFill>
                <a:srgbClr val="0070C0"/>
              </a:solidFill>
              <a:latin typeface="Calibri"/>
              <a:ea typeface="Calibri"/>
              <a:cs typeface="Calibri"/>
              <a:sym typeface="Calibri"/>
            </a:endParaRPr>
          </a:p>
          <a:p>
            <a:pPr indent="-342900" lvl="0" marL="342900" rtl="0" algn="l">
              <a:spcBef>
                <a:spcPts val="400"/>
              </a:spcBef>
              <a:spcAft>
                <a:spcPts val="0"/>
              </a:spcAft>
              <a:buSzPts val="2000"/>
              <a:buChar char="•"/>
            </a:pPr>
            <a:r>
              <a:rPr b="0" lang="en-US">
                <a:solidFill>
                  <a:schemeClr val="dk1"/>
                </a:solidFill>
                <a:latin typeface="Calibri"/>
                <a:ea typeface="Calibri"/>
                <a:cs typeface="Calibri"/>
                <a:sym typeface="Calibri"/>
              </a:rPr>
              <a:t>Warp Scheduler</a:t>
            </a:r>
            <a:endParaRPr>
              <a:solidFill>
                <a:schemeClr val="dk1"/>
              </a:solidFill>
            </a:endParaRPr>
          </a:p>
          <a:p>
            <a:pPr indent="-285750" lvl="1" marL="742950" rtl="0" algn="l">
              <a:spcBef>
                <a:spcPts val="400"/>
              </a:spcBef>
              <a:spcAft>
                <a:spcPts val="0"/>
              </a:spcAft>
              <a:buSzPts val="2000"/>
              <a:buFont typeface="Courier New"/>
              <a:buChar char="o"/>
            </a:pPr>
            <a:r>
              <a:rPr b="0" lang="en-US">
                <a:solidFill>
                  <a:schemeClr val="dk1"/>
                </a:solidFill>
                <a:latin typeface="Calibri"/>
                <a:ea typeface="Calibri"/>
                <a:cs typeface="Calibri"/>
                <a:sym typeface="Calibri"/>
              </a:rPr>
              <a:t>Schedule the next PC into the pipeline</a:t>
            </a:r>
            <a:endParaRPr>
              <a:solidFill>
                <a:schemeClr val="dk1"/>
              </a:solidFill>
            </a:endParaRPr>
          </a:p>
          <a:p>
            <a:pPr indent="-285750" lvl="1" marL="742950" rtl="0" algn="l">
              <a:spcBef>
                <a:spcPts val="400"/>
              </a:spcBef>
              <a:spcAft>
                <a:spcPts val="0"/>
              </a:spcAft>
              <a:buSzPts val="2000"/>
              <a:buFont typeface="Courier New"/>
              <a:buChar char="o"/>
            </a:pPr>
            <a:r>
              <a:rPr b="0" lang="en-US">
                <a:solidFill>
                  <a:schemeClr val="dk1"/>
                </a:solidFill>
                <a:latin typeface="Calibri"/>
                <a:ea typeface="Calibri"/>
                <a:cs typeface="Calibri"/>
                <a:sym typeface="Calibri"/>
              </a:rPr>
              <a:t>Track stalled, active warps</a:t>
            </a:r>
            <a:endParaRPr/>
          </a:p>
          <a:p>
            <a:pPr indent="-158750" lvl="1" marL="742950" rtl="0" algn="l">
              <a:spcBef>
                <a:spcPts val="400"/>
              </a:spcBef>
              <a:spcAft>
                <a:spcPts val="0"/>
              </a:spcAft>
              <a:buSzPts val="2000"/>
              <a:buFont typeface="Courier New"/>
              <a:buNone/>
            </a:pPr>
            <a:r>
              <a:t/>
            </a:r>
            <a:endParaRPr b="0">
              <a:solidFill>
                <a:schemeClr val="dk1"/>
              </a:solidFill>
              <a:latin typeface="Calibri"/>
              <a:ea typeface="Calibri"/>
              <a:cs typeface="Calibri"/>
              <a:sym typeface="Calibri"/>
            </a:endParaRPr>
          </a:p>
          <a:p>
            <a:pPr indent="-342900" lvl="0" marL="342900" rtl="0" algn="l">
              <a:spcBef>
                <a:spcPts val="400"/>
              </a:spcBef>
              <a:spcAft>
                <a:spcPts val="0"/>
              </a:spcAft>
              <a:buSzPts val="2000"/>
              <a:buFont typeface="Arial"/>
              <a:buChar char="•"/>
            </a:pPr>
            <a:r>
              <a:rPr lang="en-US">
                <a:solidFill>
                  <a:srgbClr val="0070C0"/>
                </a:solidFill>
              </a:rPr>
              <a:t>Fetch</a:t>
            </a:r>
            <a:endParaRPr b="0">
              <a:solidFill>
                <a:schemeClr val="dk1"/>
              </a:solidFill>
            </a:endParaRPr>
          </a:p>
          <a:p>
            <a:pPr indent="-285750" lvl="1" marL="1028700" rtl="0" algn="l">
              <a:spcBef>
                <a:spcPts val="400"/>
              </a:spcBef>
              <a:spcAft>
                <a:spcPts val="0"/>
              </a:spcAft>
              <a:buSzPts val="2000"/>
              <a:buFont typeface="Courier New"/>
              <a:buChar char="o"/>
            </a:pPr>
            <a:r>
              <a:rPr b="0" lang="en-US">
                <a:solidFill>
                  <a:schemeClr val="dk1"/>
                </a:solidFill>
              </a:rPr>
              <a:t>Retrieve instructions from memory</a:t>
            </a:r>
            <a:endParaRPr/>
          </a:p>
          <a:p>
            <a:pPr indent="-285750" lvl="1" marL="1028700" rtl="0" algn="l">
              <a:spcBef>
                <a:spcPts val="400"/>
              </a:spcBef>
              <a:spcAft>
                <a:spcPts val="0"/>
              </a:spcAft>
              <a:buSzPts val="2000"/>
              <a:buFont typeface="Courier New"/>
              <a:buChar char="o"/>
            </a:pPr>
            <a:r>
              <a:rPr b="0" lang="en-US">
                <a:solidFill>
                  <a:schemeClr val="dk1"/>
                </a:solidFill>
                <a:latin typeface="Calibri"/>
                <a:ea typeface="Calibri"/>
                <a:cs typeface="Calibri"/>
                <a:sym typeface="Calibri"/>
              </a:rPr>
              <a:t>Handle I-cache requests/responses</a:t>
            </a:r>
            <a:endParaRPr>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2"/>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Calibri"/>
                <a:ea typeface="Calibri"/>
                <a:cs typeface="Calibri"/>
                <a:sym typeface="Calibri"/>
              </a:rPr>
              <a:t>RISC-V GPGPU Architecture</a:t>
            </a:r>
            <a:endParaRPr b="0" i="0">
              <a:latin typeface="Calibri"/>
              <a:ea typeface="Calibri"/>
              <a:cs typeface="Calibri"/>
              <a:sym typeface="Calibri"/>
            </a:endParaRPr>
          </a:p>
        </p:txBody>
      </p:sp>
      <p:sp>
        <p:nvSpPr>
          <p:cNvPr id="147" name="Google Shape;147;p12"/>
          <p:cNvSpPr txBox="1"/>
          <p:nvPr>
            <p:ph idx="1" type="body"/>
          </p:nvPr>
        </p:nvSpPr>
        <p:spPr>
          <a:xfrm>
            <a:off x="914400" y="1510748"/>
            <a:ext cx="10363200" cy="498494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t/>
            </a:r>
            <a:endParaRPr>
              <a:solidFill>
                <a:srgbClr val="0070C0"/>
              </a:solidFill>
              <a:latin typeface="Calibri"/>
              <a:ea typeface="Calibri"/>
              <a:cs typeface="Calibri"/>
              <a:sym typeface="Calibri"/>
            </a:endParaRPr>
          </a:p>
          <a:p>
            <a:pPr indent="-342900" lvl="0" marL="342900" rtl="0" algn="l">
              <a:spcBef>
                <a:spcPts val="400"/>
              </a:spcBef>
              <a:spcAft>
                <a:spcPts val="0"/>
              </a:spcAft>
              <a:buSzPts val="2000"/>
              <a:buChar char="•"/>
            </a:pPr>
            <a:r>
              <a:rPr lang="en-US">
                <a:solidFill>
                  <a:srgbClr val="0070C0"/>
                </a:solidFill>
                <a:latin typeface="Calibri"/>
                <a:ea typeface="Calibri"/>
                <a:cs typeface="Calibri"/>
                <a:sym typeface="Calibri"/>
              </a:rPr>
              <a:t>Decode</a:t>
            </a:r>
            <a:endParaRPr b="0">
              <a:solidFill>
                <a:srgbClr val="0070C0"/>
              </a:solidFill>
              <a:latin typeface="Calibri"/>
              <a:ea typeface="Calibri"/>
              <a:cs typeface="Calibri"/>
              <a:sym typeface="Calibri"/>
            </a:endParaRPr>
          </a:p>
          <a:p>
            <a:pPr indent="-285750" lvl="1" marL="742950" rtl="0" algn="l">
              <a:spcBef>
                <a:spcPts val="400"/>
              </a:spcBef>
              <a:spcAft>
                <a:spcPts val="0"/>
              </a:spcAft>
              <a:buSzPts val="2000"/>
              <a:buFont typeface="Courier New"/>
              <a:buChar char="o"/>
            </a:pPr>
            <a:r>
              <a:rPr b="0" lang="en-US">
                <a:solidFill>
                  <a:schemeClr val="dk1"/>
                </a:solidFill>
                <a:latin typeface="Calibri"/>
                <a:ea typeface="Calibri"/>
                <a:cs typeface="Calibri"/>
                <a:sym typeface="Calibri"/>
              </a:rPr>
              <a:t>Decode fetched instructions</a:t>
            </a:r>
            <a:endParaRPr/>
          </a:p>
          <a:p>
            <a:pPr indent="-285750" lvl="1" marL="742950" rtl="0" algn="l">
              <a:spcBef>
                <a:spcPts val="400"/>
              </a:spcBef>
              <a:spcAft>
                <a:spcPts val="0"/>
              </a:spcAft>
              <a:buSzPts val="2000"/>
              <a:buFont typeface="Courier New"/>
              <a:buChar char="o"/>
            </a:pPr>
            <a:r>
              <a:rPr b="0" lang="en-US">
                <a:solidFill>
                  <a:schemeClr val="dk1"/>
                </a:solidFill>
                <a:latin typeface="Calibri"/>
                <a:ea typeface="Calibri"/>
                <a:cs typeface="Calibri"/>
                <a:sym typeface="Calibri"/>
              </a:rPr>
              <a:t>Notify warp scheduler on control instructions</a:t>
            </a:r>
            <a:endParaRPr/>
          </a:p>
          <a:p>
            <a:pPr indent="0" lvl="1" marL="457200" rtl="0" algn="l">
              <a:spcBef>
                <a:spcPts val="400"/>
              </a:spcBef>
              <a:spcAft>
                <a:spcPts val="0"/>
              </a:spcAft>
              <a:buSzPts val="2000"/>
              <a:buNone/>
            </a:pPr>
            <a:r>
              <a:t/>
            </a:r>
            <a:endParaRPr b="0">
              <a:solidFill>
                <a:schemeClr val="dk1"/>
              </a:solidFill>
              <a:latin typeface="Calibri"/>
              <a:ea typeface="Calibri"/>
              <a:cs typeface="Calibri"/>
              <a:sym typeface="Calibri"/>
            </a:endParaRPr>
          </a:p>
          <a:p>
            <a:pPr indent="-342900" lvl="0" marL="342900" rtl="0" algn="l">
              <a:spcBef>
                <a:spcPts val="400"/>
              </a:spcBef>
              <a:spcAft>
                <a:spcPts val="0"/>
              </a:spcAft>
              <a:buSzPts val="2000"/>
              <a:buChar char="•"/>
            </a:pPr>
            <a:r>
              <a:rPr lang="en-US">
                <a:solidFill>
                  <a:srgbClr val="0070C0"/>
                </a:solidFill>
                <a:latin typeface="Calibri"/>
                <a:ea typeface="Calibri"/>
                <a:cs typeface="Calibri"/>
                <a:sym typeface="Calibri"/>
              </a:rPr>
              <a:t>Issue</a:t>
            </a:r>
            <a:endParaRPr b="0">
              <a:solidFill>
                <a:srgbClr val="000000"/>
              </a:solidFill>
              <a:latin typeface="Calibri"/>
              <a:ea typeface="Calibri"/>
              <a:cs typeface="Calibri"/>
              <a:sym typeface="Calibri"/>
            </a:endParaRPr>
          </a:p>
          <a:p>
            <a:pPr indent="-285750" lvl="1" marL="1028700" rtl="0" algn="l">
              <a:spcBef>
                <a:spcPts val="400"/>
              </a:spcBef>
              <a:spcAft>
                <a:spcPts val="0"/>
              </a:spcAft>
              <a:buSzPts val="2000"/>
              <a:buFont typeface="Courier New"/>
              <a:buChar char="o"/>
            </a:pPr>
            <a:r>
              <a:rPr b="0" lang="en-US">
                <a:solidFill>
                  <a:srgbClr val="000000"/>
                </a:solidFill>
              </a:rPr>
              <a:t>IBuffer</a:t>
            </a:r>
            <a:endParaRPr/>
          </a:p>
          <a:p>
            <a:pPr indent="-285750" lvl="2" marL="1428750" rtl="0" algn="l">
              <a:spcBef>
                <a:spcPts val="400"/>
              </a:spcBef>
              <a:spcAft>
                <a:spcPts val="0"/>
              </a:spcAft>
              <a:buSzPts val="1600"/>
              <a:buFont typeface="Courier New"/>
              <a:buChar char="o"/>
            </a:pPr>
            <a:r>
              <a:rPr b="0" lang="en-US">
                <a:solidFill>
                  <a:srgbClr val="000000"/>
                </a:solidFill>
              </a:rPr>
              <a:t>Store decoded instructions in separate per-warp queues</a:t>
            </a:r>
            <a:endParaRPr/>
          </a:p>
          <a:p>
            <a:pPr indent="-285750" lvl="1" marL="1028700" rtl="0" algn="l">
              <a:spcBef>
                <a:spcPts val="400"/>
              </a:spcBef>
              <a:spcAft>
                <a:spcPts val="0"/>
              </a:spcAft>
              <a:buSzPts val="2000"/>
              <a:buFont typeface="Courier New"/>
              <a:buChar char="o"/>
            </a:pPr>
            <a:r>
              <a:rPr b="0" lang="en-US">
                <a:solidFill>
                  <a:srgbClr val="000000"/>
                </a:solidFill>
              </a:rPr>
              <a:t>Scoreboard</a:t>
            </a:r>
            <a:endParaRPr/>
          </a:p>
          <a:p>
            <a:pPr indent="-285750" lvl="2" marL="1428750" rtl="0" algn="l">
              <a:spcBef>
                <a:spcPts val="400"/>
              </a:spcBef>
              <a:spcAft>
                <a:spcPts val="0"/>
              </a:spcAft>
              <a:buSzPts val="1600"/>
              <a:buFont typeface="Courier New"/>
              <a:buChar char="o"/>
            </a:pPr>
            <a:r>
              <a:rPr b="0" lang="en-US">
                <a:solidFill>
                  <a:srgbClr val="000000"/>
                </a:solidFill>
              </a:rPr>
              <a:t>Track in-use registers</a:t>
            </a:r>
            <a:endParaRPr/>
          </a:p>
          <a:p>
            <a:pPr indent="-285750" lvl="2" marL="1428750" rtl="0" algn="l">
              <a:spcBef>
                <a:spcPts val="400"/>
              </a:spcBef>
              <a:spcAft>
                <a:spcPts val="0"/>
              </a:spcAft>
              <a:buSzPts val="1600"/>
              <a:buFont typeface="Courier New"/>
              <a:buChar char="o"/>
            </a:pPr>
            <a:r>
              <a:rPr b="0" lang="en-US">
                <a:solidFill>
                  <a:srgbClr val="000000"/>
                </a:solidFill>
              </a:rPr>
              <a:t>Check register use for decoded instructions</a:t>
            </a:r>
            <a:endParaRPr/>
          </a:p>
          <a:p>
            <a:pPr indent="-285750" lvl="1" marL="1028700" rtl="0" algn="l">
              <a:spcBef>
                <a:spcPts val="400"/>
              </a:spcBef>
              <a:spcAft>
                <a:spcPts val="0"/>
              </a:spcAft>
              <a:buSzPts val="2000"/>
              <a:buFont typeface="Courier New"/>
              <a:buChar char="o"/>
            </a:pPr>
            <a:r>
              <a:rPr b="0" lang="en-US">
                <a:solidFill>
                  <a:srgbClr val="000000"/>
                </a:solidFill>
              </a:rPr>
              <a:t>Operands Collector</a:t>
            </a:r>
            <a:endParaRPr/>
          </a:p>
          <a:p>
            <a:pPr indent="-285750" lvl="2" marL="1428750" rtl="0" algn="l">
              <a:spcBef>
                <a:spcPts val="400"/>
              </a:spcBef>
              <a:spcAft>
                <a:spcPts val="0"/>
              </a:spcAft>
              <a:buSzPts val="1600"/>
              <a:buFont typeface="Courier New"/>
              <a:buChar char="o"/>
            </a:pPr>
            <a:r>
              <a:rPr b="0" lang="en-US">
                <a:solidFill>
                  <a:srgbClr val="000000"/>
                </a:solidFill>
              </a:rPr>
              <a:t>Fetch the operands for issued instructions from the register file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3"/>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Calibri"/>
                <a:ea typeface="Calibri"/>
                <a:cs typeface="Calibri"/>
                <a:sym typeface="Calibri"/>
              </a:rPr>
              <a:t>RISC-V GPGPU Architecture</a:t>
            </a:r>
            <a:endParaRPr b="0" i="0">
              <a:latin typeface="Calibri"/>
              <a:ea typeface="Calibri"/>
              <a:cs typeface="Calibri"/>
              <a:sym typeface="Calibri"/>
            </a:endParaRPr>
          </a:p>
        </p:txBody>
      </p:sp>
      <p:sp>
        <p:nvSpPr>
          <p:cNvPr id="153" name="Google Shape;153;p13"/>
          <p:cNvSpPr txBox="1"/>
          <p:nvPr>
            <p:ph idx="1" type="body"/>
          </p:nvPr>
        </p:nvSpPr>
        <p:spPr>
          <a:xfrm>
            <a:off x="914400" y="1510748"/>
            <a:ext cx="10363200" cy="498494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00"/>
              <a:buChar char="•"/>
            </a:pPr>
            <a:r>
              <a:rPr lang="en-US">
                <a:solidFill>
                  <a:srgbClr val="0070C0"/>
                </a:solidFill>
                <a:latin typeface="Calibri"/>
                <a:ea typeface="Calibri"/>
                <a:cs typeface="Calibri"/>
                <a:sym typeface="Calibri"/>
              </a:rPr>
              <a:t>Execute</a:t>
            </a:r>
            <a:endParaRPr/>
          </a:p>
          <a:p>
            <a:pPr indent="-285750" lvl="1" marL="742950" rtl="0" algn="l">
              <a:spcBef>
                <a:spcPts val="400"/>
              </a:spcBef>
              <a:spcAft>
                <a:spcPts val="0"/>
              </a:spcAft>
              <a:buSzPts val="2000"/>
              <a:buFont typeface="Courier New"/>
              <a:buChar char="o"/>
            </a:pPr>
            <a:r>
              <a:rPr b="0" lang="en-US">
                <a:solidFill>
                  <a:schemeClr val="dk1"/>
                </a:solidFill>
                <a:latin typeface="Calibri"/>
                <a:ea typeface="Calibri"/>
                <a:cs typeface="Calibri"/>
                <a:sym typeface="Calibri"/>
              </a:rPr>
              <a:t>ALU Unit</a:t>
            </a:r>
            <a:endParaRPr>
              <a:solidFill>
                <a:schemeClr val="dk1"/>
              </a:solidFill>
              <a:latin typeface="Calibri"/>
              <a:ea typeface="Calibri"/>
              <a:cs typeface="Calibri"/>
              <a:sym typeface="Calibri"/>
            </a:endParaRPr>
          </a:p>
          <a:p>
            <a:pPr indent="-228600" lvl="2" marL="1143000" rtl="0" algn="l">
              <a:spcBef>
                <a:spcPts val="400"/>
              </a:spcBef>
              <a:spcAft>
                <a:spcPts val="0"/>
              </a:spcAft>
              <a:buSzPts val="1600"/>
              <a:buChar char="•"/>
            </a:pPr>
            <a:r>
              <a:rPr b="0" lang="en-US">
                <a:solidFill>
                  <a:schemeClr val="dk1"/>
                </a:solidFill>
                <a:latin typeface="Calibri"/>
                <a:ea typeface="Calibri"/>
                <a:cs typeface="Calibri"/>
                <a:sym typeface="Calibri"/>
              </a:rPr>
              <a:t>Handle arithmetic and branch operations</a:t>
            </a:r>
            <a:endParaRPr>
              <a:solidFill>
                <a:schemeClr val="dk1"/>
              </a:solidFill>
              <a:latin typeface="Calibri"/>
              <a:ea typeface="Calibri"/>
              <a:cs typeface="Calibri"/>
              <a:sym typeface="Calibri"/>
            </a:endParaRPr>
          </a:p>
          <a:p>
            <a:pPr indent="-285750" lvl="1" marL="742950" rtl="0" algn="l">
              <a:spcBef>
                <a:spcPts val="400"/>
              </a:spcBef>
              <a:spcAft>
                <a:spcPts val="0"/>
              </a:spcAft>
              <a:buSzPts val="2000"/>
              <a:buFont typeface="Courier New"/>
              <a:buChar char="o"/>
            </a:pPr>
            <a:r>
              <a:rPr b="0" lang="en-US">
                <a:solidFill>
                  <a:schemeClr val="dk1"/>
                </a:solidFill>
                <a:latin typeface="Calibri"/>
                <a:ea typeface="Calibri"/>
                <a:cs typeface="Calibri"/>
                <a:sym typeface="Calibri"/>
              </a:rPr>
              <a:t>FPU Unit</a:t>
            </a:r>
            <a:endParaRPr>
              <a:solidFill>
                <a:schemeClr val="dk1"/>
              </a:solidFill>
              <a:latin typeface="Calibri"/>
              <a:ea typeface="Calibri"/>
              <a:cs typeface="Calibri"/>
              <a:sym typeface="Calibri"/>
            </a:endParaRPr>
          </a:p>
          <a:p>
            <a:pPr indent="-228600" lvl="2" marL="1143000" rtl="0" algn="l">
              <a:spcBef>
                <a:spcPts val="400"/>
              </a:spcBef>
              <a:spcAft>
                <a:spcPts val="0"/>
              </a:spcAft>
              <a:buSzPts val="1600"/>
              <a:buChar char="•"/>
            </a:pPr>
            <a:r>
              <a:rPr b="0" lang="en-US">
                <a:solidFill>
                  <a:schemeClr val="dk1"/>
                </a:solidFill>
                <a:latin typeface="Calibri"/>
                <a:ea typeface="Calibri"/>
                <a:cs typeface="Calibri"/>
                <a:sym typeface="Calibri"/>
              </a:rPr>
              <a:t>Handle floating-point operations</a:t>
            </a:r>
            <a:endParaRPr>
              <a:solidFill>
                <a:schemeClr val="dk1"/>
              </a:solidFill>
              <a:latin typeface="Calibri"/>
              <a:ea typeface="Calibri"/>
              <a:cs typeface="Calibri"/>
              <a:sym typeface="Calibri"/>
            </a:endParaRPr>
          </a:p>
          <a:p>
            <a:pPr indent="-285750" lvl="1" marL="742950" rtl="0" algn="l">
              <a:spcBef>
                <a:spcPts val="400"/>
              </a:spcBef>
              <a:spcAft>
                <a:spcPts val="0"/>
              </a:spcAft>
              <a:buSzPts val="2000"/>
              <a:buFont typeface="Courier New"/>
              <a:buChar char="o"/>
            </a:pPr>
            <a:r>
              <a:rPr b="0" lang="en-US">
                <a:solidFill>
                  <a:schemeClr val="dk1"/>
                </a:solidFill>
                <a:latin typeface="Calibri"/>
                <a:ea typeface="Calibri"/>
                <a:cs typeface="Calibri"/>
                <a:sym typeface="Calibri"/>
              </a:rPr>
              <a:t>LSU Unit</a:t>
            </a:r>
            <a:endParaRPr>
              <a:solidFill>
                <a:schemeClr val="dk1"/>
              </a:solidFill>
              <a:latin typeface="Calibri"/>
              <a:ea typeface="Calibri"/>
              <a:cs typeface="Calibri"/>
              <a:sym typeface="Calibri"/>
            </a:endParaRPr>
          </a:p>
          <a:p>
            <a:pPr indent="-228600" lvl="2" marL="1143000" rtl="0" algn="l">
              <a:spcBef>
                <a:spcPts val="400"/>
              </a:spcBef>
              <a:spcAft>
                <a:spcPts val="0"/>
              </a:spcAft>
              <a:buSzPts val="1600"/>
              <a:buChar char="•"/>
            </a:pPr>
            <a:r>
              <a:rPr b="0" lang="en-US">
                <a:solidFill>
                  <a:schemeClr val="dk1"/>
                </a:solidFill>
                <a:latin typeface="Calibri"/>
                <a:ea typeface="Calibri"/>
                <a:cs typeface="Calibri"/>
                <a:sym typeface="Calibri"/>
              </a:rPr>
              <a:t>Handle load/store operations</a:t>
            </a:r>
            <a:endParaRPr>
              <a:solidFill>
                <a:schemeClr val="dk1"/>
              </a:solidFill>
              <a:latin typeface="Calibri"/>
              <a:ea typeface="Calibri"/>
              <a:cs typeface="Calibri"/>
              <a:sym typeface="Calibri"/>
            </a:endParaRPr>
          </a:p>
          <a:p>
            <a:pPr indent="-285750" lvl="1" marL="742950" rtl="0" algn="l">
              <a:spcBef>
                <a:spcPts val="400"/>
              </a:spcBef>
              <a:spcAft>
                <a:spcPts val="0"/>
              </a:spcAft>
              <a:buSzPts val="2000"/>
              <a:buFont typeface="Courier New"/>
              <a:buChar char="o"/>
            </a:pPr>
            <a:r>
              <a:rPr b="0" lang="en-US">
                <a:solidFill>
                  <a:schemeClr val="dk1"/>
                </a:solidFill>
                <a:latin typeface="Calibri"/>
                <a:ea typeface="Calibri"/>
                <a:cs typeface="Calibri"/>
                <a:sym typeface="Calibri"/>
              </a:rPr>
              <a:t>SFU Unit</a:t>
            </a:r>
            <a:endParaRPr>
              <a:solidFill>
                <a:schemeClr val="dk1"/>
              </a:solidFill>
              <a:latin typeface="Calibri"/>
              <a:ea typeface="Calibri"/>
              <a:cs typeface="Calibri"/>
              <a:sym typeface="Calibri"/>
            </a:endParaRPr>
          </a:p>
          <a:p>
            <a:pPr indent="-228600" lvl="2" marL="1143000" rtl="0" algn="l">
              <a:spcBef>
                <a:spcPts val="400"/>
              </a:spcBef>
              <a:spcAft>
                <a:spcPts val="0"/>
              </a:spcAft>
              <a:buSzPts val="1600"/>
              <a:buChar char="•"/>
            </a:pPr>
            <a:r>
              <a:rPr b="0" lang="en-US">
                <a:solidFill>
                  <a:schemeClr val="dk1"/>
                </a:solidFill>
                <a:latin typeface="Calibri"/>
                <a:ea typeface="Calibri"/>
                <a:cs typeface="Calibri"/>
                <a:sym typeface="Calibri"/>
              </a:rPr>
              <a:t>Handle warp control operations</a:t>
            </a:r>
            <a:endParaRPr>
              <a:solidFill>
                <a:schemeClr val="dk1"/>
              </a:solidFill>
              <a:latin typeface="Calibri"/>
              <a:ea typeface="Calibri"/>
              <a:cs typeface="Calibri"/>
              <a:sym typeface="Calibri"/>
            </a:endParaRPr>
          </a:p>
          <a:p>
            <a:pPr indent="-342900" lvl="0" marL="342900" rtl="0" algn="l">
              <a:spcBef>
                <a:spcPts val="400"/>
              </a:spcBef>
              <a:spcAft>
                <a:spcPts val="0"/>
              </a:spcAft>
              <a:buSzPts val="2000"/>
              <a:buChar char="•"/>
            </a:pPr>
            <a:r>
              <a:rPr lang="en-US">
                <a:latin typeface="Calibri"/>
                <a:ea typeface="Calibri"/>
                <a:cs typeface="Calibri"/>
                <a:sym typeface="Calibri"/>
              </a:rPr>
              <a:t>Commit</a:t>
            </a:r>
            <a:endParaRPr>
              <a:latin typeface="Calibri"/>
              <a:ea typeface="Calibri"/>
              <a:cs typeface="Calibri"/>
              <a:sym typeface="Calibri"/>
            </a:endParaRPr>
          </a:p>
          <a:p>
            <a:pPr indent="-285750" lvl="1" marL="742950" rtl="0" algn="l">
              <a:spcBef>
                <a:spcPts val="400"/>
              </a:spcBef>
              <a:spcAft>
                <a:spcPts val="0"/>
              </a:spcAft>
              <a:buSzPts val="2000"/>
              <a:buFont typeface="Courier New"/>
              <a:buChar char="o"/>
            </a:pPr>
            <a:r>
              <a:rPr b="0" lang="en-US">
                <a:solidFill>
                  <a:schemeClr val="dk1"/>
                </a:solidFill>
                <a:latin typeface="Calibri"/>
                <a:ea typeface="Calibri"/>
                <a:cs typeface="Calibri"/>
                <a:sym typeface="Calibri"/>
              </a:rPr>
              <a:t>Write result back to the register file and update the Scoreboard.</a:t>
            </a:r>
            <a:endParaRPr>
              <a:solidFill>
                <a:schemeClr val="dk1"/>
              </a:solidFill>
              <a:latin typeface="Calibri"/>
              <a:ea typeface="Calibri"/>
              <a:cs typeface="Calibri"/>
              <a:sym typeface="Calibri"/>
            </a:endParaRPr>
          </a:p>
          <a:p>
            <a:pPr indent="-215900" lvl="0" marL="342900" rtl="0" algn="l">
              <a:spcBef>
                <a:spcPts val="400"/>
              </a:spcBef>
              <a:spcAft>
                <a:spcPts val="0"/>
              </a:spcAft>
              <a:buSzPts val="20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Calibri"/>
                <a:ea typeface="Calibri"/>
                <a:cs typeface="Calibri"/>
                <a:sym typeface="Calibri"/>
              </a:rPr>
              <a:t>RISC-V GPGPU Architecture</a:t>
            </a:r>
            <a:endParaRPr b="0" i="0">
              <a:latin typeface="Calibri"/>
              <a:ea typeface="Calibri"/>
              <a:cs typeface="Calibri"/>
              <a:sym typeface="Calibri"/>
            </a:endParaRPr>
          </a:p>
        </p:txBody>
      </p:sp>
      <p:sp>
        <p:nvSpPr>
          <p:cNvPr id="159" name="Google Shape;159;p14"/>
          <p:cNvSpPr txBox="1"/>
          <p:nvPr>
            <p:ph idx="1" type="body"/>
          </p:nvPr>
        </p:nvSpPr>
        <p:spPr>
          <a:xfrm>
            <a:off x="948016" y="1510748"/>
            <a:ext cx="5174880" cy="498494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sz="2400">
                <a:highlight>
                  <a:srgbClr val="FFFFFF"/>
                </a:highlight>
                <a:latin typeface="Calibri"/>
                <a:ea typeface="Calibri"/>
                <a:cs typeface="Calibri"/>
                <a:sym typeface="Calibri"/>
              </a:rPr>
              <a:t>Compute Units Hierarchy </a:t>
            </a:r>
            <a:endParaRPr sz="2400">
              <a:latin typeface="Calibri"/>
              <a:ea typeface="Calibri"/>
              <a:cs typeface="Calibri"/>
              <a:sym typeface="Calibri"/>
            </a:endParaRPr>
          </a:p>
          <a:p>
            <a:pPr indent="-342900" lvl="0" marL="342900" rtl="0" algn="l">
              <a:spcBef>
                <a:spcPts val="480"/>
              </a:spcBef>
              <a:spcAft>
                <a:spcPts val="0"/>
              </a:spcAft>
              <a:buSzPts val="2000"/>
              <a:buChar char="•"/>
            </a:pPr>
            <a:r>
              <a:rPr b="0" lang="en-US">
                <a:solidFill>
                  <a:schemeClr val="dk1"/>
                </a:solidFill>
                <a:latin typeface="Calibri"/>
                <a:ea typeface="Calibri"/>
                <a:cs typeface="Calibri"/>
                <a:sym typeface="Calibri"/>
              </a:rPr>
              <a:t>Threads</a:t>
            </a:r>
            <a:r>
              <a:rPr lang="en-US" sz="2400">
                <a:latin typeface="Calibri"/>
                <a:ea typeface="Calibri"/>
                <a:cs typeface="Calibri"/>
                <a:sym typeface="Calibri"/>
              </a:rPr>
              <a:t> </a:t>
            </a:r>
            <a:r>
              <a:rPr b="0" lang="en-US">
                <a:solidFill>
                  <a:schemeClr val="dk1"/>
                </a:solidFill>
                <a:latin typeface="Calibri"/>
                <a:ea typeface="Calibri"/>
                <a:cs typeface="Calibri"/>
                <a:sym typeface="Calibri"/>
              </a:rPr>
              <a:t>Smallest unit of computation</a:t>
            </a:r>
            <a:endParaRPr>
              <a:solidFill>
                <a:schemeClr val="dk1"/>
              </a:solidFill>
            </a:endParaRPr>
          </a:p>
          <a:p>
            <a:pPr indent="-215900" lvl="0" marL="342900" rtl="0" algn="l">
              <a:spcBef>
                <a:spcPts val="400"/>
              </a:spcBef>
              <a:spcAft>
                <a:spcPts val="0"/>
              </a:spcAft>
              <a:buSzPts val="2000"/>
              <a:buNone/>
            </a:pPr>
            <a:r>
              <a:t/>
            </a:r>
            <a:endParaRPr b="0">
              <a:solidFill>
                <a:schemeClr val="dk1"/>
              </a:solidFill>
              <a:latin typeface="Calibri"/>
              <a:ea typeface="Calibri"/>
              <a:cs typeface="Calibri"/>
              <a:sym typeface="Calibri"/>
            </a:endParaRPr>
          </a:p>
          <a:p>
            <a:pPr indent="-342900" lvl="0" marL="342900" rtl="0" algn="l">
              <a:spcBef>
                <a:spcPts val="400"/>
              </a:spcBef>
              <a:spcAft>
                <a:spcPts val="0"/>
              </a:spcAft>
              <a:buSzPts val="2000"/>
              <a:buChar char="•"/>
            </a:pPr>
            <a:r>
              <a:rPr b="0" lang="en-US">
                <a:solidFill>
                  <a:schemeClr val="dk1"/>
                </a:solidFill>
                <a:latin typeface="Calibri"/>
                <a:ea typeface="Calibri"/>
                <a:cs typeface="Calibri"/>
                <a:sym typeface="Calibri"/>
              </a:rPr>
              <a:t>Warps A logical group of threads</a:t>
            </a:r>
            <a:endParaRPr>
              <a:solidFill>
                <a:schemeClr val="dk1"/>
              </a:solidFill>
              <a:latin typeface="Calibri"/>
              <a:ea typeface="Calibri"/>
              <a:cs typeface="Calibri"/>
              <a:sym typeface="Calibri"/>
            </a:endParaRPr>
          </a:p>
          <a:p>
            <a:pPr indent="-215900" lvl="0" marL="342900" rtl="0" algn="l">
              <a:spcBef>
                <a:spcPts val="400"/>
              </a:spcBef>
              <a:spcAft>
                <a:spcPts val="0"/>
              </a:spcAft>
              <a:buSzPts val="2000"/>
              <a:buNone/>
            </a:pPr>
            <a:r>
              <a:t/>
            </a:r>
            <a:endParaRPr b="0">
              <a:solidFill>
                <a:schemeClr val="dk1"/>
              </a:solidFill>
              <a:latin typeface="Calibri"/>
              <a:ea typeface="Calibri"/>
              <a:cs typeface="Calibri"/>
              <a:sym typeface="Calibri"/>
            </a:endParaRPr>
          </a:p>
          <a:p>
            <a:pPr indent="-342900" lvl="0" marL="342900" rtl="0" algn="l">
              <a:spcBef>
                <a:spcPts val="400"/>
              </a:spcBef>
              <a:spcAft>
                <a:spcPts val="0"/>
              </a:spcAft>
              <a:buSzPts val="2000"/>
              <a:buChar char="•"/>
            </a:pPr>
            <a:r>
              <a:rPr b="0" lang="en-US">
                <a:solidFill>
                  <a:srgbClr val="1F2328"/>
                </a:solidFill>
                <a:highlight>
                  <a:srgbClr val="FFFFFF"/>
                </a:highlight>
                <a:latin typeface="Calibri"/>
                <a:ea typeface="Calibri"/>
                <a:cs typeface="Calibri"/>
                <a:sym typeface="Calibri"/>
              </a:rPr>
              <a:t>Cores group of warps</a:t>
            </a:r>
            <a:endParaRPr/>
          </a:p>
          <a:p>
            <a:pPr indent="-215900" lvl="0" marL="342900" rtl="0" algn="l">
              <a:spcBef>
                <a:spcPts val="400"/>
              </a:spcBef>
              <a:spcAft>
                <a:spcPts val="0"/>
              </a:spcAft>
              <a:buSzPts val="2000"/>
              <a:buNone/>
            </a:pPr>
            <a:r>
              <a:t/>
            </a:r>
            <a:endParaRPr b="0">
              <a:solidFill>
                <a:schemeClr val="dk1"/>
              </a:solidFill>
              <a:latin typeface="Calibri"/>
              <a:ea typeface="Calibri"/>
              <a:cs typeface="Calibri"/>
              <a:sym typeface="Calibri"/>
            </a:endParaRPr>
          </a:p>
          <a:p>
            <a:pPr indent="-342900" lvl="0" marL="342900" rtl="0" algn="l">
              <a:spcBef>
                <a:spcPts val="400"/>
              </a:spcBef>
              <a:spcAft>
                <a:spcPts val="0"/>
              </a:spcAft>
              <a:buSzPts val="2000"/>
              <a:buChar char="•"/>
            </a:pPr>
            <a:r>
              <a:rPr b="0" lang="en-US">
                <a:solidFill>
                  <a:srgbClr val="1F2328"/>
                </a:solidFill>
                <a:highlight>
                  <a:srgbClr val="FFFFFF"/>
                </a:highlight>
                <a:latin typeface="Calibri"/>
                <a:ea typeface="Calibri"/>
                <a:cs typeface="Calibri"/>
                <a:sym typeface="Calibri"/>
              </a:rPr>
              <a:t>Sockets Grouping multiple cores</a:t>
            </a:r>
            <a:endParaRPr b="0">
              <a:solidFill>
                <a:srgbClr val="1F2328"/>
              </a:solidFill>
              <a:highlight>
                <a:srgbClr val="FFFFFF"/>
              </a:highlight>
            </a:endParaRPr>
          </a:p>
          <a:p>
            <a:pPr indent="-215900" lvl="0" marL="342900" rtl="0" algn="l">
              <a:spcBef>
                <a:spcPts val="400"/>
              </a:spcBef>
              <a:spcAft>
                <a:spcPts val="0"/>
              </a:spcAft>
              <a:buSzPts val="2000"/>
              <a:buNone/>
            </a:pPr>
            <a:r>
              <a:t/>
            </a:r>
            <a:endParaRPr b="0">
              <a:solidFill>
                <a:srgbClr val="1F2328"/>
              </a:solidFill>
              <a:highlight>
                <a:srgbClr val="FFFFFF"/>
              </a:highlight>
              <a:latin typeface="Calibri"/>
              <a:ea typeface="Calibri"/>
              <a:cs typeface="Calibri"/>
              <a:sym typeface="Calibri"/>
            </a:endParaRPr>
          </a:p>
          <a:p>
            <a:pPr indent="-342900" lvl="0" marL="342900" rtl="0" algn="l">
              <a:spcBef>
                <a:spcPts val="400"/>
              </a:spcBef>
              <a:spcAft>
                <a:spcPts val="0"/>
              </a:spcAft>
              <a:buSzPts val="2000"/>
              <a:buChar char="•"/>
            </a:pPr>
            <a:r>
              <a:rPr b="0" lang="en-US">
                <a:solidFill>
                  <a:srgbClr val="1F2328"/>
                </a:solidFill>
                <a:highlight>
                  <a:srgbClr val="FFFFFF"/>
                </a:highlight>
                <a:latin typeface="Calibri"/>
                <a:ea typeface="Calibri"/>
                <a:cs typeface="Calibri"/>
                <a:sym typeface="Calibri"/>
              </a:rPr>
              <a:t>Clusters Grouping of sockets</a:t>
            </a:r>
            <a:endParaRPr b="0">
              <a:solidFill>
                <a:srgbClr val="1F2328"/>
              </a:solidFill>
              <a:highlight>
                <a:srgbClr val="FFFFFF"/>
              </a:highlight>
            </a:endParaRPr>
          </a:p>
          <a:p>
            <a:pPr indent="-266700" lvl="0" marL="342900" rtl="0" algn="l">
              <a:spcBef>
                <a:spcPts val="240"/>
              </a:spcBef>
              <a:spcAft>
                <a:spcPts val="0"/>
              </a:spcAft>
              <a:buSzPts val="1200"/>
              <a:buNone/>
            </a:pPr>
            <a:r>
              <a:t/>
            </a:r>
            <a:endParaRPr b="0" sz="1200">
              <a:solidFill>
                <a:srgbClr val="1F2328"/>
              </a:solidFill>
              <a:highlight>
                <a:srgbClr val="FFFFFF"/>
              </a:highlight>
            </a:endParaRPr>
          </a:p>
          <a:p>
            <a:pPr indent="-215900" lvl="0" marL="342900" rtl="0" algn="l">
              <a:spcBef>
                <a:spcPts val="400"/>
              </a:spcBef>
              <a:spcAft>
                <a:spcPts val="0"/>
              </a:spcAft>
              <a:buSzPts val="2000"/>
              <a:buNone/>
            </a:pPr>
            <a:r>
              <a:t/>
            </a:r>
            <a:endParaRPr b="0">
              <a:solidFill>
                <a:srgbClr val="000000"/>
              </a:solidFill>
            </a:endParaRPr>
          </a:p>
        </p:txBody>
      </p:sp>
      <p:pic>
        <p:nvPicPr>
          <p:cNvPr id="160" name="Google Shape;160;p14"/>
          <p:cNvPicPr preferRelativeResize="0"/>
          <p:nvPr/>
        </p:nvPicPr>
        <p:blipFill rotWithShape="1">
          <a:blip r:embed="rId3">
            <a:alphaModFix/>
          </a:blip>
          <a:srcRect b="0" l="0" r="0" t="0"/>
          <a:stretch/>
        </p:blipFill>
        <p:spPr>
          <a:xfrm>
            <a:off x="6597463" y="1716461"/>
            <a:ext cx="4667250" cy="382848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5"/>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RISC-V GPGPU Architecture</a:t>
            </a:r>
            <a:endParaRPr b="0" i="0"/>
          </a:p>
        </p:txBody>
      </p:sp>
      <p:sp>
        <p:nvSpPr>
          <p:cNvPr id="166" name="Google Shape;166;p15"/>
          <p:cNvSpPr txBox="1"/>
          <p:nvPr>
            <p:ph idx="1" type="body"/>
          </p:nvPr>
        </p:nvSpPr>
        <p:spPr>
          <a:xfrm>
            <a:off x="948016" y="1510748"/>
            <a:ext cx="4603380" cy="498494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sz="2400">
                <a:highlight>
                  <a:srgbClr val="FFFFFF"/>
                </a:highlight>
                <a:latin typeface="Calibri"/>
                <a:ea typeface="Calibri"/>
                <a:cs typeface="Calibri"/>
                <a:sym typeface="Calibri"/>
              </a:rPr>
              <a:t>Memory Hierarchy </a:t>
            </a:r>
            <a:endParaRPr/>
          </a:p>
          <a:p>
            <a:pPr indent="0" lvl="0" marL="0" rtl="0" algn="l">
              <a:spcBef>
                <a:spcPts val="400"/>
              </a:spcBef>
              <a:spcAft>
                <a:spcPts val="0"/>
              </a:spcAft>
              <a:buSzPts val="2000"/>
              <a:buNone/>
            </a:pPr>
            <a:r>
              <a:rPr b="0" lang="en-US">
                <a:solidFill>
                  <a:srgbClr val="1F2328"/>
                </a:solidFill>
                <a:highlight>
                  <a:srgbClr val="FFFFFF"/>
                </a:highlight>
                <a:latin typeface="Calibri"/>
                <a:ea typeface="Calibri"/>
                <a:cs typeface="Calibri"/>
                <a:sym typeface="Calibri"/>
              </a:rPr>
              <a:t>Vortex implements a multi-level cache hierarchy (L1, L2, L3) plus local shared memory. The memory system includes:</a:t>
            </a:r>
            <a:endParaRPr/>
          </a:p>
          <a:p>
            <a:pPr indent="-215900" lvl="0" marL="342900" rtl="0" algn="l">
              <a:spcBef>
                <a:spcPts val="400"/>
              </a:spcBef>
              <a:spcAft>
                <a:spcPts val="0"/>
              </a:spcAft>
              <a:buSzPts val="2000"/>
              <a:buNone/>
            </a:pPr>
            <a:r>
              <a:t/>
            </a:r>
            <a:endParaRPr b="0">
              <a:solidFill>
                <a:srgbClr val="1F2328"/>
              </a:solidFill>
              <a:highlight>
                <a:srgbClr val="FFFFFF"/>
              </a:highlight>
              <a:latin typeface="Calibri"/>
              <a:ea typeface="Calibri"/>
              <a:cs typeface="Calibri"/>
              <a:sym typeface="Calibri"/>
            </a:endParaRPr>
          </a:p>
          <a:p>
            <a:pPr indent="-342900" lvl="0" marL="342900" rtl="0" algn="l">
              <a:spcBef>
                <a:spcPts val="400"/>
              </a:spcBef>
              <a:spcAft>
                <a:spcPts val="0"/>
              </a:spcAft>
              <a:buSzPts val="2000"/>
              <a:buChar char="•"/>
            </a:pPr>
            <a:r>
              <a:rPr b="0" lang="en-US">
                <a:solidFill>
                  <a:srgbClr val="1F2328"/>
                </a:solidFill>
                <a:highlight>
                  <a:srgbClr val="FFFFFF"/>
                </a:highlight>
                <a:latin typeface="Calibri"/>
                <a:ea typeface="Calibri"/>
                <a:cs typeface="Calibri"/>
                <a:sym typeface="Calibri"/>
              </a:rPr>
              <a:t>L1 instruction and data caches per core</a:t>
            </a:r>
            <a:endParaRPr/>
          </a:p>
          <a:p>
            <a:pPr indent="-215900" lvl="0" marL="342900" rtl="0" algn="l">
              <a:spcBef>
                <a:spcPts val="400"/>
              </a:spcBef>
              <a:spcAft>
                <a:spcPts val="0"/>
              </a:spcAft>
              <a:buSzPts val="2000"/>
              <a:buNone/>
            </a:pPr>
            <a:r>
              <a:t/>
            </a:r>
            <a:endParaRPr b="0">
              <a:solidFill>
                <a:srgbClr val="1F2328"/>
              </a:solidFill>
              <a:highlight>
                <a:srgbClr val="FFFFFF"/>
              </a:highlight>
              <a:latin typeface="Calibri"/>
              <a:ea typeface="Calibri"/>
              <a:cs typeface="Calibri"/>
              <a:sym typeface="Calibri"/>
            </a:endParaRPr>
          </a:p>
          <a:p>
            <a:pPr indent="-342900" lvl="0" marL="342900" rtl="0" algn="l">
              <a:spcBef>
                <a:spcPts val="400"/>
              </a:spcBef>
              <a:spcAft>
                <a:spcPts val="0"/>
              </a:spcAft>
              <a:buSzPts val="2000"/>
              <a:buChar char="•"/>
            </a:pPr>
            <a:r>
              <a:rPr b="0" lang="en-US">
                <a:solidFill>
                  <a:srgbClr val="1F2328"/>
                </a:solidFill>
                <a:highlight>
                  <a:srgbClr val="FFFFFF"/>
                </a:highlight>
                <a:latin typeface="Calibri"/>
                <a:ea typeface="Calibri"/>
                <a:cs typeface="Calibri"/>
                <a:sym typeface="Calibri"/>
              </a:rPr>
              <a:t>L2 cache shared within clusters</a:t>
            </a:r>
            <a:endParaRPr/>
          </a:p>
          <a:p>
            <a:pPr indent="-215900" lvl="0" marL="342900" rtl="0" algn="l">
              <a:spcBef>
                <a:spcPts val="400"/>
              </a:spcBef>
              <a:spcAft>
                <a:spcPts val="0"/>
              </a:spcAft>
              <a:buSzPts val="2000"/>
              <a:buNone/>
            </a:pPr>
            <a:r>
              <a:t/>
            </a:r>
            <a:endParaRPr b="0">
              <a:solidFill>
                <a:srgbClr val="1F2328"/>
              </a:solidFill>
              <a:highlight>
                <a:srgbClr val="FFFFFF"/>
              </a:highlight>
              <a:latin typeface="Calibri"/>
              <a:ea typeface="Calibri"/>
              <a:cs typeface="Calibri"/>
              <a:sym typeface="Calibri"/>
            </a:endParaRPr>
          </a:p>
          <a:p>
            <a:pPr indent="-342900" lvl="0" marL="342900" rtl="0" algn="l">
              <a:spcBef>
                <a:spcPts val="400"/>
              </a:spcBef>
              <a:spcAft>
                <a:spcPts val="0"/>
              </a:spcAft>
              <a:buSzPts val="2000"/>
              <a:buChar char="•"/>
            </a:pPr>
            <a:r>
              <a:rPr b="0" lang="en-US">
                <a:solidFill>
                  <a:srgbClr val="1F2328"/>
                </a:solidFill>
                <a:highlight>
                  <a:srgbClr val="FFFFFF"/>
                </a:highlight>
                <a:latin typeface="Calibri"/>
                <a:ea typeface="Calibri"/>
                <a:cs typeface="Calibri"/>
                <a:sym typeface="Calibri"/>
              </a:rPr>
              <a:t>L3 cache at the top level</a:t>
            </a:r>
            <a:endParaRPr/>
          </a:p>
          <a:p>
            <a:pPr indent="-215900" lvl="0" marL="342900" rtl="0" algn="l">
              <a:spcBef>
                <a:spcPts val="400"/>
              </a:spcBef>
              <a:spcAft>
                <a:spcPts val="0"/>
              </a:spcAft>
              <a:buSzPts val="2000"/>
              <a:buNone/>
            </a:pPr>
            <a:r>
              <a:t/>
            </a:r>
            <a:endParaRPr b="0">
              <a:solidFill>
                <a:srgbClr val="1F2328"/>
              </a:solidFill>
              <a:highlight>
                <a:srgbClr val="FFFFFF"/>
              </a:highlight>
              <a:latin typeface="Calibri"/>
              <a:ea typeface="Calibri"/>
              <a:cs typeface="Calibri"/>
              <a:sym typeface="Calibri"/>
            </a:endParaRPr>
          </a:p>
          <a:p>
            <a:pPr indent="-342900" lvl="0" marL="342900" rtl="0" algn="l">
              <a:spcBef>
                <a:spcPts val="400"/>
              </a:spcBef>
              <a:spcAft>
                <a:spcPts val="0"/>
              </a:spcAft>
              <a:buSzPts val="2000"/>
              <a:buChar char="•"/>
            </a:pPr>
            <a:r>
              <a:rPr b="0" lang="en-US">
                <a:solidFill>
                  <a:srgbClr val="1F2328"/>
                </a:solidFill>
                <a:highlight>
                  <a:srgbClr val="FFFFFF"/>
                </a:highlight>
                <a:latin typeface="Calibri"/>
                <a:ea typeface="Calibri"/>
                <a:cs typeface="Calibri"/>
                <a:sym typeface="Calibri"/>
              </a:rPr>
              <a:t>local shared memory: Shared by all warps in a workgroup</a:t>
            </a:r>
            <a:endParaRPr/>
          </a:p>
          <a:p>
            <a:pPr indent="0" lvl="0" marL="0" rtl="0" algn="l">
              <a:spcBef>
                <a:spcPts val="400"/>
              </a:spcBef>
              <a:spcAft>
                <a:spcPts val="0"/>
              </a:spcAft>
              <a:buSzPts val="2000"/>
              <a:buNone/>
            </a:pPr>
            <a:r>
              <a:t/>
            </a:r>
            <a:endParaRPr b="0">
              <a:solidFill>
                <a:srgbClr val="1F2328"/>
              </a:solidFill>
              <a:highlight>
                <a:srgbClr val="FFFFFF"/>
              </a:highlight>
            </a:endParaRPr>
          </a:p>
        </p:txBody>
      </p:sp>
      <p:pic>
        <p:nvPicPr>
          <p:cNvPr id="167" name="Google Shape;167;p15"/>
          <p:cNvPicPr preferRelativeResize="0"/>
          <p:nvPr/>
        </p:nvPicPr>
        <p:blipFill rotWithShape="1">
          <a:blip r:embed="rId3">
            <a:alphaModFix/>
          </a:blip>
          <a:srcRect b="0" l="8467" r="9586" t="71704"/>
          <a:stretch/>
        </p:blipFill>
        <p:spPr>
          <a:xfrm>
            <a:off x="5779104" y="2574040"/>
            <a:ext cx="6395962" cy="170991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6"/>
          <p:cNvSpPr txBox="1"/>
          <p:nvPr/>
        </p:nvSpPr>
        <p:spPr>
          <a:xfrm>
            <a:off x="1219200" y="2379663"/>
            <a:ext cx="9753600" cy="1049337"/>
          </a:xfrm>
          <a:prstGeom prst="rect">
            <a:avLst/>
          </a:prstGeom>
          <a:noFill/>
          <a:ln>
            <a:noFill/>
          </a:ln>
        </p:spPr>
        <p:txBody>
          <a:bodyPr anchorCtr="0" anchor="ctr" bIns="45700" lIns="91425" spcFirstLastPara="1" rIns="91425" wrap="square" tIns="45700">
            <a:noAutofit/>
          </a:bodyPr>
          <a:lstStyle/>
          <a:p>
            <a:pPr indent="0" lvl="0" marL="0" marR="0" rtl="1" algn="ctr">
              <a:spcBef>
                <a:spcPts val="0"/>
              </a:spcBef>
              <a:spcAft>
                <a:spcPts val="0"/>
              </a:spcAft>
              <a:buNone/>
            </a:pPr>
            <a:r>
              <a:rPr b="1" i="0" lang="en-US" sz="3600" u="none" cap="none" strike="noStrike">
                <a:solidFill>
                  <a:schemeClr val="dk1"/>
                </a:solidFill>
                <a:latin typeface="Calibri"/>
                <a:ea typeface="Calibri"/>
                <a:cs typeface="Calibri"/>
                <a:sym typeface="Calibri"/>
              </a:rPr>
              <a:t>Single Instruction Multiple Threads </a:t>
            </a:r>
            <a:endParaRPr b="1" i="1" sz="36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7"/>
          <p:cNvSpPr txBox="1"/>
          <p:nvPr>
            <p:ph type="title"/>
          </p:nvPr>
        </p:nvSpPr>
        <p:spPr>
          <a:xfrm>
            <a:off x="946150" y="433276"/>
            <a:ext cx="10299700" cy="45719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Single Instruction Multiple Threads </a:t>
            </a:r>
            <a:endParaRPr/>
          </a:p>
        </p:txBody>
      </p:sp>
      <p:sp>
        <p:nvSpPr>
          <p:cNvPr id="178" name="Google Shape;178;p17"/>
          <p:cNvSpPr txBox="1"/>
          <p:nvPr/>
        </p:nvSpPr>
        <p:spPr>
          <a:xfrm>
            <a:off x="946150" y="1671895"/>
            <a:ext cx="9408160" cy="48320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28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b="0" i="0" lang="en-US" sz="2800" u="none" cap="none" strike="noStrike">
                <a:solidFill>
                  <a:schemeClr val="dk1"/>
                </a:solidFill>
                <a:latin typeface="Calibri"/>
                <a:ea typeface="Calibri"/>
                <a:cs typeface="Calibri"/>
                <a:sym typeface="Calibri"/>
              </a:rPr>
              <a:t>SIMD</a:t>
            </a:r>
            <a:endParaRPr/>
          </a:p>
          <a:p>
            <a:pPr indent="-165100" lvl="0" marL="342900" marR="0" rtl="0" algn="l">
              <a:spcBef>
                <a:spcPts val="0"/>
              </a:spcBef>
              <a:spcAft>
                <a:spcPts val="0"/>
              </a:spcAft>
              <a:buClr>
                <a:srgbClr val="0070C0"/>
              </a:buClr>
              <a:buSzPts val="2800"/>
              <a:buFont typeface="Arial"/>
              <a:buNone/>
            </a:pPr>
            <a:r>
              <a:t/>
            </a:r>
            <a:endParaRPr b="0" i="0" sz="28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b="0" i="0" lang="en-US" sz="2800" u="none" cap="none" strike="noStrike">
                <a:solidFill>
                  <a:schemeClr val="dk1"/>
                </a:solidFill>
                <a:latin typeface="Calibri"/>
                <a:ea typeface="Calibri"/>
                <a:cs typeface="Calibri"/>
                <a:sym typeface="Calibri"/>
              </a:rPr>
              <a:t>Threads</a:t>
            </a:r>
            <a:endParaRPr/>
          </a:p>
          <a:p>
            <a:pPr indent="0" lvl="0" marL="0" marR="0" rtl="0" algn="l">
              <a:spcBef>
                <a:spcPts val="0"/>
              </a:spcBef>
              <a:spcAft>
                <a:spcPts val="0"/>
              </a:spcAft>
              <a:buNone/>
            </a:pPr>
            <a:r>
              <a:t/>
            </a:r>
            <a:endParaRPr b="0" i="0" sz="28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b="0" i="0" lang="en-US" sz="2800" u="none" cap="none" strike="noStrike">
                <a:solidFill>
                  <a:schemeClr val="dk1"/>
                </a:solidFill>
                <a:latin typeface="Calibri"/>
                <a:ea typeface="Calibri"/>
                <a:cs typeface="Calibri"/>
                <a:sym typeface="Calibri"/>
              </a:rPr>
              <a:t> Warps </a:t>
            </a:r>
            <a:endParaRPr/>
          </a:p>
          <a:p>
            <a:pPr indent="-165100" lvl="0" marL="342900" marR="0" rtl="0" algn="l">
              <a:spcBef>
                <a:spcPts val="0"/>
              </a:spcBef>
              <a:spcAft>
                <a:spcPts val="0"/>
              </a:spcAft>
              <a:buClr>
                <a:srgbClr val="0070C0"/>
              </a:buClr>
              <a:buSzPts val="2800"/>
              <a:buFont typeface="Arial"/>
              <a:buNone/>
            </a:pPr>
            <a:r>
              <a:t/>
            </a:r>
            <a:endParaRPr b="0" i="0" sz="28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b="0" i="0" lang="en-US" sz="2800" u="none" cap="none" strike="noStrike">
                <a:solidFill>
                  <a:schemeClr val="dk1"/>
                </a:solidFill>
                <a:latin typeface="Calibri"/>
                <a:ea typeface="Calibri"/>
                <a:cs typeface="Calibri"/>
                <a:sym typeface="Calibri"/>
              </a:rPr>
              <a:t>SIMT Vs SIMD</a:t>
            </a:r>
            <a:endParaRPr/>
          </a:p>
          <a:p>
            <a:pPr indent="-165100" lvl="0" marL="342900" marR="0" rtl="0" algn="l">
              <a:spcBef>
                <a:spcPts val="0"/>
              </a:spcBef>
              <a:spcAft>
                <a:spcPts val="0"/>
              </a:spcAft>
              <a:buClr>
                <a:srgbClr val="0070C0"/>
              </a:buClr>
              <a:buSzPts val="2800"/>
              <a:buFont typeface="Arial"/>
              <a:buNone/>
            </a:pPr>
            <a:r>
              <a:t/>
            </a:r>
            <a:endParaRPr b="0" i="0" sz="2800" u="none" cap="none" strike="noStrike">
              <a:solidFill>
                <a:schemeClr val="dk1"/>
              </a:solidFill>
              <a:latin typeface="Calibri"/>
              <a:ea typeface="Calibri"/>
              <a:cs typeface="Calibri"/>
              <a:sym typeface="Calibri"/>
            </a:endParaRPr>
          </a:p>
          <a:p>
            <a:pPr indent="-165100" lvl="0" marL="342900" marR="0" rtl="0" algn="l">
              <a:spcBef>
                <a:spcPts val="0"/>
              </a:spcBef>
              <a:spcAft>
                <a:spcPts val="0"/>
              </a:spcAft>
              <a:buClr>
                <a:srgbClr val="0070C0"/>
              </a:buClr>
              <a:buSzPts val="2800"/>
              <a:buFont typeface="Arial"/>
              <a:buNone/>
            </a:pPr>
            <a:r>
              <a:t/>
            </a:r>
            <a:endParaRPr b="0" i="0" sz="2800" u="none" cap="none" strike="noStrike">
              <a:solidFill>
                <a:schemeClr val="dk1"/>
              </a:solidFill>
              <a:latin typeface="Calibri"/>
              <a:ea typeface="Calibri"/>
              <a:cs typeface="Calibri"/>
              <a:sym typeface="Calibri"/>
            </a:endParaRPr>
          </a:p>
          <a:p>
            <a:pPr indent="-165100" lvl="0" marL="342900" marR="0" rtl="0" algn="l">
              <a:spcBef>
                <a:spcPts val="0"/>
              </a:spcBef>
              <a:spcAft>
                <a:spcPts val="0"/>
              </a:spcAft>
              <a:buClr>
                <a:srgbClr val="0070C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79" name="Google Shape;179;p17"/>
          <p:cNvSpPr txBox="1"/>
          <p:nvPr/>
        </p:nvSpPr>
        <p:spPr>
          <a:xfrm>
            <a:off x="574040" y="1087120"/>
            <a:ext cx="915416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0B5F9F"/>
                </a:solidFill>
                <a:latin typeface="Calibri"/>
                <a:ea typeface="Calibri"/>
                <a:cs typeface="Calibri"/>
                <a:sym typeface="Calibri"/>
              </a:rPr>
              <a:t>Outlines</a:t>
            </a:r>
            <a:r>
              <a:rPr b="1" i="0" lang="en-US" sz="3200" u="none" cap="none" strike="noStrike">
                <a:solidFill>
                  <a:srgbClr val="0B5F9F"/>
                </a:solidFill>
                <a:latin typeface="Arial"/>
                <a:ea typeface="Arial"/>
                <a:cs typeface="Arial"/>
                <a:sym typeface="Arial"/>
              </a:rPr>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8"/>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cap="none"/>
              <a:t>SINGLE INSTRUCTION MULTIPLE DATA</a:t>
            </a:r>
            <a:endParaRPr sz="3600" cap="none"/>
          </a:p>
        </p:txBody>
      </p:sp>
      <p:pic>
        <p:nvPicPr>
          <p:cNvPr descr="Vector Processors and SIMD Vector Computers" id="185" name="Google Shape;185;p18"/>
          <p:cNvPicPr preferRelativeResize="0"/>
          <p:nvPr>
            <p:ph idx="1" type="body"/>
          </p:nvPr>
        </p:nvPicPr>
        <p:blipFill rotWithShape="1">
          <a:blip r:embed="rId3">
            <a:alphaModFix/>
          </a:blip>
          <a:srcRect b="0" l="0" r="0" t="0"/>
          <a:stretch/>
        </p:blipFill>
        <p:spPr>
          <a:xfrm>
            <a:off x="2932317" y="1618738"/>
            <a:ext cx="6327366" cy="484996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9"/>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latin typeface="Calibri"/>
                <a:ea typeface="Calibri"/>
                <a:cs typeface="Calibri"/>
                <a:sym typeface="Calibri"/>
              </a:rPr>
              <a:t>Threads</a:t>
            </a:r>
            <a:endParaRPr>
              <a:latin typeface="Calibri"/>
              <a:ea typeface="Calibri"/>
              <a:cs typeface="Calibri"/>
              <a:sym typeface="Calibri"/>
            </a:endParaRPr>
          </a:p>
        </p:txBody>
      </p:sp>
      <p:sp>
        <p:nvSpPr>
          <p:cNvPr id="191" name="Google Shape;191;p19"/>
          <p:cNvSpPr txBox="1"/>
          <p:nvPr>
            <p:ph idx="1" type="body"/>
          </p:nvPr>
        </p:nvSpPr>
        <p:spPr>
          <a:xfrm>
            <a:off x="914400" y="1510748"/>
            <a:ext cx="10363200" cy="498494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t/>
            </a:r>
            <a:endParaRPr>
              <a:latin typeface="Calibri"/>
              <a:ea typeface="Calibri"/>
              <a:cs typeface="Calibri"/>
              <a:sym typeface="Calibri"/>
            </a:endParaRPr>
          </a:p>
          <a:p>
            <a:pPr indent="-342900" lvl="0" marL="342900" rtl="0" algn="l">
              <a:spcBef>
                <a:spcPts val="480"/>
              </a:spcBef>
              <a:spcAft>
                <a:spcPts val="0"/>
              </a:spcAft>
              <a:buSzPts val="2400"/>
              <a:buChar char="•"/>
            </a:pPr>
            <a:r>
              <a:rPr b="0" lang="en-US" sz="2400">
                <a:solidFill>
                  <a:schemeClr val="dk1"/>
                </a:solidFill>
                <a:latin typeface="Calibri"/>
                <a:ea typeface="Calibri"/>
                <a:cs typeface="Calibri"/>
                <a:sym typeface="Calibri"/>
              </a:rPr>
              <a:t>Each thread has its own Program Counter and registers.</a:t>
            </a:r>
            <a:endParaRPr/>
          </a:p>
          <a:p>
            <a:pPr indent="-190500" lvl="0" marL="342900" rtl="0" algn="l">
              <a:spcBef>
                <a:spcPts val="480"/>
              </a:spcBef>
              <a:spcAft>
                <a:spcPts val="0"/>
              </a:spcAft>
              <a:buSzPts val="2400"/>
              <a:buNone/>
            </a:pPr>
            <a:r>
              <a:t/>
            </a:r>
            <a:endParaRPr b="0" sz="2400">
              <a:solidFill>
                <a:schemeClr val="dk1"/>
              </a:solidFill>
              <a:latin typeface="Calibri"/>
              <a:ea typeface="Calibri"/>
              <a:cs typeface="Calibri"/>
              <a:sym typeface="Calibri"/>
            </a:endParaRPr>
          </a:p>
          <a:p>
            <a:pPr indent="-342900" lvl="0" marL="342900" rtl="0" algn="l">
              <a:spcBef>
                <a:spcPts val="480"/>
              </a:spcBef>
              <a:spcAft>
                <a:spcPts val="0"/>
              </a:spcAft>
              <a:buSzPts val="2400"/>
              <a:buChar char="•"/>
            </a:pPr>
            <a:r>
              <a:rPr b="0" lang="en-US" sz="2400">
                <a:solidFill>
                  <a:schemeClr val="dk1"/>
                </a:solidFill>
                <a:latin typeface="Calibri"/>
                <a:ea typeface="Calibri"/>
                <a:cs typeface="Calibri"/>
                <a:sym typeface="Calibri"/>
              </a:rPr>
              <a:t>Each thread has its own execution unit.</a:t>
            </a:r>
            <a:endParaRPr/>
          </a:p>
          <a:p>
            <a:pPr indent="-190500" lvl="0" marL="342900" rtl="0" algn="l">
              <a:spcBef>
                <a:spcPts val="480"/>
              </a:spcBef>
              <a:spcAft>
                <a:spcPts val="0"/>
              </a:spcAft>
              <a:buSzPts val="2400"/>
              <a:buNone/>
            </a:pPr>
            <a:r>
              <a:t/>
            </a:r>
            <a:endParaRPr b="0" sz="2400">
              <a:solidFill>
                <a:schemeClr val="dk1"/>
              </a:solidFill>
              <a:latin typeface="Calibri"/>
              <a:ea typeface="Calibri"/>
              <a:cs typeface="Calibri"/>
              <a:sym typeface="Calibri"/>
            </a:endParaRPr>
          </a:p>
          <a:p>
            <a:pPr indent="-342900" lvl="0" marL="342900" rtl="0" algn="l">
              <a:spcBef>
                <a:spcPts val="480"/>
              </a:spcBef>
              <a:spcAft>
                <a:spcPts val="0"/>
              </a:spcAft>
              <a:buSzPts val="2400"/>
              <a:buChar char="•"/>
            </a:pPr>
            <a:r>
              <a:rPr b="0" lang="en-US" sz="2400">
                <a:solidFill>
                  <a:schemeClr val="dk1"/>
                </a:solidFill>
                <a:latin typeface="Calibri"/>
                <a:ea typeface="Calibri"/>
                <a:cs typeface="Calibri"/>
                <a:sym typeface="Calibri"/>
              </a:rPr>
              <a:t>However, they share the rest of the core.</a:t>
            </a:r>
            <a:endParaRPr sz="2400">
              <a:solidFill>
                <a:schemeClr val="dk1"/>
              </a:solidFill>
              <a:latin typeface="Calibri"/>
              <a:ea typeface="Calibri"/>
              <a:cs typeface="Calibri"/>
              <a:sym typeface="Calibri"/>
            </a:endParaRPr>
          </a:p>
        </p:txBody>
      </p:sp>
      <p:pic>
        <p:nvPicPr>
          <p:cNvPr id="192" name="Google Shape;192;p19"/>
          <p:cNvPicPr preferRelativeResize="0"/>
          <p:nvPr/>
        </p:nvPicPr>
        <p:blipFill rotWithShape="1">
          <a:blip r:embed="rId3">
            <a:alphaModFix/>
          </a:blip>
          <a:srcRect b="13547" l="62173" r="7500" t="15055"/>
          <a:stretch/>
        </p:blipFill>
        <p:spPr>
          <a:xfrm>
            <a:off x="8416412" y="1383333"/>
            <a:ext cx="3696930" cy="489646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0"/>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Warps</a:t>
            </a:r>
            <a:endParaRPr b="0">
              <a:latin typeface="Calibri"/>
              <a:ea typeface="Calibri"/>
              <a:cs typeface="Calibri"/>
              <a:sym typeface="Calibri"/>
            </a:endParaRPr>
          </a:p>
          <a:p>
            <a:pPr indent="0" lvl="0" marL="0" rtl="0" algn="ctr">
              <a:spcBef>
                <a:spcPts val="0"/>
              </a:spcBef>
              <a:spcAft>
                <a:spcPts val="0"/>
              </a:spcAft>
              <a:buNone/>
            </a:pPr>
            <a:r>
              <a:t/>
            </a:r>
            <a:endParaRPr/>
          </a:p>
        </p:txBody>
      </p:sp>
      <p:sp>
        <p:nvSpPr>
          <p:cNvPr id="198" name="Google Shape;198;p20"/>
          <p:cNvSpPr txBox="1"/>
          <p:nvPr>
            <p:ph idx="1" type="body"/>
          </p:nvPr>
        </p:nvSpPr>
        <p:spPr>
          <a:xfrm>
            <a:off x="914400" y="1510748"/>
            <a:ext cx="10363200" cy="498494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b="0" lang="en-US" sz="2400">
                <a:solidFill>
                  <a:schemeClr val="dk1"/>
                </a:solidFill>
              </a:rPr>
              <a:t>Threads are organized into groups of threads called “warps”</a:t>
            </a:r>
            <a:endParaRPr/>
          </a:p>
          <a:p>
            <a:pPr indent="0" lvl="0" marL="0" rtl="0" algn="l">
              <a:spcBef>
                <a:spcPts val="480"/>
              </a:spcBef>
              <a:spcAft>
                <a:spcPts val="0"/>
              </a:spcAft>
              <a:buSzPts val="2400"/>
              <a:buNone/>
            </a:pPr>
            <a:r>
              <a:t/>
            </a:r>
            <a:endParaRPr sz="2400">
              <a:solidFill>
                <a:schemeClr val="dk1"/>
              </a:solidFill>
            </a:endParaRPr>
          </a:p>
          <a:p>
            <a:pPr indent="-342900" lvl="0" marL="342900" rtl="0" algn="l">
              <a:spcBef>
                <a:spcPts val="480"/>
              </a:spcBef>
              <a:spcAft>
                <a:spcPts val="0"/>
              </a:spcAft>
              <a:buSzPts val="2400"/>
              <a:buChar char="•"/>
            </a:pPr>
            <a:r>
              <a:rPr b="0" lang="en-US" sz="2400">
                <a:solidFill>
                  <a:schemeClr val="dk1"/>
                </a:solidFill>
              </a:rPr>
              <a:t>All threads within a warp execute the same instruction simultaneously</a:t>
            </a:r>
            <a:endParaRPr/>
          </a:p>
          <a:p>
            <a:pPr indent="0" lvl="0" marL="0" rtl="0" algn="l">
              <a:spcBef>
                <a:spcPts val="400"/>
              </a:spcBef>
              <a:spcAft>
                <a:spcPts val="0"/>
              </a:spcAft>
              <a:buSzPts val="2000"/>
              <a:buNone/>
            </a:pPr>
            <a:r>
              <a:t/>
            </a:r>
            <a:endParaRPr b="0">
              <a:solidFill>
                <a:schemeClr val="dk1"/>
              </a:solidFill>
              <a:latin typeface="Calibri"/>
              <a:ea typeface="Calibri"/>
              <a:cs typeface="Calibri"/>
              <a:sym typeface="Calibri"/>
            </a:endParaRPr>
          </a:p>
        </p:txBody>
      </p:sp>
      <p:pic>
        <p:nvPicPr>
          <p:cNvPr id="199" name="Google Shape;199;p20"/>
          <p:cNvPicPr preferRelativeResize="0"/>
          <p:nvPr/>
        </p:nvPicPr>
        <p:blipFill rotWithShape="1">
          <a:blip r:embed="rId3">
            <a:alphaModFix/>
          </a:blip>
          <a:srcRect b="0" l="0" r="0" t="0"/>
          <a:stretch/>
        </p:blipFill>
        <p:spPr>
          <a:xfrm>
            <a:off x="2568524" y="3497543"/>
            <a:ext cx="6791325" cy="266326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1"/>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Threads and Warps Example </a:t>
            </a:r>
            <a:endParaRPr b="0"/>
          </a:p>
        </p:txBody>
      </p:sp>
      <p:pic>
        <p:nvPicPr>
          <p:cNvPr id="205" name="Google Shape;205;p21"/>
          <p:cNvPicPr preferRelativeResize="0"/>
          <p:nvPr/>
        </p:nvPicPr>
        <p:blipFill rotWithShape="1">
          <a:blip r:embed="rId3">
            <a:alphaModFix/>
          </a:blip>
          <a:srcRect b="0" l="0" r="0" t="0"/>
          <a:stretch/>
        </p:blipFill>
        <p:spPr>
          <a:xfrm>
            <a:off x="1788160" y="1499776"/>
            <a:ext cx="8615680" cy="454932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2"/>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2" marL="0" rtl="0" algn="ctr">
              <a:spcBef>
                <a:spcPts val="0"/>
              </a:spcBef>
              <a:spcAft>
                <a:spcPts val="0"/>
              </a:spcAft>
              <a:buNone/>
            </a:pPr>
            <a:r>
              <a:rPr lang="en-US" sz="3600">
                <a:latin typeface="Calibri"/>
                <a:ea typeface="Calibri"/>
                <a:cs typeface="Calibri"/>
                <a:sym typeface="Calibri"/>
              </a:rPr>
              <a:t>SIMD vs  SIMT</a:t>
            </a:r>
            <a:endParaRPr/>
          </a:p>
        </p:txBody>
      </p:sp>
      <p:graphicFrame>
        <p:nvGraphicFramePr>
          <p:cNvPr id="211" name="Google Shape;211;p22"/>
          <p:cNvGraphicFramePr/>
          <p:nvPr/>
        </p:nvGraphicFramePr>
        <p:xfrm>
          <a:off x="1140542" y="1543664"/>
          <a:ext cx="3000000" cy="3000000"/>
        </p:xfrm>
        <a:graphic>
          <a:graphicData uri="http://schemas.openxmlformats.org/drawingml/2006/table">
            <a:tbl>
              <a:tblPr bandRow="1">
                <a:noFill/>
                <a:tableStyleId>{2C4B52ED-67D0-4601-98DB-54BAD103998F}</a:tableStyleId>
              </a:tblPr>
              <a:tblGrid>
                <a:gridCol w="3433225"/>
                <a:gridCol w="3433225"/>
                <a:gridCol w="3433225"/>
              </a:tblGrid>
              <a:tr h="494675">
                <a:tc>
                  <a:txBody>
                    <a:bodyPr/>
                    <a:lstStyle/>
                    <a:p>
                      <a:pPr indent="0" lvl="0" marL="0" marR="0" rtl="0" algn="ctr">
                        <a:spcBef>
                          <a:spcPts val="0"/>
                        </a:spcBef>
                        <a:spcAft>
                          <a:spcPts val="0"/>
                        </a:spcAft>
                        <a:buClr>
                          <a:schemeClr val="lt1"/>
                        </a:buClr>
                        <a:buSzPts val="2800"/>
                        <a:buFont typeface="Calibri"/>
                        <a:buNone/>
                      </a:pPr>
                      <a:r>
                        <a:rPr lang="en-US" sz="2800" u="none" cap="none" strike="noStrike">
                          <a:solidFill>
                            <a:schemeClr val="lt1"/>
                          </a:solidFill>
                          <a:latin typeface="Calibri"/>
                          <a:ea typeface="Calibri"/>
                          <a:cs typeface="Calibri"/>
                          <a:sym typeface="Calibri"/>
                        </a:rPr>
                        <a:t>Features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B64A8"/>
                    </a:solidFill>
                  </a:tcPr>
                </a:tc>
                <a:tc>
                  <a:txBody>
                    <a:bodyPr/>
                    <a:lstStyle/>
                    <a:p>
                      <a:pPr indent="0" lvl="0" marL="0" marR="0" rtl="0" algn="ctr">
                        <a:spcBef>
                          <a:spcPts val="0"/>
                        </a:spcBef>
                        <a:spcAft>
                          <a:spcPts val="0"/>
                        </a:spcAft>
                        <a:buClr>
                          <a:schemeClr val="lt1"/>
                        </a:buClr>
                        <a:buSzPts val="2800"/>
                        <a:buFont typeface="Calibri"/>
                        <a:buNone/>
                      </a:pPr>
                      <a:r>
                        <a:rPr lang="en-US" sz="2800" u="none" cap="none" strike="noStrike">
                          <a:solidFill>
                            <a:schemeClr val="lt1"/>
                          </a:solidFill>
                          <a:latin typeface="Calibri"/>
                          <a:ea typeface="Calibri"/>
                          <a:cs typeface="Calibri"/>
                          <a:sym typeface="Calibri"/>
                        </a:rPr>
                        <a:t>SIMD</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B64A8"/>
                    </a:solidFill>
                  </a:tcPr>
                </a:tc>
                <a:tc>
                  <a:txBody>
                    <a:bodyPr/>
                    <a:lstStyle/>
                    <a:p>
                      <a:pPr indent="0" lvl="0" marL="0" marR="0" rtl="0" algn="ctr">
                        <a:spcBef>
                          <a:spcPts val="0"/>
                        </a:spcBef>
                        <a:spcAft>
                          <a:spcPts val="0"/>
                        </a:spcAft>
                        <a:buClr>
                          <a:schemeClr val="lt1"/>
                        </a:buClr>
                        <a:buSzPts val="2800"/>
                        <a:buFont typeface="Calibri"/>
                        <a:buNone/>
                      </a:pPr>
                      <a:r>
                        <a:rPr lang="en-US" sz="2800" u="none" cap="none" strike="noStrike">
                          <a:solidFill>
                            <a:schemeClr val="lt1"/>
                          </a:solidFill>
                          <a:latin typeface="Calibri"/>
                          <a:ea typeface="Calibri"/>
                          <a:cs typeface="Calibri"/>
                          <a:sym typeface="Calibri"/>
                        </a:rPr>
                        <a:t>SIMT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B64A8"/>
                    </a:solidFill>
                  </a:tcPr>
                </a:tc>
              </a:tr>
              <a:tr h="695175">
                <a:tc>
                  <a:txBody>
                    <a:bodyPr/>
                    <a:lstStyle/>
                    <a:p>
                      <a:pPr indent="0" lvl="0" marL="0" marR="0" rtl="0" algn="ctr">
                        <a:spcBef>
                          <a:spcPts val="0"/>
                        </a:spcBef>
                        <a:spcAft>
                          <a:spcPts val="0"/>
                        </a:spcAft>
                        <a:buClr>
                          <a:schemeClr val="dk1"/>
                        </a:buClr>
                        <a:buSzPts val="2400"/>
                        <a:buFont typeface="Calibri"/>
                        <a:buNone/>
                      </a:pPr>
                      <a:r>
                        <a:rPr b="1" lang="en-US" sz="2400" u="none" cap="none" strike="noStrike">
                          <a:latin typeface="Calibri"/>
                          <a:ea typeface="Calibri"/>
                          <a:cs typeface="Calibri"/>
                          <a:sym typeface="Calibri"/>
                        </a:rPr>
                        <a:t>Registers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2400"/>
                        <a:buFont typeface="Calibri"/>
                        <a:buNone/>
                      </a:pPr>
                      <a:r>
                        <a:rPr lang="en-US" sz="2400" u="none" cap="none" strike="noStrike">
                          <a:latin typeface="Calibri"/>
                          <a:ea typeface="Calibri"/>
                          <a:cs typeface="Calibri"/>
                          <a:sym typeface="Calibri"/>
                        </a:rPr>
                        <a:t>Vector registers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2400"/>
                        <a:buFont typeface="Calibri"/>
                        <a:buNone/>
                      </a:pPr>
                      <a:r>
                        <a:rPr lang="en-US" sz="2400" u="none" cap="none" strike="noStrike">
                          <a:latin typeface="Calibri"/>
                          <a:ea typeface="Calibri"/>
                          <a:cs typeface="Calibri"/>
                          <a:sym typeface="Calibri"/>
                        </a:rPr>
                        <a:t>Per-thread registers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6475">
                <a:tc>
                  <a:txBody>
                    <a:bodyPr/>
                    <a:lstStyle/>
                    <a:p>
                      <a:pPr indent="0" lvl="0" marL="0" marR="0" rtl="0" algn="ctr">
                        <a:spcBef>
                          <a:spcPts val="0"/>
                        </a:spcBef>
                        <a:spcAft>
                          <a:spcPts val="0"/>
                        </a:spcAft>
                        <a:buClr>
                          <a:schemeClr val="dk1"/>
                        </a:buClr>
                        <a:buSzPts val="2400"/>
                        <a:buFont typeface="Calibri"/>
                        <a:buNone/>
                      </a:pPr>
                      <a:r>
                        <a:rPr b="1" lang="en-US" sz="2400" u="none" cap="none" strike="noStrike">
                          <a:latin typeface="Calibri"/>
                          <a:ea typeface="Calibri"/>
                          <a:cs typeface="Calibri"/>
                          <a:sym typeface="Calibri"/>
                        </a:rPr>
                        <a:t>Hardware</a:t>
                      </a:r>
                      <a:endParaRPr sz="2400" u="none" cap="none" strike="noStrike">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2400"/>
                        <a:buFont typeface="Calibri"/>
                        <a:buNone/>
                      </a:pPr>
                      <a:r>
                        <a:rPr lang="en-US" sz="2400" u="none" cap="none" strike="noStrike">
                          <a:latin typeface="Calibri"/>
                          <a:ea typeface="Calibri"/>
                          <a:cs typeface="Calibri"/>
                          <a:sym typeface="Calibri"/>
                        </a:rPr>
                        <a:t>CPUs, GPUs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2400"/>
                        <a:buFont typeface="Calibri"/>
                        <a:buNone/>
                      </a:pPr>
                      <a:r>
                        <a:rPr lang="en-US" sz="2400" u="none" cap="none" strike="noStrike">
                          <a:latin typeface="Calibri"/>
                          <a:ea typeface="Calibri"/>
                          <a:cs typeface="Calibri"/>
                          <a:sym typeface="Calibri"/>
                        </a:rPr>
                        <a:t>GPUs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6475">
                <a:tc>
                  <a:txBody>
                    <a:bodyPr/>
                    <a:lstStyle/>
                    <a:p>
                      <a:pPr indent="0" lvl="0" marL="0" marR="0" rtl="0" algn="ctr">
                        <a:spcBef>
                          <a:spcPts val="0"/>
                        </a:spcBef>
                        <a:spcAft>
                          <a:spcPts val="0"/>
                        </a:spcAft>
                        <a:buClr>
                          <a:schemeClr val="dk1"/>
                        </a:buClr>
                        <a:buSzPts val="2400"/>
                        <a:buFont typeface="Calibri"/>
                        <a:buNone/>
                      </a:pPr>
                      <a:r>
                        <a:rPr b="1" lang="en-US" sz="2400" u="none" cap="none" strike="noStrike">
                          <a:latin typeface="Calibri"/>
                          <a:ea typeface="Calibri"/>
                          <a:cs typeface="Calibri"/>
                          <a:sym typeface="Calibri"/>
                        </a:rPr>
                        <a:t>Parallelism Type</a:t>
                      </a:r>
                      <a:endParaRPr sz="2400" u="none" cap="none" strike="noStrike">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2400"/>
                        <a:buFont typeface="Calibri"/>
                        <a:buNone/>
                      </a:pPr>
                      <a:r>
                        <a:rPr lang="en-US" sz="2400" u="none" cap="none" strike="noStrike">
                          <a:latin typeface="Calibri"/>
                          <a:ea typeface="Calibri"/>
                          <a:cs typeface="Calibri"/>
                          <a:sym typeface="Calibri"/>
                        </a:rPr>
                        <a:t>Data-level parallelism</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2400"/>
                        <a:buFont typeface="Calibri"/>
                        <a:buNone/>
                      </a:pPr>
                      <a:r>
                        <a:rPr lang="en-US" sz="2400" u="none" cap="none" strike="noStrike">
                          <a:latin typeface="Calibri"/>
                          <a:ea typeface="Calibri"/>
                          <a:cs typeface="Calibri"/>
                          <a:sym typeface="Calibri"/>
                        </a:rPr>
                        <a:t>Task-level parallelism</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6475">
                <a:tc>
                  <a:txBody>
                    <a:bodyPr/>
                    <a:lstStyle/>
                    <a:p>
                      <a:pPr indent="0" lvl="0" marL="0" marR="0" rtl="0" algn="ctr">
                        <a:spcBef>
                          <a:spcPts val="0"/>
                        </a:spcBef>
                        <a:spcAft>
                          <a:spcPts val="0"/>
                        </a:spcAft>
                        <a:buClr>
                          <a:schemeClr val="dk1"/>
                        </a:buClr>
                        <a:buSzPts val="2400"/>
                        <a:buFont typeface="Calibri"/>
                        <a:buNone/>
                      </a:pPr>
                      <a:r>
                        <a:rPr b="1" lang="en-US" sz="2400" u="none" cap="none" strike="noStrike">
                          <a:latin typeface="Calibri"/>
                          <a:ea typeface="Calibri"/>
                          <a:cs typeface="Calibri"/>
                          <a:sym typeface="Calibri"/>
                        </a:rPr>
                        <a:t>Programming Complexity</a:t>
                      </a:r>
                      <a:endParaRPr sz="2400" u="none" cap="none" strike="noStrike">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2400"/>
                        <a:buFont typeface="Calibri"/>
                        <a:buNone/>
                      </a:pPr>
                      <a:r>
                        <a:rPr lang="en-US" sz="2400" u="none" cap="none" strike="noStrike">
                          <a:latin typeface="Calibri"/>
                          <a:ea typeface="Calibri"/>
                          <a:cs typeface="Calibri"/>
                          <a:sym typeface="Calibri"/>
                        </a:rPr>
                        <a:t>Higher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2400"/>
                        <a:buFont typeface="Calibri"/>
                        <a:buNone/>
                      </a:pPr>
                      <a:r>
                        <a:rPr lang="en-US" sz="2400" u="none" cap="none" strike="noStrike">
                          <a:latin typeface="Calibri"/>
                          <a:ea typeface="Calibri"/>
                          <a:cs typeface="Calibri"/>
                          <a:sym typeface="Calibri"/>
                        </a:rPr>
                        <a:t>Lower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6475">
                <a:tc>
                  <a:txBody>
                    <a:bodyPr/>
                    <a:lstStyle/>
                    <a:p>
                      <a:pPr indent="0" lvl="0" marL="0" marR="0" rtl="0" algn="ctr">
                        <a:spcBef>
                          <a:spcPts val="0"/>
                        </a:spcBef>
                        <a:spcAft>
                          <a:spcPts val="0"/>
                        </a:spcAft>
                        <a:buClr>
                          <a:schemeClr val="dk1"/>
                        </a:buClr>
                        <a:buSzPts val="2400"/>
                        <a:buFont typeface="Calibri"/>
                        <a:buNone/>
                      </a:pPr>
                      <a:r>
                        <a:rPr b="1" lang="en-US" sz="2400" u="none" cap="none" strike="noStrike">
                          <a:latin typeface="Calibri"/>
                          <a:ea typeface="Calibri"/>
                          <a:cs typeface="Calibri"/>
                          <a:sym typeface="Calibri"/>
                        </a:rPr>
                        <a:t>Complexity</a:t>
                      </a:r>
                      <a:endParaRPr sz="2400" u="none" cap="none" strike="noStrike">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2400"/>
                        <a:buFont typeface="Calibri"/>
                        <a:buNone/>
                      </a:pPr>
                      <a:r>
                        <a:rPr lang="en-US" sz="2400" u="none" cap="none" strike="noStrike">
                          <a:latin typeface="Calibri"/>
                          <a:ea typeface="Calibri"/>
                          <a:cs typeface="Calibri"/>
                          <a:sym typeface="Calibri"/>
                        </a:rPr>
                        <a:t>Lower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2400"/>
                        <a:buFont typeface="Calibri"/>
                        <a:buNone/>
                      </a:pPr>
                      <a:r>
                        <a:rPr lang="en-US" sz="2400" u="none" cap="none" strike="noStrike">
                          <a:latin typeface="Calibri"/>
                          <a:ea typeface="Calibri"/>
                          <a:cs typeface="Calibri"/>
                          <a:sym typeface="Calibri"/>
                        </a:rPr>
                        <a:t>Higher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85650">
                <a:tc>
                  <a:txBody>
                    <a:bodyPr/>
                    <a:lstStyle/>
                    <a:p>
                      <a:pPr indent="0" lvl="0" marL="0" marR="0" rtl="0" algn="ctr">
                        <a:spcBef>
                          <a:spcPts val="0"/>
                        </a:spcBef>
                        <a:spcAft>
                          <a:spcPts val="0"/>
                        </a:spcAft>
                        <a:buClr>
                          <a:schemeClr val="dk1"/>
                        </a:buClr>
                        <a:buSzPts val="2400"/>
                        <a:buFont typeface="Calibri"/>
                        <a:buNone/>
                      </a:pPr>
                      <a:r>
                        <a:rPr b="1" lang="en-US" sz="2400" u="none" cap="none" strike="noStrike">
                          <a:latin typeface="Calibri"/>
                          <a:ea typeface="Calibri"/>
                          <a:cs typeface="Calibri"/>
                          <a:sym typeface="Calibri"/>
                        </a:rPr>
                        <a:t>Divergence Handling</a:t>
                      </a:r>
                      <a:endParaRPr sz="2400" u="none" cap="none" strike="noStrike">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2400"/>
                        <a:buFont typeface="Calibri"/>
                        <a:buNone/>
                      </a:pPr>
                      <a:r>
                        <a:rPr lang="en-US" sz="2400" u="none" cap="none" strike="noStrike">
                          <a:latin typeface="Calibri"/>
                          <a:ea typeface="Calibri"/>
                          <a:cs typeface="Calibri"/>
                          <a:sym typeface="Calibri"/>
                        </a:rPr>
                        <a:t>Not applicable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2400"/>
                        <a:buFont typeface="Calibri"/>
                        <a:buNone/>
                      </a:pPr>
                      <a:r>
                        <a:rPr lang="en-US" sz="2400" u="none" cap="none" strike="noStrike">
                          <a:latin typeface="Calibri"/>
                          <a:ea typeface="Calibri"/>
                          <a:cs typeface="Calibri"/>
                          <a:sym typeface="Calibri"/>
                        </a:rPr>
                        <a:t>Performance loss in diverging warps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3"/>
          <p:cNvSpPr txBox="1"/>
          <p:nvPr/>
        </p:nvSpPr>
        <p:spPr>
          <a:xfrm>
            <a:off x="1219200" y="2379663"/>
            <a:ext cx="9753600" cy="1049337"/>
          </a:xfrm>
          <a:prstGeom prst="rect">
            <a:avLst/>
          </a:prstGeom>
          <a:noFill/>
          <a:ln>
            <a:noFill/>
          </a:ln>
        </p:spPr>
        <p:txBody>
          <a:bodyPr anchorCtr="0" anchor="ctr" bIns="45700" lIns="91425" spcFirstLastPara="1" rIns="91425" wrap="square" tIns="45700">
            <a:noAutofit/>
          </a:bodyPr>
          <a:lstStyle/>
          <a:p>
            <a:pPr indent="0" lvl="0" marL="0" marR="0" rtl="1" algn="ctr">
              <a:spcBef>
                <a:spcPts val="0"/>
              </a:spcBef>
              <a:spcAft>
                <a:spcPts val="0"/>
              </a:spcAft>
              <a:buNone/>
            </a:pPr>
            <a:r>
              <a:rPr b="1" i="0" lang="en-US" sz="3600">
                <a:solidFill>
                  <a:schemeClr val="dk1"/>
                </a:solidFill>
                <a:latin typeface="Calibri"/>
                <a:ea typeface="Calibri"/>
                <a:cs typeface="Calibri"/>
                <a:sym typeface="Calibri"/>
              </a:rPr>
              <a:t>Scheduling Stage</a:t>
            </a:r>
            <a:endParaRPr b="1" i="1" sz="36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4"/>
          <p:cNvSpPr txBox="1"/>
          <p:nvPr>
            <p:ph type="title"/>
          </p:nvPr>
        </p:nvSpPr>
        <p:spPr>
          <a:xfrm>
            <a:off x="946150" y="629921"/>
            <a:ext cx="10299700" cy="45719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Scheduling Stage</a:t>
            </a:r>
            <a:br>
              <a:rPr lang="en-US"/>
            </a:br>
            <a:endParaRPr/>
          </a:p>
        </p:txBody>
      </p:sp>
      <p:sp>
        <p:nvSpPr>
          <p:cNvPr id="222" name="Google Shape;222;p24"/>
          <p:cNvSpPr txBox="1"/>
          <p:nvPr/>
        </p:nvSpPr>
        <p:spPr>
          <a:xfrm>
            <a:off x="808498" y="1458699"/>
            <a:ext cx="9408160" cy="569386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70C0"/>
              </a:buClr>
              <a:buSzPts val="2800"/>
              <a:buFont typeface="Arial"/>
              <a:buChar char="•"/>
            </a:pPr>
            <a:r>
              <a:rPr lang="en-US" sz="2800">
                <a:solidFill>
                  <a:schemeClr val="dk1"/>
                </a:solidFill>
                <a:latin typeface="Calibri"/>
                <a:ea typeface="Calibri"/>
                <a:cs typeface="Calibri"/>
                <a:sym typeface="Calibri"/>
              </a:rPr>
              <a:t>Purpose</a:t>
            </a:r>
            <a:endParaRPr/>
          </a:p>
          <a:p>
            <a:pPr indent="-165100" lvl="0" marL="342900" marR="0" rtl="0" algn="l">
              <a:spcBef>
                <a:spcPts val="0"/>
              </a:spcBef>
              <a:spcAft>
                <a:spcPts val="0"/>
              </a:spcAft>
              <a:buClr>
                <a:srgbClr val="0070C0"/>
              </a:buClr>
              <a:buSzPts val="2800"/>
              <a:buFont typeface="Arial"/>
              <a:buNone/>
            </a:pPr>
            <a:r>
              <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lang="en-US" sz="2800">
                <a:solidFill>
                  <a:schemeClr val="dk1"/>
                </a:solidFill>
                <a:latin typeface="Calibri"/>
                <a:ea typeface="Calibri"/>
                <a:cs typeface="Calibri"/>
                <a:sym typeface="Calibri"/>
              </a:rPr>
              <a:t>Warp Mask</a:t>
            </a:r>
            <a:endParaRPr/>
          </a:p>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lang="en-US" sz="2800">
                <a:solidFill>
                  <a:schemeClr val="dk1"/>
                </a:solidFill>
                <a:latin typeface="Calibri"/>
                <a:ea typeface="Calibri"/>
                <a:cs typeface="Calibri"/>
                <a:sym typeface="Calibri"/>
              </a:rPr>
              <a:t>Branch Divergence</a:t>
            </a:r>
            <a:endParaRPr/>
          </a:p>
          <a:p>
            <a:pPr indent="-165100" lvl="0" marL="342900" marR="0" rtl="0" algn="l">
              <a:spcBef>
                <a:spcPts val="0"/>
              </a:spcBef>
              <a:spcAft>
                <a:spcPts val="0"/>
              </a:spcAft>
              <a:buClr>
                <a:srgbClr val="0070C0"/>
              </a:buClr>
              <a:buSzPts val="2800"/>
              <a:buFont typeface="Arial"/>
              <a:buNone/>
            </a:pPr>
            <a:r>
              <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lang="en-US" sz="2800">
                <a:solidFill>
                  <a:schemeClr val="dk1"/>
                </a:solidFill>
                <a:latin typeface="Calibri"/>
                <a:ea typeface="Calibri"/>
                <a:cs typeface="Calibri"/>
                <a:sym typeface="Calibri"/>
              </a:rPr>
              <a:t>IPDOM Stack</a:t>
            </a:r>
            <a:endParaRPr/>
          </a:p>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lang="en-US" sz="2800">
                <a:solidFill>
                  <a:schemeClr val="dk1"/>
                </a:solidFill>
                <a:latin typeface="Calibri"/>
                <a:ea typeface="Calibri"/>
                <a:cs typeface="Calibri"/>
                <a:sym typeface="Calibri"/>
              </a:rPr>
              <a:t> Barriers </a:t>
            </a:r>
            <a:endParaRPr/>
          </a:p>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a:p>
            <a:pPr indent="-165100" lvl="0" marL="342900" marR="0" rtl="0" algn="l">
              <a:spcBef>
                <a:spcPts val="0"/>
              </a:spcBef>
              <a:spcAft>
                <a:spcPts val="0"/>
              </a:spcAft>
              <a:buClr>
                <a:srgbClr val="0070C0"/>
              </a:buClr>
              <a:buSzPts val="2800"/>
              <a:buFont typeface="Arial"/>
              <a:buNone/>
            </a:pPr>
            <a:r>
              <a:t/>
            </a:r>
            <a:endParaRPr sz="2800">
              <a:solidFill>
                <a:schemeClr val="dk1"/>
              </a:solidFill>
              <a:latin typeface="Calibri"/>
              <a:ea typeface="Calibri"/>
              <a:cs typeface="Calibri"/>
              <a:sym typeface="Calibri"/>
            </a:endParaRPr>
          </a:p>
          <a:p>
            <a:pPr indent="-165100" lvl="0" marL="342900" marR="0" rtl="0" algn="l">
              <a:spcBef>
                <a:spcPts val="0"/>
              </a:spcBef>
              <a:spcAft>
                <a:spcPts val="0"/>
              </a:spcAft>
              <a:buClr>
                <a:srgbClr val="0070C0"/>
              </a:buClr>
              <a:buSzPts val="2800"/>
              <a:buFont typeface="Arial"/>
              <a:buNone/>
            </a:pPr>
            <a:r>
              <a:t/>
            </a:r>
            <a:endParaRPr sz="2800">
              <a:solidFill>
                <a:schemeClr val="dk1"/>
              </a:solidFill>
              <a:latin typeface="Calibri"/>
              <a:ea typeface="Calibri"/>
              <a:cs typeface="Calibri"/>
              <a:sym typeface="Calibri"/>
            </a:endParaRPr>
          </a:p>
          <a:p>
            <a:pPr indent="-165100" lvl="0" marL="342900" marR="0" rtl="0" algn="l">
              <a:spcBef>
                <a:spcPts val="0"/>
              </a:spcBef>
              <a:spcAft>
                <a:spcPts val="0"/>
              </a:spcAft>
              <a:buClr>
                <a:srgbClr val="0070C0"/>
              </a:buClr>
              <a:buSzPts val="2800"/>
              <a:buFont typeface="Arial"/>
              <a:buNone/>
            </a:pPr>
            <a:r>
              <a:t/>
            </a:r>
            <a:endParaRPr sz="2800">
              <a:solidFill>
                <a:schemeClr val="dk1"/>
              </a:solidFill>
              <a:latin typeface="Calibri"/>
              <a:ea typeface="Calibri"/>
              <a:cs typeface="Calibri"/>
              <a:sym typeface="Calibri"/>
            </a:endParaRPr>
          </a:p>
        </p:txBody>
      </p:sp>
      <p:sp>
        <p:nvSpPr>
          <p:cNvPr id="223" name="Google Shape;223;p24"/>
          <p:cNvSpPr txBox="1"/>
          <p:nvPr/>
        </p:nvSpPr>
        <p:spPr>
          <a:xfrm>
            <a:off x="574040" y="873924"/>
            <a:ext cx="915416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0B5F9F"/>
                </a:solidFill>
                <a:latin typeface="Calibri"/>
                <a:ea typeface="Calibri"/>
                <a:cs typeface="Calibri"/>
                <a:sym typeface="Calibri"/>
              </a:rPr>
              <a:t>Outlines</a:t>
            </a:r>
            <a:r>
              <a:rPr b="1" lang="en-US" sz="3200">
                <a:solidFill>
                  <a:srgbClr val="0B5F9F"/>
                </a:solidFill>
                <a:latin typeface="Arial"/>
                <a:ea typeface="Arial"/>
                <a:cs typeface="Arial"/>
                <a:sym typeface="Arial"/>
              </a:rPr>
              <a: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5"/>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Purpose </a:t>
            </a:r>
            <a:endParaRPr/>
          </a:p>
        </p:txBody>
      </p:sp>
      <p:sp>
        <p:nvSpPr>
          <p:cNvPr id="229" name="Google Shape;229;p25"/>
          <p:cNvSpPr txBox="1"/>
          <p:nvPr>
            <p:ph idx="1" type="body"/>
          </p:nvPr>
        </p:nvSpPr>
        <p:spPr>
          <a:xfrm>
            <a:off x="914400" y="1510748"/>
            <a:ext cx="10363200" cy="498494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b="0" lang="en-US" sz="2400">
                <a:solidFill>
                  <a:schemeClr val="dk1"/>
                </a:solidFill>
              </a:rPr>
              <a:t>Selects one eligible warp each cycle using round robin and provide its PC and thread mask context to the fetch stage.</a:t>
            </a:r>
            <a:endParaRPr/>
          </a:p>
          <a:p>
            <a:pPr indent="-190500" lvl="0" marL="342900" rtl="0" algn="l">
              <a:spcBef>
                <a:spcPts val="480"/>
              </a:spcBef>
              <a:spcAft>
                <a:spcPts val="0"/>
              </a:spcAft>
              <a:buSzPts val="2400"/>
              <a:buNone/>
            </a:pPr>
            <a:r>
              <a:t/>
            </a:r>
            <a:endParaRPr b="0" sz="2400">
              <a:solidFill>
                <a:schemeClr val="dk1"/>
              </a:solidFill>
            </a:endParaRPr>
          </a:p>
          <a:p>
            <a:pPr indent="-342900" lvl="0" marL="342900" rtl="0" algn="l">
              <a:spcBef>
                <a:spcPts val="480"/>
              </a:spcBef>
              <a:spcAft>
                <a:spcPts val="0"/>
              </a:spcAft>
              <a:buSzPts val="2400"/>
              <a:buChar char="•"/>
            </a:pPr>
            <a:r>
              <a:rPr b="0" lang="en-US" sz="2400">
                <a:solidFill>
                  <a:schemeClr val="dk1"/>
                </a:solidFill>
              </a:rPr>
              <a:t>Integrates IPDOM stack to support divergence/reconvergence with split/join operations.</a:t>
            </a:r>
            <a:endParaRPr/>
          </a:p>
          <a:p>
            <a:pPr indent="-190500" lvl="0" marL="342900" rtl="0" algn="l">
              <a:spcBef>
                <a:spcPts val="480"/>
              </a:spcBef>
              <a:spcAft>
                <a:spcPts val="0"/>
              </a:spcAft>
              <a:buSzPts val="2400"/>
              <a:buNone/>
            </a:pPr>
            <a:r>
              <a:t/>
            </a:r>
            <a:endParaRPr b="0" sz="2400">
              <a:solidFill>
                <a:schemeClr val="dk1"/>
              </a:solidFill>
            </a:endParaRPr>
          </a:p>
          <a:p>
            <a:pPr indent="-342900" lvl="0" marL="342900" rtl="0" algn="l">
              <a:spcBef>
                <a:spcPts val="480"/>
              </a:spcBef>
              <a:spcAft>
                <a:spcPts val="0"/>
              </a:spcAft>
              <a:buSzPts val="2400"/>
              <a:buChar char="•"/>
            </a:pPr>
            <a:r>
              <a:rPr b="0" lang="en-US" sz="2400">
                <a:solidFill>
                  <a:schemeClr val="dk1"/>
                </a:solidFill>
              </a:rPr>
              <a:t>Blocks warps and threads at barriers until all arrive.</a:t>
            </a:r>
            <a:endParaRPr/>
          </a:p>
          <a:p>
            <a:pPr indent="-190500" lvl="0" marL="342900" rtl="0" algn="l">
              <a:spcBef>
                <a:spcPts val="480"/>
              </a:spcBef>
              <a:spcAft>
                <a:spcPts val="0"/>
              </a:spcAft>
              <a:buSzPts val="2400"/>
              <a:buNone/>
            </a:pPr>
            <a:r>
              <a:t/>
            </a:r>
            <a:endParaRPr b="0" sz="2400">
              <a:solidFill>
                <a:schemeClr val="dk1"/>
              </a:solidFill>
            </a:endParaRPr>
          </a:p>
          <a:p>
            <a:pPr indent="-342900" lvl="0" marL="342900" rtl="0" algn="l">
              <a:spcBef>
                <a:spcPts val="480"/>
              </a:spcBef>
              <a:spcAft>
                <a:spcPts val="0"/>
              </a:spcAft>
              <a:buSzPts val="2400"/>
              <a:buChar char="•"/>
            </a:pPr>
            <a:r>
              <a:rPr b="0" lang="en-US" sz="2400">
                <a:solidFill>
                  <a:schemeClr val="dk1"/>
                </a:solidFill>
              </a:rPr>
              <a:t>Timeout counter detects deadlock on prolonged stalls.</a:t>
            </a:r>
            <a:endParaRPr/>
          </a:p>
          <a:p>
            <a:pPr indent="-190500" lvl="0" marL="342900" rtl="0" algn="l">
              <a:spcBef>
                <a:spcPts val="480"/>
              </a:spcBef>
              <a:spcAft>
                <a:spcPts val="0"/>
              </a:spcAft>
              <a:buSzPts val="2400"/>
              <a:buNone/>
            </a:pPr>
            <a:r>
              <a:t/>
            </a:r>
            <a:endParaRPr b="0" sz="2400">
              <a:solidFill>
                <a:schemeClr val="dk1"/>
              </a:solidFill>
            </a:endParaRPr>
          </a:p>
          <a:p>
            <a:pPr indent="-342900" lvl="0" marL="342900" rtl="0" algn="l">
              <a:spcBef>
                <a:spcPts val="480"/>
              </a:spcBef>
              <a:spcAft>
                <a:spcPts val="0"/>
              </a:spcAft>
              <a:buSzPts val="2400"/>
              <a:buChar char="•"/>
            </a:pPr>
            <a:r>
              <a:rPr b="0" lang="en-US" sz="2400">
                <a:solidFill>
                  <a:schemeClr val="dk1"/>
                </a:solidFill>
              </a:rPr>
              <a:t>If branching is used warp table PC: target or PC+4</a:t>
            </a:r>
            <a:endParaRPr/>
          </a:p>
          <a:p>
            <a:pPr indent="-190500" lvl="0" marL="342900" rtl="0" algn="l">
              <a:spcBef>
                <a:spcPts val="480"/>
              </a:spcBef>
              <a:spcAft>
                <a:spcPts val="0"/>
              </a:spcAft>
              <a:buSzPts val="2400"/>
              <a:buNone/>
            </a:pPr>
            <a:r>
              <a:t/>
            </a:r>
            <a:endParaRPr b="0" sz="2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6"/>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Warp Mask</a:t>
            </a:r>
            <a:endParaRPr/>
          </a:p>
        </p:txBody>
      </p:sp>
      <p:sp>
        <p:nvSpPr>
          <p:cNvPr id="235" name="Google Shape;235;p26"/>
          <p:cNvSpPr txBox="1"/>
          <p:nvPr>
            <p:ph idx="1" type="body"/>
          </p:nvPr>
        </p:nvSpPr>
        <p:spPr>
          <a:xfrm>
            <a:off x="914400" y="1510748"/>
            <a:ext cx="6502400" cy="498494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b="0" lang="en-US" sz="2400">
                <a:solidFill>
                  <a:schemeClr val="dk1"/>
                </a:solidFill>
              </a:rPr>
              <a:t>Active (ready to use)</a:t>
            </a:r>
            <a:endParaRPr/>
          </a:p>
          <a:p>
            <a:pPr indent="-190500" lvl="0" marL="342900" rtl="0" algn="l">
              <a:spcBef>
                <a:spcPts val="480"/>
              </a:spcBef>
              <a:spcAft>
                <a:spcPts val="0"/>
              </a:spcAft>
              <a:buSzPts val="2400"/>
              <a:buNone/>
            </a:pPr>
            <a:r>
              <a:t/>
            </a:r>
            <a:endParaRPr b="0" sz="2400">
              <a:solidFill>
                <a:schemeClr val="dk1"/>
              </a:solidFill>
            </a:endParaRPr>
          </a:p>
          <a:p>
            <a:pPr indent="-342900" lvl="0" marL="342900" rtl="0" algn="l">
              <a:spcBef>
                <a:spcPts val="480"/>
              </a:spcBef>
              <a:spcAft>
                <a:spcPts val="0"/>
              </a:spcAft>
              <a:buSzPts val="2400"/>
              <a:buChar char="•"/>
            </a:pPr>
            <a:r>
              <a:rPr b="0" lang="en-US" sz="2400">
                <a:solidFill>
                  <a:schemeClr val="dk1"/>
                </a:solidFill>
              </a:rPr>
              <a:t>Stalled (waiting for the memory or to decode)</a:t>
            </a:r>
            <a:endParaRPr/>
          </a:p>
          <a:p>
            <a:pPr indent="-190500" lvl="0" marL="342900" rtl="0" algn="l">
              <a:spcBef>
                <a:spcPts val="480"/>
              </a:spcBef>
              <a:spcAft>
                <a:spcPts val="0"/>
              </a:spcAft>
              <a:buSzPts val="2400"/>
              <a:buNone/>
            </a:pPr>
            <a:r>
              <a:t/>
            </a:r>
            <a:endParaRPr b="0" sz="2400">
              <a:solidFill>
                <a:schemeClr val="dk1"/>
              </a:solidFill>
            </a:endParaRPr>
          </a:p>
          <a:p>
            <a:pPr indent="-342900" lvl="0" marL="342900" rtl="0" algn="l">
              <a:spcBef>
                <a:spcPts val="480"/>
              </a:spcBef>
              <a:spcAft>
                <a:spcPts val="0"/>
              </a:spcAft>
              <a:buSzPts val="2400"/>
              <a:buChar char="•"/>
            </a:pPr>
            <a:r>
              <a:rPr b="0" lang="en-US" sz="2400">
                <a:solidFill>
                  <a:schemeClr val="dk1"/>
                </a:solidFill>
              </a:rPr>
              <a:t>Barrier (synchronizer)</a:t>
            </a:r>
            <a:endParaRPr/>
          </a:p>
          <a:p>
            <a:pPr indent="-190500" lvl="0" marL="342900" rtl="0" algn="l">
              <a:spcBef>
                <a:spcPts val="480"/>
              </a:spcBef>
              <a:spcAft>
                <a:spcPts val="0"/>
              </a:spcAft>
              <a:buSzPts val="2400"/>
              <a:buNone/>
            </a:pPr>
            <a:r>
              <a:t/>
            </a:r>
            <a:endParaRPr b="0" sz="2400">
              <a:solidFill>
                <a:schemeClr val="dk1"/>
              </a:solidFill>
            </a:endParaRPr>
          </a:p>
          <a:p>
            <a:pPr indent="-342900" lvl="0" marL="342900" rtl="0" algn="l">
              <a:spcBef>
                <a:spcPts val="480"/>
              </a:spcBef>
              <a:spcAft>
                <a:spcPts val="0"/>
              </a:spcAft>
              <a:buSzPts val="2400"/>
              <a:buChar char="•"/>
            </a:pPr>
            <a:r>
              <a:rPr b="0" lang="en-US" sz="2400">
                <a:solidFill>
                  <a:schemeClr val="dk1"/>
                </a:solidFill>
              </a:rPr>
              <a:t>Visible (statues) </a:t>
            </a:r>
            <a:endParaRPr/>
          </a:p>
        </p:txBody>
      </p:sp>
      <p:pic>
        <p:nvPicPr>
          <p:cNvPr id="236" name="Google Shape;236;p26"/>
          <p:cNvPicPr preferRelativeResize="0"/>
          <p:nvPr/>
        </p:nvPicPr>
        <p:blipFill rotWithShape="1">
          <a:blip r:embed="rId3">
            <a:alphaModFix/>
          </a:blip>
          <a:srcRect b="0" l="0" r="0" t="0"/>
          <a:stretch/>
        </p:blipFill>
        <p:spPr>
          <a:xfrm>
            <a:off x="4426116" y="3171001"/>
            <a:ext cx="7424088" cy="299503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7"/>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Branch Divergence </a:t>
            </a:r>
            <a:endParaRPr/>
          </a:p>
        </p:txBody>
      </p:sp>
      <p:pic>
        <p:nvPicPr>
          <p:cNvPr id="242" name="Google Shape;242;p27"/>
          <p:cNvPicPr preferRelativeResize="0"/>
          <p:nvPr/>
        </p:nvPicPr>
        <p:blipFill rotWithShape="1">
          <a:blip r:embed="rId3">
            <a:alphaModFix/>
          </a:blip>
          <a:srcRect b="0" l="0" r="0" t="0"/>
          <a:stretch/>
        </p:blipFill>
        <p:spPr>
          <a:xfrm>
            <a:off x="914400" y="1587344"/>
            <a:ext cx="3983454" cy="4908351"/>
          </a:xfrm>
          <a:prstGeom prst="rect">
            <a:avLst/>
          </a:prstGeom>
          <a:noFill/>
          <a:ln>
            <a:noFill/>
          </a:ln>
        </p:spPr>
      </p:pic>
      <p:pic>
        <p:nvPicPr>
          <p:cNvPr id="243" name="Google Shape;243;p27"/>
          <p:cNvPicPr preferRelativeResize="0"/>
          <p:nvPr>
            <p:ph idx="1" type="body"/>
          </p:nvPr>
        </p:nvPicPr>
        <p:blipFill rotWithShape="1">
          <a:blip r:embed="rId4">
            <a:alphaModFix/>
          </a:blip>
          <a:srcRect b="0" l="0" r="0" t="6720"/>
          <a:stretch/>
        </p:blipFill>
        <p:spPr>
          <a:xfrm>
            <a:off x="4516494" y="2519265"/>
            <a:ext cx="7201418" cy="204340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8"/>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IPDOM Stack</a:t>
            </a:r>
            <a:endParaRPr/>
          </a:p>
        </p:txBody>
      </p:sp>
      <p:pic>
        <p:nvPicPr>
          <p:cNvPr id="249" name="Google Shape;249;p28"/>
          <p:cNvPicPr preferRelativeResize="0"/>
          <p:nvPr/>
        </p:nvPicPr>
        <p:blipFill rotWithShape="1">
          <a:blip r:embed="rId3">
            <a:alphaModFix/>
          </a:blip>
          <a:srcRect b="0" l="0" r="0" t="0"/>
          <a:stretch/>
        </p:blipFill>
        <p:spPr>
          <a:xfrm>
            <a:off x="914400" y="1541962"/>
            <a:ext cx="10363200" cy="492251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9"/>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Barriers </a:t>
            </a:r>
            <a:endParaRPr/>
          </a:p>
        </p:txBody>
      </p:sp>
      <p:pic>
        <p:nvPicPr>
          <p:cNvPr id="255" name="Google Shape;255;p29"/>
          <p:cNvPicPr preferRelativeResize="0"/>
          <p:nvPr/>
        </p:nvPicPr>
        <p:blipFill rotWithShape="1">
          <a:blip r:embed="rId3">
            <a:alphaModFix/>
          </a:blip>
          <a:srcRect b="0" l="0" r="0" t="0"/>
          <a:stretch/>
        </p:blipFill>
        <p:spPr>
          <a:xfrm>
            <a:off x="4166487" y="1660515"/>
            <a:ext cx="7829570" cy="2342706"/>
          </a:xfrm>
          <a:prstGeom prst="rect">
            <a:avLst/>
          </a:prstGeom>
          <a:noFill/>
          <a:ln>
            <a:noFill/>
          </a:ln>
        </p:spPr>
      </p:pic>
      <p:pic>
        <p:nvPicPr>
          <p:cNvPr id="256" name="Google Shape;256;p29"/>
          <p:cNvPicPr preferRelativeResize="0"/>
          <p:nvPr/>
        </p:nvPicPr>
        <p:blipFill rotWithShape="1">
          <a:blip r:embed="rId4">
            <a:alphaModFix/>
          </a:blip>
          <a:srcRect b="0" l="36320" r="0" t="0"/>
          <a:stretch/>
        </p:blipFill>
        <p:spPr>
          <a:xfrm>
            <a:off x="6997958" y="4007019"/>
            <a:ext cx="4761322" cy="2272780"/>
          </a:xfrm>
          <a:prstGeom prst="rect">
            <a:avLst/>
          </a:prstGeom>
          <a:noFill/>
          <a:ln>
            <a:noFill/>
          </a:ln>
        </p:spPr>
      </p:pic>
      <p:sp>
        <p:nvSpPr>
          <p:cNvPr id="257" name="Google Shape;257;p29"/>
          <p:cNvSpPr txBox="1"/>
          <p:nvPr>
            <p:ph idx="1" type="body"/>
          </p:nvPr>
        </p:nvSpPr>
        <p:spPr>
          <a:xfrm>
            <a:off x="195943" y="1308963"/>
            <a:ext cx="4114800" cy="4984947"/>
          </a:xfrm>
          <a:prstGeom prst="rect">
            <a:avLst/>
          </a:prstGeom>
          <a:noFill/>
          <a:ln>
            <a:noFill/>
          </a:ln>
        </p:spPr>
        <p:txBody>
          <a:bodyPr anchorCtr="0" anchor="t" bIns="45700" lIns="91425" spcFirstLastPara="1" rIns="91425" wrap="square" tIns="45700">
            <a:noAutofit/>
          </a:bodyPr>
          <a:lstStyle/>
          <a:p>
            <a:pPr indent="-190500" lvl="0" marL="342900" rtl="0" algn="l">
              <a:spcBef>
                <a:spcPts val="0"/>
              </a:spcBef>
              <a:spcAft>
                <a:spcPts val="0"/>
              </a:spcAft>
              <a:buSzPts val="2400"/>
              <a:buNone/>
            </a:pPr>
            <a:r>
              <a:t/>
            </a:r>
            <a:endParaRPr b="0" sz="2400"/>
          </a:p>
          <a:p>
            <a:pPr indent="-342900" lvl="0" marL="342900" rtl="0" algn="l">
              <a:spcBef>
                <a:spcPts val="480"/>
              </a:spcBef>
              <a:spcAft>
                <a:spcPts val="0"/>
              </a:spcAft>
              <a:buSzPts val="2400"/>
              <a:buChar char="•"/>
            </a:pPr>
            <a:r>
              <a:rPr b="0" lang="en-US" sz="2400">
                <a:solidFill>
                  <a:schemeClr val="dk1"/>
                </a:solidFill>
              </a:rPr>
              <a:t>Synchronize threads within a single warp or workgroup</a:t>
            </a:r>
            <a:endParaRPr/>
          </a:p>
          <a:p>
            <a:pPr indent="0" lvl="0" marL="0" rtl="0" algn="l">
              <a:spcBef>
                <a:spcPts val="480"/>
              </a:spcBef>
              <a:spcAft>
                <a:spcPts val="0"/>
              </a:spcAft>
              <a:buSzPts val="2400"/>
              <a:buNone/>
            </a:pPr>
            <a:r>
              <a:t/>
            </a:r>
            <a:endParaRPr b="0" sz="2400">
              <a:solidFill>
                <a:schemeClr val="dk1"/>
              </a:solidFill>
            </a:endParaRPr>
          </a:p>
          <a:p>
            <a:pPr indent="-342900" lvl="0" marL="342900" rtl="0" algn="l">
              <a:spcBef>
                <a:spcPts val="480"/>
              </a:spcBef>
              <a:spcAft>
                <a:spcPts val="0"/>
              </a:spcAft>
              <a:buSzPts val="2400"/>
              <a:buChar char="•"/>
            </a:pPr>
            <a:r>
              <a:rPr b="0" lang="en-US" sz="2400">
                <a:solidFill>
                  <a:schemeClr val="dk1"/>
                </a:solidFill>
              </a:rPr>
              <a:t>We can see that threads ‘A" and ‘B’  arrived earlier </a:t>
            </a:r>
            <a:endParaRPr/>
          </a:p>
          <a:p>
            <a:pPr indent="-190500" lvl="0" marL="342900" rtl="0" algn="l">
              <a:spcBef>
                <a:spcPts val="480"/>
              </a:spcBef>
              <a:spcAft>
                <a:spcPts val="0"/>
              </a:spcAft>
              <a:buSzPts val="2400"/>
              <a:buNone/>
            </a:pPr>
            <a:r>
              <a:t/>
            </a:r>
            <a:endParaRPr b="0" sz="2400">
              <a:solidFill>
                <a:schemeClr val="dk1"/>
              </a:solidFill>
            </a:endParaRPr>
          </a:p>
          <a:p>
            <a:pPr indent="-342900" lvl="0" marL="342900" rtl="0" algn="l">
              <a:spcBef>
                <a:spcPts val="480"/>
              </a:spcBef>
              <a:spcAft>
                <a:spcPts val="0"/>
              </a:spcAft>
              <a:buSzPts val="2400"/>
              <a:buChar char="•"/>
            </a:pPr>
            <a:r>
              <a:rPr b="0" lang="en-US" sz="2400">
                <a:solidFill>
                  <a:schemeClr val="dk1"/>
                </a:solidFill>
              </a:rPr>
              <a:t>Which will decrease the efficiency of task “z”</a:t>
            </a:r>
            <a:endParaRPr/>
          </a:p>
          <a:p>
            <a:pPr indent="-190500" lvl="0" marL="342900" rtl="0" algn="l">
              <a:spcBef>
                <a:spcPts val="480"/>
              </a:spcBef>
              <a:spcAft>
                <a:spcPts val="0"/>
              </a:spcAft>
              <a:buSzPts val="2400"/>
              <a:buNone/>
            </a:pPr>
            <a:r>
              <a:t/>
            </a:r>
            <a:endParaRPr b="0" sz="2400"/>
          </a:p>
          <a:p>
            <a:pPr indent="-190500" lvl="0" marL="342900" rtl="0" algn="l">
              <a:spcBef>
                <a:spcPts val="480"/>
              </a:spcBef>
              <a:spcAft>
                <a:spcPts val="0"/>
              </a:spcAft>
              <a:buSzPts val="2400"/>
              <a:buNone/>
            </a:pPr>
            <a:r>
              <a:t/>
            </a:r>
            <a:endParaRPr b="0" sz="2400"/>
          </a:p>
          <a:p>
            <a:pPr indent="-190500" lvl="0" marL="342900" rtl="0" algn="l">
              <a:spcBef>
                <a:spcPts val="480"/>
              </a:spcBef>
              <a:spcAft>
                <a:spcPts val="0"/>
              </a:spcAft>
              <a:buSzPts val="2400"/>
              <a:buNone/>
            </a:pPr>
            <a:r>
              <a:t/>
            </a:r>
            <a:endParaRPr b="0" sz="2400"/>
          </a:p>
          <a:p>
            <a:pPr indent="-190500" lvl="0" marL="342900" rtl="0" algn="l">
              <a:spcBef>
                <a:spcPts val="480"/>
              </a:spcBef>
              <a:spcAft>
                <a:spcPts val="0"/>
              </a:spcAft>
              <a:buSzPts val="2400"/>
              <a:buNone/>
            </a:pPr>
            <a:r>
              <a:t/>
            </a:r>
            <a:endParaRPr b="0" sz="24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0"/>
          <p:cNvSpPr txBox="1"/>
          <p:nvPr/>
        </p:nvSpPr>
        <p:spPr>
          <a:xfrm>
            <a:off x="1219200" y="2379663"/>
            <a:ext cx="9753600" cy="1049337"/>
          </a:xfrm>
          <a:prstGeom prst="rect">
            <a:avLst/>
          </a:prstGeom>
          <a:noFill/>
          <a:ln>
            <a:noFill/>
          </a:ln>
        </p:spPr>
        <p:txBody>
          <a:bodyPr anchorCtr="0" anchor="ctr" bIns="45700" lIns="91425" spcFirstLastPara="1" rIns="91425" wrap="square" tIns="45700">
            <a:noAutofit/>
          </a:bodyPr>
          <a:lstStyle/>
          <a:p>
            <a:pPr indent="0" lvl="0" marL="0" marR="0" rtl="1" algn="ctr">
              <a:spcBef>
                <a:spcPts val="0"/>
              </a:spcBef>
              <a:spcAft>
                <a:spcPts val="0"/>
              </a:spcAft>
              <a:buNone/>
            </a:pPr>
            <a:r>
              <a:rPr b="1" i="0" lang="en-US" sz="3600">
                <a:solidFill>
                  <a:schemeClr val="dk1"/>
                </a:solidFill>
                <a:latin typeface="Calibri"/>
                <a:ea typeface="Calibri"/>
                <a:cs typeface="Calibri"/>
                <a:sym typeface="Calibri"/>
              </a:rPr>
              <a:t>Fetch Stage</a:t>
            </a:r>
            <a:endParaRPr b="1" i="1" sz="36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1"/>
          <p:cNvSpPr txBox="1"/>
          <p:nvPr>
            <p:ph type="title"/>
          </p:nvPr>
        </p:nvSpPr>
        <p:spPr>
          <a:xfrm>
            <a:off x="946150" y="379550"/>
            <a:ext cx="10299700" cy="45719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Calibri"/>
                <a:ea typeface="Calibri"/>
                <a:cs typeface="Calibri"/>
                <a:sym typeface="Calibri"/>
              </a:rPr>
              <a:t>Fetch Stage</a:t>
            </a:r>
            <a:endParaRPr/>
          </a:p>
        </p:txBody>
      </p:sp>
      <p:sp>
        <p:nvSpPr>
          <p:cNvPr id="268" name="Google Shape;268;p31"/>
          <p:cNvSpPr txBox="1"/>
          <p:nvPr/>
        </p:nvSpPr>
        <p:spPr>
          <a:xfrm>
            <a:off x="946150" y="1659285"/>
            <a:ext cx="9408160" cy="31085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lang="en-US" sz="2800">
                <a:solidFill>
                  <a:schemeClr val="dk1"/>
                </a:solidFill>
                <a:latin typeface="Calibri"/>
                <a:ea typeface="Calibri"/>
                <a:cs typeface="Calibri"/>
                <a:sym typeface="Calibri"/>
              </a:rPr>
              <a:t>Role &amp; Context: Where does the Fetch Stage fit?</a:t>
            </a:r>
            <a:endParaRPr/>
          </a:p>
          <a:p>
            <a:pPr indent="-165100" lvl="0" marL="342900" marR="0" rtl="0" algn="l">
              <a:spcBef>
                <a:spcPts val="0"/>
              </a:spcBef>
              <a:spcAft>
                <a:spcPts val="0"/>
              </a:spcAft>
              <a:buClr>
                <a:srgbClr val="0070C0"/>
              </a:buClr>
              <a:buSzPts val="2800"/>
              <a:buFont typeface="Arial"/>
              <a:buNone/>
            </a:pPr>
            <a:r>
              <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lang="en-US" sz="2800">
                <a:solidFill>
                  <a:schemeClr val="dk1"/>
                </a:solidFill>
                <a:latin typeface="Calibri"/>
                <a:ea typeface="Calibri"/>
                <a:cs typeface="Calibri"/>
                <a:sym typeface="Calibri"/>
              </a:rPr>
              <a:t>Architecture &amp; Data Flow: Key components and interfaces.</a:t>
            </a:r>
            <a:endParaRPr/>
          </a:p>
          <a:p>
            <a:pPr indent="-165100" lvl="0" marL="342900" marR="0" rtl="0" algn="l">
              <a:spcBef>
                <a:spcPts val="0"/>
              </a:spcBef>
              <a:spcAft>
                <a:spcPts val="0"/>
              </a:spcAft>
              <a:buClr>
                <a:srgbClr val="0070C0"/>
              </a:buClr>
              <a:buSzPts val="2800"/>
              <a:buFont typeface="Arial"/>
              <a:buNone/>
            </a:pPr>
            <a:r>
              <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lang="en-US" sz="2800">
                <a:solidFill>
                  <a:schemeClr val="dk1"/>
                </a:solidFill>
                <a:latin typeface="Calibri"/>
                <a:ea typeface="Calibri"/>
                <a:cs typeface="Calibri"/>
                <a:sym typeface="Calibri"/>
              </a:rPr>
              <a:t>Core Operation: The request-response cycle.</a:t>
            </a:r>
            <a:endParaRPr/>
          </a:p>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69" name="Google Shape;269;p31"/>
          <p:cNvSpPr txBox="1"/>
          <p:nvPr/>
        </p:nvSpPr>
        <p:spPr>
          <a:xfrm>
            <a:off x="574040" y="836749"/>
            <a:ext cx="915416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0B5F9F"/>
                </a:solidFill>
                <a:latin typeface="Calibri"/>
                <a:ea typeface="Calibri"/>
                <a:cs typeface="Calibri"/>
                <a:sym typeface="Calibri"/>
              </a:rPr>
              <a:t>Outlines</a:t>
            </a:r>
            <a:r>
              <a:rPr b="1" lang="en-US" sz="3200">
                <a:solidFill>
                  <a:srgbClr val="0B5F9F"/>
                </a:solidFill>
                <a:latin typeface="Arial"/>
                <a:ea typeface="Arial"/>
                <a:cs typeface="Arial"/>
                <a:sym typeface="Arial"/>
              </a:rPr>
              <a:t>:</a:t>
            </a:r>
            <a:endParaRPr sz="2400">
              <a:solidFill>
                <a:schemeClr val="dk1"/>
              </a:solidFill>
              <a:latin typeface="Meddon"/>
              <a:ea typeface="Meddon"/>
              <a:cs typeface="Meddon"/>
              <a:sym typeface="Meddo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2"/>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Role &amp; context </a:t>
            </a:r>
            <a:endParaRPr/>
          </a:p>
        </p:txBody>
      </p:sp>
      <p:sp>
        <p:nvSpPr>
          <p:cNvPr id="275" name="Google Shape;275;p32"/>
          <p:cNvSpPr txBox="1"/>
          <p:nvPr>
            <p:ph idx="1" type="body"/>
          </p:nvPr>
        </p:nvSpPr>
        <p:spPr>
          <a:xfrm>
            <a:off x="1311498" y="1500017"/>
            <a:ext cx="9567568" cy="4652241"/>
          </a:xfrm>
          <a:prstGeom prst="rect">
            <a:avLst/>
          </a:prstGeom>
          <a:noFill/>
          <a:ln>
            <a:noFill/>
          </a:ln>
        </p:spPr>
        <p:txBody>
          <a:bodyPr anchorCtr="0" anchor="t" bIns="45700" lIns="91425" spcFirstLastPara="1" rIns="91425" wrap="square" tIns="45700">
            <a:noAutofit/>
          </a:bodyPr>
          <a:lstStyle/>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Primary Responsibility: Retrieve instructions from the Instruction Cache (I-Cache) for warps selected by the scheduler.</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Key Characteristic: Purely a memory interface stage, it does not decode or interpret instructions; it simply moves them.</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Key Challenge: It must manage multiple in-flight requests for different warps and correctly reassemble the data, acting as a stateful bridge between the scheduler and memory system.</a:t>
            </a:r>
            <a:endParaRPr b="0" sz="2400">
              <a:solidFill>
                <a:srgbClr val="000000"/>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3"/>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t>Architecture &amp; Data Flow</a:t>
            </a:r>
            <a:endParaRPr/>
          </a:p>
        </p:txBody>
      </p:sp>
      <p:sp>
        <p:nvSpPr>
          <p:cNvPr id="281" name="Google Shape;281;p33"/>
          <p:cNvSpPr txBox="1"/>
          <p:nvPr>
            <p:ph idx="1" type="body"/>
          </p:nvPr>
        </p:nvSpPr>
        <p:spPr>
          <a:xfrm>
            <a:off x="345232" y="1500017"/>
            <a:ext cx="5057191" cy="4652241"/>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sz="1800">
                <a:solidFill>
                  <a:schemeClr val="accent4"/>
                </a:solidFill>
                <a:latin typeface="Calibri"/>
                <a:ea typeface="Calibri"/>
                <a:cs typeface="Calibri"/>
                <a:sym typeface="Calibri"/>
              </a:rPr>
              <a:t>Schedule Interface (Input)</a:t>
            </a:r>
            <a:endParaRPr/>
          </a:p>
          <a:p>
            <a:pPr indent="-342900" lvl="0" marL="342900" rtl="0" algn="l">
              <a:spcBef>
                <a:spcPts val="0"/>
              </a:spcBef>
              <a:spcAft>
                <a:spcPts val="0"/>
              </a:spcAft>
              <a:buSzPts val="1800"/>
              <a:buFont typeface="Times New Roman"/>
              <a:buAutoNum type="arabicPeriod"/>
            </a:pPr>
            <a:r>
              <a:rPr b="0" lang="en-US" sz="1800">
                <a:solidFill>
                  <a:schemeClr val="accent4"/>
                </a:solidFill>
                <a:latin typeface="Calibri"/>
                <a:ea typeface="Calibri"/>
                <a:cs typeface="Calibri"/>
                <a:sym typeface="Calibri"/>
              </a:rPr>
              <a:t>uuid: Unique instruction identifier for tracking</a:t>
            </a:r>
            <a:endParaRPr/>
          </a:p>
          <a:p>
            <a:pPr indent="-342900" lvl="0" marL="342900" rtl="0" algn="l">
              <a:spcBef>
                <a:spcPts val="0"/>
              </a:spcBef>
              <a:spcAft>
                <a:spcPts val="0"/>
              </a:spcAft>
              <a:buSzPts val="1800"/>
              <a:buFont typeface="Times New Roman"/>
              <a:buAutoNum type="arabicPeriod"/>
            </a:pPr>
            <a:r>
              <a:rPr b="0" lang="en-US" sz="1800">
                <a:solidFill>
                  <a:schemeClr val="accent4"/>
                </a:solidFill>
                <a:latin typeface="Calibri"/>
                <a:ea typeface="Calibri"/>
                <a:cs typeface="Calibri"/>
                <a:sym typeface="Calibri"/>
              </a:rPr>
              <a:t>wid: Warp ID (which warp is being scheduled)</a:t>
            </a:r>
            <a:endParaRPr/>
          </a:p>
          <a:p>
            <a:pPr indent="-342900" lvl="0" marL="342900" rtl="0" algn="l">
              <a:spcBef>
                <a:spcPts val="0"/>
              </a:spcBef>
              <a:spcAft>
                <a:spcPts val="0"/>
              </a:spcAft>
              <a:buSzPts val="1800"/>
              <a:buFont typeface="Times New Roman"/>
              <a:buAutoNum type="arabicPeriod"/>
            </a:pPr>
            <a:r>
              <a:rPr b="0" lang="en-US" sz="1800">
                <a:solidFill>
                  <a:schemeClr val="accent4"/>
                </a:solidFill>
                <a:latin typeface="Calibri"/>
                <a:ea typeface="Calibri"/>
                <a:cs typeface="Calibri"/>
                <a:sym typeface="Calibri"/>
              </a:rPr>
              <a:t>tmask: Thread mask indicating which threads are active</a:t>
            </a:r>
            <a:endParaRPr/>
          </a:p>
          <a:p>
            <a:pPr indent="-342900" lvl="0" marL="342900" rtl="0" algn="l">
              <a:spcBef>
                <a:spcPts val="0"/>
              </a:spcBef>
              <a:spcAft>
                <a:spcPts val="0"/>
              </a:spcAft>
              <a:buSzPts val="1800"/>
              <a:buFont typeface="Times New Roman"/>
              <a:buAutoNum type="arabicPeriod"/>
            </a:pPr>
            <a:r>
              <a:rPr b="0" lang="en-US" sz="1800">
                <a:solidFill>
                  <a:schemeClr val="accent4"/>
                </a:solidFill>
                <a:latin typeface="Calibri"/>
                <a:ea typeface="Calibri"/>
                <a:cs typeface="Calibri"/>
                <a:sym typeface="Calibri"/>
              </a:rPr>
              <a:t>PC: Program counter (address of the instruction to fetch)</a:t>
            </a:r>
            <a:endParaRPr/>
          </a:p>
          <a:p>
            <a:pPr indent="-228600" lvl="0" marL="342900" rtl="0" algn="l">
              <a:spcBef>
                <a:spcPts val="0"/>
              </a:spcBef>
              <a:spcAft>
                <a:spcPts val="0"/>
              </a:spcAft>
              <a:buSzPts val="1800"/>
              <a:buFont typeface="Times New Roman"/>
              <a:buNone/>
            </a:pPr>
            <a:r>
              <a:t/>
            </a:r>
            <a:endParaRPr b="0" sz="1800">
              <a:solidFill>
                <a:schemeClr val="accent4"/>
              </a:solidFill>
              <a:latin typeface="Calibri"/>
              <a:ea typeface="Calibri"/>
              <a:cs typeface="Calibri"/>
              <a:sym typeface="Calibri"/>
            </a:endParaRPr>
          </a:p>
          <a:p>
            <a:pPr indent="-342900" lvl="0" marL="342900" rtl="0" algn="l">
              <a:spcBef>
                <a:spcPts val="0"/>
              </a:spcBef>
              <a:spcAft>
                <a:spcPts val="0"/>
              </a:spcAft>
              <a:buSzPts val="1800"/>
              <a:buChar char="•"/>
            </a:pPr>
            <a:r>
              <a:rPr lang="en-US" sz="1800">
                <a:solidFill>
                  <a:schemeClr val="accent4"/>
                </a:solidFill>
                <a:latin typeface="Calibri"/>
                <a:ea typeface="Calibri"/>
                <a:cs typeface="Calibri"/>
                <a:sym typeface="Calibri"/>
              </a:rPr>
              <a:t>Fetch Interface (Output)</a:t>
            </a:r>
            <a:endParaRPr/>
          </a:p>
          <a:p>
            <a:pPr indent="-342900" lvl="0" marL="342900" rtl="0" algn="l">
              <a:spcBef>
                <a:spcPts val="0"/>
              </a:spcBef>
              <a:spcAft>
                <a:spcPts val="0"/>
              </a:spcAft>
              <a:buSzPts val="1800"/>
              <a:buFont typeface="Times New Roman"/>
              <a:buAutoNum type="arabicPeriod"/>
            </a:pPr>
            <a:r>
              <a:rPr b="0" lang="en-US" sz="1800">
                <a:solidFill>
                  <a:schemeClr val="accent4"/>
                </a:solidFill>
                <a:latin typeface="Calibri"/>
                <a:ea typeface="Calibri"/>
                <a:cs typeface="Calibri"/>
                <a:sym typeface="Calibri"/>
              </a:rPr>
              <a:t>uuid: (passed through)</a:t>
            </a:r>
            <a:endParaRPr/>
          </a:p>
          <a:p>
            <a:pPr indent="-342900" lvl="0" marL="342900" rtl="0" algn="l">
              <a:spcBef>
                <a:spcPts val="0"/>
              </a:spcBef>
              <a:spcAft>
                <a:spcPts val="0"/>
              </a:spcAft>
              <a:buSzPts val="1800"/>
              <a:buFont typeface="Times New Roman"/>
              <a:buAutoNum type="arabicPeriod"/>
            </a:pPr>
            <a:r>
              <a:rPr b="0" lang="en-US" sz="1800">
                <a:solidFill>
                  <a:schemeClr val="accent4"/>
                </a:solidFill>
                <a:latin typeface="Calibri"/>
                <a:ea typeface="Calibri"/>
                <a:cs typeface="Calibri"/>
                <a:sym typeface="Calibri"/>
              </a:rPr>
              <a:t>wid: (passed through)</a:t>
            </a:r>
            <a:endParaRPr/>
          </a:p>
          <a:p>
            <a:pPr indent="-342900" lvl="0" marL="342900" rtl="0" algn="l">
              <a:spcBef>
                <a:spcPts val="0"/>
              </a:spcBef>
              <a:spcAft>
                <a:spcPts val="0"/>
              </a:spcAft>
              <a:buSzPts val="1800"/>
              <a:buFont typeface="Times New Roman"/>
              <a:buAutoNum type="arabicPeriod"/>
            </a:pPr>
            <a:r>
              <a:rPr b="0" lang="en-US" sz="1800">
                <a:solidFill>
                  <a:schemeClr val="accent4"/>
                </a:solidFill>
                <a:latin typeface="Calibri"/>
                <a:ea typeface="Calibri"/>
                <a:cs typeface="Calibri"/>
                <a:sym typeface="Calibri"/>
              </a:rPr>
              <a:t>tmask: (passed through)</a:t>
            </a:r>
            <a:endParaRPr/>
          </a:p>
          <a:p>
            <a:pPr indent="-342900" lvl="0" marL="342900" rtl="0" algn="l">
              <a:spcBef>
                <a:spcPts val="0"/>
              </a:spcBef>
              <a:spcAft>
                <a:spcPts val="0"/>
              </a:spcAft>
              <a:buSzPts val="1800"/>
              <a:buFont typeface="Times New Roman"/>
              <a:buAutoNum type="arabicPeriod"/>
            </a:pPr>
            <a:r>
              <a:rPr b="0" lang="en-US" sz="1800">
                <a:solidFill>
                  <a:schemeClr val="accent4"/>
                </a:solidFill>
                <a:latin typeface="Calibri"/>
                <a:ea typeface="Calibri"/>
                <a:cs typeface="Calibri"/>
                <a:sym typeface="Calibri"/>
              </a:rPr>
              <a:t>PC: (passed through)</a:t>
            </a:r>
            <a:endParaRPr/>
          </a:p>
          <a:p>
            <a:pPr indent="-342900" lvl="0" marL="342900" rtl="0" algn="l">
              <a:spcBef>
                <a:spcPts val="0"/>
              </a:spcBef>
              <a:spcAft>
                <a:spcPts val="0"/>
              </a:spcAft>
              <a:buSzPts val="1800"/>
              <a:buFont typeface="Times New Roman"/>
              <a:buAutoNum type="arabicPeriod"/>
            </a:pPr>
            <a:r>
              <a:rPr b="0" lang="en-US" sz="1800">
                <a:solidFill>
                  <a:schemeClr val="accent4"/>
                </a:solidFill>
                <a:latin typeface="Calibri"/>
                <a:ea typeface="Calibri"/>
                <a:cs typeface="Calibri"/>
                <a:sym typeface="Calibri"/>
              </a:rPr>
              <a:t>instr: instruction word fetched from memory</a:t>
            </a:r>
            <a:endParaRPr b="0" sz="1800">
              <a:solidFill>
                <a:srgbClr val="000000"/>
              </a:solidFill>
              <a:latin typeface="Calibri"/>
              <a:ea typeface="Calibri"/>
              <a:cs typeface="Calibri"/>
              <a:sym typeface="Calibri"/>
            </a:endParaRPr>
          </a:p>
        </p:txBody>
      </p:sp>
      <p:pic>
        <p:nvPicPr>
          <p:cNvPr id="282" name="Google Shape;282;p33"/>
          <p:cNvPicPr preferRelativeResize="0"/>
          <p:nvPr/>
        </p:nvPicPr>
        <p:blipFill rotWithShape="1">
          <a:blip r:embed="rId3">
            <a:alphaModFix/>
          </a:blip>
          <a:srcRect b="0" l="0" r="0" t="0"/>
          <a:stretch/>
        </p:blipFill>
        <p:spPr>
          <a:xfrm>
            <a:off x="5160627" y="1605012"/>
            <a:ext cx="7031373" cy="44422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4"/>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t>Core Operation (1)</a:t>
            </a:r>
            <a:endParaRPr/>
          </a:p>
        </p:txBody>
      </p:sp>
      <p:pic>
        <p:nvPicPr>
          <p:cNvPr id="288" name="Google Shape;288;p34"/>
          <p:cNvPicPr preferRelativeResize="0"/>
          <p:nvPr/>
        </p:nvPicPr>
        <p:blipFill rotWithShape="1">
          <a:blip r:embed="rId3">
            <a:alphaModFix/>
          </a:blip>
          <a:srcRect b="0" l="0" r="0" t="0"/>
          <a:stretch/>
        </p:blipFill>
        <p:spPr>
          <a:xfrm>
            <a:off x="5186292" y="2099940"/>
            <a:ext cx="6811832" cy="3773220"/>
          </a:xfrm>
          <a:prstGeom prst="rect">
            <a:avLst/>
          </a:prstGeom>
          <a:noFill/>
          <a:ln>
            <a:noFill/>
          </a:ln>
        </p:spPr>
      </p:pic>
      <p:sp>
        <p:nvSpPr>
          <p:cNvPr id="289" name="Google Shape;289;p34"/>
          <p:cNvSpPr txBox="1"/>
          <p:nvPr>
            <p:ph idx="1" type="body"/>
          </p:nvPr>
        </p:nvSpPr>
        <p:spPr>
          <a:xfrm>
            <a:off x="625152" y="1788950"/>
            <a:ext cx="4739950" cy="465224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400"/>
              <a:buNone/>
            </a:pPr>
            <a:r>
              <a:rPr lang="en-US" sz="2400">
                <a:solidFill>
                  <a:schemeClr val="accent4"/>
                </a:solidFill>
                <a:latin typeface="Calibri"/>
                <a:ea typeface="Calibri"/>
                <a:cs typeface="Calibri"/>
                <a:sym typeface="Calibri"/>
              </a:rPr>
              <a:t>Request Generation: </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0" lvl="0" marL="0" rtl="0" algn="l">
              <a:spcBef>
                <a:spcPts val="0"/>
              </a:spcBef>
              <a:spcAft>
                <a:spcPts val="0"/>
              </a:spcAft>
              <a:buSzPts val="2400"/>
              <a:buNone/>
            </a:pPr>
            <a:r>
              <a:rPr b="0" lang="en-US" sz="2400">
                <a:solidFill>
                  <a:schemeClr val="accent4"/>
                </a:solidFill>
                <a:latin typeface="Calibri"/>
                <a:ea typeface="Calibri"/>
                <a:cs typeface="Calibri"/>
                <a:sym typeface="Calibri"/>
              </a:rPr>
              <a:t>When a valid warp is scheduled, the fetch stage generates an icache request</a:t>
            </a:r>
            <a:endParaRPr/>
          </a:p>
          <a:p>
            <a:pPr indent="0" lvl="0" marL="0" rtl="0" algn="l">
              <a:spcBef>
                <a:spcPts val="0"/>
              </a:spcBef>
              <a:spcAft>
                <a:spcPts val="0"/>
              </a:spcAft>
              <a:buSzPts val="2400"/>
              <a:buNone/>
            </a:pPr>
            <a:r>
              <a:rPr b="0" lang="en-US" sz="2400">
                <a:solidFill>
                  <a:schemeClr val="accent4"/>
                </a:solidFill>
                <a:latin typeface="Calibri"/>
                <a:ea typeface="Calibri"/>
                <a:cs typeface="Calibri"/>
                <a:sym typeface="Calibri"/>
              </a:rPr>
              <a:t>The request includes:</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Address: Extracted from the PC (4-byte aligned)</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Tag: Combines UUID and warp ID for tracking the request</a:t>
            </a:r>
            <a:endParaRPr/>
          </a:p>
          <a:p>
            <a:pPr indent="0" lvl="0" marL="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190500" lvl="0" marL="342900" rtl="0" algn="l">
              <a:spcBef>
                <a:spcPts val="0"/>
              </a:spcBef>
              <a:spcAft>
                <a:spcPts val="0"/>
              </a:spcAft>
              <a:buSzPts val="2400"/>
              <a:buNone/>
            </a:pPr>
            <a:r>
              <a:t/>
            </a:r>
            <a:endParaRPr sz="2400">
              <a:solidFill>
                <a:schemeClr val="accent4"/>
              </a:solidFill>
              <a:latin typeface="Calibri"/>
              <a:ea typeface="Calibri"/>
              <a:cs typeface="Calibri"/>
              <a:sym typeface="Calibri"/>
            </a:endParaRPr>
          </a:p>
        </p:txBody>
      </p:sp>
      <p:sp>
        <p:nvSpPr>
          <p:cNvPr id="290" name="Google Shape;290;p34"/>
          <p:cNvSpPr/>
          <p:nvPr/>
        </p:nvSpPr>
        <p:spPr>
          <a:xfrm>
            <a:off x="8321863" y="4115070"/>
            <a:ext cx="2399010" cy="736848"/>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5"/>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t>Core Operation (2)</a:t>
            </a:r>
            <a:endParaRPr/>
          </a:p>
        </p:txBody>
      </p:sp>
      <p:pic>
        <p:nvPicPr>
          <p:cNvPr id="296" name="Google Shape;296;p35"/>
          <p:cNvPicPr preferRelativeResize="0"/>
          <p:nvPr/>
        </p:nvPicPr>
        <p:blipFill rotWithShape="1">
          <a:blip r:embed="rId3">
            <a:alphaModFix/>
          </a:blip>
          <a:srcRect b="0" l="0" r="0" t="0"/>
          <a:stretch/>
        </p:blipFill>
        <p:spPr>
          <a:xfrm>
            <a:off x="5186292" y="2099940"/>
            <a:ext cx="6811832" cy="3773220"/>
          </a:xfrm>
          <a:prstGeom prst="rect">
            <a:avLst/>
          </a:prstGeom>
          <a:noFill/>
          <a:ln>
            <a:noFill/>
          </a:ln>
        </p:spPr>
      </p:pic>
      <p:sp>
        <p:nvSpPr>
          <p:cNvPr id="297" name="Google Shape;297;p35"/>
          <p:cNvSpPr txBox="1"/>
          <p:nvPr>
            <p:ph idx="1" type="body"/>
          </p:nvPr>
        </p:nvSpPr>
        <p:spPr>
          <a:xfrm>
            <a:off x="446341" y="1609560"/>
            <a:ext cx="4816123" cy="479875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400"/>
              <a:buNone/>
            </a:pPr>
            <a:r>
              <a:rPr lang="en-US" sz="2400">
                <a:solidFill>
                  <a:schemeClr val="accent4"/>
                </a:solidFill>
                <a:latin typeface="Calibri"/>
                <a:ea typeface="Calibri"/>
                <a:cs typeface="Calibri"/>
                <a:sym typeface="Calibri"/>
              </a:rPr>
              <a:t>Tag Storage : </a:t>
            </a:r>
            <a:endParaRPr/>
          </a:p>
          <a:p>
            <a:pPr indent="-190500" lvl="0" marL="342900" rtl="0" algn="l">
              <a:spcBef>
                <a:spcPts val="0"/>
              </a:spcBef>
              <a:spcAft>
                <a:spcPts val="0"/>
              </a:spcAft>
              <a:buSzPts val="2400"/>
              <a:buNone/>
            </a:pPr>
            <a:r>
              <a:t/>
            </a:r>
            <a:endParaRPr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The fetch stage stores the PC and thread mask in a dual-port RAM indexed by warp ID. This is necessary because icache responses may arrive out-of-order</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The tag store is written on every icache request and read when responses arrive, allowing the fetch stage to reconstruct the full fetch information.</a:t>
            </a:r>
            <a:endParaRPr/>
          </a:p>
          <a:p>
            <a:pPr indent="-190500" lvl="0" marL="342900" rtl="0" algn="l">
              <a:spcBef>
                <a:spcPts val="0"/>
              </a:spcBef>
              <a:spcAft>
                <a:spcPts val="0"/>
              </a:spcAft>
              <a:buSzPts val="2400"/>
              <a:buNone/>
            </a:pPr>
            <a:r>
              <a:t/>
            </a:r>
            <a:endParaRPr sz="2400">
              <a:solidFill>
                <a:schemeClr val="accent4"/>
              </a:solidFill>
              <a:latin typeface="Calibri"/>
              <a:ea typeface="Calibri"/>
              <a:cs typeface="Calibri"/>
              <a:sym typeface="Calibri"/>
            </a:endParaRPr>
          </a:p>
        </p:txBody>
      </p:sp>
      <p:sp>
        <p:nvSpPr>
          <p:cNvPr id="298" name="Google Shape;298;p35"/>
          <p:cNvSpPr/>
          <p:nvPr/>
        </p:nvSpPr>
        <p:spPr>
          <a:xfrm>
            <a:off x="7819053" y="3685591"/>
            <a:ext cx="1754156" cy="541175"/>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6"/>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t>Core Operation (3)</a:t>
            </a:r>
            <a:endParaRPr/>
          </a:p>
        </p:txBody>
      </p:sp>
      <p:sp>
        <p:nvSpPr>
          <p:cNvPr id="304" name="Google Shape;304;p36"/>
          <p:cNvSpPr txBox="1"/>
          <p:nvPr>
            <p:ph idx="1" type="body"/>
          </p:nvPr>
        </p:nvSpPr>
        <p:spPr>
          <a:xfrm>
            <a:off x="446341" y="1609560"/>
            <a:ext cx="4816123" cy="479875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400"/>
              <a:buNone/>
            </a:pPr>
            <a:r>
              <a:rPr lang="en-US" sz="2400">
                <a:solidFill>
                  <a:schemeClr val="accent4"/>
                </a:solidFill>
                <a:latin typeface="Calibri"/>
                <a:ea typeface="Calibri"/>
                <a:cs typeface="Calibri"/>
                <a:sym typeface="Calibri"/>
              </a:rPr>
              <a:t>Response Processing : </a:t>
            </a:r>
            <a:endParaRPr/>
          </a:p>
          <a:p>
            <a:pPr indent="-190500" lvl="0" marL="342900" rtl="0" algn="l">
              <a:spcBef>
                <a:spcPts val="0"/>
              </a:spcBef>
              <a:spcAft>
                <a:spcPts val="0"/>
              </a:spcAft>
              <a:buSzPts val="2400"/>
              <a:buNone/>
            </a:pPr>
            <a:r>
              <a:t/>
            </a:r>
            <a:endParaRPr sz="2400">
              <a:solidFill>
                <a:schemeClr val="accent4"/>
              </a:solidFill>
              <a:latin typeface="Calibri"/>
              <a:ea typeface="Calibri"/>
              <a:cs typeface="Calibri"/>
              <a:sym typeface="Calibri"/>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Extracts the UUID and warp ID from the response tag</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Retrieves the stored PC and thread mask from the tag store</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Assembles the complete fetch_t structure</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Outputs it to the decode stage</a:t>
            </a:r>
            <a:endParaRPr/>
          </a:p>
        </p:txBody>
      </p:sp>
      <p:pic>
        <p:nvPicPr>
          <p:cNvPr id="305" name="Google Shape;305;p36"/>
          <p:cNvPicPr preferRelativeResize="0"/>
          <p:nvPr/>
        </p:nvPicPr>
        <p:blipFill rotWithShape="1">
          <a:blip r:embed="rId3">
            <a:alphaModFix/>
          </a:blip>
          <a:srcRect b="0" l="0" r="0" t="0"/>
          <a:stretch/>
        </p:blipFill>
        <p:spPr>
          <a:xfrm>
            <a:off x="5009452" y="2039200"/>
            <a:ext cx="7182548" cy="393947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9" name="Shape 309"/>
        <p:cNvGrpSpPr/>
        <p:nvPr/>
      </p:nvGrpSpPr>
      <p:grpSpPr>
        <a:xfrm>
          <a:off x="0" y="0"/>
          <a:ext cx="0" cy="0"/>
          <a:chOff x="0" y="0"/>
          <a:chExt cx="0" cy="0"/>
        </a:xfrm>
      </p:grpSpPr>
      <p:sp>
        <p:nvSpPr>
          <p:cNvPr id="310" name="Google Shape;310;p37"/>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t>Key Challenges (1)</a:t>
            </a:r>
            <a:endParaRPr/>
          </a:p>
        </p:txBody>
      </p:sp>
      <p:sp>
        <p:nvSpPr>
          <p:cNvPr id="311" name="Google Shape;311;p37"/>
          <p:cNvSpPr txBox="1"/>
          <p:nvPr>
            <p:ph idx="1" type="body"/>
          </p:nvPr>
        </p:nvSpPr>
        <p:spPr>
          <a:xfrm>
            <a:off x="1546563" y="1660430"/>
            <a:ext cx="9098874" cy="479875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400"/>
              <a:buNone/>
            </a:pPr>
            <a:r>
              <a:rPr lang="en-US" sz="2400">
                <a:solidFill>
                  <a:schemeClr val="accent4"/>
                </a:solidFill>
                <a:latin typeface="Calibri"/>
                <a:ea typeface="Calibri"/>
                <a:cs typeface="Calibri"/>
                <a:sym typeface="Calibri"/>
              </a:rPr>
              <a:t>Request Buffering</a:t>
            </a:r>
            <a:endParaRPr/>
          </a:p>
          <a:p>
            <a:pPr indent="-190500" lvl="0" marL="342900" rtl="0" algn="l">
              <a:spcBef>
                <a:spcPts val="0"/>
              </a:spcBef>
              <a:spcAft>
                <a:spcPts val="0"/>
              </a:spcAft>
              <a:buSzPts val="2400"/>
              <a:buNone/>
            </a:pPr>
            <a:r>
              <a:t/>
            </a:r>
            <a:endParaRPr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Requests are buffered through an elastic buffer before being sent to the icache bus. </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This decouples the fetch stage from icache timing and helps maintain throughput.</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Prevent Pipeline Deadlock Especially when:L1 cache is disabled or </a:t>
            </a:r>
            <a:br>
              <a:rPr b="0" lang="en-US" sz="2400">
                <a:solidFill>
                  <a:schemeClr val="accent4"/>
                </a:solidFill>
                <a:latin typeface="Calibri"/>
                <a:ea typeface="Calibri"/>
                <a:cs typeface="Calibri"/>
                <a:sym typeface="Calibri"/>
              </a:rPr>
            </a:br>
            <a:r>
              <a:rPr b="0" lang="en-US" sz="2400">
                <a:solidFill>
                  <a:schemeClr val="accent4"/>
                </a:solidFill>
                <a:latin typeface="Calibri"/>
                <a:ea typeface="Calibri"/>
                <a:cs typeface="Calibri"/>
                <a:sym typeface="Calibri"/>
              </a:rPr>
              <a:t>I-cache and D-cache share the same bus</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IBUF flow control: Limits outstanding fetches per warp, Prevents buffer overflow and Avoids circular stalls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5" name="Shape 315"/>
        <p:cNvGrpSpPr/>
        <p:nvPr/>
      </p:nvGrpSpPr>
      <p:grpSpPr>
        <a:xfrm>
          <a:off x="0" y="0"/>
          <a:ext cx="0" cy="0"/>
          <a:chOff x="0" y="0"/>
          <a:chExt cx="0" cy="0"/>
        </a:xfrm>
      </p:grpSpPr>
      <p:sp>
        <p:nvSpPr>
          <p:cNvPr id="316" name="Google Shape;316;p38"/>
          <p:cNvSpPr txBox="1"/>
          <p:nvPr>
            <p:ph idx="1" type="body"/>
          </p:nvPr>
        </p:nvSpPr>
        <p:spPr>
          <a:xfrm>
            <a:off x="1078411" y="1660430"/>
            <a:ext cx="5478642" cy="479875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400"/>
              <a:buNone/>
            </a:pPr>
            <a:r>
              <a:rPr lang="en-US" sz="2400">
                <a:solidFill>
                  <a:schemeClr val="accent4"/>
                </a:solidFill>
                <a:latin typeface="Calibri"/>
                <a:ea typeface="Calibri"/>
                <a:cs typeface="Calibri"/>
                <a:sym typeface="Calibri"/>
              </a:rPr>
              <a:t>Complete Data Flow Diagram</a:t>
            </a:r>
            <a:endParaRPr/>
          </a:p>
          <a:p>
            <a:pPr indent="-190500" lvl="0" marL="342900" rtl="0" algn="l">
              <a:spcBef>
                <a:spcPts val="0"/>
              </a:spcBef>
              <a:spcAft>
                <a:spcPts val="0"/>
              </a:spcAft>
              <a:buSzPts val="2400"/>
              <a:buNone/>
            </a:pPr>
            <a:r>
              <a:t/>
            </a:r>
            <a:endParaRPr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When L1 cache is disabled, the fetch stage implements flow control to prevent the instruction buffer (ibuffer) from overflowing.</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This mechanism tracks pending fetches per warp and stalls scheduling when a warp's ibuffer is full, preventing deadlock when icache and dcache share the same bus.</a:t>
            </a:r>
            <a:endParaRPr/>
          </a:p>
        </p:txBody>
      </p:sp>
      <p:pic>
        <p:nvPicPr>
          <p:cNvPr id="317" name="Google Shape;317;p38"/>
          <p:cNvPicPr preferRelativeResize="0"/>
          <p:nvPr/>
        </p:nvPicPr>
        <p:blipFill rotWithShape="1">
          <a:blip r:embed="rId3">
            <a:alphaModFix/>
          </a:blip>
          <a:srcRect b="0" l="0" r="0" t="0"/>
          <a:stretch/>
        </p:blipFill>
        <p:spPr>
          <a:xfrm>
            <a:off x="7111860" y="578201"/>
            <a:ext cx="3717429" cy="6279799"/>
          </a:xfrm>
          <a:prstGeom prst="rect">
            <a:avLst/>
          </a:prstGeom>
          <a:noFill/>
          <a:ln>
            <a:noFill/>
          </a:ln>
        </p:spPr>
      </p:pic>
      <p:sp>
        <p:nvSpPr>
          <p:cNvPr id="318" name="Google Shape;318;p38"/>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t>Key Challenges (2)</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9"/>
          <p:cNvSpPr txBox="1"/>
          <p:nvPr/>
        </p:nvSpPr>
        <p:spPr>
          <a:xfrm>
            <a:off x="1219200" y="2379663"/>
            <a:ext cx="9753600" cy="1049337"/>
          </a:xfrm>
          <a:prstGeom prst="rect">
            <a:avLst/>
          </a:prstGeom>
          <a:noFill/>
          <a:ln>
            <a:noFill/>
          </a:ln>
        </p:spPr>
        <p:txBody>
          <a:bodyPr anchorCtr="0" anchor="ctr" bIns="45700" lIns="91425" spcFirstLastPara="1" rIns="91425" wrap="square" tIns="45700">
            <a:noAutofit/>
          </a:bodyPr>
          <a:lstStyle/>
          <a:p>
            <a:pPr indent="0" lvl="0" marL="0" marR="0" rtl="1" algn="ctr">
              <a:spcBef>
                <a:spcPts val="0"/>
              </a:spcBef>
              <a:spcAft>
                <a:spcPts val="0"/>
              </a:spcAft>
              <a:buNone/>
            </a:pPr>
            <a:r>
              <a:rPr b="1" i="0" lang="en-US" sz="3600">
                <a:solidFill>
                  <a:schemeClr val="dk1"/>
                </a:solidFill>
                <a:latin typeface="Calibri"/>
                <a:ea typeface="Calibri"/>
                <a:cs typeface="Calibri"/>
                <a:sym typeface="Calibri"/>
              </a:rPr>
              <a:t>Decode Stage</a:t>
            </a:r>
            <a:endParaRPr b="1" i="1" sz="36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0"/>
          <p:cNvSpPr txBox="1"/>
          <p:nvPr>
            <p:ph type="title"/>
          </p:nvPr>
        </p:nvSpPr>
        <p:spPr>
          <a:xfrm>
            <a:off x="946150" y="379550"/>
            <a:ext cx="10299700" cy="45719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Calibri"/>
                <a:ea typeface="Calibri"/>
                <a:cs typeface="Calibri"/>
                <a:sym typeface="Calibri"/>
              </a:rPr>
              <a:t>Decode Stage</a:t>
            </a:r>
            <a:endParaRPr/>
          </a:p>
        </p:txBody>
      </p:sp>
      <p:sp>
        <p:nvSpPr>
          <p:cNvPr id="329" name="Google Shape;329;p40"/>
          <p:cNvSpPr txBox="1"/>
          <p:nvPr/>
        </p:nvSpPr>
        <p:spPr>
          <a:xfrm>
            <a:off x="946150" y="1659285"/>
            <a:ext cx="9408160"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lang="en-US" sz="2800">
                <a:solidFill>
                  <a:schemeClr val="dk1"/>
                </a:solidFill>
                <a:latin typeface="Calibri"/>
                <a:ea typeface="Calibri"/>
                <a:cs typeface="Calibri"/>
                <a:sym typeface="Calibri"/>
              </a:rPr>
              <a:t>Role &amp; Context: The translator in the pipeline.</a:t>
            </a:r>
            <a:endParaRPr/>
          </a:p>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lang="en-US" sz="2800">
                <a:solidFill>
                  <a:schemeClr val="dk1"/>
                </a:solidFill>
                <a:latin typeface="Calibri"/>
                <a:ea typeface="Calibri"/>
                <a:cs typeface="Calibri"/>
                <a:sym typeface="Calibri"/>
              </a:rPr>
              <a:t>The Decoding Process: A step-by-step walkthrough.</a:t>
            </a:r>
            <a:endParaRPr/>
          </a:p>
          <a:p>
            <a:pPr indent="-165100" lvl="0" marL="342900" marR="0" rtl="0" algn="l">
              <a:spcBef>
                <a:spcPts val="0"/>
              </a:spcBef>
              <a:spcAft>
                <a:spcPts val="0"/>
              </a:spcAft>
              <a:buClr>
                <a:srgbClr val="0070C0"/>
              </a:buClr>
              <a:buSzPts val="2800"/>
              <a:buFont typeface="Arial"/>
              <a:buNone/>
            </a:pPr>
            <a:r>
              <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lang="en-US" sz="2800">
                <a:solidFill>
                  <a:schemeClr val="dk1"/>
                </a:solidFill>
                <a:latin typeface="Calibri"/>
                <a:ea typeface="Calibri"/>
                <a:cs typeface="Calibri"/>
                <a:sym typeface="Calibri"/>
              </a:rPr>
              <a:t>Key Responsibilities: Scheduling hints and flow control.</a:t>
            </a:r>
            <a:endParaRPr sz="2800">
              <a:solidFill>
                <a:schemeClr val="dk1"/>
              </a:solidFill>
              <a:latin typeface="Calibri"/>
              <a:ea typeface="Calibri"/>
              <a:cs typeface="Calibri"/>
              <a:sym typeface="Calibri"/>
            </a:endParaRPr>
          </a:p>
        </p:txBody>
      </p:sp>
      <p:sp>
        <p:nvSpPr>
          <p:cNvPr id="330" name="Google Shape;330;p40"/>
          <p:cNvSpPr txBox="1"/>
          <p:nvPr/>
        </p:nvSpPr>
        <p:spPr>
          <a:xfrm>
            <a:off x="574040" y="836749"/>
            <a:ext cx="915416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0B5F9F"/>
                </a:solidFill>
                <a:latin typeface="Calibri"/>
                <a:ea typeface="Calibri"/>
                <a:cs typeface="Calibri"/>
                <a:sym typeface="Calibri"/>
              </a:rPr>
              <a:t>Outlines</a:t>
            </a:r>
            <a:r>
              <a:rPr b="1" lang="en-US" sz="3200">
                <a:solidFill>
                  <a:srgbClr val="0B5F9F"/>
                </a:solidFill>
                <a:latin typeface="Arial"/>
                <a:ea typeface="Arial"/>
                <a:cs typeface="Arial"/>
                <a:sym typeface="Arial"/>
              </a:rPr>
              <a:t>:</a:t>
            </a:r>
            <a:endParaRPr sz="2400">
              <a:solidFill>
                <a:schemeClr val="dk1"/>
              </a:solidFill>
              <a:latin typeface="Meddon"/>
              <a:ea typeface="Meddon"/>
              <a:cs typeface="Meddon"/>
              <a:sym typeface="Meddo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1"/>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Role &amp; context </a:t>
            </a:r>
            <a:endParaRPr/>
          </a:p>
        </p:txBody>
      </p:sp>
      <p:sp>
        <p:nvSpPr>
          <p:cNvPr id="336" name="Google Shape;336;p41"/>
          <p:cNvSpPr txBox="1"/>
          <p:nvPr>
            <p:ph idx="1" type="body"/>
          </p:nvPr>
        </p:nvSpPr>
        <p:spPr>
          <a:xfrm>
            <a:off x="772160" y="1308963"/>
            <a:ext cx="5323840" cy="4177437"/>
          </a:xfrm>
          <a:prstGeom prst="rect">
            <a:avLst/>
          </a:prstGeom>
          <a:noFill/>
          <a:ln>
            <a:noFill/>
          </a:ln>
        </p:spPr>
        <p:txBody>
          <a:bodyPr anchorCtr="0" anchor="t" bIns="45700" lIns="91425" spcFirstLastPara="1" rIns="91425" wrap="square" tIns="45700">
            <a:noAutofit/>
          </a:bodyPr>
          <a:lstStyle/>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Primary Responsibility:</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Translates raw instructions into </a:t>
            </a:r>
            <a:br>
              <a:rPr b="0" lang="en-US" sz="2400">
                <a:solidFill>
                  <a:schemeClr val="accent4"/>
                </a:solidFill>
                <a:latin typeface="Calibri"/>
                <a:ea typeface="Calibri"/>
                <a:cs typeface="Calibri"/>
                <a:sym typeface="Calibri"/>
              </a:rPr>
            </a:br>
            <a:r>
              <a:rPr b="0" lang="en-US" sz="2400">
                <a:solidFill>
                  <a:schemeClr val="accent4"/>
                </a:solidFill>
                <a:latin typeface="Calibri"/>
                <a:ea typeface="Calibri"/>
                <a:cs typeface="Calibri"/>
                <a:sym typeface="Calibri"/>
              </a:rPr>
              <a:t>execution-ready control information</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Determines:</a:t>
            </a:r>
            <a:endParaRPr/>
          </a:p>
          <a:p>
            <a:pPr indent="-457200" lvl="1" marL="85725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Execution unit</a:t>
            </a:r>
            <a:endParaRPr/>
          </a:p>
          <a:p>
            <a:pPr indent="-457200" lvl="1" marL="85725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Operation type</a:t>
            </a:r>
            <a:endParaRPr/>
          </a:p>
          <a:p>
            <a:pPr indent="-457200" lvl="1" marL="85725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Register operands</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Communicates control-flow information back to scheduler</a:t>
            </a:r>
            <a:endParaRPr/>
          </a:p>
          <a:p>
            <a:pPr indent="0" lvl="0" marL="0" rtl="0" algn="l">
              <a:spcBef>
                <a:spcPts val="0"/>
              </a:spcBef>
              <a:spcAft>
                <a:spcPts val="0"/>
              </a:spcAft>
              <a:buSzPts val="2400"/>
              <a:buNone/>
            </a:pPr>
            <a:r>
              <a:t/>
            </a:r>
            <a:endParaRPr b="0" sz="2400">
              <a:solidFill>
                <a:schemeClr val="accent4"/>
              </a:solidFill>
              <a:latin typeface="Calibri"/>
              <a:ea typeface="Calibri"/>
              <a:cs typeface="Calibri"/>
              <a:sym typeface="Calibri"/>
            </a:endParaRPr>
          </a:p>
        </p:txBody>
      </p:sp>
      <p:pic>
        <p:nvPicPr>
          <p:cNvPr id="337" name="Google Shape;337;p41"/>
          <p:cNvPicPr preferRelativeResize="0"/>
          <p:nvPr/>
        </p:nvPicPr>
        <p:blipFill rotWithShape="1">
          <a:blip r:embed="rId3">
            <a:alphaModFix/>
          </a:blip>
          <a:srcRect b="0" l="0" r="0" t="0"/>
          <a:stretch/>
        </p:blipFill>
        <p:spPr>
          <a:xfrm>
            <a:off x="6573519" y="2784687"/>
            <a:ext cx="5414347" cy="1288625"/>
          </a:xfrm>
          <a:prstGeom prst="rect">
            <a:avLst/>
          </a:prstGeom>
          <a:noFill/>
          <a:ln>
            <a:noFill/>
          </a:ln>
        </p:spPr>
      </p:pic>
      <p:sp>
        <p:nvSpPr>
          <p:cNvPr id="338" name="Google Shape;338;p41"/>
          <p:cNvSpPr txBox="1"/>
          <p:nvPr/>
        </p:nvSpPr>
        <p:spPr>
          <a:xfrm>
            <a:off x="772160" y="5161280"/>
            <a:ext cx="9701531" cy="1200329"/>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accent4"/>
              </a:buClr>
              <a:buSzPts val="2400"/>
              <a:buFont typeface="Arial"/>
              <a:buChar char="•"/>
            </a:pPr>
            <a:r>
              <a:rPr lang="en-US" sz="2400">
                <a:solidFill>
                  <a:schemeClr val="accent4"/>
                </a:solidFill>
                <a:latin typeface="Calibri"/>
                <a:ea typeface="Calibri"/>
                <a:cs typeface="Calibri"/>
                <a:sym typeface="Calibri"/>
              </a:rPr>
              <a:t>Key Characteristic: It is purely combinational logic. It translates the instruction in a single clock cycle, with no internal state between instructions.</a:t>
            </a:r>
            <a:endParaRPr sz="2400">
              <a:solidFill>
                <a:srgbClr val="000000"/>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2"/>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The Decoding Process</a:t>
            </a:r>
            <a:endParaRPr/>
          </a:p>
        </p:txBody>
      </p:sp>
      <p:sp>
        <p:nvSpPr>
          <p:cNvPr id="344" name="Google Shape;344;p42"/>
          <p:cNvSpPr txBox="1"/>
          <p:nvPr>
            <p:ph idx="1" type="body"/>
          </p:nvPr>
        </p:nvSpPr>
        <p:spPr>
          <a:xfrm>
            <a:off x="1249680" y="1522323"/>
            <a:ext cx="10586720" cy="4970836"/>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sz="2400">
                <a:solidFill>
                  <a:schemeClr val="accent4"/>
                </a:solidFill>
                <a:latin typeface="Calibri"/>
                <a:ea typeface="Calibri"/>
                <a:cs typeface="Calibri"/>
                <a:sym typeface="Calibri"/>
              </a:rPr>
              <a:t>Input</a:t>
            </a:r>
            <a:r>
              <a:rPr b="0" lang="en-US" sz="2400">
                <a:solidFill>
                  <a:schemeClr val="accent4"/>
                </a:solidFill>
                <a:latin typeface="Calibri"/>
                <a:ea typeface="Calibri"/>
                <a:cs typeface="Calibri"/>
                <a:sym typeface="Calibri"/>
              </a:rPr>
              <a:t> Interface (fetch_if)</a:t>
            </a:r>
            <a:br>
              <a:rPr b="0" lang="en-US" sz="2400">
                <a:solidFill>
                  <a:schemeClr val="accent4"/>
                </a:solidFill>
                <a:latin typeface="Calibri"/>
                <a:ea typeface="Calibri"/>
                <a:cs typeface="Calibri"/>
                <a:sym typeface="Calibri"/>
              </a:rPr>
            </a:br>
            <a:r>
              <a:rPr b="0" lang="en-US" sz="2400">
                <a:solidFill>
                  <a:schemeClr val="accent4"/>
                </a:solidFill>
                <a:latin typeface="Calibri"/>
                <a:ea typeface="Calibri"/>
                <a:cs typeface="Calibri"/>
                <a:sym typeface="Calibri"/>
              </a:rPr>
              <a:t>uuid, wid, tmask, PC and instr.</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lang="en-US" sz="2400">
                <a:solidFill>
                  <a:schemeClr val="accent4"/>
                </a:solidFill>
                <a:latin typeface="Calibri"/>
                <a:ea typeface="Calibri"/>
                <a:cs typeface="Calibri"/>
                <a:sym typeface="Calibri"/>
              </a:rPr>
              <a:t>Step 1: Extract Instruction Fields</a:t>
            </a:r>
            <a:br>
              <a:rPr lang="en-US" sz="2400">
                <a:solidFill>
                  <a:schemeClr val="accent4"/>
                </a:solidFill>
                <a:latin typeface="Calibri"/>
                <a:ea typeface="Calibri"/>
                <a:cs typeface="Calibri"/>
                <a:sym typeface="Calibri"/>
              </a:rPr>
            </a:br>
            <a:br>
              <a:rPr lang="en-US" sz="2400">
                <a:solidFill>
                  <a:schemeClr val="accent4"/>
                </a:solidFill>
                <a:latin typeface="Calibri"/>
                <a:ea typeface="Calibri"/>
                <a:cs typeface="Calibri"/>
                <a:sym typeface="Calibri"/>
              </a:rPr>
            </a:br>
            <a:r>
              <a:rPr b="0" lang="en-US" sz="2400">
                <a:solidFill>
                  <a:schemeClr val="accent4"/>
                </a:solidFill>
                <a:latin typeface="Calibri"/>
                <a:ea typeface="Calibri"/>
                <a:cs typeface="Calibri"/>
                <a:sym typeface="Calibri"/>
              </a:rPr>
              <a:t>The decoder extracts standard RISC-V fields:</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opcode (bits 6:0): Primary operation code</a:t>
            </a:r>
            <a:endParaRPr/>
          </a:p>
          <a:p>
            <a:pPr indent="-304800" lvl="0" marL="457200" rtl="0" algn="l">
              <a:spcBef>
                <a:spcPts val="0"/>
              </a:spcBef>
              <a:spcAft>
                <a:spcPts val="0"/>
              </a:spcAft>
              <a:buSzPts val="2400"/>
              <a:buFont typeface="Times New Roman"/>
              <a:buNone/>
            </a:pPr>
            <a:r>
              <a:t/>
            </a:r>
            <a:endParaRPr b="0" sz="2400">
              <a:solidFill>
                <a:schemeClr val="accent4"/>
              </a:solidFill>
              <a:latin typeface="Calibri"/>
              <a:ea typeface="Calibri"/>
              <a:cs typeface="Calibri"/>
              <a:sym typeface="Calibri"/>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Funct_x: Functions codes for operation variants</a:t>
            </a:r>
            <a:endParaRPr/>
          </a:p>
          <a:p>
            <a:pPr indent="-304800" lvl="0" marL="457200" rtl="0" algn="l">
              <a:spcBef>
                <a:spcPts val="0"/>
              </a:spcBef>
              <a:spcAft>
                <a:spcPts val="0"/>
              </a:spcAft>
              <a:buSzPts val="2400"/>
              <a:buFont typeface="Times New Roman"/>
              <a:buNone/>
            </a:pPr>
            <a:r>
              <a:t/>
            </a:r>
            <a:endParaRPr b="0" sz="2400">
              <a:solidFill>
                <a:schemeClr val="accent4"/>
              </a:solidFill>
              <a:latin typeface="Calibri"/>
              <a:ea typeface="Calibri"/>
              <a:cs typeface="Calibri"/>
              <a:sym typeface="Calibri"/>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rd, rs1, rs2, rs3: Register indices</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3"/>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The Decoding Process</a:t>
            </a:r>
            <a:endParaRPr/>
          </a:p>
        </p:txBody>
      </p:sp>
      <p:sp>
        <p:nvSpPr>
          <p:cNvPr id="350" name="Google Shape;350;p43"/>
          <p:cNvSpPr txBox="1"/>
          <p:nvPr>
            <p:ph idx="1" type="body"/>
          </p:nvPr>
        </p:nvSpPr>
        <p:spPr>
          <a:xfrm>
            <a:off x="772160" y="1308963"/>
            <a:ext cx="10586720" cy="497083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400"/>
              <a:buNone/>
            </a:pPr>
            <a:r>
              <a:t/>
            </a:r>
            <a:endParaRPr sz="2400">
              <a:solidFill>
                <a:schemeClr val="accent4"/>
              </a:solidFill>
              <a:latin typeface="Calibri"/>
              <a:ea typeface="Calibri"/>
              <a:cs typeface="Calibri"/>
              <a:sym typeface="Calibri"/>
            </a:endParaRPr>
          </a:p>
          <a:p>
            <a:pPr indent="0" lvl="0" marL="0" rtl="0" algn="l">
              <a:spcBef>
                <a:spcPts val="0"/>
              </a:spcBef>
              <a:spcAft>
                <a:spcPts val="0"/>
              </a:spcAft>
              <a:buSzPts val="2400"/>
              <a:buNone/>
            </a:pPr>
            <a:r>
              <a:t/>
            </a:r>
            <a:endParaRPr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lang="en-US" sz="2400">
                <a:solidFill>
                  <a:schemeClr val="accent4"/>
                </a:solidFill>
                <a:latin typeface="Calibri"/>
                <a:ea typeface="Calibri"/>
                <a:cs typeface="Calibri"/>
                <a:sym typeface="Calibri"/>
              </a:rPr>
              <a:t>Step 2: Decode Immediate Values</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Based on instruction type, different immediate formats are extracted:</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I-type: 12-bit immediate (with special handling for shift instructions)</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S-type: Store immediate</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B-type: Branch immediate </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U-type: Upper immediate </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J-type: Jump immediate</a:t>
            </a:r>
            <a:endParaRPr/>
          </a:p>
          <a:p>
            <a:pPr indent="-304800" lvl="0" marL="457200" rtl="0" algn="l">
              <a:spcBef>
                <a:spcPts val="0"/>
              </a:spcBef>
              <a:spcAft>
                <a:spcPts val="0"/>
              </a:spcAft>
              <a:buSzPts val="2400"/>
              <a:buFont typeface="Times New Roman"/>
              <a:buNone/>
            </a:pPr>
            <a:r>
              <a:t/>
            </a:r>
            <a:endParaRPr b="0" sz="2400">
              <a:solidFill>
                <a:schemeClr val="accent4"/>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4"/>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The Decoding Process</a:t>
            </a:r>
            <a:endParaRPr/>
          </a:p>
        </p:txBody>
      </p:sp>
      <p:sp>
        <p:nvSpPr>
          <p:cNvPr id="356" name="Google Shape;356;p44"/>
          <p:cNvSpPr txBox="1"/>
          <p:nvPr>
            <p:ph idx="1" type="body"/>
          </p:nvPr>
        </p:nvSpPr>
        <p:spPr>
          <a:xfrm>
            <a:off x="772160" y="1308963"/>
            <a:ext cx="10586720" cy="15358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400"/>
              <a:buNone/>
            </a:pPr>
            <a:r>
              <a:t/>
            </a:r>
            <a:endParaRPr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lang="en-US" sz="2400">
                <a:solidFill>
                  <a:schemeClr val="accent4"/>
                </a:solidFill>
                <a:latin typeface="Calibri"/>
                <a:ea typeface="Calibri"/>
                <a:cs typeface="Calibri"/>
                <a:sym typeface="Calibri"/>
              </a:rPr>
              <a:t>Step 3: Determine Execution Unit and Operation Type</a:t>
            </a:r>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The decoder performs a large case statement on the opcode to determine Execution unit</a:t>
            </a:r>
            <a:endParaRPr/>
          </a:p>
        </p:txBody>
      </p:sp>
      <p:pic>
        <p:nvPicPr>
          <p:cNvPr id="357" name="Google Shape;357;p44"/>
          <p:cNvPicPr preferRelativeResize="0"/>
          <p:nvPr/>
        </p:nvPicPr>
        <p:blipFill rotWithShape="1">
          <a:blip r:embed="rId3">
            <a:alphaModFix/>
          </a:blip>
          <a:srcRect b="0" l="0" r="0" t="0"/>
          <a:stretch/>
        </p:blipFill>
        <p:spPr>
          <a:xfrm>
            <a:off x="2409576" y="2919586"/>
            <a:ext cx="7372847" cy="336021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5"/>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The Decoding Process</a:t>
            </a:r>
            <a:endParaRPr/>
          </a:p>
        </p:txBody>
      </p:sp>
      <p:sp>
        <p:nvSpPr>
          <p:cNvPr id="363" name="Google Shape;363;p45"/>
          <p:cNvSpPr txBox="1"/>
          <p:nvPr>
            <p:ph idx="1" type="body"/>
          </p:nvPr>
        </p:nvSpPr>
        <p:spPr>
          <a:xfrm>
            <a:off x="802640" y="1430883"/>
            <a:ext cx="10586720" cy="4970836"/>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sz="2400">
                <a:solidFill>
                  <a:schemeClr val="accent4"/>
                </a:solidFill>
                <a:latin typeface="Calibri"/>
                <a:ea typeface="Calibri"/>
                <a:cs typeface="Calibri"/>
                <a:sym typeface="Calibri"/>
              </a:rPr>
              <a:t>Step 4: Identify Register Usage</a:t>
            </a:r>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For each instruction type, the decoder identifies which registers are used.</a:t>
            </a:r>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The USED_IREG and USED_FREG macros mark registers as integer or floating-point registers.</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lang="en-US" sz="2400">
                <a:solidFill>
                  <a:schemeClr val="accent4"/>
                </a:solidFill>
                <a:latin typeface="Calibri"/>
                <a:ea typeface="Calibri"/>
                <a:cs typeface="Calibri"/>
                <a:sym typeface="Calibri"/>
              </a:rPr>
              <a:t>Step 5: Extract Operation-Specific Arguments</a:t>
            </a:r>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The decoder populates the op_args union based on execution unit</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lang="en-US" sz="2400">
                <a:solidFill>
                  <a:schemeClr val="accent4"/>
                </a:solidFill>
                <a:latin typeface="Calibri"/>
                <a:ea typeface="Calibri"/>
                <a:cs typeface="Calibri"/>
                <a:sym typeface="Calibri"/>
              </a:rPr>
              <a:t>Step 6: Detect Warp-Stalling Instructions</a:t>
            </a:r>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Certain control flow instructions cause warp stalls</a:t>
            </a:r>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Instructions like JAL, JALR, branches, and some SFU operations set the is_wstall flag or unlock the warp.</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6"/>
          <p:cNvSpPr txBox="1"/>
          <p:nvPr>
            <p:ph idx="1" type="body"/>
          </p:nvPr>
        </p:nvSpPr>
        <p:spPr>
          <a:xfrm>
            <a:off x="1412240" y="2573578"/>
            <a:ext cx="3576320" cy="258231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sz="2400">
                <a:solidFill>
                  <a:schemeClr val="accent4"/>
                </a:solidFill>
                <a:latin typeface="Calibri"/>
                <a:ea typeface="Calibri"/>
                <a:cs typeface="Calibri"/>
                <a:sym typeface="Calibri"/>
              </a:rPr>
              <a:t>Output Interface (decode_if) </a:t>
            </a:r>
            <a:endParaRPr/>
          </a:p>
          <a:p>
            <a:pPr indent="-190500" lvl="0" marL="342900" rtl="0" algn="l">
              <a:spcBef>
                <a:spcPts val="0"/>
              </a:spcBef>
              <a:spcAft>
                <a:spcPts val="0"/>
              </a:spcAft>
              <a:buSzPts val="2400"/>
              <a:buNone/>
            </a:pPr>
            <a:r>
              <a:t/>
            </a:r>
            <a:endParaRPr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The decode stage outputs a fully decoded decode_t structure</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p:txBody>
      </p:sp>
      <p:pic>
        <p:nvPicPr>
          <p:cNvPr id="369" name="Google Shape;369;p46"/>
          <p:cNvPicPr preferRelativeResize="0"/>
          <p:nvPr/>
        </p:nvPicPr>
        <p:blipFill rotWithShape="1">
          <a:blip r:embed="rId3">
            <a:alphaModFix/>
          </a:blip>
          <a:srcRect b="0" l="1485" r="0" t="0"/>
          <a:stretch/>
        </p:blipFill>
        <p:spPr>
          <a:xfrm>
            <a:off x="6421119" y="871475"/>
            <a:ext cx="4043681" cy="5986525"/>
          </a:xfrm>
          <a:prstGeom prst="rect">
            <a:avLst/>
          </a:prstGeom>
          <a:noFill/>
          <a:ln>
            <a:noFill/>
          </a:ln>
        </p:spPr>
      </p:pic>
      <p:sp>
        <p:nvSpPr>
          <p:cNvPr id="370" name="Google Shape;370;p46"/>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Key Responsibilities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7"/>
          <p:cNvSpPr txBox="1"/>
          <p:nvPr>
            <p:ph idx="1" type="body"/>
          </p:nvPr>
        </p:nvSpPr>
        <p:spPr>
          <a:xfrm>
            <a:off x="1574800" y="1429964"/>
            <a:ext cx="6085840" cy="5428036"/>
          </a:xfrm>
          <a:prstGeom prst="rect">
            <a:avLst/>
          </a:prstGeom>
          <a:noFill/>
          <a:ln>
            <a:noFill/>
          </a:ln>
        </p:spPr>
        <p:txBody>
          <a:bodyPr anchorCtr="0" anchor="t" bIns="45700" lIns="91425" spcFirstLastPara="1" rIns="91425" wrap="square" tIns="45700">
            <a:noAutofit/>
          </a:bodyPr>
          <a:lstStyle/>
          <a:p>
            <a:pPr indent="-190500" lvl="0" marL="342900" rtl="0" algn="l">
              <a:spcBef>
                <a:spcPts val="0"/>
              </a:spcBef>
              <a:spcAft>
                <a:spcPts val="0"/>
              </a:spcAft>
              <a:buSzPts val="2400"/>
              <a:buNone/>
            </a:pPr>
            <a:r>
              <a:t/>
            </a:r>
            <a:endParaRPr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lang="en-US" sz="2400">
                <a:solidFill>
                  <a:schemeClr val="accent4"/>
                </a:solidFill>
                <a:latin typeface="Calibri"/>
                <a:ea typeface="Calibri"/>
                <a:cs typeface="Calibri"/>
                <a:sym typeface="Calibri"/>
              </a:rPr>
              <a:t>Communication with Scheduler</a:t>
            </a:r>
            <a:endParaRPr/>
          </a:p>
          <a:p>
            <a:pPr indent="-190500" lvl="0" marL="342900" rtl="0" algn="l">
              <a:spcBef>
                <a:spcPts val="0"/>
              </a:spcBef>
              <a:spcAft>
                <a:spcPts val="0"/>
              </a:spcAft>
              <a:buSzPts val="2400"/>
              <a:buNone/>
            </a:pPr>
            <a:r>
              <a:t/>
            </a:r>
            <a:endParaRPr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Signals:</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wid: Warp ID</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valid: Whether warp can continue</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unlock: Whether it must stall</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chemeClr val="accent4"/>
                </a:solidFill>
                <a:latin typeface="Calibri"/>
                <a:ea typeface="Calibri"/>
                <a:cs typeface="Calibri"/>
                <a:sym typeface="Calibri"/>
              </a:rPr>
              <a:t>Scheduler Uses This To:</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Manage warp state</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Avoid incorrect instruction issue</a:t>
            </a:r>
            <a:endParaRPr/>
          </a:p>
          <a:p>
            <a:pPr indent="-457200" lvl="0" marL="457200" rtl="0" algn="l">
              <a:spcBef>
                <a:spcPts val="0"/>
              </a:spcBef>
              <a:spcAft>
                <a:spcPts val="0"/>
              </a:spcAft>
              <a:buSzPts val="2400"/>
              <a:buFont typeface="Times New Roman"/>
              <a:buAutoNum type="arabicPeriod"/>
            </a:pPr>
            <a:r>
              <a:rPr b="0" lang="en-US" sz="2400">
                <a:solidFill>
                  <a:schemeClr val="accent4"/>
                </a:solidFill>
                <a:latin typeface="Calibri"/>
                <a:ea typeface="Calibri"/>
                <a:cs typeface="Calibri"/>
                <a:sym typeface="Calibri"/>
              </a:rPr>
              <a:t>Preserve correct SIMT execution</a:t>
            </a:r>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p:txBody>
      </p:sp>
      <p:sp>
        <p:nvSpPr>
          <p:cNvPr id="376" name="Google Shape;376;p47"/>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Key Responsibilities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8"/>
          <p:cNvSpPr txBox="1"/>
          <p:nvPr>
            <p:ph type="ctrTitle"/>
          </p:nvPr>
        </p:nvSpPr>
        <p:spPr>
          <a:xfrm>
            <a:off x="1219200" y="2904335"/>
            <a:ext cx="9753600" cy="104933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Calibri"/>
                <a:ea typeface="Calibri"/>
                <a:cs typeface="Calibri"/>
                <a:sym typeface="Calibri"/>
              </a:rPr>
              <a:t>Issue Stage</a:t>
            </a:r>
            <a:br>
              <a:rPr lang="en-US" sz="4000"/>
            </a:br>
            <a:r>
              <a:rPr lang="en-US" sz="4000">
                <a:latin typeface="Calibri"/>
                <a:ea typeface="Calibri"/>
                <a:cs typeface="Calibri"/>
                <a:sym typeface="Calibri"/>
              </a:rPr>
              <a:t>The Orchestra Behind The Scene</a:t>
            </a:r>
            <a:endParaRPr sz="40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9"/>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Issue Stage</a:t>
            </a:r>
            <a:endParaRPr/>
          </a:p>
        </p:txBody>
      </p:sp>
      <p:pic>
        <p:nvPicPr>
          <p:cNvPr descr="A diagram of a computer system&#10;&#10;Description automatically generated" id="387" name="Google Shape;387;p49"/>
          <p:cNvPicPr preferRelativeResize="0"/>
          <p:nvPr/>
        </p:nvPicPr>
        <p:blipFill rotWithShape="1">
          <a:blip r:embed="rId3">
            <a:alphaModFix/>
          </a:blip>
          <a:srcRect b="38388" l="16655" r="0" t="0"/>
          <a:stretch/>
        </p:blipFill>
        <p:spPr>
          <a:xfrm>
            <a:off x="491800" y="1467459"/>
            <a:ext cx="11208400" cy="5213757"/>
          </a:xfrm>
          <a:prstGeom prst="rect">
            <a:avLst/>
          </a:prstGeom>
          <a:noFill/>
          <a:ln>
            <a:noFill/>
          </a:ln>
        </p:spPr>
      </p:pic>
      <p:sp>
        <p:nvSpPr>
          <p:cNvPr id="388" name="Google Shape;388;p49"/>
          <p:cNvSpPr/>
          <p:nvPr/>
        </p:nvSpPr>
        <p:spPr>
          <a:xfrm>
            <a:off x="491800" y="1308962"/>
            <a:ext cx="5387147" cy="5461293"/>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sp>
        <p:nvSpPr>
          <p:cNvPr id="389" name="Google Shape;389;p49"/>
          <p:cNvSpPr/>
          <p:nvPr/>
        </p:nvSpPr>
        <p:spPr>
          <a:xfrm>
            <a:off x="7680960" y="1219923"/>
            <a:ext cx="4206240" cy="5461293"/>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sp>
        <p:nvSpPr>
          <p:cNvPr id="390" name="Google Shape;390;p49"/>
          <p:cNvSpPr/>
          <p:nvPr/>
        </p:nvSpPr>
        <p:spPr>
          <a:xfrm>
            <a:off x="5978329" y="1219924"/>
            <a:ext cx="1603249" cy="5461292"/>
          </a:xfrm>
          <a:prstGeom prst="rect">
            <a:avLst/>
          </a:prstGeom>
          <a:solidFill>
            <a:srgbClr val="FEE6F4">
              <a:alpha val="9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Issue </a:t>
            </a:r>
            <a:endParaRPr/>
          </a:p>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Stage</a:t>
            </a:r>
            <a:endParaRPr/>
          </a:p>
        </p:txBody>
      </p:sp>
      <p:sp>
        <p:nvSpPr>
          <p:cNvPr id="391" name="Google Shape;391;p49"/>
          <p:cNvSpPr/>
          <p:nvPr/>
        </p:nvSpPr>
        <p:spPr>
          <a:xfrm>
            <a:off x="548176" y="1545600"/>
            <a:ext cx="5238403" cy="798315"/>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accent4"/>
                </a:solidFill>
                <a:latin typeface="Calibri"/>
                <a:ea typeface="Calibri"/>
                <a:cs typeface="Calibri"/>
                <a:sym typeface="Calibri"/>
              </a:rPr>
              <a:t>the </a:t>
            </a:r>
            <a:r>
              <a:rPr lang="en-US" sz="2400">
                <a:solidFill>
                  <a:srgbClr val="0070C0"/>
                </a:solidFill>
                <a:latin typeface="Calibri"/>
                <a:ea typeface="Calibri"/>
                <a:cs typeface="Calibri"/>
                <a:sym typeface="Calibri"/>
              </a:rPr>
              <a:t>fourth</a:t>
            </a:r>
            <a:r>
              <a:rPr lang="en-US" sz="2400">
                <a:solidFill>
                  <a:schemeClr val="accent4"/>
                </a:solidFill>
                <a:latin typeface="Calibri"/>
                <a:ea typeface="Calibri"/>
                <a:cs typeface="Calibri"/>
                <a:sym typeface="Calibri"/>
              </a:rPr>
              <a:t> one in GPGPU pipeline. ​</a:t>
            </a:r>
            <a:endParaRPr b="1" i="1" sz="2400">
              <a:solidFill>
                <a:srgbClr val="29385E"/>
              </a:solidFill>
              <a:latin typeface="Calibri"/>
              <a:ea typeface="Calibri"/>
              <a:cs typeface="Calibri"/>
              <a:sym typeface="Calibri"/>
            </a:endParaRPr>
          </a:p>
        </p:txBody>
      </p:sp>
      <p:cxnSp>
        <p:nvCxnSpPr>
          <p:cNvPr id="392" name="Google Shape;392;p49"/>
          <p:cNvCxnSpPr>
            <a:stCxn id="391" idx="2"/>
          </p:cNvCxnSpPr>
          <p:nvPr/>
        </p:nvCxnSpPr>
        <p:spPr>
          <a:xfrm flipH="1" rot="-5400000">
            <a:off x="4577828" y="933465"/>
            <a:ext cx="132900" cy="2953800"/>
          </a:xfrm>
          <a:prstGeom prst="bentConnector2">
            <a:avLst/>
          </a:prstGeom>
          <a:solidFill>
            <a:schemeClr val="accent1"/>
          </a:solidFill>
          <a:ln cap="flat" cmpd="sng" w="57150">
            <a:solidFill>
              <a:srgbClr val="29385E"/>
            </a:solidFill>
            <a:prstDash val="solid"/>
            <a:round/>
            <a:headEnd len="sm" w="sm" type="none"/>
            <a:tailEnd len="med" w="med" type="triangle"/>
          </a:ln>
        </p:spPr>
      </p:cxnSp>
      <p:sp>
        <p:nvSpPr>
          <p:cNvPr id="393" name="Google Shape;393;p49"/>
          <p:cNvSpPr/>
          <p:nvPr/>
        </p:nvSpPr>
        <p:spPr>
          <a:xfrm>
            <a:off x="548175" y="2635323"/>
            <a:ext cx="5238403" cy="1038794"/>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accent4"/>
                </a:solidFill>
                <a:latin typeface="Calibri"/>
                <a:ea typeface="Calibri"/>
                <a:cs typeface="Calibri"/>
                <a:sym typeface="Calibri"/>
              </a:rPr>
              <a:t>Plays the role of </a:t>
            </a:r>
            <a:r>
              <a:rPr lang="en-US" sz="2400">
                <a:solidFill>
                  <a:srgbClr val="2668AE"/>
                </a:solidFill>
                <a:latin typeface="Calibri"/>
                <a:ea typeface="Calibri"/>
                <a:cs typeface="Calibri"/>
                <a:sym typeface="Calibri"/>
              </a:rPr>
              <a:t>instruction flow management</a:t>
            </a:r>
            <a:endParaRPr b="1" i="1" sz="2400">
              <a:solidFill>
                <a:srgbClr val="2668AE"/>
              </a:solidFill>
              <a:latin typeface="Calibri"/>
              <a:ea typeface="Calibri"/>
              <a:cs typeface="Calibri"/>
              <a:sym typeface="Calibri"/>
            </a:endParaRPr>
          </a:p>
        </p:txBody>
      </p:sp>
      <p:sp>
        <p:nvSpPr>
          <p:cNvPr id="394" name="Google Shape;394;p49"/>
          <p:cNvSpPr/>
          <p:nvPr/>
        </p:nvSpPr>
        <p:spPr>
          <a:xfrm>
            <a:off x="548174" y="4028049"/>
            <a:ext cx="5238403" cy="913111"/>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accent4"/>
                </a:solidFill>
                <a:latin typeface="Calibri"/>
                <a:ea typeface="Calibri"/>
                <a:cs typeface="Calibri"/>
                <a:sym typeface="Calibri"/>
              </a:rPr>
              <a:t>keeps the whole pipeline </a:t>
            </a:r>
            <a:r>
              <a:rPr lang="en-US" sz="2400">
                <a:solidFill>
                  <a:srgbClr val="2668AE"/>
                </a:solidFill>
                <a:latin typeface="Calibri"/>
                <a:ea typeface="Calibri"/>
                <a:cs typeface="Calibri"/>
                <a:sym typeface="Calibri"/>
              </a:rPr>
              <a:t>alive through the whole process. </a:t>
            </a:r>
            <a:r>
              <a:rPr lang="en-US" sz="2400">
                <a:solidFill>
                  <a:schemeClr val="accent4"/>
                </a:solidFill>
                <a:latin typeface="Calibri"/>
                <a:ea typeface="Calibri"/>
                <a:cs typeface="Calibri"/>
                <a:sym typeface="Calibri"/>
              </a:rPr>
              <a:t>​</a:t>
            </a:r>
            <a:endParaRPr/>
          </a:p>
        </p:txBody>
      </p:sp>
      <p:sp>
        <p:nvSpPr>
          <p:cNvPr id="395" name="Google Shape;395;p49"/>
          <p:cNvSpPr/>
          <p:nvPr/>
        </p:nvSpPr>
        <p:spPr>
          <a:xfrm>
            <a:off x="548174" y="5288177"/>
            <a:ext cx="5238403" cy="913110"/>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accent4"/>
                </a:solidFill>
                <a:latin typeface="Calibri"/>
                <a:ea typeface="Calibri"/>
                <a:cs typeface="Calibri"/>
                <a:sym typeface="Calibri"/>
              </a:rPr>
              <a:t>Reassures that the write back operation is done smoothly. ​</a:t>
            </a:r>
            <a:endParaRPr/>
          </a:p>
        </p:txBody>
      </p:sp>
      <p:cxnSp>
        <p:nvCxnSpPr>
          <p:cNvPr id="396" name="Google Shape;396;p49"/>
          <p:cNvCxnSpPr/>
          <p:nvPr/>
        </p:nvCxnSpPr>
        <p:spPr>
          <a:xfrm>
            <a:off x="3167377" y="3693444"/>
            <a:ext cx="2953800" cy="132900"/>
          </a:xfrm>
          <a:prstGeom prst="bentConnector2">
            <a:avLst/>
          </a:prstGeom>
          <a:solidFill>
            <a:schemeClr val="accent1"/>
          </a:solidFill>
          <a:ln cap="flat" cmpd="sng" w="57150">
            <a:solidFill>
              <a:srgbClr val="29385E"/>
            </a:solidFill>
            <a:prstDash val="solid"/>
            <a:round/>
            <a:headEnd len="sm" w="sm" type="none"/>
            <a:tailEnd len="med" w="med" type="triangle"/>
          </a:ln>
        </p:spPr>
      </p:cxnSp>
      <p:cxnSp>
        <p:nvCxnSpPr>
          <p:cNvPr id="397" name="Google Shape;397;p49"/>
          <p:cNvCxnSpPr/>
          <p:nvPr/>
        </p:nvCxnSpPr>
        <p:spPr>
          <a:xfrm>
            <a:off x="3167375" y="4941160"/>
            <a:ext cx="2953800" cy="132900"/>
          </a:xfrm>
          <a:prstGeom prst="bentConnector2">
            <a:avLst/>
          </a:prstGeom>
          <a:solidFill>
            <a:schemeClr val="accent1"/>
          </a:solidFill>
          <a:ln cap="flat" cmpd="sng" w="57150">
            <a:solidFill>
              <a:srgbClr val="29385E"/>
            </a:solidFill>
            <a:prstDash val="solid"/>
            <a:round/>
            <a:headEnd len="sm" w="sm" type="none"/>
            <a:tailEnd len="med" w="med" type="triangle"/>
          </a:ln>
        </p:spPr>
      </p:cxnSp>
      <p:cxnSp>
        <p:nvCxnSpPr>
          <p:cNvPr id="398" name="Google Shape;398;p49"/>
          <p:cNvCxnSpPr/>
          <p:nvPr/>
        </p:nvCxnSpPr>
        <p:spPr>
          <a:xfrm>
            <a:off x="3167375" y="6200964"/>
            <a:ext cx="2953800" cy="132900"/>
          </a:xfrm>
          <a:prstGeom prst="bentConnector2">
            <a:avLst/>
          </a:prstGeom>
          <a:solidFill>
            <a:schemeClr val="accent1"/>
          </a:solidFill>
          <a:ln cap="flat" cmpd="sng" w="57150">
            <a:solidFill>
              <a:srgbClr val="29385E"/>
            </a:solidFill>
            <a:prstDash val="solid"/>
            <a:round/>
            <a:headEnd len="sm" w="sm"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390"/>
                                        </p:tgtEl>
                                        <p:attrNameLst>
                                          <p:attrName>style.visibility</p:attrName>
                                        </p:attrNameLst>
                                      </p:cBhvr>
                                      <p:to>
                                        <p:strVal val="visible"/>
                                      </p:to>
                                    </p:set>
                                    <p:anim calcmode="lin" valueType="num">
                                      <p:cBhvr additive="base">
                                        <p:cTn dur="500"/>
                                        <p:tgtEl>
                                          <p:spTgt spid="39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1"/>
                                        </p:tgtEl>
                                        <p:attrNameLst>
                                          <p:attrName>style.visibility</p:attrName>
                                        </p:attrNameLst>
                                      </p:cBhvr>
                                      <p:to>
                                        <p:strVal val="visible"/>
                                      </p:to>
                                    </p:set>
                                    <p:anim calcmode="lin" valueType="num">
                                      <p:cBhvr additive="base">
                                        <p:cTn dur="500"/>
                                        <p:tgtEl>
                                          <p:spTgt spid="39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92"/>
                                        </p:tgtEl>
                                        <p:attrNameLst>
                                          <p:attrName>style.visibility</p:attrName>
                                        </p:attrNameLst>
                                      </p:cBhvr>
                                      <p:to>
                                        <p:strVal val="visible"/>
                                      </p:to>
                                    </p:set>
                                    <p:anim calcmode="lin" valueType="num">
                                      <p:cBhvr additive="base">
                                        <p:cTn dur="500"/>
                                        <p:tgtEl>
                                          <p:spTgt spid="39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93"/>
                                        </p:tgtEl>
                                        <p:attrNameLst>
                                          <p:attrName>style.visibility</p:attrName>
                                        </p:attrNameLst>
                                      </p:cBhvr>
                                      <p:to>
                                        <p:strVal val="visible"/>
                                      </p:to>
                                    </p:set>
                                    <p:anim calcmode="lin" valueType="num">
                                      <p:cBhvr additive="base">
                                        <p:cTn dur="500"/>
                                        <p:tgtEl>
                                          <p:spTgt spid="39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94"/>
                                        </p:tgtEl>
                                        <p:attrNameLst>
                                          <p:attrName>style.visibility</p:attrName>
                                        </p:attrNameLst>
                                      </p:cBhvr>
                                      <p:to>
                                        <p:strVal val="visible"/>
                                      </p:to>
                                    </p:set>
                                    <p:anim calcmode="lin" valueType="num">
                                      <p:cBhvr additive="base">
                                        <p:cTn dur="500"/>
                                        <p:tgtEl>
                                          <p:spTgt spid="39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95"/>
                                        </p:tgtEl>
                                        <p:attrNameLst>
                                          <p:attrName>style.visibility</p:attrName>
                                        </p:attrNameLst>
                                      </p:cBhvr>
                                      <p:to>
                                        <p:strVal val="visible"/>
                                      </p:to>
                                    </p:set>
                                    <p:anim calcmode="lin" valueType="num">
                                      <p:cBhvr additive="base">
                                        <p:cTn dur="500"/>
                                        <p:tgtEl>
                                          <p:spTgt spid="39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97"/>
                                        </p:tgtEl>
                                        <p:attrNameLst>
                                          <p:attrName>style.visibility</p:attrName>
                                        </p:attrNameLst>
                                      </p:cBhvr>
                                      <p:to>
                                        <p:strVal val="visible"/>
                                      </p:to>
                                    </p:set>
                                    <p:anim calcmode="lin" valueType="num">
                                      <p:cBhvr additive="base">
                                        <p:cTn dur="500"/>
                                        <p:tgtEl>
                                          <p:spTgt spid="39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98"/>
                                        </p:tgtEl>
                                        <p:attrNameLst>
                                          <p:attrName>style.visibility</p:attrName>
                                        </p:attrNameLst>
                                      </p:cBhvr>
                                      <p:to>
                                        <p:strVal val="visible"/>
                                      </p:to>
                                    </p:set>
                                    <p:anim calcmode="lin" valueType="num">
                                      <p:cBhvr additive="base">
                                        <p:cTn dur="500"/>
                                        <p:tgtEl>
                                          <p:spTgt spid="39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96"/>
                                        </p:tgtEl>
                                        <p:attrNameLst>
                                          <p:attrName>style.visibility</p:attrName>
                                        </p:attrNameLst>
                                      </p:cBhvr>
                                      <p:to>
                                        <p:strVal val="visible"/>
                                      </p:to>
                                    </p:set>
                                    <p:anim calcmode="lin" valueType="num">
                                      <p:cBhvr additive="base">
                                        <p:cTn dur="500"/>
                                        <p:tgtEl>
                                          <p:spTgt spid="39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0"/>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Issue Stage</a:t>
            </a:r>
            <a:endParaRPr/>
          </a:p>
        </p:txBody>
      </p:sp>
      <p:pic>
        <p:nvPicPr>
          <p:cNvPr descr="A diagram of a computer system&#10;&#10;Description automatically generated" id="404" name="Google Shape;404;p50"/>
          <p:cNvPicPr preferRelativeResize="0"/>
          <p:nvPr/>
        </p:nvPicPr>
        <p:blipFill rotWithShape="1">
          <a:blip r:embed="rId3">
            <a:alphaModFix/>
          </a:blip>
          <a:srcRect b="38219" l="17074" r="29238" t="168"/>
          <a:stretch/>
        </p:blipFill>
        <p:spPr>
          <a:xfrm>
            <a:off x="3738839" y="1343691"/>
            <a:ext cx="7220106" cy="5213757"/>
          </a:xfrm>
          <a:prstGeom prst="rect">
            <a:avLst/>
          </a:prstGeom>
          <a:noFill/>
          <a:ln>
            <a:noFill/>
          </a:ln>
        </p:spPr>
      </p:pic>
      <p:sp>
        <p:nvSpPr>
          <p:cNvPr id="405" name="Google Shape;405;p50"/>
          <p:cNvSpPr/>
          <p:nvPr/>
        </p:nvSpPr>
        <p:spPr>
          <a:xfrm>
            <a:off x="491800" y="1308962"/>
            <a:ext cx="8725352" cy="5461293"/>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cxnSp>
        <p:nvCxnSpPr>
          <p:cNvPr id="406" name="Google Shape;406;p50"/>
          <p:cNvCxnSpPr/>
          <p:nvPr/>
        </p:nvCxnSpPr>
        <p:spPr>
          <a:xfrm rot="10800000">
            <a:off x="7348919" y="2376723"/>
            <a:ext cx="2064300" cy="1385700"/>
          </a:xfrm>
          <a:prstGeom prst="curvedConnector3">
            <a:avLst>
              <a:gd fmla="val 18680" name="adj1"/>
            </a:avLst>
          </a:prstGeom>
          <a:noFill/>
          <a:ln cap="flat" cmpd="sng" w="63500">
            <a:solidFill>
              <a:srgbClr val="7F6600"/>
            </a:solidFill>
            <a:prstDash val="dot"/>
            <a:round/>
            <a:headEnd len="sm" w="sm" type="none"/>
            <a:tailEnd len="med" w="med" type="triangle"/>
          </a:ln>
          <a:effectLst>
            <a:outerShdw blurRad="50800" rotWithShape="0" algn="tl" dir="2700000" dist="38100">
              <a:srgbClr val="000000">
                <a:alpha val="40000"/>
              </a:srgbClr>
            </a:outerShdw>
          </a:effectLst>
        </p:spPr>
      </p:cxnSp>
      <p:sp>
        <p:nvSpPr>
          <p:cNvPr id="407" name="Google Shape;407;p50"/>
          <p:cNvSpPr/>
          <p:nvPr/>
        </p:nvSpPr>
        <p:spPr>
          <a:xfrm>
            <a:off x="1385454" y="1985225"/>
            <a:ext cx="5963438"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Operands Collector Unit (OCU)</a:t>
            </a:r>
            <a:endParaRPr/>
          </a:p>
        </p:txBody>
      </p:sp>
      <p:sp>
        <p:nvSpPr>
          <p:cNvPr id="408" name="Google Shape;408;p50"/>
          <p:cNvSpPr/>
          <p:nvPr/>
        </p:nvSpPr>
        <p:spPr>
          <a:xfrm>
            <a:off x="1385454" y="3093875"/>
            <a:ext cx="5963438"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Scoreboard</a:t>
            </a:r>
            <a:endParaRPr/>
          </a:p>
        </p:txBody>
      </p:sp>
      <p:cxnSp>
        <p:nvCxnSpPr>
          <p:cNvPr id="409" name="Google Shape;409;p50"/>
          <p:cNvCxnSpPr/>
          <p:nvPr/>
        </p:nvCxnSpPr>
        <p:spPr>
          <a:xfrm rot="10800000">
            <a:off x="7348918" y="3509669"/>
            <a:ext cx="2064300" cy="1385700"/>
          </a:xfrm>
          <a:prstGeom prst="curvedConnector3">
            <a:avLst>
              <a:gd fmla="val 18680" name="adj1"/>
            </a:avLst>
          </a:prstGeom>
          <a:noFill/>
          <a:ln cap="flat" cmpd="sng" w="63500">
            <a:solidFill>
              <a:srgbClr val="7F6600"/>
            </a:solidFill>
            <a:prstDash val="dot"/>
            <a:round/>
            <a:headEnd len="sm" w="sm" type="none"/>
            <a:tailEnd len="med" w="med" type="triangle"/>
          </a:ln>
          <a:effectLst>
            <a:outerShdw blurRad="50800" rotWithShape="0" algn="tl" dir="2700000" dist="38100">
              <a:srgbClr val="000000">
                <a:alpha val="40000"/>
              </a:srgbClr>
            </a:outerShdw>
          </a:effectLst>
        </p:spPr>
      </p:cxnSp>
      <p:sp>
        <p:nvSpPr>
          <p:cNvPr id="410" name="Google Shape;410;p50"/>
          <p:cNvSpPr/>
          <p:nvPr/>
        </p:nvSpPr>
        <p:spPr>
          <a:xfrm>
            <a:off x="1385454" y="4300927"/>
            <a:ext cx="5963438"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I-Buffer</a:t>
            </a:r>
            <a:endParaRPr/>
          </a:p>
        </p:txBody>
      </p:sp>
      <p:cxnSp>
        <p:nvCxnSpPr>
          <p:cNvPr id="411" name="Google Shape;411;p50"/>
          <p:cNvCxnSpPr/>
          <p:nvPr/>
        </p:nvCxnSpPr>
        <p:spPr>
          <a:xfrm rot="10800000">
            <a:off x="7348918" y="4592423"/>
            <a:ext cx="2064300" cy="1385700"/>
          </a:xfrm>
          <a:prstGeom prst="curvedConnector3">
            <a:avLst>
              <a:gd fmla="val 18680" name="adj1"/>
            </a:avLst>
          </a:prstGeom>
          <a:noFill/>
          <a:ln cap="flat" cmpd="sng" w="63500">
            <a:solidFill>
              <a:srgbClr val="7F6600"/>
            </a:solidFill>
            <a:prstDash val="dot"/>
            <a:round/>
            <a:headEnd len="sm" w="sm" type="none"/>
            <a:tailEnd len="med" w="med" type="triangle"/>
          </a:ln>
          <a:effectLst>
            <a:outerShdw blurRad="50800" rotWithShape="0" algn="tl" dir="2700000" dist="38100">
              <a:srgbClr val="000000">
                <a:alpha val="40000"/>
              </a:srgbClr>
            </a:outerShdw>
          </a:effectLst>
        </p:spPr>
      </p:cxnSp>
      <p:sp>
        <p:nvSpPr>
          <p:cNvPr id="412" name="Google Shape;412;p50"/>
          <p:cNvSpPr/>
          <p:nvPr/>
        </p:nvSpPr>
        <p:spPr>
          <a:xfrm>
            <a:off x="1385454" y="4300927"/>
            <a:ext cx="5963438" cy="703276"/>
          </a:xfrm>
          <a:prstGeom prst="roundRect">
            <a:avLst>
              <a:gd fmla="val 16667" name="adj"/>
            </a:avLst>
          </a:prstGeom>
          <a:solidFill>
            <a:srgbClr val="FED2EB">
              <a:alpha val="50980"/>
            </a:srgbClr>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I-Buffer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par>
                                <p:cTn fill="hold" nodeType="with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500"/>
                                        <p:tgtEl>
                                          <p:spTgt spid="407"/>
                                        </p:tgtEl>
                                      </p:cBhvr>
                                    </p:animEffect>
                                  </p:childTnLst>
                                </p:cTn>
                              </p:par>
                              <p:par>
                                <p:cTn fill="hold" nodeType="with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500"/>
                                        <p:tgtEl>
                                          <p:spTgt spid="408"/>
                                        </p:tgtEl>
                                      </p:cBhvr>
                                    </p:animEffect>
                                  </p:childTnLst>
                                </p:cTn>
                              </p:par>
                              <p:par>
                                <p:cTn fill="hold" nodeType="with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500"/>
                                        <p:tgtEl>
                                          <p:spTgt spid="409"/>
                                        </p:tgtEl>
                                      </p:cBhvr>
                                    </p:animEffect>
                                  </p:childTnLst>
                                </p:cTn>
                              </p:par>
                              <p:par>
                                <p:cTn fill="hold" nodeType="with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500"/>
                                        <p:tgtEl>
                                          <p:spTgt spid="410"/>
                                        </p:tgtEl>
                                      </p:cBhvr>
                                    </p:animEffect>
                                  </p:childTnLst>
                                </p:cTn>
                              </p:par>
                              <p:par>
                                <p:cTn fill="hold" nodeType="with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500"/>
                                        <p:tgtEl>
                                          <p:spTgt spid="4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500"/>
                                        <p:tgtEl>
                                          <p:spTgt spid="4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1"/>
          <p:cNvSpPr txBox="1"/>
          <p:nvPr>
            <p:ph idx="1" type="body"/>
          </p:nvPr>
        </p:nvSpPr>
        <p:spPr>
          <a:xfrm>
            <a:off x="160262" y="1678496"/>
            <a:ext cx="7813306" cy="444798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b="0" lang="en-US" sz="2400">
                <a:solidFill>
                  <a:srgbClr val="000000"/>
                </a:solidFill>
                <a:latin typeface="Calibri"/>
                <a:ea typeface="Calibri"/>
                <a:cs typeface="Calibri"/>
                <a:sym typeface="Calibri"/>
              </a:rPr>
              <a:t>The I-Buffer acts as a storage area for decoded instructions that are waiting to be issued to their respective execution units (ALU, FPU, LSU, or SFU).</a:t>
            </a:r>
            <a:endParaRPr/>
          </a:p>
          <a:p>
            <a:pPr indent="0" lvl="0" marL="0" rtl="0" algn="l">
              <a:spcBef>
                <a:spcPts val="0"/>
              </a:spcBef>
              <a:spcAft>
                <a:spcPts val="0"/>
              </a:spcAft>
              <a:buSzPts val="2400"/>
              <a:buNone/>
            </a:pPr>
            <a:r>
              <a:t/>
            </a:r>
            <a:endParaRPr b="0" sz="2400">
              <a:solidFill>
                <a:srgbClr val="000000"/>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rgbClr val="29385E"/>
                </a:solidFill>
                <a:latin typeface="Calibri"/>
                <a:ea typeface="Calibri"/>
                <a:cs typeface="Calibri"/>
                <a:sym typeface="Calibri"/>
              </a:rPr>
              <a:t>Decoupling Pipeline Stages: </a:t>
            </a:r>
            <a:r>
              <a:rPr b="0" lang="en-US" sz="2400">
                <a:solidFill>
                  <a:srgbClr val="000000"/>
                </a:solidFill>
                <a:latin typeface="Calibri"/>
                <a:ea typeface="Calibri"/>
                <a:cs typeface="Calibri"/>
                <a:sym typeface="Calibri"/>
              </a:rPr>
              <a:t>It allows the Decode Stage to </a:t>
            </a:r>
            <a:r>
              <a:rPr lang="en-US" sz="2400">
                <a:solidFill>
                  <a:srgbClr val="000000"/>
                </a:solidFill>
                <a:latin typeface="Calibri"/>
                <a:ea typeface="Calibri"/>
                <a:cs typeface="Calibri"/>
                <a:sym typeface="Calibri"/>
              </a:rPr>
              <a:t>continue processing new instructions </a:t>
            </a:r>
            <a:r>
              <a:rPr b="0" lang="en-US" sz="2400">
                <a:solidFill>
                  <a:srgbClr val="000000"/>
                </a:solidFill>
                <a:latin typeface="Calibri"/>
                <a:ea typeface="Calibri"/>
                <a:cs typeface="Calibri"/>
                <a:sym typeface="Calibri"/>
              </a:rPr>
              <a:t>even if the execution Units are currently busy or stalled.</a:t>
            </a:r>
            <a:endParaRPr/>
          </a:p>
          <a:p>
            <a:pPr indent="0" lvl="0" marL="0" rtl="0" algn="l">
              <a:spcBef>
                <a:spcPts val="0"/>
              </a:spcBef>
              <a:spcAft>
                <a:spcPts val="0"/>
              </a:spcAft>
              <a:buSzPts val="2400"/>
              <a:buNone/>
            </a:pPr>
            <a:r>
              <a:t/>
            </a:r>
            <a:endParaRPr b="0" sz="2400">
              <a:solidFill>
                <a:srgbClr val="000000"/>
              </a:solidFill>
              <a:latin typeface="Calibri"/>
              <a:ea typeface="Calibri"/>
              <a:cs typeface="Calibri"/>
              <a:sym typeface="Calibri"/>
            </a:endParaRPr>
          </a:p>
          <a:p>
            <a:pPr indent="-342900" lvl="0" marL="342900" rtl="0" algn="l">
              <a:spcBef>
                <a:spcPts val="0"/>
              </a:spcBef>
              <a:spcAft>
                <a:spcPts val="0"/>
              </a:spcAft>
              <a:buSzPts val="2400"/>
              <a:buChar char="•"/>
            </a:pPr>
            <a:r>
              <a:rPr b="0" lang="en-US" sz="2400">
                <a:solidFill>
                  <a:srgbClr val="29385E"/>
                </a:solidFill>
                <a:latin typeface="Calibri"/>
                <a:ea typeface="Calibri"/>
                <a:cs typeface="Calibri"/>
                <a:sym typeface="Calibri"/>
              </a:rPr>
              <a:t>SIMT Management: </a:t>
            </a:r>
            <a:r>
              <a:rPr b="0" lang="en-US" sz="2400">
                <a:solidFill>
                  <a:srgbClr val="000000"/>
                </a:solidFill>
                <a:latin typeface="Calibri"/>
                <a:ea typeface="Calibri"/>
                <a:cs typeface="Calibri"/>
                <a:sym typeface="Calibri"/>
              </a:rPr>
              <a:t>Because Vortex issues instructions at the </a:t>
            </a:r>
            <a:r>
              <a:rPr lang="en-US" sz="2400">
                <a:solidFill>
                  <a:srgbClr val="000000"/>
                </a:solidFill>
                <a:latin typeface="Calibri"/>
                <a:ea typeface="Calibri"/>
                <a:cs typeface="Calibri"/>
                <a:sym typeface="Calibri"/>
              </a:rPr>
              <a:t>warp level</a:t>
            </a:r>
            <a:r>
              <a:rPr b="0" lang="en-US" sz="2400">
                <a:solidFill>
                  <a:srgbClr val="000000"/>
                </a:solidFill>
                <a:latin typeface="Calibri"/>
                <a:ea typeface="Calibri"/>
                <a:cs typeface="Calibri"/>
                <a:sym typeface="Calibri"/>
              </a:rPr>
              <a:t>, the I-Buffer </a:t>
            </a:r>
            <a:r>
              <a:rPr lang="en-US" sz="2400">
                <a:solidFill>
                  <a:srgbClr val="000000"/>
                </a:solidFill>
                <a:latin typeface="Calibri"/>
                <a:ea typeface="Calibri"/>
                <a:cs typeface="Calibri"/>
                <a:sym typeface="Calibri"/>
              </a:rPr>
              <a:t>holds the decoded state </a:t>
            </a:r>
            <a:r>
              <a:rPr b="0" lang="en-US" sz="2400">
                <a:solidFill>
                  <a:srgbClr val="000000"/>
                </a:solidFill>
                <a:latin typeface="Calibri"/>
                <a:ea typeface="Calibri"/>
                <a:cs typeface="Calibri"/>
                <a:sym typeface="Calibri"/>
              </a:rPr>
              <a:t>for a specific warp until the hardware is ready to process it.</a:t>
            </a:r>
            <a:endParaRPr/>
          </a:p>
          <a:p>
            <a:pPr indent="-190500" lvl="0" marL="342900" rtl="0" algn="l">
              <a:spcBef>
                <a:spcPts val="0"/>
              </a:spcBef>
              <a:spcAft>
                <a:spcPts val="0"/>
              </a:spcAft>
              <a:buSzPts val="2400"/>
              <a:buNone/>
            </a:pPr>
            <a:r>
              <a:t/>
            </a:r>
            <a:endParaRPr b="0" sz="2400">
              <a:solidFill>
                <a:srgbClr val="000000"/>
              </a:solidFill>
              <a:latin typeface="Calibri"/>
              <a:ea typeface="Calibri"/>
              <a:cs typeface="Calibri"/>
              <a:sym typeface="Calibri"/>
            </a:endParaRPr>
          </a:p>
        </p:txBody>
      </p:sp>
      <p:pic>
        <p:nvPicPr>
          <p:cNvPr descr="A screenshot of a computer&#10;&#10;Description automatically generated" id="418" name="Google Shape;418;p51"/>
          <p:cNvPicPr preferRelativeResize="0"/>
          <p:nvPr/>
        </p:nvPicPr>
        <p:blipFill rotWithShape="1">
          <a:blip r:embed="rId3">
            <a:alphaModFix/>
          </a:blip>
          <a:srcRect b="40358" l="0" r="0" t="27059"/>
          <a:stretch/>
        </p:blipFill>
        <p:spPr>
          <a:xfrm>
            <a:off x="7837549" y="1405376"/>
            <a:ext cx="4098415" cy="2420761"/>
          </a:xfrm>
          <a:prstGeom prst="roundRect">
            <a:avLst>
              <a:gd fmla="val 16667" name="adj"/>
            </a:avLst>
          </a:prstGeom>
          <a:noFill/>
          <a:ln>
            <a:noFill/>
          </a:ln>
          <a:effectLst>
            <a:outerShdw blurRad="76200" rotWithShape="0" algn="tl" dir="7800000" dist="38100">
              <a:srgbClr val="000000">
                <a:alpha val="40000"/>
              </a:srgbClr>
            </a:outerShdw>
          </a:effectLst>
        </p:spPr>
      </p:pic>
      <p:sp>
        <p:nvSpPr>
          <p:cNvPr id="419" name="Google Shape;419;p51"/>
          <p:cNvSpPr/>
          <p:nvPr/>
        </p:nvSpPr>
        <p:spPr>
          <a:xfrm>
            <a:off x="7680960" y="1645920"/>
            <a:ext cx="2240280" cy="630936"/>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sp>
        <p:nvSpPr>
          <p:cNvPr id="420" name="Google Shape;420;p51"/>
          <p:cNvSpPr/>
          <p:nvPr/>
        </p:nvSpPr>
        <p:spPr>
          <a:xfrm>
            <a:off x="1463040" y="607294"/>
            <a:ext cx="9034272"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Instruction Buffer (I-Buffer)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500"/>
                                        <p:tgtEl>
                                          <p:spTgt spid="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2"/>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Issue Stage</a:t>
            </a:r>
            <a:endParaRPr/>
          </a:p>
        </p:txBody>
      </p:sp>
      <p:pic>
        <p:nvPicPr>
          <p:cNvPr descr="A diagram of a computer system&#10;&#10;Description automatically generated" id="426" name="Google Shape;426;p52"/>
          <p:cNvPicPr preferRelativeResize="0"/>
          <p:nvPr/>
        </p:nvPicPr>
        <p:blipFill rotWithShape="1">
          <a:blip r:embed="rId3">
            <a:alphaModFix/>
          </a:blip>
          <a:srcRect b="38219" l="17074" r="29238" t="168"/>
          <a:stretch/>
        </p:blipFill>
        <p:spPr>
          <a:xfrm>
            <a:off x="3738839" y="1343691"/>
            <a:ext cx="7220106" cy="5213757"/>
          </a:xfrm>
          <a:prstGeom prst="rect">
            <a:avLst/>
          </a:prstGeom>
          <a:noFill/>
          <a:ln>
            <a:noFill/>
          </a:ln>
        </p:spPr>
      </p:pic>
      <p:sp>
        <p:nvSpPr>
          <p:cNvPr id="427" name="Google Shape;427;p52"/>
          <p:cNvSpPr/>
          <p:nvPr/>
        </p:nvSpPr>
        <p:spPr>
          <a:xfrm>
            <a:off x="491800" y="1308962"/>
            <a:ext cx="8725352" cy="5461293"/>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cxnSp>
        <p:nvCxnSpPr>
          <p:cNvPr id="428" name="Google Shape;428;p52"/>
          <p:cNvCxnSpPr/>
          <p:nvPr/>
        </p:nvCxnSpPr>
        <p:spPr>
          <a:xfrm rot="10800000">
            <a:off x="7348919" y="2376723"/>
            <a:ext cx="2064300" cy="1385700"/>
          </a:xfrm>
          <a:prstGeom prst="curvedConnector3">
            <a:avLst>
              <a:gd fmla="val 18680" name="adj1"/>
            </a:avLst>
          </a:prstGeom>
          <a:noFill/>
          <a:ln cap="flat" cmpd="sng" w="63500">
            <a:solidFill>
              <a:srgbClr val="7F6600"/>
            </a:solidFill>
            <a:prstDash val="dot"/>
            <a:round/>
            <a:headEnd len="sm" w="sm" type="none"/>
            <a:tailEnd len="med" w="med" type="triangle"/>
          </a:ln>
          <a:effectLst>
            <a:outerShdw blurRad="50800" rotWithShape="0" algn="tl" dir="2700000" dist="38100">
              <a:srgbClr val="000000">
                <a:alpha val="40000"/>
              </a:srgbClr>
            </a:outerShdw>
          </a:effectLst>
        </p:spPr>
      </p:cxnSp>
      <p:sp>
        <p:nvSpPr>
          <p:cNvPr id="429" name="Google Shape;429;p52"/>
          <p:cNvSpPr/>
          <p:nvPr/>
        </p:nvSpPr>
        <p:spPr>
          <a:xfrm>
            <a:off x="1385454" y="1985225"/>
            <a:ext cx="5963438"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Operands Collector Unit (OCU)</a:t>
            </a:r>
            <a:endParaRPr/>
          </a:p>
        </p:txBody>
      </p:sp>
      <p:sp>
        <p:nvSpPr>
          <p:cNvPr id="430" name="Google Shape;430;p52"/>
          <p:cNvSpPr/>
          <p:nvPr/>
        </p:nvSpPr>
        <p:spPr>
          <a:xfrm>
            <a:off x="1385454" y="3093875"/>
            <a:ext cx="5963438"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Scoreboard</a:t>
            </a:r>
            <a:endParaRPr/>
          </a:p>
        </p:txBody>
      </p:sp>
      <p:cxnSp>
        <p:nvCxnSpPr>
          <p:cNvPr id="431" name="Google Shape;431;p52"/>
          <p:cNvCxnSpPr/>
          <p:nvPr/>
        </p:nvCxnSpPr>
        <p:spPr>
          <a:xfrm rot="10800000">
            <a:off x="7348918" y="3509669"/>
            <a:ext cx="2064300" cy="1385700"/>
          </a:xfrm>
          <a:prstGeom prst="curvedConnector3">
            <a:avLst>
              <a:gd fmla="val 18680" name="adj1"/>
            </a:avLst>
          </a:prstGeom>
          <a:noFill/>
          <a:ln cap="flat" cmpd="sng" w="63500">
            <a:solidFill>
              <a:srgbClr val="7F6600"/>
            </a:solidFill>
            <a:prstDash val="dot"/>
            <a:round/>
            <a:headEnd len="sm" w="sm" type="none"/>
            <a:tailEnd len="med" w="med" type="triangle"/>
          </a:ln>
          <a:effectLst>
            <a:outerShdw blurRad="50800" rotWithShape="0" algn="tl" dir="2700000" dist="38100">
              <a:srgbClr val="000000">
                <a:alpha val="40000"/>
              </a:srgbClr>
            </a:outerShdw>
          </a:effectLst>
        </p:spPr>
      </p:cxnSp>
      <p:sp>
        <p:nvSpPr>
          <p:cNvPr id="432" name="Google Shape;432;p52"/>
          <p:cNvSpPr/>
          <p:nvPr/>
        </p:nvSpPr>
        <p:spPr>
          <a:xfrm>
            <a:off x="1385454" y="4300927"/>
            <a:ext cx="5963438"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I-Buffer</a:t>
            </a:r>
            <a:endParaRPr/>
          </a:p>
        </p:txBody>
      </p:sp>
      <p:cxnSp>
        <p:nvCxnSpPr>
          <p:cNvPr id="433" name="Google Shape;433;p52"/>
          <p:cNvCxnSpPr/>
          <p:nvPr/>
        </p:nvCxnSpPr>
        <p:spPr>
          <a:xfrm rot="10800000">
            <a:off x="7348918" y="4592423"/>
            <a:ext cx="2064300" cy="1385700"/>
          </a:xfrm>
          <a:prstGeom prst="curvedConnector3">
            <a:avLst>
              <a:gd fmla="val 18680" name="adj1"/>
            </a:avLst>
          </a:prstGeom>
          <a:noFill/>
          <a:ln cap="flat" cmpd="sng" w="63500">
            <a:solidFill>
              <a:srgbClr val="7F6600"/>
            </a:solidFill>
            <a:prstDash val="dot"/>
            <a:round/>
            <a:headEnd len="sm" w="sm" type="none"/>
            <a:tailEnd len="med" w="med" type="triangle"/>
          </a:ln>
          <a:effectLst>
            <a:outerShdw blurRad="50800" rotWithShape="0" algn="tl" dir="2700000" dist="38100">
              <a:srgbClr val="000000">
                <a:alpha val="40000"/>
              </a:srgbClr>
            </a:outerShdw>
          </a:effectLst>
        </p:spPr>
      </p:cxnSp>
      <p:sp>
        <p:nvSpPr>
          <p:cNvPr id="434" name="Google Shape;434;p52"/>
          <p:cNvSpPr/>
          <p:nvPr/>
        </p:nvSpPr>
        <p:spPr>
          <a:xfrm>
            <a:off x="1385454" y="3080776"/>
            <a:ext cx="5963438" cy="703276"/>
          </a:xfrm>
          <a:prstGeom prst="roundRect">
            <a:avLst>
              <a:gd fmla="val 16667" name="adj"/>
            </a:avLst>
          </a:prstGeom>
          <a:solidFill>
            <a:srgbClr val="FEE8F5"/>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Scoreboard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500"/>
                                        <p:tgtEl>
                                          <p:spTgt spid="428"/>
                                        </p:tgtEl>
                                      </p:cBhvr>
                                    </p:animEffect>
                                  </p:childTnLst>
                                </p:cTn>
                              </p:par>
                              <p:par>
                                <p:cTn fill="hold" nodeType="with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500"/>
                                        <p:tgtEl>
                                          <p:spTgt spid="4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500"/>
                                        <p:tgtEl>
                                          <p:spTgt spid="430"/>
                                        </p:tgtEl>
                                      </p:cBhvr>
                                    </p:animEffect>
                                  </p:childTnLst>
                                </p:cTn>
                              </p:par>
                              <p:par>
                                <p:cTn fill="hold" nodeType="with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500"/>
                                        <p:tgtEl>
                                          <p:spTgt spid="432"/>
                                        </p:tgtEl>
                                      </p:cBhvr>
                                    </p:animEffect>
                                  </p:childTnLst>
                                </p:cTn>
                              </p:par>
                              <p:par>
                                <p:cTn fill="hold" nodeType="with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500"/>
                                        <p:tgtEl>
                                          <p:spTgt spid="4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500"/>
                                        <p:tgtEl>
                                          <p:spTgt spid="4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pic>
        <p:nvPicPr>
          <p:cNvPr descr="A diagram of a work flow&#10;&#10;AI-generated content may be incorrect." id="439" name="Google Shape;439;p53"/>
          <p:cNvPicPr preferRelativeResize="0"/>
          <p:nvPr>
            <p:ph idx="1" type="body"/>
          </p:nvPr>
        </p:nvPicPr>
        <p:blipFill rotWithShape="1">
          <a:blip r:embed="rId3">
            <a:alphaModFix/>
          </a:blip>
          <a:srcRect b="20429" l="0" r="0" t="25369"/>
          <a:stretch/>
        </p:blipFill>
        <p:spPr>
          <a:xfrm>
            <a:off x="209013" y="2452739"/>
            <a:ext cx="10384394" cy="2532889"/>
          </a:xfrm>
          <a:prstGeom prst="roundRect">
            <a:avLst>
              <a:gd fmla="val 16667" name="adj"/>
            </a:avLst>
          </a:prstGeom>
          <a:noFill/>
          <a:ln cap="flat" cmpd="sng" w="28575">
            <a:solidFill>
              <a:schemeClr val="dk1"/>
            </a:solidFill>
            <a:prstDash val="solid"/>
            <a:miter lim="800000"/>
            <a:headEnd len="sm" w="sm" type="none"/>
            <a:tailEnd len="sm" w="sm" type="none"/>
          </a:ln>
          <a:effectLst>
            <a:outerShdw blurRad="76200" rotWithShape="0" algn="tl" dir="7800000" dist="38100">
              <a:srgbClr val="000000">
                <a:alpha val="40000"/>
              </a:srgbClr>
            </a:outerShdw>
          </a:effectLst>
        </p:spPr>
      </p:pic>
      <p:sp>
        <p:nvSpPr>
          <p:cNvPr id="440" name="Google Shape;440;p53"/>
          <p:cNvSpPr txBox="1"/>
          <p:nvPr/>
        </p:nvSpPr>
        <p:spPr>
          <a:xfrm>
            <a:off x="2832309" y="1493835"/>
            <a:ext cx="60960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Scoreboard Dependency Checking Flowchart</a:t>
            </a:r>
            <a:endParaRPr b="1" sz="2400">
              <a:solidFill>
                <a:schemeClr val="dk1"/>
              </a:solidFill>
              <a:latin typeface="Calibri"/>
              <a:ea typeface="Calibri"/>
              <a:cs typeface="Calibri"/>
              <a:sym typeface="Calibri"/>
            </a:endParaRPr>
          </a:p>
        </p:txBody>
      </p:sp>
      <p:sp>
        <p:nvSpPr>
          <p:cNvPr id="441" name="Google Shape;441;p53"/>
          <p:cNvSpPr/>
          <p:nvPr/>
        </p:nvSpPr>
        <p:spPr>
          <a:xfrm>
            <a:off x="2964871" y="734243"/>
            <a:ext cx="5963438"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Scoreboard</a:t>
            </a:r>
            <a:endParaRPr/>
          </a:p>
        </p:txBody>
      </p:sp>
      <p:pic>
        <p:nvPicPr>
          <p:cNvPr descr="A screenshot of a computer&#10;&#10;Description automatically generated" id="442" name="Google Shape;442;p53"/>
          <p:cNvPicPr preferRelativeResize="0"/>
          <p:nvPr/>
        </p:nvPicPr>
        <p:blipFill rotWithShape="1">
          <a:blip r:embed="rId4">
            <a:alphaModFix/>
          </a:blip>
          <a:srcRect b="40358" l="0" r="0" t="27059"/>
          <a:stretch/>
        </p:blipFill>
        <p:spPr>
          <a:xfrm>
            <a:off x="7717477" y="3719183"/>
            <a:ext cx="4098415" cy="2420761"/>
          </a:xfrm>
          <a:prstGeom prst="roundRect">
            <a:avLst>
              <a:gd fmla="val 16667" name="adj"/>
            </a:avLst>
          </a:prstGeom>
          <a:noFill/>
          <a:ln>
            <a:noFill/>
          </a:ln>
          <a:effectLst>
            <a:outerShdw blurRad="76200" rotWithShape="0" algn="tl" dir="7800000" dist="38100">
              <a:srgbClr val="000000">
                <a:alpha val="40000"/>
              </a:srgbClr>
            </a:outerShdw>
          </a:effectLst>
        </p:spPr>
      </p:pic>
      <p:sp>
        <p:nvSpPr>
          <p:cNvPr id="443" name="Google Shape;443;p53"/>
          <p:cNvSpPr/>
          <p:nvPr/>
        </p:nvSpPr>
        <p:spPr>
          <a:xfrm>
            <a:off x="9667976" y="4028901"/>
            <a:ext cx="2240280" cy="630936"/>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cxnSp>
        <p:nvCxnSpPr>
          <p:cNvPr id="444" name="Google Shape;444;p53"/>
          <p:cNvCxnSpPr>
            <a:stCxn id="443" idx="1"/>
          </p:cNvCxnSpPr>
          <p:nvPr/>
        </p:nvCxnSpPr>
        <p:spPr>
          <a:xfrm flipH="1">
            <a:off x="6225176" y="4344369"/>
            <a:ext cx="3442800" cy="1293000"/>
          </a:xfrm>
          <a:prstGeom prst="curvedConnector3">
            <a:avLst>
              <a:gd fmla="val 49998" name="adj1"/>
            </a:avLst>
          </a:prstGeom>
          <a:noFill/>
          <a:ln cap="flat" cmpd="sng" w="63500">
            <a:solidFill>
              <a:srgbClr val="7F6600"/>
            </a:solidFill>
            <a:prstDash val="dot"/>
            <a:round/>
            <a:headEnd len="sm" w="sm" type="none"/>
            <a:tailEnd len="sm" w="sm" type="none"/>
          </a:ln>
          <a:effectLst>
            <a:outerShdw blurRad="50800" rotWithShape="0" algn="tl" dir="2700000" dist="38100">
              <a:srgbClr val="000000">
                <a:alpha val="40000"/>
              </a:srgbClr>
            </a:outerShdw>
          </a:effectLst>
        </p:spPr>
      </p:cxnSp>
      <p:cxnSp>
        <p:nvCxnSpPr>
          <p:cNvPr id="445" name="Google Shape;445;p53"/>
          <p:cNvCxnSpPr>
            <a:endCxn id="439" idx="2"/>
          </p:cNvCxnSpPr>
          <p:nvPr/>
        </p:nvCxnSpPr>
        <p:spPr>
          <a:xfrm rot="10800000">
            <a:off x="5401210" y="4985628"/>
            <a:ext cx="824100" cy="651900"/>
          </a:xfrm>
          <a:prstGeom prst="curvedConnector2">
            <a:avLst/>
          </a:prstGeom>
          <a:noFill/>
          <a:ln cap="flat" cmpd="sng" w="63500">
            <a:solidFill>
              <a:srgbClr val="7F6600"/>
            </a:solidFill>
            <a:prstDash val="dot"/>
            <a:round/>
            <a:headEnd len="sm" w="sm" type="none"/>
            <a:tailEnd len="med" w="med" type="triangle"/>
          </a:ln>
          <a:effectLst>
            <a:outerShdw blurRad="50800" rotWithShape="0" algn="tl" dir="2700000" dist="38100">
              <a:srgbClr val="000000">
                <a:alpha val="40000"/>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500"/>
                                        <p:tgtEl>
                                          <p:spTgt spid="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500"/>
                                        <p:tgtEl>
                                          <p:spTgt spid="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500"/>
                                        <p:tgtEl>
                                          <p:spTgt spid="4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4"/>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Issue Stage</a:t>
            </a:r>
            <a:endParaRPr/>
          </a:p>
        </p:txBody>
      </p:sp>
      <p:pic>
        <p:nvPicPr>
          <p:cNvPr descr="A diagram of a computer system&#10;&#10;Description automatically generated" id="451" name="Google Shape;451;p54"/>
          <p:cNvPicPr preferRelativeResize="0"/>
          <p:nvPr/>
        </p:nvPicPr>
        <p:blipFill rotWithShape="1">
          <a:blip r:embed="rId3">
            <a:alphaModFix/>
          </a:blip>
          <a:srcRect b="38219" l="17074" r="29238" t="168"/>
          <a:stretch/>
        </p:blipFill>
        <p:spPr>
          <a:xfrm>
            <a:off x="3738839" y="1343691"/>
            <a:ext cx="7220106" cy="5213757"/>
          </a:xfrm>
          <a:prstGeom prst="rect">
            <a:avLst/>
          </a:prstGeom>
          <a:noFill/>
          <a:ln>
            <a:noFill/>
          </a:ln>
        </p:spPr>
      </p:pic>
      <p:sp>
        <p:nvSpPr>
          <p:cNvPr id="452" name="Google Shape;452;p54"/>
          <p:cNvSpPr/>
          <p:nvPr/>
        </p:nvSpPr>
        <p:spPr>
          <a:xfrm>
            <a:off x="491800" y="1308962"/>
            <a:ext cx="8725352" cy="5461293"/>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cxnSp>
        <p:nvCxnSpPr>
          <p:cNvPr id="453" name="Google Shape;453;p54"/>
          <p:cNvCxnSpPr/>
          <p:nvPr/>
        </p:nvCxnSpPr>
        <p:spPr>
          <a:xfrm rot="10800000">
            <a:off x="7348919" y="2376723"/>
            <a:ext cx="2064300" cy="1385700"/>
          </a:xfrm>
          <a:prstGeom prst="curvedConnector3">
            <a:avLst>
              <a:gd fmla="val 18680" name="adj1"/>
            </a:avLst>
          </a:prstGeom>
          <a:noFill/>
          <a:ln cap="flat" cmpd="sng" w="63500">
            <a:solidFill>
              <a:srgbClr val="7F6600"/>
            </a:solidFill>
            <a:prstDash val="dot"/>
            <a:round/>
            <a:headEnd len="sm" w="sm" type="none"/>
            <a:tailEnd len="med" w="med" type="triangle"/>
          </a:ln>
          <a:effectLst>
            <a:outerShdw blurRad="50800" rotWithShape="0" algn="tl" dir="2700000" dist="38100">
              <a:srgbClr val="000000">
                <a:alpha val="40000"/>
              </a:srgbClr>
            </a:outerShdw>
          </a:effectLst>
        </p:spPr>
      </p:cxnSp>
      <p:sp>
        <p:nvSpPr>
          <p:cNvPr id="454" name="Google Shape;454;p54"/>
          <p:cNvSpPr/>
          <p:nvPr/>
        </p:nvSpPr>
        <p:spPr>
          <a:xfrm>
            <a:off x="1385454" y="1985225"/>
            <a:ext cx="5963438" cy="703276"/>
          </a:xfrm>
          <a:prstGeom prst="roundRect">
            <a:avLst>
              <a:gd fmla="val 16667" name="adj"/>
            </a:avLst>
          </a:prstGeom>
          <a:solidFill>
            <a:srgbClr val="FEE8F5"/>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Operands Collector Unit (OCU)</a:t>
            </a:r>
            <a:endParaRPr/>
          </a:p>
        </p:txBody>
      </p:sp>
      <p:sp>
        <p:nvSpPr>
          <p:cNvPr id="455" name="Google Shape;455;p54"/>
          <p:cNvSpPr/>
          <p:nvPr/>
        </p:nvSpPr>
        <p:spPr>
          <a:xfrm>
            <a:off x="1385454" y="3093875"/>
            <a:ext cx="5963438"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Scoreboard</a:t>
            </a:r>
            <a:endParaRPr/>
          </a:p>
        </p:txBody>
      </p:sp>
      <p:cxnSp>
        <p:nvCxnSpPr>
          <p:cNvPr id="456" name="Google Shape;456;p54"/>
          <p:cNvCxnSpPr/>
          <p:nvPr/>
        </p:nvCxnSpPr>
        <p:spPr>
          <a:xfrm rot="10800000">
            <a:off x="7348918" y="3509669"/>
            <a:ext cx="2064300" cy="1385700"/>
          </a:xfrm>
          <a:prstGeom prst="curvedConnector3">
            <a:avLst>
              <a:gd fmla="val 18680" name="adj1"/>
            </a:avLst>
          </a:prstGeom>
          <a:noFill/>
          <a:ln cap="flat" cmpd="sng" w="63500">
            <a:solidFill>
              <a:srgbClr val="7F6600"/>
            </a:solidFill>
            <a:prstDash val="dot"/>
            <a:round/>
            <a:headEnd len="sm" w="sm" type="none"/>
            <a:tailEnd len="med" w="med" type="triangle"/>
          </a:ln>
          <a:effectLst>
            <a:outerShdw blurRad="50800" rotWithShape="0" algn="tl" dir="2700000" dist="38100">
              <a:srgbClr val="000000">
                <a:alpha val="40000"/>
              </a:srgbClr>
            </a:outerShdw>
          </a:effectLst>
        </p:spPr>
      </p:cxnSp>
      <p:sp>
        <p:nvSpPr>
          <p:cNvPr id="457" name="Google Shape;457;p54"/>
          <p:cNvSpPr/>
          <p:nvPr/>
        </p:nvSpPr>
        <p:spPr>
          <a:xfrm>
            <a:off x="1385454" y="4300927"/>
            <a:ext cx="5963438"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I-Buffer</a:t>
            </a:r>
            <a:endParaRPr/>
          </a:p>
        </p:txBody>
      </p:sp>
      <p:cxnSp>
        <p:nvCxnSpPr>
          <p:cNvPr id="458" name="Google Shape;458;p54"/>
          <p:cNvCxnSpPr/>
          <p:nvPr/>
        </p:nvCxnSpPr>
        <p:spPr>
          <a:xfrm rot="10800000">
            <a:off x="7348918" y="4592423"/>
            <a:ext cx="2064300" cy="1385700"/>
          </a:xfrm>
          <a:prstGeom prst="curvedConnector3">
            <a:avLst>
              <a:gd fmla="val 18680" name="adj1"/>
            </a:avLst>
          </a:prstGeom>
          <a:noFill/>
          <a:ln cap="flat" cmpd="sng" w="63500">
            <a:solidFill>
              <a:srgbClr val="7F6600"/>
            </a:solidFill>
            <a:prstDash val="dot"/>
            <a:round/>
            <a:headEnd len="sm" w="sm" type="none"/>
            <a:tailEnd len="med" w="med" type="triangle"/>
          </a:ln>
          <a:effectLst>
            <a:outerShdw blurRad="50800" rotWithShape="0" algn="tl" dir="2700000" dist="38100">
              <a:srgbClr val="000000">
                <a:alpha val="40000"/>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500"/>
                                        <p:tgtEl>
                                          <p:spTgt spid="453"/>
                                        </p:tgtEl>
                                      </p:cBhvr>
                                    </p:animEffect>
                                  </p:childTnLst>
                                </p:cTn>
                              </p:par>
                              <p:par>
                                <p:cTn fill="hold" nodeType="with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500"/>
                                        <p:tgtEl>
                                          <p:spTgt spid="455"/>
                                        </p:tgtEl>
                                      </p:cBhvr>
                                    </p:animEffect>
                                  </p:childTnLst>
                                </p:cTn>
                              </p:par>
                              <p:par>
                                <p:cTn fill="hold" nodeType="with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500"/>
                                        <p:tgtEl>
                                          <p:spTgt spid="457"/>
                                        </p:tgtEl>
                                      </p:cBhvr>
                                    </p:animEffect>
                                  </p:childTnLst>
                                </p:cTn>
                              </p:par>
                              <p:par>
                                <p:cTn fill="hold" nodeType="with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500"/>
                                        <p:tgtEl>
                                          <p:spTgt spid="4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5"/>
          <p:cNvSpPr txBox="1"/>
          <p:nvPr>
            <p:ph idx="1" type="body"/>
          </p:nvPr>
        </p:nvSpPr>
        <p:spPr>
          <a:xfrm>
            <a:off x="484632" y="1303919"/>
            <a:ext cx="11393424" cy="4840849"/>
          </a:xfrm>
          <a:prstGeom prst="rect">
            <a:avLst/>
          </a:prstGeom>
          <a:noFill/>
          <a:ln>
            <a:noFill/>
          </a:ln>
        </p:spPr>
        <p:txBody>
          <a:bodyPr anchorCtr="0" anchor="t" bIns="45700" lIns="91425" spcFirstLastPara="1" rIns="91425" wrap="square" tIns="45700">
            <a:noAutofit/>
          </a:bodyPr>
          <a:lstStyle/>
          <a:p>
            <a:pPr indent="-203200" lvl="0" marL="342900" rtl="0" algn="l">
              <a:spcBef>
                <a:spcPts val="0"/>
              </a:spcBef>
              <a:spcAft>
                <a:spcPts val="0"/>
              </a:spcAft>
              <a:buSzPts val="2200"/>
              <a:buNone/>
            </a:pPr>
            <a:r>
              <a:t/>
            </a:r>
            <a:endParaRPr b="0" sz="2200">
              <a:solidFill>
                <a:srgbClr val="000000"/>
              </a:solidFill>
              <a:latin typeface="Calibri"/>
              <a:ea typeface="Calibri"/>
              <a:cs typeface="Calibri"/>
              <a:sym typeface="Calibri"/>
            </a:endParaRPr>
          </a:p>
          <a:p>
            <a:pPr indent="-203200" lvl="0" marL="342900" rtl="0" algn="l">
              <a:spcBef>
                <a:spcPts val="0"/>
              </a:spcBef>
              <a:spcAft>
                <a:spcPts val="0"/>
              </a:spcAft>
              <a:buSzPts val="2200"/>
              <a:buNone/>
            </a:pPr>
            <a:r>
              <a:t/>
            </a:r>
            <a:endParaRPr b="0" sz="2200">
              <a:solidFill>
                <a:srgbClr val="000000"/>
              </a:solidFill>
              <a:latin typeface="Calibri"/>
              <a:ea typeface="Calibri"/>
              <a:cs typeface="Calibri"/>
              <a:sym typeface="Calibri"/>
            </a:endParaRPr>
          </a:p>
        </p:txBody>
      </p:sp>
      <p:sp>
        <p:nvSpPr>
          <p:cNvPr id="464" name="Google Shape;464;p55"/>
          <p:cNvSpPr txBox="1"/>
          <p:nvPr/>
        </p:nvSpPr>
        <p:spPr>
          <a:xfrm>
            <a:off x="385572" y="1751788"/>
            <a:ext cx="7766304" cy="4505569"/>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5D5D5E"/>
              </a:buClr>
              <a:buSzPts val="2400"/>
              <a:buFont typeface="Arial"/>
              <a:buChar char="•"/>
            </a:pPr>
            <a:r>
              <a:rPr b="0" lang="en-US" sz="2400">
                <a:solidFill>
                  <a:schemeClr val="accent4"/>
                </a:solidFill>
                <a:latin typeface="Calibri"/>
                <a:ea typeface="Calibri"/>
                <a:cs typeface="Calibri"/>
                <a:sym typeface="Calibri"/>
              </a:rPr>
              <a:t>fetching data is difficult because a single instruction must </a:t>
            </a:r>
            <a:r>
              <a:rPr b="1" lang="en-US" sz="2400">
                <a:solidFill>
                  <a:schemeClr val="accent4"/>
                </a:solidFill>
                <a:latin typeface="Calibri"/>
                <a:ea typeface="Calibri"/>
                <a:cs typeface="Calibri"/>
                <a:sym typeface="Calibri"/>
              </a:rPr>
              <a:t>fetch source operands for all active threads in a warp. </a:t>
            </a:r>
            <a:r>
              <a:rPr b="0" lang="en-US" sz="2400">
                <a:solidFill>
                  <a:schemeClr val="accent4"/>
                </a:solidFill>
                <a:latin typeface="Calibri"/>
                <a:ea typeface="Calibri"/>
                <a:cs typeface="Calibri"/>
                <a:sym typeface="Calibri"/>
              </a:rPr>
              <a:t>You cannot read 32 registers simultaneously from a standard register file!</a:t>
            </a:r>
            <a:endParaRPr/>
          </a:p>
          <a:p>
            <a:pPr indent="0" lvl="0" marL="0" marR="0" rtl="0" algn="l">
              <a:spcBef>
                <a:spcPts val="480"/>
              </a:spcBef>
              <a:spcAft>
                <a:spcPts val="0"/>
              </a:spcAft>
              <a:buClr>
                <a:srgbClr val="5D5D5E"/>
              </a:buClr>
              <a:buSzPts val="2400"/>
              <a:buFont typeface="Arial"/>
              <a:buNone/>
            </a:pPr>
            <a:r>
              <a:t/>
            </a:r>
            <a:endParaRPr b="0" sz="2400">
              <a:solidFill>
                <a:schemeClr val="accent4"/>
              </a:solidFill>
              <a:latin typeface="Calibri"/>
              <a:ea typeface="Calibri"/>
              <a:cs typeface="Calibri"/>
              <a:sym typeface="Calibri"/>
            </a:endParaRPr>
          </a:p>
          <a:p>
            <a:pPr indent="-342900" lvl="0" marL="342900" marR="0" rtl="0" algn="l">
              <a:spcBef>
                <a:spcPts val="480"/>
              </a:spcBef>
              <a:spcAft>
                <a:spcPts val="0"/>
              </a:spcAft>
              <a:buClr>
                <a:srgbClr val="5D5D5E"/>
              </a:buClr>
              <a:buSzPts val="2400"/>
              <a:buFont typeface="Arial"/>
              <a:buChar char="•"/>
            </a:pPr>
            <a:r>
              <a:rPr b="0" lang="en-US" sz="2400">
                <a:solidFill>
                  <a:schemeClr val="accent4"/>
                </a:solidFill>
                <a:latin typeface="Calibri"/>
                <a:ea typeface="Calibri"/>
                <a:cs typeface="Calibri"/>
                <a:sym typeface="Calibri"/>
              </a:rPr>
              <a:t>To solve this, </a:t>
            </a:r>
            <a:r>
              <a:rPr b="1" lang="en-US" sz="2400">
                <a:solidFill>
                  <a:schemeClr val="accent4"/>
                </a:solidFill>
                <a:latin typeface="Calibri"/>
                <a:ea typeface="Calibri"/>
                <a:cs typeface="Calibri"/>
                <a:sym typeface="Calibri"/>
              </a:rPr>
              <a:t>the Operand Collector Unit (OCU) </a:t>
            </a:r>
            <a:r>
              <a:rPr b="0" lang="en-US" sz="2400">
                <a:solidFill>
                  <a:schemeClr val="accent4"/>
                </a:solidFill>
                <a:latin typeface="Calibri"/>
                <a:ea typeface="Calibri"/>
                <a:cs typeface="Calibri"/>
                <a:sym typeface="Calibri"/>
              </a:rPr>
              <a:t>acts as a smart </a:t>
            </a:r>
            <a:r>
              <a:rPr b="0" lang="en-US" sz="2400">
                <a:solidFill>
                  <a:srgbClr val="29385E"/>
                </a:solidFill>
                <a:latin typeface="Calibri"/>
                <a:ea typeface="Calibri"/>
                <a:cs typeface="Calibri"/>
                <a:sym typeface="Calibri"/>
              </a:rPr>
              <a:t>"waiting room." </a:t>
            </a:r>
            <a:r>
              <a:rPr b="0" lang="en-US" sz="2400">
                <a:solidFill>
                  <a:schemeClr val="accent4"/>
                </a:solidFill>
                <a:latin typeface="Calibri"/>
                <a:ea typeface="Calibri"/>
                <a:cs typeface="Calibri"/>
                <a:sym typeface="Calibri"/>
              </a:rPr>
              <a:t>It gathers the necessary data (operands) from the Register File (RF) over several cycles and only lets the </a:t>
            </a:r>
            <a:r>
              <a:rPr b="0" lang="en-US" sz="2400">
                <a:solidFill>
                  <a:srgbClr val="29385E"/>
                </a:solidFill>
                <a:latin typeface="Calibri"/>
                <a:ea typeface="Calibri"/>
                <a:cs typeface="Calibri"/>
                <a:sym typeface="Calibri"/>
              </a:rPr>
              <a:t>instruction proceed to execution </a:t>
            </a:r>
            <a:r>
              <a:rPr b="0" lang="en-US" sz="2400">
                <a:solidFill>
                  <a:schemeClr val="accent4"/>
                </a:solidFill>
                <a:latin typeface="Calibri"/>
                <a:ea typeface="Calibri"/>
                <a:cs typeface="Calibri"/>
                <a:sym typeface="Calibri"/>
              </a:rPr>
              <a:t>once all </a:t>
            </a:r>
            <a:r>
              <a:rPr b="0" lang="en-US" sz="2400">
                <a:solidFill>
                  <a:srgbClr val="29385E"/>
                </a:solidFill>
                <a:latin typeface="Calibri"/>
                <a:ea typeface="Calibri"/>
                <a:cs typeface="Calibri"/>
                <a:sym typeface="Calibri"/>
              </a:rPr>
              <a:t>the data for all threads has been successfully collected.</a:t>
            </a:r>
            <a:endParaRPr/>
          </a:p>
          <a:p>
            <a:pPr indent="-203200" lvl="0" marL="342900" marR="0" rtl="0" algn="l">
              <a:spcBef>
                <a:spcPts val="0"/>
              </a:spcBef>
              <a:spcAft>
                <a:spcPts val="0"/>
              </a:spcAft>
              <a:buClr>
                <a:srgbClr val="5D5D5E"/>
              </a:buClr>
              <a:buSzPts val="2200"/>
              <a:buFont typeface="Arial"/>
              <a:buNone/>
            </a:pPr>
            <a:r>
              <a:t/>
            </a:r>
            <a:endParaRPr b="0" sz="2200">
              <a:solidFill>
                <a:srgbClr val="000000"/>
              </a:solidFill>
              <a:latin typeface="Calibri"/>
              <a:ea typeface="Calibri"/>
              <a:cs typeface="Calibri"/>
              <a:sym typeface="Calibri"/>
            </a:endParaRPr>
          </a:p>
        </p:txBody>
      </p:sp>
      <p:pic>
        <p:nvPicPr>
          <p:cNvPr descr="A screenshot of a computer&#10;&#10;Description automatically generated" id="465" name="Google Shape;465;p55"/>
          <p:cNvPicPr preferRelativeResize="0"/>
          <p:nvPr/>
        </p:nvPicPr>
        <p:blipFill rotWithShape="1">
          <a:blip r:embed="rId3">
            <a:alphaModFix/>
          </a:blip>
          <a:srcRect b="0" l="0" r="0" t="27059"/>
          <a:stretch/>
        </p:blipFill>
        <p:spPr>
          <a:xfrm>
            <a:off x="8577091" y="1303919"/>
            <a:ext cx="3300965" cy="4364810"/>
          </a:xfrm>
          <a:prstGeom prst="roundRect">
            <a:avLst>
              <a:gd fmla="val 16667" name="adj"/>
            </a:avLst>
          </a:prstGeom>
          <a:noFill/>
          <a:ln>
            <a:noFill/>
          </a:ln>
          <a:effectLst>
            <a:outerShdw blurRad="76200" rotWithShape="0" algn="tl" dir="7800000" dist="38100">
              <a:srgbClr val="000000">
                <a:alpha val="40000"/>
              </a:srgbClr>
            </a:outerShdw>
          </a:effectLst>
        </p:spPr>
      </p:pic>
      <p:sp>
        <p:nvSpPr>
          <p:cNvPr id="466" name="Google Shape;466;p55"/>
          <p:cNvSpPr/>
          <p:nvPr/>
        </p:nvSpPr>
        <p:spPr>
          <a:xfrm>
            <a:off x="8302752" y="1947672"/>
            <a:ext cx="3889248" cy="1185243"/>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sp>
        <p:nvSpPr>
          <p:cNvPr id="467" name="Google Shape;467;p55"/>
          <p:cNvSpPr/>
          <p:nvPr/>
        </p:nvSpPr>
        <p:spPr>
          <a:xfrm>
            <a:off x="2687780" y="600643"/>
            <a:ext cx="5963438"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Operand Collector (OCU)</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500"/>
                                        <p:tgtEl>
                                          <p:spTgt spid="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6"/>
          <p:cNvSpPr txBox="1"/>
          <p:nvPr>
            <p:ph idx="1" type="body"/>
          </p:nvPr>
        </p:nvSpPr>
        <p:spPr>
          <a:xfrm>
            <a:off x="484632" y="1303919"/>
            <a:ext cx="11393424" cy="4840849"/>
          </a:xfrm>
          <a:prstGeom prst="rect">
            <a:avLst/>
          </a:prstGeom>
          <a:noFill/>
          <a:ln>
            <a:noFill/>
          </a:ln>
        </p:spPr>
        <p:txBody>
          <a:bodyPr anchorCtr="0" anchor="t" bIns="45700" lIns="91425" spcFirstLastPara="1" rIns="91425" wrap="square" tIns="45700">
            <a:noAutofit/>
          </a:bodyPr>
          <a:lstStyle/>
          <a:p>
            <a:pPr indent="-203200" lvl="0" marL="342900" rtl="0" algn="l">
              <a:spcBef>
                <a:spcPts val="0"/>
              </a:spcBef>
              <a:spcAft>
                <a:spcPts val="0"/>
              </a:spcAft>
              <a:buSzPts val="2200"/>
              <a:buNone/>
            </a:pPr>
            <a:r>
              <a:t/>
            </a:r>
            <a:endParaRPr b="0" sz="2200">
              <a:solidFill>
                <a:srgbClr val="000000"/>
              </a:solidFill>
              <a:latin typeface="Calibri"/>
              <a:ea typeface="Calibri"/>
              <a:cs typeface="Calibri"/>
              <a:sym typeface="Calibri"/>
            </a:endParaRPr>
          </a:p>
          <a:p>
            <a:pPr indent="-203200" lvl="0" marL="342900" rtl="0" algn="l">
              <a:spcBef>
                <a:spcPts val="0"/>
              </a:spcBef>
              <a:spcAft>
                <a:spcPts val="0"/>
              </a:spcAft>
              <a:buSzPts val="2200"/>
              <a:buNone/>
            </a:pPr>
            <a:r>
              <a:t/>
            </a:r>
            <a:endParaRPr b="0" sz="2200">
              <a:solidFill>
                <a:srgbClr val="000000"/>
              </a:solidFill>
              <a:latin typeface="Calibri"/>
              <a:ea typeface="Calibri"/>
              <a:cs typeface="Calibri"/>
              <a:sym typeface="Calibri"/>
            </a:endParaRPr>
          </a:p>
        </p:txBody>
      </p:sp>
      <p:sp>
        <p:nvSpPr>
          <p:cNvPr id="473" name="Google Shape;473;p56"/>
          <p:cNvSpPr/>
          <p:nvPr/>
        </p:nvSpPr>
        <p:spPr>
          <a:xfrm>
            <a:off x="2687780" y="600643"/>
            <a:ext cx="5963438"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Operand Collector (OCU)</a:t>
            </a:r>
            <a:endParaRPr/>
          </a:p>
        </p:txBody>
      </p:sp>
      <p:sp>
        <p:nvSpPr>
          <p:cNvPr id="474" name="Google Shape;474;p56"/>
          <p:cNvSpPr/>
          <p:nvPr/>
        </p:nvSpPr>
        <p:spPr>
          <a:xfrm>
            <a:off x="484633" y="1501648"/>
            <a:ext cx="7077456" cy="730093"/>
          </a:xfrm>
          <a:prstGeom prst="roundRect">
            <a:avLst>
              <a:gd fmla="val 16667" name="adj"/>
            </a:avLst>
          </a:prstGeom>
          <a:solidFill>
            <a:srgbClr val="F1F1F1"/>
          </a:solidFill>
          <a:ln cap="flat" cmpd="sng" w="95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152400" lvl="0" marL="0" marR="0" rtl="0" algn="l">
              <a:spcBef>
                <a:spcPts val="0"/>
              </a:spcBef>
              <a:spcAft>
                <a:spcPts val="0"/>
              </a:spcAft>
              <a:buClr>
                <a:srgbClr val="29385E"/>
              </a:buClr>
              <a:buSzPts val="2400"/>
              <a:buFont typeface="Noto Sans Symbols"/>
              <a:buChar char="✔"/>
            </a:pPr>
            <a:r>
              <a:rPr b="1" lang="en-US" sz="2400">
                <a:solidFill>
                  <a:srgbClr val="29385E"/>
                </a:solidFill>
                <a:latin typeface="Calibri"/>
                <a:ea typeface="Calibri"/>
                <a:cs typeface="Calibri"/>
                <a:sym typeface="Calibri"/>
              </a:rPr>
              <a:t> Phase 1: Request Generation (Latency: 1 Cycle)</a:t>
            </a:r>
            <a:endParaRPr/>
          </a:p>
        </p:txBody>
      </p:sp>
      <p:sp>
        <p:nvSpPr>
          <p:cNvPr id="475" name="Google Shape;475;p56"/>
          <p:cNvSpPr txBox="1"/>
          <p:nvPr/>
        </p:nvSpPr>
        <p:spPr>
          <a:xfrm>
            <a:off x="313944" y="2368030"/>
            <a:ext cx="8337274" cy="1060970"/>
          </a:xfrm>
          <a:prstGeom prst="rect">
            <a:avLst/>
          </a:prstGeom>
          <a:noFill/>
          <a:ln>
            <a:noFill/>
          </a:ln>
        </p:spPr>
        <p:txBody>
          <a:bodyPr anchorCtr="0" anchor="t" bIns="45700" lIns="91425" spcFirstLastPara="1" rIns="91425" wrap="square" tIns="45700">
            <a:noAutofit/>
          </a:bodyPr>
          <a:lstStyle/>
          <a:p>
            <a:pPr indent="-285750" lvl="1" marL="742950" marR="0" rtl="0" algn="l">
              <a:spcBef>
                <a:spcPts val="0"/>
              </a:spcBef>
              <a:spcAft>
                <a:spcPts val="0"/>
              </a:spcAft>
              <a:buClr>
                <a:srgbClr val="5D5D5E"/>
              </a:buClr>
              <a:buSzPts val="2000"/>
              <a:buFont typeface="Courier New"/>
              <a:buChar char="o"/>
            </a:pPr>
            <a:r>
              <a:rPr b="1" i="0" lang="en-US" sz="2000" u="none" cap="none" strike="noStrike">
                <a:solidFill>
                  <a:schemeClr val="dk1"/>
                </a:solidFill>
                <a:latin typeface="Calibri"/>
                <a:ea typeface="Calibri"/>
                <a:cs typeface="Calibri"/>
                <a:sym typeface="Calibri"/>
              </a:rPr>
              <a:t>Action: </a:t>
            </a:r>
            <a:r>
              <a:rPr b="0" i="0" lang="en-US" sz="2000" u="none" cap="none" strike="noStrike">
                <a:solidFill>
                  <a:schemeClr val="dk1"/>
                </a:solidFill>
                <a:latin typeface="Calibri"/>
                <a:ea typeface="Calibri"/>
                <a:cs typeface="Calibri"/>
                <a:sym typeface="Calibri"/>
              </a:rPr>
              <a:t>identifies which registers the instruction needs</a:t>
            </a:r>
            <a:endParaRPr/>
          </a:p>
          <a:p>
            <a:pPr indent="-285750" lvl="1" marL="742950" marR="0" rtl="0" algn="l">
              <a:spcBef>
                <a:spcPts val="400"/>
              </a:spcBef>
              <a:spcAft>
                <a:spcPts val="0"/>
              </a:spcAft>
              <a:buClr>
                <a:srgbClr val="5D5D5E"/>
              </a:buClr>
              <a:buSzPts val="2000"/>
              <a:buFont typeface="Courier New"/>
              <a:buChar char="o"/>
            </a:pPr>
            <a:r>
              <a:rPr b="1" i="0" lang="en-US" sz="2000" u="none" cap="none" strike="noStrike">
                <a:solidFill>
                  <a:schemeClr val="dk1"/>
                </a:solidFill>
                <a:latin typeface="Calibri"/>
                <a:ea typeface="Calibri"/>
                <a:cs typeface="Calibri"/>
                <a:sym typeface="Calibri"/>
              </a:rPr>
              <a:t>Queuing: </a:t>
            </a:r>
            <a:r>
              <a:rPr b="0" i="0" lang="en-US" sz="2000" u="none" cap="none" strike="noStrike">
                <a:solidFill>
                  <a:schemeClr val="dk1"/>
                </a:solidFill>
                <a:latin typeface="Calibri"/>
                <a:ea typeface="Calibri"/>
                <a:cs typeface="Calibri"/>
                <a:sym typeface="Calibri"/>
              </a:rPr>
              <a:t>It generates read requests for these specific registers and sends them to the "request queues" of the specific memory banks where those registers live</a:t>
            </a:r>
            <a:r>
              <a:rPr b="0" i="0" lang="en-US" sz="2000" u="none" cap="none" strike="noStrike">
                <a:solidFill>
                  <a:srgbClr val="29385E"/>
                </a:solidFill>
                <a:latin typeface="Calibri"/>
                <a:ea typeface="Calibri"/>
                <a:cs typeface="Calibri"/>
                <a:sym typeface="Calibri"/>
              </a:rPr>
              <a:t>.</a:t>
            </a:r>
            <a:endParaRPr/>
          </a:p>
          <a:p>
            <a:pPr indent="-215900" lvl="0" marL="342900" marR="0" rtl="0" algn="l">
              <a:spcBef>
                <a:spcPts val="0"/>
              </a:spcBef>
              <a:spcAft>
                <a:spcPts val="0"/>
              </a:spcAft>
              <a:buClr>
                <a:srgbClr val="5D5D5E"/>
              </a:buClr>
              <a:buSzPts val="2000"/>
              <a:buFont typeface="Arial"/>
              <a:buNone/>
            </a:pPr>
            <a:r>
              <a:t/>
            </a:r>
            <a:endParaRPr b="0" sz="2000">
              <a:solidFill>
                <a:srgbClr val="29385E"/>
              </a:solidFill>
              <a:latin typeface="Calibri"/>
              <a:ea typeface="Calibri"/>
              <a:cs typeface="Calibri"/>
              <a:sym typeface="Calibri"/>
            </a:endParaRPr>
          </a:p>
          <a:p>
            <a:pPr indent="-215900" lvl="0" marL="342900" marR="0" rtl="0" algn="l">
              <a:spcBef>
                <a:spcPts val="0"/>
              </a:spcBef>
              <a:spcAft>
                <a:spcPts val="0"/>
              </a:spcAft>
              <a:buClr>
                <a:srgbClr val="5D5D5E"/>
              </a:buClr>
              <a:buSzPts val="2000"/>
              <a:buFont typeface="Arial"/>
              <a:buNone/>
            </a:pPr>
            <a:r>
              <a:t/>
            </a:r>
            <a:endParaRPr b="0" sz="2000">
              <a:solidFill>
                <a:srgbClr val="29385E"/>
              </a:solidFill>
              <a:latin typeface="Calibri"/>
              <a:ea typeface="Calibri"/>
              <a:cs typeface="Calibri"/>
              <a:sym typeface="Calibri"/>
            </a:endParaRPr>
          </a:p>
        </p:txBody>
      </p:sp>
      <p:sp>
        <p:nvSpPr>
          <p:cNvPr id="476" name="Google Shape;476;p56"/>
          <p:cNvSpPr/>
          <p:nvPr/>
        </p:nvSpPr>
        <p:spPr>
          <a:xfrm>
            <a:off x="421038" y="3767229"/>
            <a:ext cx="7957508" cy="730093"/>
          </a:xfrm>
          <a:prstGeom prst="roundRect">
            <a:avLst>
              <a:gd fmla="val 16667" name="adj"/>
            </a:avLst>
          </a:prstGeom>
          <a:solidFill>
            <a:srgbClr val="F1F1F1"/>
          </a:solidFill>
          <a:ln cap="flat" cmpd="sng" w="95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152400" lvl="0" marL="0" marR="0" rtl="0" algn="l">
              <a:spcBef>
                <a:spcPts val="0"/>
              </a:spcBef>
              <a:spcAft>
                <a:spcPts val="0"/>
              </a:spcAft>
              <a:buClr>
                <a:srgbClr val="29385E"/>
              </a:buClr>
              <a:buSzPts val="2400"/>
              <a:buFont typeface="Noto Sans Symbols"/>
              <a:buChar char="✔"/>
            </a:pPr>
            <a:r>
              <a:rPr b="1" lang="en-US" sz="2400">
                <a:solidFill>
                  <a:srgbClr val="29385E"/>
                </a:solidFill>
                <a:latin typeface="Calibri"/>
                <a:ea typeface="Calibri"/>
                <a:cs typeface="Calibri"/>
                <a:sym typeface="Calibri"/>
              </a:rPr>
              <a:t> Phase 2 :Bank Arbitration (Latency: Variable, 0–2+ Cycles)</a:t>
            </a:r>
            <a:endParaRPr/>
          </a:p>
        </p:txBody>
      </p:sp>
      <p:sp>
        <p:nvSpPr>
          <p:cNvPr id="477" name="Google Shape;477;p56"/>
          <p:cNvSpPr txBox="1"/>
          <p:nvPr/>
        </p:nvSpPr>
        <p:spPr>
          <a:xfrm>
            <a:off x="192650" y="4591077"/>
            <a:ext cx="8185896" cy="1926008"/>
          </a:xfrm>
          <a:prstGeom prst="rect">
            <a:avLst/>
          </a:prstGeom>
          <a:noFill/>
          <a:ln>
            <a:noFill/>
          </a:ln>
        </p:spPr>
        <p:txBody>
          <a:bodyPr anchorCtr="0" anchor="t" bIns="45700" lIns="91425" spcFirstLastPara="1" rIns="91425" wrap="square" tIns="45700">
            <a:noAutofit/>
          </a:bodyPr>
          <a:lstStyle/>
          <a:p>
            <a:pPr indent="0" lvl="1" marL="400050" marR="0" rtl="0" algn="l">
              <a:spcBef>
                <a:spcPts val="0"/>
              </a:spcBef>
              <a:spcAft>
                <a:spcPts val="0"/>
              </a:spcAft>
              <a:buClr>
                <a:srgbClr val="5D5D5E"/>
              </a:buClr>
              <a:buSzPts val="2000"/>
              <a:buFont typeface="Courier New"/>
              <a:buNone/>
            </a:pPr>
            <a:r>
              <a:rPr b="0" i="0" lang="en-US" sz="2000" u="none" cap="none" strike="noStrike">
                <a:solidFill>
                  <a:schemeClr val="dk1"/>
                </a:solidFill>
                <a:latin typeface="Calibri"/>
                <a:ea typeface="Calibri"/>
                <a:cs typeface="Calibri"/>
                <a:sym typeface="Calibri"/>
              </a:rPr>
              <a:t>The Register File is divided into "banks" to allow multiple parallel reads, but "collisions" can still happen.</a:t>
            </a:r>
            <a:endParaRPr/>
          </a:p>
          <a:p>
            <a:pPr indent="-285750" lvl="1" marL="742950" marR="0" rtl="0" algn="l">
              <a:spcBef>
                <a:spcPts val="400"/>
              </a:spcBef>
              <a:spcAft>
                <a:spcPts val="0"/>
              </a:spcAft>
              <a:buClr>
                <a:srgbClr val="5D5D5E"/>
              </a:buClr>
              <a:buSzPts val="2000"/>
              <a:buFont typeface="Courier New"/>
              <a:buChar char="o"/>
            </a:pPr>
            <a:r>
              <a:rPr b="1" i="0" lang="en-US" sz="2000" u="none" cap="none" strike="noStrike">
                <a:solidFill>
                  <a:schemeClr val="dk1"/>
                </a:solidFill>
                <a:latin typeface="Calibri"/>
                <a:ea typeface="Calibri"/>
                <a:cs typeface="Calibri"/>
                <a:sym typeface="Calibri"/>
              </a:rPr>
              <a:t>Arbitration: </a:t>
            </a:r>
            <a:r>
              <a:rPr b="0" i="0" lang="en-US" sz="2000" u="none" cap="none" strike="noStrike">
                <a:solidFill>
                  <a:schemeClr val="dk1"/>
                </a:solidFill>
                <a:latin typeface="Calibri"/>
                <a:ea typeface="Calibri"/>
                <a:cs typeface="Calibri"/>
                <a:sym typeface="Calibri"/>
              </a:rPr>
              <a:t>multiple requests try to access the same bank at the same time (Bank Conflict), the hardware must decide who goes first.</a:t>
            </a:r>
            <a:endParaRPr/>
          </a:p>
          <a:p>
            <a:pPr indent="-285750" lvl="1" marL="742950" marR="0" rtl="0" algn="l">
              <a:spcBef>
                <a:spcPts val="400"/>
              </a:spcBef>
              <a:spcAft>
                <a:spcPts val="0"/>
              </a:spcAft>
              <a:buClr>
                <a:srgbClr val="5D5D5E"/>
              </a:buClr>
              <a:buSzPts val="2000"/>
              <a:buFont typeface="Courier New"/>
              <a:buChar char="o"/>
            </a:pPr>
            <a:r>
              <a:rPr b="1" i="0" lang="en-US" sz="2000" u="none" cap="none" strike="noStrike">
                <a:solidFill>
                  <a:schemeClr val="dk1"/>
                </a:solidFill>
                <a:latin typeface="Calibri"/>
                <a:ea typeface="Calibri"/>
                <a:cs typeface="Calibri"/>
                <a:sym typeface="Calibri"/>
              </a:rPr>
              <a:t>Variable Latency: </a:t>
            </a:r>
            <a:r>
              <a:rPr b="0" i="0" lang="en-US" sz="2000" u="none" cap="none" strike="noStrike">
                <a:solidFill>
                  <a:schemeClr val="dk1"/>
                </a:solidFill>
                <a:latin typeface="Calibri"/>
                <a:ea typeface="Calibri"/>
                <a:cs typeface="Calibri"/>
                <a:sym typeface="Calibri"/>
              </a:rPr>
              <a:t>It is not fixed because it depends on how many conflicts occur. </a:t>
            </a:r>
            <a:endParaRPr/>
          </a:p>
        </p:txBody>
      </p:sp>
      <p:pic>
        <p:nvPicPr>
          <p:cNvPr descr="A screenshot of a computer&#10;&#10;Description automatically generated" id="478" name="Google Shape;478;p56"/>
          <p:cNvPicPr preferRelativeResize="0"/>
          <p:nvPr/>
        </p:nvPicPr>
        <p:blipFill rotWithShape="1">
          <a:blip r:embed="rId3">
            <a:alphaModFix/>
          </a:blip>
          <a:srcRect b="0" l="0" r="0" t="27059"/>
          <a:stretch/>
        </p:blipFill>
        <p:spPr>
          <a:xfrm>
            <a:off x="8698385" y="1246595"/>
            <a:ext cx="3300965" cy="4364810"/>
          </a:xfrm>
          <a:prstGeom prst="roundRect">
            <a:avLst>
              <a:gd fmla="val 16667" name="adj"/>
            </a:avLst>
          </a:prstGeom>
          <a:noFill/>
          <a:ln>
            <a:noFill/>
          </a:ln>
          <a:effectLst>
            <a:outerShdw blurRad="76200" rotWithShape="0" algn="tl" dir="7800000" dist="38100">
              <a:srgbClr val="000000">
                <a:alpha val="40000"/>
              </a:srgbClr>
            </a:outerShdw>
          </a:effectLst>
        </p:spPr>
      </p:pic>
      <p:sp>
        <p:nvSpPr>
          <p:cNvPr id="479" name="Google Shape;479;p56"/>
          <p:cNvSpPr/>
          <p:nvPr/>
        </p:nvSpPr>
        <p:spPr>
          <a:xfrm>
            <a:off x="8485632" y="1917817"/>
            <a:ext cx="3782162" cy="1060971"/>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500"/>
                                        <p:tgtEl>
                                          <p:spTgt spid="4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500"/>
                                        <p:tgtEl>
                                          <p:spTgt spid="4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500"/>
                                        <p:tgtEl>
                                          <p:spTgt spid="4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7"/>
          <p:cNvSpPr txBox="1"/>
          <p:nvPr>
            <p:ph idx="1" type="body"/>
          </p:nvPr>
        </p:nvSpPr>
        <p:spPr>
          <a:xfrm>
            <a:off x="484632" y="1303919"/>
            <a:ext cx="11393424" cy="4840849"/>
          </a:xfrm>
          <a:prstGeom prst="rect">
            <a:avLst/>
          </a:prstGeom>
          <a:noFill/>
          <a:ln>
            <a:noFill/>
          </a:ln>
        </p:spPr>
        <p:txBody>
          <a:bodyPr anchorCtr="0" anchor="t" bIns="45700" lIns="91425" spcFirstLastPara="1" rIns="91425" wrap="square" tIns="45700">
            <a:noAutofit/>
          </a:bodyPr>
          <a:lstStyle/>
          <a:p>
            <a:pPr indent="-203200" lvl="0" marL="342900" rtl="0" algn="l">
              <a:spcBef>
                <a:spcPts val="0"/>
              </a:spcBef>
              <a:spcAft>
                <a:spcPts val="0"/>
              </a:spcAft>
              <a:buSzPts val="2200"/>
              <a:buNone/>
            </a:pPr>
            <a:r>
              <a:t/>
            </a:r>
            <a:endParaRPr b="0" sz="2200">
              <a:solidFill>
                <a:srgbClr val="000000"/>
              </a:solidFill>
              <a:latin typeface="Calibri"/>
              <a:ea typeface="Calibri"/>
              <a:cs typeface="Calibri"/>
              <a:sym typeface="Calibri"/>
            </a:endParaRPr>
          </a:p>
          <a:p>
            <a:pPr indent="-203200" lvl="0" marL="342900" rtl="0" algn="l">
              <a:spcBef>
                <a:spcPts val="0"/>
              </a:spcBef>
              <a:spcAft>
                <a:spcPts val="0"/>
              </a:spcAft>
              <a:buSzPts val="2200"/>
              <a:buNone/>
            </a:pPr>
            <a:r>
              <a:t/>
            </a:r>
            <a:endParaRPr b="0" sz="2200">
              <a:solidFill>
                <a:srgbClr val="000000"/>
              </a:solidFill>
              <a:latin typeface="Calibri"/>
              <a:ea typeface="Calibri"/>
              <a:cs typeface="Calibri"/>
              <a:sym typeface="Calibri"/>
            </a:endParaRPr>
          </a:p>
        </p:txBody>
      </p:sp>
      <p:sp>
        <p:nvSpPr>
          <p:cNvPr id="485" name="Google Shape;485;p57"/>
          <p:cNvSpPr/>
          <p:nvPr/>
        </p:nvSpPr>
        <p:spPr>
          <a:xfrm>
            <a:off x="2687780" y="600643"/>
            <a:ext cx="5963438"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Operand Collector (OCU)</a:t>
            </a:r>
            <a:endParaRPr/>
          </a:p>
        </p:txBody>
      </p:sp>
      <p:sp>
        <p:nvSpPr>
          <p:cNvPr id="486" name="Google Shape;486;p57"/>
          <p:cNvSpPr/>
          <p:nvPr/>
        </p:nvSpPr>
        <p:spPr>
          <a:xfrm>
            <a:off x="484632" y="1642148"/>
            <a:ext cx="7680960" cy="730093"/>
          </a:xfrm>
          <a:prstGeom prst="roundRect">
            <a:avLst>
              <a:gd fmla="val 16667" name="adj"/>
            </a:avLst>
          </a:prstGeom>
          <a:solidFill>
            <a:srgbClr val="F1F1F1"/>
          </a:solidFill>
          <a:ln cap="flat" cmpd="sng" w="95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152400" lvl="0" marL="0" marR="0" rtl="0" algn="l">
              <a:spcBef>
                <a:spcPts val="0"/>
              </a:spcBef>
              <a:spcAft>
                <a:spcPts val="0"/>
              </a:spcAft>
              <a:buClr>
                <a:srgbClr val="29385E"/>
              </a:buClr>
              <a:buSzPts val="2400"/>
              <a:buFont typeface="Noto Sans Symbols"/>
              <a:buChar char="✔"/>
            </a:pPr>
            <a:r>
              <a:rPr b="1" lang="en-US" sz="2400">
                <a:solidFill>
                  <a:srgbClr val="29385E"/>
                </a:solidFill>
                <a:latin typeface="Calibri"/>
                <a:ea typeface="Calibri"/>
                <a:cs typeface="Calibri"/>
                <a:sym typeface="Calibri"/>
              </a:rPr>
              <a:t>Phase 3: Data Return (Latency: 1 Cycle per Operand)</a:t>
            </a:r>
            <a:endParaRPr/>
          </a:p>
        </p:txBody>
      </p:sp>
      <p:sp>
        <p:nvSpPr>
          <p:cNvPr id="487" name="Google Shape;487;p57"/>
          <p:cNvSpPr txBox="1"/>
          <p:nvPr/>
        </p:nvSpPr>
        <p:spPr>
          <a:xfrm>
            <a:off x="313944" y="2533401"/>
            <a:ext cx="7851648" cy="1828287"/>
          </a:xfrm>
          <a:prstGeom prst="rect">
            <a:avLst/>
          </a:prstGeom>
          <a:noFill/>
          <a:ln>
            <a:noFill/>
          </a:ln>
        </p:spPr>
        <p:txBody>
          <a:bodyPr anchorCtr="0" anchor="t" bIns="45700" lIns="91425" spcFirstLastPara="1" rIns="91425" wrap="square" tIns="45700">
            <a:noAutofit/>
          </a:bodyPr>
          <a:lstStyle/>
          <a:p>
            <a:pPr indent="-285750" lvl="1" marL="742950" marR="0" rtl="0" algn="l">
              <a:spcBef>
                <a:spcPts val="0"/>
              </a:spcBef>
              <a:spcAft>
                <a:spcPts val="0"/>
              </a:spcAft>
              <a:buClr>
                <a:srgbClr val="5D5D5E"/>
              </a:buClr>
              <a:buSzPts val="2000"/>
              <a:buFont typeface="Courier New"/>
              <a:buChar char="o"/>
            </a:pPr>
            <a:r>
              <a:rPr b="1" i="0" lang="en-US" sz="2000" u="none" cap="none" strike="noStrike">
                <a:solidFill>
                  <a:schemeClr val="dk1"/>
                </a:solidFill>
                <a:latin typeface="Calibri"/>
                <a:ea typeface="Calibri"/>
                <a:cs typeface="Calibri"/>
                <a:sym typeface="Calibri"/>
              </a:rPr>
              <a:t>Action: </a:t>
            </a:r>
            <a:r>
              <a:rPr b="0" i="0" lang="en-US" sz="2000" u="none" cap="none" strike="noStrike">
                <a:solidFill>
                  <a:schemeClr val="dk1"/>
                </a:solidFill>
                <a:latin typeface="Calibri"/>
                <a:ea typeface="Calibri"/>
                <a:cs typeface="Calibri"/>
                <a:sym typeface="Calibri"/>
              </a:rPr>
              <a:t>The Register File finally retrieves the value and sends it back to the OCU.</a:t>
            </a:r>
            <a:endParaRPr/>
          </a:p>
          <a:p>
            <a:pPr indent="-285750" lvl="1" marL="742950" marR="0" rtl="0" algn="l">
              <a:spcBef>
                <a:spcPts val="400"/>
              </a:spcBef>
              <a:spcAft>
                <a:spcPts val="0"/>
              </a:spcAft>
              <a:buClr>
                <a:srgbClr val="5D5D5E"/>
              </a:buClr>
              <a:buSzPts val="2000"/>
              <a:buFont typeface="Courier New"/>
              <a:buChar char="o"/>
            </a:pPr>
            <a:r>
              <a:rPr b="1" i="0" lang="en-US" sz="2000" u="none" cap="none" strike="noStrike">
                <a:solidFill>
                  <a:schemeClr val="dk1"/>
                </a:solidFill>
                <a:latin typeface="Calibri"/>
                <a:ea typeface="Calibri"/>
                <a:cs typeface="Calibri"/>
                <a:sym typeface="Calibri"/>
              </a:rPr>
              <a:t>Buffering: </a:t>
            </a:r>
            <a:r>
              <a:rPr b="0" i="0" lang="en-US" sz="2000" u="none" cap="none" strike="noStrike">
                <a:solidFill>
                  <a:schemeClr val="dk1"/>
                </a:solidFill>
                <a:latin typeface="Calibri"/>
                <a:ea typeface="Calibri"/>
                <a:cs typeface="Calibri"/>
                <a:sym typeface="Calibri"/>
              </a:rPr>
              <a:t>stores these values in its internal buffer. Once every required operand for the warp is present signaling that the instruction is fully prepared for execution.</a:t>
            </a:r>
            <a:endParaRPr/>
          </a:p>
          <a:p>
            <a:pPr indent="0" lvl="0" marL="0" marR="0" rtl="0" algn="l">
              <a:spcBef>
                <a:spcPts val="0"/>
              </a:spcBef>
              <a:spcAft>
                <a:spcPts val="0"/>
              </a:spcAft>
              <a:buClr>
                <a:srgbClr val="5D5D5E"/>
              </a:buClr>
              <a:buSzPts val="2000"/>
              <a:buFont typeface="Arial"/>
              <a:buNone/>
            </a:pPr>
            <a:r>
              <a:t/>
            </a:r>
            <a:endParaRPr b="0" sz="2000">
              <a:solidFill>
                <a:srgbClr val="29385E"/>
              </a:solidFill>
              <a:latin typeface="Calibri"/>
              <a:ea typeface="Calibri"/>
              <a:cs typeface="Calibri"/>
              <a:sym typeface="Calibri"/>
            </a:endParaRPr>
          </a:p>
          <a:p>
            <a:pPr indent="-215900" lvl="0" marL="342900" marR="0" rtl="0" algn="l">
              <a:spcBef>
                <a:spcPts val="0"/>
              </a:spcBef>
              <a:spcAft>
                <a:spcPts val="0"/>
              </a:spcAft>
              <a:buClr>
                <a:srgbClr val="5D5D5E"/>
              </a:buClr>
              <a:buSzPts val="2000"/>
              <a:buFont typeface="Arial"/>
              <a:buNone/>
            </a:pPr>
            <a:r>
              <a:t/>
            </a:r>
            <a:endParaRPr b="0" sz="2000">
              <a:solidFill>
                <a:srgbClr val="29385E"/>
              </a:solidFill>
              <a:latin typeface="Calibri"/>
              <a:ea typeface="Calibri"/>
              <a:cs typeface="Calibri"/>
              <a:sym typeface="Calibri"/>
            </a:endParaRPr>
          </a:p>
          <a:p>
            <a:pPr indent="-215900" lvl="0" marL="342900" marR="0" rtl="0" algn="l">
              <a:spcBef>
                <a:spcPts val="0"/>
              </a:spcBef>
              <a:spcAft>
                <a:spcPts val="0"/>
              </a:spcAft>
              <a:buClr>
                <a:srgbClr val="5D5D5E"/>
              </a:buClr>
              <a:buSzPts val="2000"/>
              <a:buFont typeface="Arial"/>
              <a:buNone/>
            </a:pPr>
            <a:r>
              <a:t/>
            </a:r>
            <a:endParaRPr b="0" sz="2000">
              <a:solidFill>
                <a:srgbClr val="29385E"/>
              </a:solidFill>
              <a:latin typeface="Calibri"/>
              <a:ea typeface="Calibri"/>
              <a:cs typeface="Calibri"/>
              <a:sym typeface="Calibri"/>
            </a:endParaRPr>
          </a:p>
        </p:txBody>
      </p:sp>
      <p:pic>
        <p:nvPicPr>
          <p:cNvPr descr="A screenshot of a computer&#10;&#10;Description automatically generated" id="488" name="Google Shape;488;p57"/>
          <p:cNvPicPr preferRelativeResize="0"/>
          <p:nvPr/>
        </p:nvPicPr>
        <p:blipFill rotWithShape="1">
          <a:blip r:embed="rId3">
            <a:alphaModFix/>
          </a:blip>
          <a:srcRect b="0" l="0" r="0" t="27059"/>
          <a:stretch/>
        </p:blipFill>
        <p:spPr>
          <a:xfrm>
            <a:off x="8698385" y="1246595"/>
            <a:ext cx="3300965" cy="4364810"/>
          </a:xfrm>
          <a:prstGeom prst="roundRect">
            <a:avLst>
              <a:gd fmla="val 16667" name="adj"/>
            </a:avLst>
          </a:prstGeom>
          <a:noFill/>
          <a:ln>
            <a:noFill/>
          </a:ln>
          <a:effectLst>
            <a:outerShdw blurRad="76200" rotWithShape="0" algn="tl" dir="7800000" dist="38100">
              <a:srgbClr val="000000">
                <a:alpha val="40000"/>
              </a:srgbClr>
            </a:outerShdw>
          </a:effectLst>
        </p:spPr>
      </p:pic>
      <p:sp>
        <p:nvSpPr>
          <p:cNvPr id="489" name="Google Shape;489;p57"/>
          <p:cNvSpPr/>
          <p:nvPr/>
        </p:nvSpPr>
        <p:spPr>
          <a:xfrm>
            <a:off x="8494776" y="2372242"/>
            <a:ext cx="3553968" cy="800726"/>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500"/>
                                        <p:tgtEl>
                                          <p:spTgt spid="4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8"/>
          <p:cNvSpPr txBox="1"/>
          <p:nvPr>
            <p:ph type="ctrTitle"/>
          </p:nvPr>
        </p:nvSpPr>
        <p:spPr>
          <a:xfrm>
            <a:off x="1219200" y="2904335"/>
            <a:ext cx="10347158" cy="104933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Calibri"/>
                <a:ea typeface="Calibri"/>
                <a:cs typeface="Calibri"/>
                <a:sym typeface="Calibri"/>
              </a:rPr>
              <a:t>Execute Stage</a:t>
            </a:r>
            <a:br>
              <a:rPr lang="en-US" sz="4000"/>
            </a:br>
            <a:r>
              <a:rPr lang="en-US" sz="4000"/>
              <a:t>Bringing the Score to Life</a:t>
            </a:r>
            <a:endParaRPr sz="40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9"/>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Execution Stage</a:t>
            </a:r>
            <a:endParaRPr/>
          </a:p>
        </p:txBody>
      </p:sp>
      <p:pic>
        <p:nvPicPr>
          <p:cNvPr descr="A diagram of a computer system&#10;&#10;Description automatically generated" id="500" name="Google Shape;500;p59"/>
          <p:cNvPicPr preferRelativeResize="0"/>
          <p:nvPr/>
        </p:nvPicPr>
        <p:blipFill rotWithShape="1">
          <a:blip r:embed="rId3">
            <a:alphaModFix/>
          </a:blip>
          <a:srcRect b="38388" l="16655" r="0" t="0"/>
          <a:stretch/>
        </p:blipFill>
        <p:spPr>
          <a:xfrm>
            <a:off x="491800" y="1467459"/>
            <a:ext cx="11208400" cy="5213757"/>
          </a:xfrm>
          <a:prstGeom prst="rect">
            <a:avLst/>
          </a:prstGeom>
          <a:noFill/>
          <a:ln>
            <a:noFill/>
          </a:ln>
        </p:spPr>
      </p:pic>
      <p:sp>
        <p:nvSpPr>
          <p:cNvPr id="501" name="Google Shape;501;p59"/>
          <p:cNvSpPr/>
          <p:nvPr/>
        </p:nvSpPr>
        <p:spPr>
          <a:xfrm>
            <a:off x="491800" y="1308962"/>
            <a:ext cx="7018472" cy="5461293"/>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sp>
        <p:nvSpPr>
          <p:cNvPr id="502" name="Google Shape;502;p59"/>
          <p:cNvSpPr/>
          <p:nvPr/>
        </p:nvSpPr>
        <p:spPr>
          <a:xfrm>
            <a:off x="10049164" y="1132178"/>
            <a:ext cx="1651036" cy="5549038"/>
          </a:xfrm>
          <a:prstGeom prst="rect">
            <a:avLst/>
          </a:prstGeom>
          <a:solidFill>
            <a:srgbClr val="F2F2F2">
              <a:alpha val="9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sp>
        <p:nvSpPr>
          <p:cNvPr id="503" name="Google Shape;503;p59"/>
          <p:cNvSpPr/>
          <p:nvPr/>
        </p:nvSpPr>
        <p:spPr>
          <a:xfrm>
            <a:off x="1937143" y="2668688"/>
            <a:ext cx="3860153" cy="1238009"/>
          </a:xfrm>
          <a:prstGeom prst="roundRect">
            <a:avLst>
              <a:gd fmla="val 16667" name="adj"/>
            </a:avLst>
          </a:prstGeom>
          <a:solidFill>
            <a:schemeClr val="lt1"/>
          </a:solidFill>
          <a:ln cap="flat" cmpd="sng" w="25400">
            <a:solidFill>
              <a:srgbClr val="29385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What is the Inputs to this stage ?</a:t>
            </a:r>
            <a:endParaRPr/>
          </a:p>
        </p:txBody>
      </p:sp>
      <p:sp>
        <p:nvSpPr>
          <p:cNvPr id="504" name="Google Shape;504;p59"/>
          <p:cNvSpPr/>
          <p:nvPr/>
        </p:nvSpPr>
        <p:spPr>
          <a:xfrm>
            <a:off x="7627620" y="1062074"/>
            <a:ext cx="2304195" cy="5549038"/>
          </a:xfrm>
          <a:prstGeom prst="rect">
            <a:avLst/>
          </a:prstGeom>
          <a:solidFill>
            <a:srgbClr val="FEE6F4">
              <a:alpha val="9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Execute </a:t>
            </a:r>
            <a:endParaRPr/>
          </a:p>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Stage</a:t>
            </a:r>
            <a:endParaRPr/>
          </a:p>
        </p:txBody>
      </p:sp>
      <p:cxnSp>
        <p:nvCxnSpPr>
          <p:cNvPr id="505" name="Google Shape;505;p59"/>
          <p:cNvCxnSpPr>
            <a:stCxn id="503" idx="2"/>
            <a:endCxn id="501" idx="3"/>
          </p:cNvCxnSpPr>
          <p:nvPr/>
        </p:nvCxnSpPr>
        <p:spPr>
          <a:xfrm flipH="1" rot="-5400000">
            <a:off x="5622370" y="2151547"/>
            <a:ext cx="132900" cy="3643200"/>
          </a:xfrm>
          <a:prstGeom prst="bentConnector4">
            <a:avLst>
              <a:gd fmla="val 1020107" name="adj1"/>
              <a:gd fmla="val 63171" name="adj2"/>
            </a:avLst>
          </a:prstGeom>
          <a:solidFill>
            <a:schemeClr val="accent1"/>
          </a:solidFill>
          <a:ln cap="flat" cmpd="sng" w="57150">
            <a:solidFill>
              <a:srgbClr val="29385E"/>
            </a:solidFill>
            <a:prstDash val="solid"/>
            <a:round/>
            <a:headEnd len="sm" w="sm" type="none"/>
            <a:tailEnd len="med" w="med" type="triangle"/>
          </a:ln>
        </p:spPr>
      </p:cxnSp>
      <p:sp>
        <p:nvSpPr>
          <p:cNvPr id="506" name="Google Shape;506;p59"/>
          <p:cNvSpPr txBox="1"/>
          <p:nvPr/>
        </p:nvSpPr>
        <p:spPr>
          <a:xfrm>
            <a:off x="1169883" y="5590216"/>
            <a:ext cx="9254825" cy="830997"/>
          </a:xfrm>
          <a:prstGeom prst="rect">
            <a:avLst/>
          </a:prstGeom>
          <a:solidFill>
            <a:schemeClr val="lt1"/>
          </a:solidFill>
          <a:ln cap="flat" cmpd="sng" w="9525">
            <a:solidFill>
              <a:srgbClr val="29385E"/>
            </a:solidFill>
            <a:prstDash val="solid"/>
            <a:round/>
            <a:headEnd len="sm" w="sm" type="none"/>
            <a:tailEnd len="sm" w="sm" type="none"/>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Because Vortex uses a SIMT model, the input is not just one value, but a set of operands for all active threads in a warp.</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504"/>
                                        </p:tgtEl>
                                        <p:attrNameLst>
                                          <p:attrName>style.visibility</p:attrName>
                                        </p:attrNameLst>
                                      </p:cBhvr>
                                      <p:to>
                                        <p:strVal val="visible"/>
                                      </p:to>
                                    </p:set>
                                    <p:anim calcmode="lin" valueType="num">
                                      <p:cBhvr additive="base">
                                        <p:cTn dur="500"/>
                                        <p:tgtEl>
                                          <p:spTgt spid="50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1000"/>
                                        <p:tgtEl>
                                          <p:spTgt spid="503"/>
                                        </p:tgtEl>
                                      </p:cBhvr>
                                    </p:animEffect>
                                  </p:childTnLst>
                                </p:cTn>
                              </p:par>
                              <p:par>
                                <p:cTn fill="hold" nodeType="with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1000"/>
                                        <p:tgtEl>
                                          <p:spTgt spid="5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0"/>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Execution Stage</a:t>
            </a:r>
            <a:endParaRPr/>
          </a:p>
        </p:txBody>
      </p:sp>
      <p:pic>
        <p:nvPicPr>
          <p:cNvPr descr="A diagram of a computer system&#10;&#10;Description automatically generated" id="512" name="Google Shape;512;p60"/>
          <p:cNvPicPr preferRelativeResize="0"/>
          <p:nvPr/>
        </p:nvPicPr>
        <p:blipFill rotWithShape="1">
          <a:blip r:embed="rId3">
            <a:alphaModFix/>
          </a:blip>
          <a:srcRect b="38388" l="16655" r="11492" t="0"/>
          <a:stretch/>
        </p:blipFill>
        <p:spPr>
          <a:xfrm>
            <a:off x="1841494" y="1432729"/>
            <a:ext cx="9662853" cy="5213757"/>
          </a:xfrm>
          <a:prstGeom prst="rect">
            <a:avLst/>
          </a:prstGeom>
          <a:noFill/>
          <a:ln>
            <a:noFill/>
          </a:ln>
        </p:spPr>
      </p:pic>
      <p:sp>
        <p:nvSpPr>
          <p:cNvPr id="513" name="Google Shape;513;p60"/>
          <p:cNvSpPr/>
          <p:nvPr/>
        </p:nvSpPr>
        <p:spPr>
          <a:xfrm>
            <a:off x="491800" y="1308962"/>
            <a:ext cx="8546322" cy="5461293"/>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sp>
        <p:nvSpPr>
          <p:cNvPr id="514" name="Google Shape;514;p60"/>
          <p:cNvSpPr/>
          <p:nvPr/>
        </p:nvSpPr>
        <p:spPr>
          <a:xfrm>
            <a:off x="9179512" y="1198633"/>
            <a:ext cx="2304195" cy="5549038"/>
          </a:xfrm>
          <a:prstGeom prst="rect">
            <a:avLst/>
          </a:prstGeom>
          <a:solidFill>
            <a:srgbClr val="FEE6F4">
              <a:alpha val="9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Execute </a:t>
            </a:r>
            <a:endParaRPr/>
          </a:p>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Stage</a:t>
            </a:r>
            <a:endParaRPr/>
          </a:p>
        </p:txBody>
      </p:sp>
      <p:sp>
        <p:nvSpPr>
          <p:cNvPr id="515" name="Google Shape;515;p60"/>
          <p:cNvSpPr/>
          <p:nvPr/>
        </p:nvSpPr>
        <p:spPr>
          <a:xfrm>
            <a:off x="721781" y="1432570"/>
            <a:ext cx="7763183" cy="937787"/>
          </a:xfrm>
          <a:prstGeom prst="roundRect">
            <a:avLst>
              <a:gd fmla="val 16667" name="adj"/>
            </a:avLst>
          </a:prstGeom>
          <a:solidFill>
            <a:srgbClr val="F1F1F1"/>
          </a:solidFill>
          <a:ln cap="flat" cmpd="sng" w="95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457200" lvl="0" marL="457200" marR="0" rtl="0" algn="l">
              <a:spcBef>
                <a:spcPts val="0"/>
              </a:spcBef>
              <a:spcAft>
                <a:spcPts val="0"/>
              </a:spcAft>
              <a:buClr>
                <a:srgbClr val="29385E"/>
              </a:buClr>
              <a:buSzPts val="2000"/>
              <a:buFont typeface="Courier New"/>
              <a:buChar char="o"/>
            </a:pPr>
            <a:r>
              <a:rPr b="1" lang="en-US" sz="2000">
                <a:solidFill>
                  <a:srgbClr val="29385E"/>
                </a:solidFill>
                <a:latin typeface="Calibri"/>
                <a:ea typeface="Calibri"/>
                <a:cs typeface="Calibri"/>
                <a:sym typeface="Calibri"/>
              </a:rPr>
              <a:t>Decoded Instruction (Control Signals): </a:t>
            </a:r>
            <a:r>
              <a:rPr lang="en-US" sz="2000">
                <a:solidFill>
                  <a:schemeClr val="dk1"/>
                </a:solidFill>
                <a:latin typeface="Calibri"/>
                <a:ea typeface="Calibri"/>
                <a:cs typeface="Calibri"/>
                <a:sym typeface="Calibri"/>
              </a:rPr>
              <a:t>The opcode and decoded signals that tell the units what to do</a:t>
            </a:r>
            <a:r>
              <a:rPr lang="en-US" sz="2800">
                <a:solidFill>
                  <a:schemeClr val="dk1"/>
                </a:solidFill>
                <a:latin typeface="Meddon"/>
                <a:ea typeface="Meddon"/>
                <a:cs typeface="Meddon"/>
                <a:sym typeface="Meddon"/>
              </a:rPr>
              <a:t>.</a:t>
            </a:r>
            <a:endParaRPr/>
          </a:p>
        </p:txBody>
      </p:sp>
      <p:sp>
        <p:nvSpPr>
          <p:cNvPr id="516" name="Google Shape;516;p60"/>
          <p:cNvSpPr/>
          <p:nvPr/>
        </p:nvSpPr>
        <p:spPr>
          <a:xfrm>
            <a:off x="663483" y="2528053"/>
            <a:ext cx="7758555" cy="1642649"/>
          </a:xfrm>
          <a:prstGeom prst="roundRect">
            <a:avLst>
              <a:gd fmla="val 16667" name="adj"/>
            </a:avLst>
          </a:prstGeom>
          <a:solidFill>
            <a:srgbClr val="F1F1F1"/>
          </a:solidFill>
          <a:ln cap="flat" cmpd="sng" w="9525">
            <a:solidFill>
              <a:srgbClr val="29385E"/>
            </a:solidFill>
            <a:prstDash val="solid"/>
            <a:round/>
            <a:headEnd len="sm" w="sm" type="none"/>
            <a:tailEnd len="sm" w="sm" type="none"/>
          </a:ln>
        </p:spPr>
        <p:txBody>
          <a:bodyPr anchorCtr="0" anchor="ctr" bIns="45700" lIns="91425" spcFirstLastPara="1" rIns="91425" wrap="square" tIns="45700">
            <a:noAutofit/>
          </a:bodyPr>
          <a:lstStyle/>
          <a:p>
            <a:pPr indent="-457200" lvl="0" marL="457200" marR="0" rtl="0" algn="l">
              <a:spcBef>
                <a:spcPts val="0"/>
              </a:spcBef>
              <a:spcAft>
                <a:spcPts val="0"/>
              </a:spcAft>
              <a:buClr>
                <a:srgbClr val="29385E"/>
              </a:buClr>
              <a:buSzPts val="2000"/>
              <a:buFont typeface="Courier New"/>
              <a:buChar char="o"/>
            </a:pPr>
            <a:r>
              <a:rPr b="1" lang="en-US" sz="2000">
                <a:solidFill>
                  <a:srgbClr val="29385E"/>
                </a:solidFill>
                <a:latin typeface="Calibri"/>
                <a:ea typeface="Calibri"/>
                <a:cs typeface="Calibri"/>
                <a:sym typeface="Calibri"/>
              </a:rPr>
              <a:t>Warp Metadata:</a:t>
            </a:r>
            <a:endParaRPr/>
          </a:p>
          <a:p>
            <a:pPr indent="-342900" lvl="1" marL="800100" marR="0" rtl="0" algn="l">
              <a:spcBef>
                <a:spcPts val="0"/>
              </a:spcBef>
              <a:spcAft>
                <a:spcPts val="0"/>
              </a:spcAft>
              <a:buClr>
                <a:srgbClr val="29385E"/>
              </a:buClr>
              <a:buSzPts val="2000"/>
              <a:buFont typeface="Noto Sans Symbols"/>
              <a:buChar char="✔"/>
            </a:pPr>
            <a:r>
              <a:rPr b="0" i="0" lang="en-US" sz="2000" u="none" cap="none" strike="noStrike">
                <a:solidFill>
                  <a:srgbClr val="29385E"/>
                </a:solidFill>
                <a:latin typeface="Calibri"/>
                <a:ea typeface="Calibri"/>
                <a:cs typeface="Calibri"/>
                <a:sym typeface="Calibri"/>
              </a:rPr>
              <a:t>Warp ID: </a:t>
            </a:r>
            <a:r>
              <a:rPr b="0" i="0" lang="en-US" sz="2000" u="none" cap="none" strike="noStrike">
                <a:solidFill>
                  <a:schemeClr val="accent4"/>
                </a:solidFill>
                <a:latin typeface="Calibri"/>
                <a:ea typeface="Calibri"/>
                <a:cs typeface="Calibri"/>
                <a:sym typeface="Calibri"/>
              </a:rPr>
              <a:t>Identifies which group of threads is currently executing.</a:t>
            </a:r>
            <a:endParaRPr/>
          </a:p>
          <a:p>
            <a:pPr indent="-342900" lvl="1" marL="800100" marR="0" rtl="0" algn="l">
              <a:spcBef>
                <a:spcPts val="0"/>
              </a:spcBef>
              <a:spcAft>
                <a:spcPts val="0"/>
              </a:spcAft>
              <a:buClr>
                <a:srgbClr val="29385E"/>
              </a:buClr>
              <a:buSzPts val="2000"/>
              <a:buFont typeface="Noto Sans Symbols"/>
              <a:buChar char="✔"/>
            </a:pPr>
            <a:r>
              <a:rPr b="0" i="0" lang="en-US" sz="2000" u="none" cap="none" strike="noStrike">
                <a:solidFill>
                  <a:srgbClr val="29385E"/>
                </a:solidFill>
                <a:latin typeface="Calibri"/>
                <a:ea typeface="Calibri"/>
                <a:cs typeface="Calibri"/>
                <a:sym typeface="Calibri"/>
              </a:rPr>
              <a:t>Thread Mask: </a:t>
            </a:r>
            <a:r>
              <a:rPr b="0" i="0" lang="en-US" sz="2000" u="none" cap="none" strike="noStrike">
                <a:solidFill>
                  <a:schemeClr val="accent4"/>
                </a:solidFill>
                <a:latin typeface="Calibri"/>
                <a:ea typeface="Calibri"/>
                <a:cs typeface="Calibri"/>
                <a:sym typeface="Calibri"/>
              </a:rPr>
              <a:t>A bitmask indicating which threads within the warp are "active."</a:t>
            </a:r>
            <a:endParaRPr/>
          </a:p>
        </p:txBody>
      </p:sp>
      <p:sp>
        <p:nvSpPr>
          <p:cNvPr id="517" name="Google Shape;517;p60"/>
          <p:cNvSpPr/>
          <p:nvPr/>
        </p:nvSpPr>
        <p:spPr>
          <a:xfrm>
            <a:off x="687653" y="4272490"/>
            <a:ext cx="7763183" cy="1152779"/>
          </a:xfrm>
          <a:prstGeom prst="roundRect">
            <a:avLst>
              <a:gd fmla="val 16667" name="adj"/>
            </a:avLst>
          </a:prstGeom>
          <a:solidFill>
            <a:srgbClr val="F1F1F1"/>
          </a:solidFill>
          <a:ln cap="flat" cmpd="sng" w="9525">
            <a:solidFill>
              <a:srgbClr val="29385E"/>
            </a:solidFill>
            <a:prstDash val="solid"/>
            <a:round/>
            <a:headEnd len="sm" w="sm" type="none"/>
            <a:tailEnd len="sm" w="sm" type="none"/>
          </a:ln>
        </p:spPr>
        <p:txBody>
          <a:bodyPr anchorCtr="0" anchor="ctr" bIns="45700" lIns="91425" spcFirstLastPara="1" rIns="91425" wrap="square" tIns="45700">
            <a:noAutofit/>
          </a:bodyPr>
          <a:lstStyle/>
          <a:p>
            <a:pPr indent="-457200" lvl="0" marL="457200" marR="0" rtl="0" algn="l">
              <a:spcBef>
                <a:spcPts val="0"/>
              </a:spcBef>
              <a:spcAft>
                <a:spcPts val="0"/>
              </a:spcAft>
              <a:buClr>
                <a:srgbClr val="29385E"/>
              </a:buClr>
              <a:buSzPts val="2000"/>
              <a:buFont typeface="Courier New"/>
              <a:buChar char="o"/>
            </a:pPr>
            <a:r>
              <a:rPr b="1" lang="en-US" sz="2000">
                <a:solidFill>
                  <a:srgbClr val="29385E"/>
                </a:solidFill>
                <a:latin typeface="Calibri"/>
                <a:ea typeface="Calibri"/>
                <a:cs typeface="Calibri"/>
                <a:sym typeface="Calibri"/>
              </a:rPr>
              <a:t>Operands (from Register File): </a:t>
            </a:r>
            <a:r>
              <a:rPr lang="en-US" sz="2000">
                <a:solidFill>
                  <a:schemeClr val="accent4"/>
                </a:solidFill>
                <a:latin typeface="Calibri"/>
                <a:ea typeface="Calibri"/>
                <a:cs typeface="Calibri"/>
                <a:sym typeface="Calibri"/>
              </a:rPr>
              <a:t>The Operand Collector in the Issue stage fetches the source registers for all threads in the warp. </a:t>
            </a:r>
            <a:endParaRPr/>
          </a:p>
        </p:txBody>
      </p:sp>
      <p:sp>
        <p:nvSpPr>
          <p:cNvPr id="518" name="Google Shape;518;p60"/>
          <p:cNvSpPr/>
          <p:nvPr/>
        </p:nvSpPr>
        <p:spPr>
          <a:xfrm>
            <a:off x="679493" y="5549038"/>
            <a:ext cx="7805471" cy="977467"/>
          </a:xfrm>
          <a:prstGeom prst="roundRect">
            <a:avLst>
              <a:gd fmla="val 16667" name="adj"/>
            </a:avLst>
          </a:prstGeom>
          <a:solidFill>
            <a:srgbClr val="F1F1F1"/>
          </a:solidFill>
          <a:ln cap="flat" cmpd="sng" w="9525">
            <a:solidFill>
              <a:srgbClr val="29385E"/>
            </a:solidFill>
            <a:prstDash val="solid"/>
            <a:round/>
            <a:headEnd len="sm" w="sm" type="none"/>
            <a:tailEnd len="sm" w="sm" type="none"/>
          </a:ln>
        </p:spPr>
        <p:txBody>
          <a:bodyPr anchorCtr="0" anchor="ctr" bIns="45700" lIns="91425" spcFirstLastPara="1" rIns="91425" wrap="square" tIns="45700">
            <a:noAutofit/>
          </a:bodyPr>
          <a:lstStyle/>
          <a:p>
            <a:pPr indent="-457200" lvl="0" marL="457200" marR="0" rtl="0" algn="l">
              <a:spcBef>
                <a:spcPts val="0"/>
              </a:spcBef>
              <a:spcAft>
                <a:spcPts val="0"/>
              </a:spcAft>
              <a:buClr>
                <a:srgbClr val="29385E"/>
              </a:buClr>
              <a:buSzPts val="2000"/>
              <a:buFont typeface="Courier New"/>
              <a:buChar char="o"/>
            </a:pPr>
            <a:r>
              <a:rPr b="1" lang="en-US" sz="2000">
                <a:solidFill>
                  <a:srgbClr val="29385E"/>
                </a:solidFill>
                <a:latin typeface="Calibri"/>
                <a:ea typeface="Calibri"/>
                <a:cs typeface="Calibri"/>
                <a:sym typeface="Calibri"/>
              </a:rPr>
              <a:t>Program Counter (PC): </a:t>
            </a:r>
            <a:r>
              <a:rPr lang="en-US" sz="2000">
                <a:solidFill>
                  <a:schemeClr val="accent4"/>
                </a:solidFill>
                <a:latin typeface="Calibri"/>
                <a:ea typeface="Calibri"/>
                <a:cs typeface="Calibri"/>
                <a:sym typeface="Calibri"/>
              </a:rPr>
              <a:t>The address of the current instruction, used specifically by the Branch units to calculate target addresses.</a:t>
            </a:r>
            <a:endParaRPr/>
          </a:p>
        </p:txBody>
      </p:sp>
      <p:cxnSp>
        <p:nvCxnSpPr>
          <p:cNvPr id="519" name="Google Shape;519;p60"/>
          <p:cNvCxnSpPr/>
          <p:nvPr/>
        </p:nvCxnSpPr>
        <p:spPr>
          <a:xfrm>
            <a:off x="8442678" y="3536938"/>
            <a:ext cx="817800" cy="1800"/>
          </a:xfrm>
          <a:prstGeom prst="bentConnector3">
            <a:avLst>
              <a:gd fmla="val 49993" name="adj1"/>
            </a:avLst>
          </a:prstGeom>
          <a:solidFill>
            <a:schemeClr val="accent1"/>
          </a:solidFill>
          <a:ln cap="flat" cmpd="sng" w="57150">
            <a:solidFill>
              <a:srgbClr val="29385E"/>
            </a:solidFill>
            <a:prstDash val="solid"/>
            <a:round/>
            <a:headEnd len="sm" w="sm" type="none"/>
            <a:tailEnd len="med" w="med" type="triangle"/>
          </a:ln>
        </p:spPr>
      </p:cxnSp>
      <p:cxnSp>
        <p:nvCxnSpPr>
          <p:cNvPr id="520" name="Google Shape;520;p60"/>
          <p:cNvCxnSpPr/>
          <p:nvPr/>
        </p:nvCxnSpPr>
        <p:spPr>
          <a:xfrm>
            <a:off x="8442678" y="4904789"/>
            <a:ext cx="817800" cy="1800"/>
          </a:xfrm>
          <a:prstGeom prst="bentConnector3">
            <a:avLst>
              <a:gd fmla="val 49992" name="adj1"/>
            </a:avLst>
          </a:prstGeom>
          <a:solidFill>
            <a:schemeClr val="accent1"/>
          </a:solidFill>
          <a:ln cap="flat" cmpd="sng" w="57150">
            <a:solidFill>
              <a:srgbClr val="29385E"/>
            </a:solidFill>
            <a:prstDash val="solid"/>
            <a:round/>
            <a:headEnd len="sm" w="sm" type="none"/>
            <a:tailEnd len="med" w="med" type="triangle"/>
          </a:ln>
        </p:spPr>
      </p:cxnSp>
      <p:cxnSp>
        <p:nvCxnSpPr>
          <p:cNvPr id="521" name="Google Shape;521;p60"/>
          <p:cNvCxnSpPr/>
          <p:nvPr/>
        </p:nvCxnSpPr>
        <p:spPr>
          <a:xfrm>
            <a:off x="8505605" y="6037771"/>
            <a:ext cx="817800" cy="1800"/>
          </a:xfrm>
          <a:prstGeom prst="bentConnector3">
            <a:avLst>
              <a:gd fmla="val 48874" name="adj1"/>
            </a:avLst>
          </a:prstGeom>
          <a:solidFill>
            <a:schemeClr val="accent1"/>
          </a:solidFill>
          <a:ln cap="flat" cmpd="sng" w="57150">
            <a:solidFill>
              <a:srgbClr val="29385E"/>
            </a:solidFill>
            <a:prstDash val="solid"/>
            <a:round/>
            <a:headEnd len="sm" w="sm" type="none"/>
            <a:tailEnd len="med" w="med" type="triangle"/>
          </a:ln>
        </p:spPr>
      </p:cxnSp>
      <p:cxnSp>
        <p:nvCxnSpPr>
          <p:cNvPr id="522" name="Google Shape;522;p60"/>
          <p:cNvCxnSpPr/>
          <p:nvPr/>
        </p:nvCxnSpPr>
        <p:spPr>
          <a:xfrm>
            <a:off x="8505605" y="1989106"/>
            <a:ext cx="817800" cy="1800"/>
          </a:xfrm>
          <a:prstGeom prst="bentConnector3">
            <a:avLst>
              <a:gd fmla="val 49993" name="adj1"/>
            </a:avLst>
          </a:prstGeom>
          <a:solidFill>
            <a:schemeClr val="accent1"/>
          </a:solidFill>
          <a:ln cap="flat" cmpd="sng" w="57150">
            <a:solidFill>
              <a:srgbClr val="29385E"/>
            </a:solidFill>
            <a:prstDash val="solid"/>
            <a:round/>
            <a:headEnd len="sm" w="sm"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500"/>
                                        <p:tgtEl>
                                          <p:spTgt spid="513"/>
                                        </p:tgtEl>
                                      </p:cBhvr>
                                    </p:animEffect>
                                  </p:childTnLst>
                                </p:cTn>
                              </p:par>
                              <p:par>
                                <p:cTn fill="hold" nodeType="withEffect" presetClass="entr" presetID="2" presetSubtype="4">
                                  <p:stCondLst>
                                    <p:cond delay="0"/>
                                  </p:stCondLst>
                                  <p:childTnLst>
                                    <p:set>
                                      <p:cBhvr>
                                        <p:cTn dur="1" fill="hold">
                                          <p:stCondLst>
                                            <p:cond delay="0"/>
                                          </p:stCondLst>
                                        </p:cTn>
                                        <p:tgtEl>
                                          <p:spTgt spid="514"/>
                                        </p:tgtEl>
                                        <p:attrNameLst>
                                          <p:attrName>style.visibility</p:attrName>
                                        </p:attrNameLst>
                                      </p:cBhvr>
                                      <p:to>
                                        <p:strVal val="visible"/>
                                      </p:to>
                                    </p:set>
                                    <p:anim calcmode="lin" valueType="num">
                                      <p:cBhvr additive="base">
                                        <p:cTn dur="500"/>
                                        <p:tgtEl>
                                          <p:spTgt spid="51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500"/>
                                        <p:tgtEl>
                                          <p:spTgt spid="5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500"/>
                                        <p:tgtEl>
                                          <p:spTgt spid="5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500"/>
                                        <p:tgtEl>
                                          <p:spTgt spid="5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500"/>
                                        <p:tgtEl>
                                          <p:spTgt spid="518"/>
                                        </p:tgtEl>
                                      </p:cBhvr>
                                    </p:animEffect>
                                  </p:childTnLst>
                                </p:cTn>
                              </p:par>
                              <p:par>
                                <p:cTn fill="hold" nodeType="with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500"/>
                                        <p:tgtEl>
                                          <p:spTgt spid="519"/>
                                        </p:tgtEl>
                                      </p:cBhvr>
                                    </p:animEffect>
                                  </p:childTnLst>
                                </p:cTn>
                              </p:par>
                              <p:par>
                                <p:cTn fill="hold" nodeType="with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500"/>
                                        <p:tgtEl>
                                          <p:spTgt spid="520"/>
                                        </p:tgtEl>
                                      </p:cBhvr>
                                    </p:animEffect>
                                  </p:childTnLst>
                                </p:cTn>
                              </p:par>
                              <p:par>
                                <p:cTn fill="hold" nodeType="with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500"/>
                                        <p:tgtEl>
                                          <p:spTgt spid="521"/>
                                        </p:tgtEl>
                                      </p:cBhvr>
                                    </p:animEffect>
                                  </p:childTnLst>
                                </p:cTn>
                              </p:par>
                              <p:par>
                                <p:cTn fill="hold" nodeType="with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500"/>
                                        <p:tgtEl>
                                          <p:spTgt spid="5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1"/>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Execution Stage</a:t>
            </a:r>
            <a:endParaRPr/>
          </a:p>
        </p:txBody>
      </p:sp>
      <p:pic>
        <p:nvPicPr>
          <p:cNvPr descr="A diagram of a computer system&#10;&#10;Description automatically generated" id="528" name="Google Shape;528;p61"/>
          <p:cNvPicPr preferRelativeResize="0"/>
          <p:nvPr/>
        </p:nvPicPr>
        <p:blipFill rotWithShape="1">
          <a:blip r:embed="rId3">
            <a:alphaModFix/>
          </a:blip>
          <a:srcRect b="38388" l="16655" r="0" t="0"/>
          <a:stretch/>
        </p:blipFill>
        <p:spPr>
          <a:xfrm>
            <a:off x="491800" y="1467459"/>
            <a:ext cx="11208400" cy="5213757"/>
          </a:xfrm>
          <a:prstGeom prst="rect">
            <a:avLst/>
          </a:prstGeom>
          <a:noFill/>
          <a:ln>
            <a:noFill/>
          </a:ln>
        </p:spPr>
      </p:pic>
      <p:sp>
        <p:nvSpPr>
          <p:cNvPr id="529" name="Google Shape;529;p61"/>
          <p:cNvSpPr/>
          <p:nvPr/>
        </p:nvSpPr>
        <p:spPr>
          <a:xfrm>
            <a:off x="491800" y="1308962"/>
            <a:ext cx="7018472" cy="5461293"/>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sp>
        <p:nvSpPr>
          <p:cNvPr id="530" name="Google Shape;530;p61"/>
          <p:cNvSpPr/>
          <p:nvPr/>
        </p:nvSpPr>
        <p:spPr>
          <a:xfrm>
            <a:off x="10049164" y="1132178"/>
            <a:ext cx="1651036" cy="5549038"/>
          </a:xfrm>
          <a:prstGeom prst="rect">
            <a:avLst/>
          </a:prstGeom>
          <a:solidFill>
            <a:srgbClr val="F2F2F2">
              <a:alpha val="9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cxnSp>
        <p:nvCxnSpPr>
          <p:cNvPr id="531" name="Google Shape;531;p61"/>
          <p:cNvCxnSpPr/>
          <p:nvPr/>
        </p:nvCxnSpPr>
        <p:spPr>
          <a:xfrm rot="10800000">
            <a:off x="5975956" y="1800743"/>
            <a:ext cx="2064300" cy="1385700"/>
          </a:xfrm>
          <a:prstGeom prst="curvedConnector3">
            <a:avLst>
              <a:gd fmla="val 18680" name="adj1"/>
            </a:avLst>
          </a:prstGeom>
          <a:noFill/>
          <a:ln cap="flat" cmpd="sng" w="63500">
            <a:solidFill>
              <a:srgbClr val="7F6600"/>
            </a:solidFill>
            <a:prstDash val="dot"/>
            <a:round/>
            <a:headEnd len="sm" w="sm" type="none"/>
            <a:tailEnd len="med" w="med" type="triangle"/>
          </a:ln>
          <a:effectLst>
            <a:outerShdw blurRad="50800" rotWithShape="0" algn="tl" dir="2700000" dist="38100">
              <a:srgbClr val="000000">
                <a:alpha val="40000"/>
              </a:srgbClr>
            </a:outerShdw>
          </a:effectLst>
        </p:spPr>
      </p:cxnSp>
      <p:cxnSp>
        <p:nvCxnSpPr>
          <p:cNvPr id="532" name="Google Shape;532;p61"/>
          <p:cNvCxnSpPr>
            <a:endCxn id="533" idx="3"/>
          </p:cNvCxnSpPr>
          <p:nvPr/>
        </p:nvCxnSpPr>
        <p:spPr>
          <a:xfrm rot="10800000">
            <a:off x="5943601" y="2813964"/>
            <a:ext cx="2650800" cy="575400"/>
          </a:xfrm>
          <a:prstGeom prst="curvedConnector3">
            <a:avLst>
              <a:gd fmla="val 49999" name="adj1"/>
            </a:avLst>
          </a:prstGeom>
          <a:noFill/>
          <a:ln cap="flat" cmpd="sng" w="63500">
            <a:solidFill>
              <a:srgbClr val="7F6600"/>
            </a:solidFill>
            <a:prstDash val="dot"/>
            <a:round/>
            <a:headEnd len="sm" w="sm" type="none"/>
            <a:tailEnd len="med" w="med" type="triangle"/>
          </a:ln>
          <a:effectLst>
            <a:outerShdw blurRad="50800" rotWithShape="0" algn="tl" dir="2700000" dist="38100">
              <a:srgbClr val="000000">
                <a:alpha val="40000"/>
              </a:srgbClr>
            </a:outerShdw>
          </a:effectLst>
        </p:spPr>
      </p:cxnSp>
      <p:cxnSp>
        <p:nvCxnSpPr>
          <p:cNvPr id="534" name="Google Shape;534;p61"/>
          <p:cNvCxnSpPr>
            <a:endCxn id="535" idx="3"/>
          </p:cNvCxnSpPr>
          <p:nvPr/>
        </p:nvCxnSpPr>
        <p:spPr>
          <a:xfrm rot="10800000">
            <a:off x="5957455" y="4403962"/>
            <a:ext cx="2637000" cy="77100"/>
          </a:xfrm>
          <a:prstGeom prst="curvedConnector3">
            <a:avLst>
              <a:gd fmla="val 50000" name="adj1"/>
            </a:avLst>
          </a:prstGeom>
          <a:noFill/>
          <a:ln cap="flat" cmpd="sng" w="63500">
            <a:solidFill>
              <a:srgbClr val="7F6600"/>
            </a:solidFill>
            <a:prstDash val="dot"/>
            <a:round/>
            <a:headEnd len="sm" w="sm" type="none"/>
            <a:tailEnd len="med" w="med" type="triangle"/>
          </a:ln>
          <a:effectLst>
            <a:outerShdw blurRad="50800" rotWithShape="0" algn="tl" dir="2700000" dist="38100">
              <a:srgbClr val="000000">
                <a:alpha val="40000"/>
              </a:srgbClr>
            </a:outerShdw>
          </a:effectLst>
        </p:spPr>
      </p:cxnSp>
      <p:cxnSp>
        <p:nvCxnSpPr>
          <p:cNvPr id="536" name="Google Shape;536;p61"/>
          <p:cNvCxnSpPr/>
          <p:nvPr/>
        </p:nvCxnSpPr>
        <p:spPr>
          <a:xfrm flipH="1">
            <a:off x="6054500" y="5016251"/>
            <a:ext cx="2581500" cy="374400"/>
          </a:xfrm>
          <a:prstGeom prst="curvedConnector3">
            <a:avLst>
              <a:gd fmla="val 50001" name="adj1"/>
            </a:avLst>
          </a:prstGeom>
          <a:noFill/>
          <a:ln cap="flat" cmpd="sng" w="63500">
            <a:solidFill>
              <a:srgbClr val="7F6600"/>
            </a:solidFill>
            <a:prstDash val="dot"/>
            <a:round/>
            <a:headEnd len="sm" w="sm" type="none"/>
            <a:tailEnd len="med" w="med" type="triangle"/>
          </a:ln>
          <a:effectLst>
            <a:outerShdw blurRad="50800" rotWithShape="0" algn="tl" dir="2700000" dist="38100">
              <a:srgbClr val="000000">
                <a:alpha val="40000"/>
              </a:srgbClr>
            </a:outerShdw>
          </a:effectLst>
        </p:spPr>
      </p:cxnSp>
      <p:cxnSp>
        <p:nvCxnSpPr>
          <p:cNvPr id="537" name="Google Shape;537;p61"/>
          <p:cNvCxnSpPr>
            <a:endCxn id="538" idx="3"/>
          </p:cNvCxnSpPr>
          <p:nvPr/>
        </p:nvCxnSpPr>
        <p:spPr>
          <a:xfrm flipH="1">
            <a:off x="5943601" y="5245760"/>
            <a:ext cx="3893100" cy="816000"/>
          </a:xfrm>
          <a:prstGeom prst="curvedConnector3">
            <a:avLst>
              <a:gd fmla="val 50000" name="adj1"/>
            </a:avLst>
          </a:prstGeom>
          <a:noFill/>
          <a:ln cap="flat" cmpd="sng" w="63500">
            <a:solidFill>
              <a:srgbClr val="7F6600"/>
            </a:solidFill>
            <a:prstDash val="dot"/>
            <a:round/>
            <a:headEnd len="sm" w="sm" type="none"/>
            <a:tailEnd len="med" w="med" type="triangle"/>
          </a:ln>
          <a:effectLst>
            <a:outerShdw blurRad="50800" rotWithShape="0" algn="tl" dir="2700000" dist="38100">
              <a:srgbClr val="000000">
                <a:alpha val="40000"/>
              </a:srgbClr>
            </a:outerShdw>
          </a:effectLst>
        </p:spPr>
      </p:cxnSp>
      <p:sp>
        <p:nvSpPr>
          <p:cNvPr id="533" name="Google Shape;533;p61"/>
          <p:cNvSpPr/>
          <p:nvPr/>
        </p:nvSpPr>
        <p:spPr>
          <a:xfrm>
            <a:off x="1233055" y="2462326"/>
            <a:ext cx="4710546"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Special Function Unit</a:t>
            </a:r>
            <a:endParaRPr/>
          </a:p>
        </p:txBody>
      </p:sp>
      <p:sp>
        <p:nvSpPr>
          <p:cNvPr id="539" name="Google Shape;539;p61"/>
          <p:cNvSpPr/>
          <p:nvPr/>
        </p:nvSpPr>
        <p:spPr>
          <a:xfrm>
            <a:off x="1233055" y="1560055"/>
            <a:ext cx="4710546"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Dispatch Unit</a:t>
            </a:r>
            <a:endParaRPr/>
          </a:p>
        </p:txBody>
      </p:sp>
      <p:sp>
        <p:nvSpPr>
          <p:cNvPr id="535" name="Google Shape;535;p61"/>
          <p:cNvSpPr/>
          <p:nvPr/>
        </p:nvSpPr>
        <p:spPr>
          <a:xfrm>
            <a:off x="1246909" y="4052324"/>
            <a:ext cx="4710546"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Floating Point Unit</a:t>
            </a:r>
            <a:endParaRPr/>
          </a:p>
        </p:txBody>
      </p:sp>
      <p:sp>
        <p:nvSpPr>
          <p:cNvPr id="540" name="Google Shape;540;p61"/>
          <p:cNvSpPr/>
          <p:nvPr/>
        </p:nvSpPr>
        <p:spPr>
          <a:xfrm>
            <a:off x="1279236" y="4879132"/>
            <a:ext cx="4710546"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Load Store Unit</a:t>
            </a:r>
            <a:endParaRPr/>
          </a:p>
        </p:txBody>
      </p:sp>
      <p:sp>
        <p:nvSpPr>
          <p:cNvPr id="538" name="Google Shape;538;p61"/>
          <p:cNvSpPr/>
          <p:nvPr/>
        </p:nvSpPr>
        <p:spPr>
          <a:xfrm>
            <a:off x="1233055" y="5710122"/>
            <a:ext cx="4710546"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Gather Unit</a:t>
            </a:r>
            <a:endParaRPr/>
          </a:p>
        </p:txBody>
      </p:sp>
      <p:cxnSp>
        <p:nvCxnSpPr>
          <p:cNvPr id="541" name="Google Shape;541;p61"/>
          <p:cNvCxnSpPr/>
          <p:nvPr/>
        </p:nvCxnSpPr>
        <p:spPr>
          <a:xfrm rot="10800000">
            <a:off x="5976040" y="3683296"/>
            <a:ext cx="2618400" cy="185400"/>
          </a:xfrm>
          <a:prstGeom prst="curvedConnector3">
            <a:avLst>
              <a:gd fmla="val 50002" name="adj1"/>
            </a:avLst>
          </a:prstGeom>
          <a:noFill/>
          <a:ln cap="flat" cmpd="sng" w="63500">
            <a:solidFill>
              <a:srgbClr val="7F6600"/>
            </a:solidFill>
            <a:prstDash val="dot"/>
            <a:round/>
            <a:headEnd len="sm" w="sm" type="none"/>
            <a:tailEnd len="med" w="med" type="triangle"/>
          </a:ln>
          <a:effectLst>
            <a:outerShdw blurRad="50800" rotWithShape="0" algn="tl" dir="2700000" dist="38100">
              <a:srgbClr val="000000">
                <a:alpha val="40000"/>
              </a:srgbClr>
            </a:outerShdw>
          </a:effectLst>
        </p:spPr>
      </p:cxnSp>
      <p:sp>
        <p:nvSpPr>
          <p:cNvPr id="542" name="Google Shape;542;p61"/>
          <p:cNvSpPr/>
          <p:nvPr/>
        </p:nvSpPr>
        <p:spPr>
          <a:xfrm>
            <a:off x="1233055" y="3283579"/>
            <a:ext cx="4710546"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Arithmetic Logic Unit</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1"/>
                                        </p:tgtEl>
                                        <p:attrNameLst>
                                          <p:attrName>style.visibility</p:attrName>
                                        </p:attrNameLst>
                                      </p:cBhvr>
                                      <p:to>
                                        <p:strVal val="visible"/>
                                      </p:to>
                                    </p:set>
                                    <p:animEffect filter="fade" transition="in">
                                      <p:cBhvr>
                                        <p:cTn dur="500"/>
                                        <p:tgtEl>
                                          <p:spTgt spid="531"/>
                                        </p:tgtEl>
                                      </p:cBhvr>
                                    </p:animEffect>
                                  </p:childTnLst>
                                </p:cTn>
                              </p:par>
                              <p:par>
                                <p:cTn fill="hold" nodeType="with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500"/>
                                        <p:tgtEl>
                                          <p:spTgt spid="539"/>
                                        </p:tgtEl>
                                      </p:cBhvr>
                                    </p:animEffect>
                                  </p:childTnLst>
                                </p:cTn>
                              </p:par>
                              <p:par>
                                <p:cTn fill="hold" nodeType="withEffect" presetClass="entr" presetID="10" presetSubtype="0">
                                  <p:stCondLst>
                                    <p:cond delay="0"/>
                                  </p:stCondLst>
                                  <p:childTnLst>
                                    <p:set>
                                      <p:cBhvr>
                                        <p:cTn dur="1" fill="hold">
                                          <p:stCondLst>
                                            <p:cond delay="0"/>
                                          </p:stCondLst>
                                        </p:cTn>
                                        <p:tgtEl>
                                          <p:spTgt spid="532"/>
                                        </p:tgtEl>
                                        <p:attrNameLst>
                                          <p:attrName>style.visibility</p:attrName>
                                        </p:attrNameLst>
                                      </p:cBhvr>
                                      <p:to>
                                        <p:strVal val="visible"/>
                                      </p:to>
                                    </p:set>
                                    <p:animEffect filter="fade" transition="in">
                                      <p:cBhvr>
                                        <p:cTn dur="500"/>
                                        <p:tgtEl>
                                          <p:spTgt spid="532"/>
                                        </p:tgtEl>
                                      </p:cBhvr>
                                    </p:animEffect>
                                  </p:childTnLst>
                                </p:cTn>
                              </p:par>
                              <p:par>
                                <p:cTn fill="hold" nodeType="with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500"/>
                                        <p:tgtEl>
                                          <p:spTgt spid="533"/>
                                        </p:tgtEl>
                                      </p:cBhvr>
                                    </p:animEffect>
                                  </p:childTnLst>
                                </p:cTn>
                              </p:par>
                              <p:par>
                                <p:cTn fill="hold" nodeType="with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500"/>
                                        <p:tgtEl>
                                          <p:spTgt spid="541"/>
                                        </p:tgtEl>
                                      </p:cBhvr>
                                    </p:animEffect>
                                  </p:childTnLst>
                                </p:cTn>
                              </p:par>
                              <p:par>
                                <p:cTn fill="hold" nodeType="with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500"/>
                                        <p:tgtEl>
                                          <p:spTgt spid="542"/>
                                        </p:tgtEl>
                                      </p:cBhvr>
                                    </p:animEffect>
                                  </p:childTnLst>
                                </p:cTn>
                              </p:par>
                              <p:par>
                                <p:cTn fill="hold" nodeType="withEffect" presetClass="entr" presetID="10" presetSubtype="0">
                                  <p:stCondLst>
                                    <p:cond delay="0"/>
                                  </p:stCondLst>
                                  <p:childTnLst>
                                    <p:set>
                                      <p:cBhvr>
                                        <p:cTn dur="1" fill="hold">
                                          <p:stCondLst>
                                            <p:cond delay="0"/>
                                          </p:stCondLst>
                                        </p:cTn>
                                        <p:tgtEl>
                                          <p:spTgt spid="534"/>
                                        </p:tgtEl>
                                        <p:attrNameLst>
                                          <p:attrName>style.visibility</p:attrName>
                                        </p:attrNameLst>
                                      </p:cBhvr>
                                      <p:to>
                                        <p:strVal val="visible"/>
                                      </p:to>
                                    </p:set>
                                    <p:animEffect filter="fade" transition="in">
                                      <p:cBhvr>
                                        <p:cTn dur="500"/>
                                        <p:tgtEl>
                                          <p:spTgt spid="534"/>
                                        </p:tgtEl>
                                      </p:cBhvr>
                                    </p:animEffect>
                                  </p:childTnLst>
                                </p:cTn>
                              </p:par>
                              <p:par>
                                <p:cTn fill="hold" nodeType="with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500"/>
                                        <p:tgtEl>
                                          <p:spTgt spid="535"/>
                                        </p:tgtEl>
                                      </p:cBhvr>
                                    </p:animEffect>
                                  </p:childTnLst>
                                </p:cTn>
                              </p:par>
                              <p:par>
                                <p:cTn fill="hold" nodeType="with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500"/>
                                        <p:tgtEl>
                                          <p:spTgt spid="536"/>
                                        </p:tgtEl>
                                      </p:cBhvr>
                                    </p:animEffect>
                                  </p:childTnLst>
                                </p:cTn>
                              </p:par>
                              <p:par>
                                <p:cTn fill="hold" nodeType="with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500"/>
                                        <p:tgtEl>
                                          <p:spTgt spid="540"/>
                                        </p:tgtEl>
                                      </p:cBhvr>
                                    </p:animEffect>
                                  </p:childTnLst>
                                </p:cTn>
                              </p:par>
                              <p:par>
                                <p:cTn fill="hold" nodeType="with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500"/>
                                        <p:tgtEl>
                                          <p:spTgt spid="537"/>
                                        </p:tgtEl>
                                      </p:cBhvr>
                                    </p:animEffect>
                                  </p:childTnLst>
                                </p:cTn>
                              </p:par>
                              <p:par>
                                <p:cTn fill="hold" nodeType="with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500"/>
                                        <p:tgtEl>
                                          <p:spTgt spid="5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2"/>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Execution</a:t>
            </a:r>
            <a:r>
              <a:rPr lang="en-US" sz="3000">
                <a:latin typeface="Calibri"/>
                <a:ea typeface="Calibri"/>
                <a:cs typeface="Calibri"/>
                <a:sym typeface="Calibri"/>
              </a:rPr>
              <a:t> Stage</a:t>
            </a:r>
            <a:endParaRPr/>
          </a:p>
        </p:txBody>
      </p:sp>
      <p:pic>
        <p:nvPicPr>
          <p:cNvPr descr="A screenshot of a computer&#10;&#10;Description automatically generated" id="548" name="Google Shape;548;p62"/>
          <p:cNvPicPr preferRelativeResize="0"/>
          <p:nvPr/>
        </p:nvPicPr>
        <p:blipFill rotWithShape="1">
          <a:blip r:embed="rId3">
            <a:alphaModFix/>
          </a:blip>
          <a:srcRect b="0" l="0" r="0" t="27059"/>
          <a:stretch/>
        </p:blipFill>
        <p:spPr>
          <a:xfrm>
            <a:off x="7568042" y="1130961"/>
            <a:ext cx="4098415" cy="5419265"/>
          </a:xfrm>
          <a:prstGeom prst="roundRect">
            <a:avLst>
              <a:gd fmla="val 16667" name="adj"/>
            </a:avLst>
          </a:prstGeom>
          <a:noFill/>
          <a:ln>
            <a:noFill/>
          </a:ln>
          <a:effectLst>
            <a:outerShdw blurRad="76200" rotWithShape="0" algn="tl" dir="7800000" dist="38100">
              <a:srgbClr val="000000">
                <a:alpha val="40000"/>
              </a:srgbClr>
            </a:outerShdw>
          </a:effectLst>
        </p:spPr>
      </p:pic>
      <p:sp>
        <p:nvSpPr>
          <p:cNvPr id="549" name="Google Shape;549;p62"/>
          <p:cNvSpPr txBox="1"/>
          <p:nvPr/>
        </p:nvSpPr>
        <p:spPr>
          <a:xfrm>
            <a:off x="590876" y="2670661"/>
            <a:ext cx="6501081" cy="267765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Courier New"/>
              <a:buChar char="o"/>
            </a:pPr>
            <a:r>
              <a:rPr lang="en-US" sz="2400">
                <a:solidFill>
                  <a:schemeClr val="dk1"/>
                </a:solidFill>
                <a:latin typeface="Calibri"/>
                <a:ea typeface="Calibri"/>
                <a:cs typeface="Calibri"/>
                <a:sym typeface="Calibri"/>
              </a:rPr>
              <a:t>Top-level dispatcher that routes instructions from the operands stage to the appropriate execution units based on the operation type.</a:t>
            </a:r>
            <a:endParaRPr/>
          </a:p>
          <a:p>
            <a:pPr indent="-190500" lvl="0" marL="342900" marR="0" rtl="0" algn="l">
              <a:spcBef>
                <a:spcPts val="0"/>
              </a:spcBef>
              <a:spcAft>
                <a:spcPts val="0"/>
              </a:spcAft>
              <a:buClr>
                <a:schemeClr val="dk1"/>
              </a:buClr>
              <a:buSzPts val="2400"/>
              <a:buFont typeface="Courier New"/>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Courier New"/>
              <a:buChar char="o"/>
            </a:pPr>
            <a:r>
              <a:rPr lang="en-US" sz="2400">
                <a:solidFill>
                  <a:schemeClr val="dk1"/>
                </a:solidFill>
                <a:latin typeface="Calibri"/>
                <a:ea typeface="Calibri"/>
                <a:cs typeface="Calibri"/>
                <a:sym typeface="Calibri"/>
              </a:rPr>
              <a:t>Divide the main warp into sub warp ( packets) and for each sub warp it has number of threads equal to the number of lanes</a:t>
            </a:r>
            <a:endParaRPr/>
          </a:p>
        </p:txBody>
      </p:sp>
      <p:sp>
        <p:nvSpPr>
          <p:cNvPr id="550" name="Google Shape;550;p62"/>
          <p:cNvSpPr/>
          <p:nvPr/>
        </p:nvSpPr>
        <p:spPr>
          <a:xfrm>
            <a:off x="590876" y="1308963"/>
            <a:ext cx="6753081" cy="703276"/>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Dispatch Unit</a:t>
            </a:r>
            <a:endParaRPr/>
          </a:p>
        </p:txBody>
      </p:sp>
    </p:spTree>
  </p:cSld>
  <p:clrMapOvr>
    <a:masterClrMapping/>
  </p:clrMapOvr>
  <p:transition spd="slow">
    <p:wipe dir="r"/>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3"/>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Execution</a:t>
            </a:r>
            <a:r>
              <a:rPr lang="en-US" sz="3000">
                <a:latin typeface="Calibri"/>
                <a:ea typeface="Calibri"/>
                <a:cs typeface="Calibri"/>
                <a:sym typeface="Calibri"/>
              </a:rPr>
              <a:t> Stage</a:t>
            </a:r>
            <a:endParaRPr/>
          </a:p>
        </p:txBody>
      </p:sp>
      <p:sp>
        <p:nvSpPr>
          <p:cNvPr id="556" name="Google Shape;556;p63"/>
          <p:cNvSpPr/>
          <p:nvPr/>
        </p:nvSpPr>
        <p:spPr>
          <a:xfrm>
            <a:off x="435428" y="1308963"/>
            <a:ext cx="11177451" cy="630936"/>
          </a:xfrm>
          <a:prstGeom prst="roundRect">
            <a:avLst>
              <a:gd fmla="val 16667" name="adj"/>
            </a:avLst>
          </a:prstGeom>
          <a:solidFill>
            <a:srgbClr val="F2F8FC"/>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800">
                <a:solidFill>
                  <a:srgbClr val="29385E"/>
                </a:solidFill>
                <a:latin typeface="Calibri"/>
                <a:ea typeface="Calibri"/>
                <a:cs typeface="Calibri"/>
                <a:sym typeface="Calibri"/>
              </a:rPr>
              <a:t>Dispatch Unit </a:t>
            </a:r>
            <a:endParaRPr/>
          </a:p>
        </p:txBody>
      </p:sp>
      <p:sp>
        <p:nvSpPr>
          <p:cNvPr id="557" name="Google Shape;557;p63"/>
          <p:cNvSpPr/>
          <p:nvPr/>
        </p:nvSpPr>
        <p:spPr>
          <a:xfrm>
            <a:off x="669662" y="2117676"/>
            <a:ext cx="11151550" cy="477454"/>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2000">
                <a:solidFill>
                  <a:srgbClr val="29385E"/>
                </a:solidFill>
                <a:latin typeface="Calibri"/>
                <a:ea typeface="Calibri"/>
                <a:cs typeface="Calibri"/>
                <a:sym typeface="Calibri"/>
              </a:rPr>
              <a:t>Thread Handling Level </a:t>
            </a:r>
            <a:endParaRPr i="1" sz="2000">
              <a:solidFill>
                <a:schemeClr val="accent4"/>
              </a:solidFill>
              <a:latin typeface="Calibri"/>
              <a:ea typeface="Calibri"/>
              <a:cs typeface="Calibri"/>
              <a:sym typeface="Calibri"/>
            </a:endParaRPr>
          </a:p>
        </p:txBody>
      </p:sp>
      <p:sp>
        <p:nvSpPr>
          <p:cNvPr id="558" name="Google Shape;558;p63"/>
          <p:cNvSpPr txBox="1"/>
          <p:nvPr/>
        </p:nvSpPr>
        <p:spPr>
          <a:xfrm>
            <a:off x="741509" y="2902497"/>
            <a:ext cx="10780829" cy="378565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7F7F7F"/>
              </a:buClr>
              <a:buSzPts val="2000"/>
              <a:buFont typeface="Courier New"/>
              <a:buChar char="o"/>
            </a:pPr>
            <a:r>
              <a:rPr b="1" lang="en-US" sz="2000">
                <a:solidFill>
                  <a:srgbClr val="7F7F7F"/>
                </a:solidFill>
                <a:latin typeface="Calibri"/>
                <a:ea typeface="Calibri"/>
                <a:cs typeface="Calibri"/>
                <a:sym typeface="Calibri"/>
              </a:rPr>
              <a:t>Ideal Mapping:</a:t>
            </a:r>
            <a:endParaRPr/>
          </a:p>
          <a:p>
            <a:pPr indent="0" lvl="1" marL="45720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the number of threads is </a:t>
            </a:r>
            <a:r>
              <a:rPr b="1" i="0" lang="en-US" sz="2000" u="none" cap="none" strike="noStrike">
                <a:solidFill>
                  <a:schemeClr val="dk1"/>
                </a:solidFill>
                <a:latin typeface="Calibri"/>
                <a:ea typeface="Calibri"/>
                <a:cs typeface="Calibri"/>
                <a:sym typeface="Calibri"/>
              </a:rPr>
              <a:t>equal to or less than </a:t>
            </a:r>
            <a:r>
              <a:rPr b="0" i="0" lang="en-US" sz="2000" u="none" cap="none" strike="noStrike">
                <a:solidFill>
                  <a:schemeClr val="dk1"/>
                </a:solidFill>
                <a:latin typeface="Calibri"/>
                <a:ea typeface="Calibri"/>
                <a:cs typeface="Calibri"/>
                <a:sym typeface="Calibri"/>
              </a:rPr>
              <a:t>the number of lanes of the execution block, the mapping become 1:1 mapping, meaning that the dispatch unit passes the entire warp to the execution block to be executed all at once ( Maximum Throughput achieved in this configuration) . </a:t>
            </a:r>
            <a:endParaRPr/>
          </a:p>
          <a:p>
            <a:pPr indent="0" lvl="1" marL="457200" marR="0" rtl="0" algn="l">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7F7F7F"/>
              </a:buClr>
              <a:buSzPts val="2000"/>
              <a:buFont typeface="Courier New"/>
              <a:buChar char="o"/>
            </a:pPr>
            <a:r>
              <a:rPr b="1" lang="en-US" sz="2000">
                <a:solidFill>
                  <a:srgbClr val="7F7F7F"/>
                </a:solidFill>
                <a:latin typeface="Calibri"/>
                <a:ea typeface="Calibri"/>
                <a:cs typeface="Calibri"/>
                <a:sym typeface="Calibri"/>
              </a:rPr>
              <a:t>Thread Serialization: </a:t>
            </a:r>
            <a:endParaRPr/>
          </a:p>
          <a:p>
            <a:pPr indent="0" lvl="1" marL="45720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When the number of threads is greater than the number of lanes of the execution block the mapping become number of lanes : number of blocks, meaning that the dispatch unit divide the warp into packets with number of lanes to represent the number of threads that will be executed at the same time (which lead us to Multi-cycle execution).</a:t>
            </a:r>
            <a:endParaRPr/>
          </a:p>
          <a:p>
            <a:pPr indent="0" lvl="1" marL="457200" marR="0" rtl="0" algn="l">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cxnSp>
        <p:nvCxnSpPr>
          <p:cNvPr id="559" name="Google Shape;559;p63"/>
          <p:cNvCxnSpPr>
            <a:stCxn id="557" idx="1"/>
          </p:cNvCxnSpPr>
          <p:nvPr/>
        </p:nvCxnSpPr>
        <p:spPr>
          <a:xfrm>
            <a:off x="669662" y="2356403"/>
            <a:ext cx="143700" cy="722700"/>
          </a:xfrm>
          <a:prstGeom prst="curvedConnector4">
            <a:avLst>
              <a:gd fmla="val -375563" name="adj1"/>
              <a:gd fmla="val 96513" name="adj2"/>
            </a:avLst>
          </a:prstGeom>
          <a:noFill/>
          <a:ln cap="flat" cmpd="sng" w="63500">
            <a:solidFill>
              <a:srgbClr val="29385E"/>
            </a:solidFill>
            <a:prstDash val="dot"/>
            <a:round/>
            <a:headEnd len="sm" w="sm" type="none"/>
            <a:tailEnd len="med" w="med" type="triangle"/>
          </a:ln>
          <a:effectLst>
            <a:outerShdw blurRad="50800" rotWithShape="0" algn="tl" dir="2700000" dist="38100">
              <a:srgbClr val="000000">
                <a:alpha val="40000"/>
              </a:srgbClr>
            </a:outerShdw>
          </a:effectLst>
        </p:spPr>
      </p:cxnSp>
      <p:cxnSp>
        <p:nvCxnSpPr>
          <p:cNvPr id="560" name="Google Shape;560;p63"/>
          <p:cNvCxnSpPr/>
          <p:nvPr/>
        </p:nvCxnSpPr>
        <p:spPr>
          <a:xfrm flipH="1" rot="-5400000">
            <a:off x="380162" y="4208293"/>
            <a:ext cx="722700" cy="143700"/>
          </a:xfrm>
          <a:prstGeom prst="curvedConnector4">
            <a:avLst>
              <a:gd fmla="val 0" name="adj1"/>
              <a:gd fmla="val 0" name="adj2"/>
            </a:avLst>
          </a:prstGeom>
          <a:noFill/>
          <a:ln cap="flat" cmpd="sng" w="63500">
            <a:solidFill>
              <a:srgbClr val="29385E"/>
            </a:solidFill>
            <a:prstDash val="dot"/>
            <a:round/>
            <a:headEnd len="sm" w="sm" type="none"/>
            <a:tailEnd len="med" w="med" type="triangle"/>
          </a:ln>
          <a:effectLst>
            <a:outerShdw blurRad="50800" rotWithShape="0" algn="tl" dir="2700000" dist="38100">
              <a:srgbClr val="000000">
                <a:alpha val="40000"/>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500"/>
                                        <p:tgtEl>
                                          <p:spTgt spid="5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500"/>
                                        <p:tgtEl>
                                          <p:spTgt spid="557"/>
                                        </p:tgtEl>
                                      </p:cBhvr>
                                    </p:animEffect>
                                  </p:childTnLst>
                                </p:cTn>
                              </p:par>
                              <p:par>
                                <p:cTn fill="hold" nodeType="with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500"/>
                                        <p:tgtEl>
                                          <p:spTgt spid="559"/>
                                        </p:tgtEl>
                                      </p:cBhvr>
                                    </p:animEffect>
                                  </p:childTnLst>
                                </p:cTn>
                              </p:par>
                              <p:par>
                                <p:cTn fill="hold" nodeType="withEffect" presetClass="entr" presetID="10" presetSubtype="0">
                                  <p:stCondLst>
                                    <p:cond delay="0"/>
                                  </p:stCondLst>
                                  <p:childTnLst>
                                    <p:set>
                                      <p:cBhvr>
                                        <p:cTn dur="1" fill="hold">
                                          <p:stCondLst>
                                            <p:cond delay="0"/>
                                          </p:stCondLst>
                                        </p:cTn>
                                        <p:tgtEl>
                                          <p:spTgt spid="560"/>
                                        </p:tgtEl>
                                        <p:attrNameLst>
                                          <p:attrName>style.visibility</p:attrName>
                                        </p:attrNameLst>
                                      </p:cBhvr>
                                      <p:to>
                                        <p:strVal val="visible"/>
                                      </p:to>
                                    </p:set>
                                    <p:animEffect filter="fade" transition="in">
                                      <p:cBhvr>
                                        <p:cTn dur="500"/>
                                        <p:tgtEl>
                                          <p:spTgt spid="5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64"/>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Execution</a:t>
            </a:r>
            <a:r>
              <a:rPr lang="en-US" sz="3000">
                <a:latin typeface="Calibri"/>
                <a:ea typeface="Calibri"/>
                <a:cs typeface="Calibri"/>
                <a:sym typeface="Calibri"/>
              </a:rPr>
              <a:t> Stage</a:t>
            </a:r>
            <a:endParaRPr/>
          </a:p>
        </p:txBody>
      </p:sp>
      <p:sp>
        <p:nvSpPr>
          <p:cNvPr id="566" name="Google Shape;566;p64"/>
          <p:cNvSpPr/>
          <p:nvPr/>
        </p:nvSpPr>
        <p:spPr>
          <a:xfrm>
            <a:off x="435428" y="1308963"/>
            <a:ext cx="11177451" cy="630936"/>
          </a:xfrm>
          <a:prstGeom prst="roundRect">
            <a:avLst>
              <a:gd fmla="val 16667" name="adj"/>
            </a:avLst>
          </a:prstGeom>
          <a:solidFill>
            <a:srgbClr val="F2F8FC"/>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800">
                <a:solidFill>
                  <a:srgbClr val="29385E"/>
                </a:solidFill>
                <a:latin typeface="Calibri"/>
                <a:ea typeface="Calibri"/>
                <a:cs typeface="Calibri"/>
                <a:sym typeface="Calibri"/>
              </a:rPr>
              <a:t>Dispatch Unit </a:t>
            </a:r>
            <a:endParaRPr/>
          </a:p>
        </p:txBody>
      </p:sp>
      <p:sp>
        <p:nvSpPr>
          <p:cNvPr id="567" name="Google Shape;567;p64"/>
          <p:cNvSpPr/>
          <p:nvPr/>
        </p:nvSpPr>
        <p:spPr>
          <a:xfrm>
            <a:off x="669662" y="2117676"/>
            <a:ext cx="11151550" cy="477454"/>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2000">
                <a:solidFill>
                  <a:srgbClr val="29385E"/>
                </a:solidFill>
                <a:latin typeface="Calibri"/>
                <a:ea typeface="Calibri"/>
                <a:cs typeface="Calibri"/>
                <a:sym typeface="Calibri"/>
              </a:rPr>
              <a:t>Warp Handling Level </a:t>
            </a:r>
            <a:endParaRPr i="1" sz="2000">
              <a:solidFill>
                <a:schemeClr val="accent4"/>
              </a:solidFill>
              <a:latin typeface="Calibri"/>
              <a:ea typeface="Calibri"/>
              <a:cs typeface="Calibri"/>
              <a:sym typeface="Calibri"/>
            </a:endParaRPr>
          </a:p>
        </p:txBody>
      </p:sp>
      <p:sp>
        <p:nvSpPr>
          <p:cNvPr id="568" name="Google Shape;568;p64"/>
          <p:cNvSpPr txBox="1"/>
          <p:nvPr/>
        </p:nvSpPr>
        <p:spPr>
          <a:xfrm>
            <a:off x="669662" y="3447263"/>
            <a:ext cx="11079703" cy="163121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7F7F7F"/>
              </a:buClr>
              <a:buSzPts val="2000"/>
              <a:buFont typeface="Courier New"/>
              <a:buChar char="o"/>
            </a:pPr>
            <a:r>
              <a:rPr b="1" lang="en-US" sz="2000">
                <a:solidFill>
                  <a:srgbClr val="7F7F7F"/>
                </a:solidFill>
                <a:latin typeface="Calibri"/>
                <a:ea typeface="Calibri"/>
                <a:cs typeface="Calibri"/>
                <a:sym typeface="Calibri"/>
              </a:rPr>
              <a:t>Warp Serialization: </a:t>
            </a:r>
            <a:endParaRPr/>
          </a:p>
          <a:p>
            <a:pPr indent="0" lvl="1" marL="45720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When the Issue width which represent the number of warps can be executed are greater than the number of actual hardware blocks, we have to calculate how many batches we have which indicate the number of warps in the case of LSU &amp; SFU blocks as they have fixed number of blocks.</a:t>
            </a:r>
            <a:endParaRPr/>
          </a:p>
          <a:p>
            <a:pPr indent="0" lvl="1" marL="45720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 It’s not the same case for the ALU and FPU blocks as their number of blocks are configurable).</a:t>
            </a:r>
            <a:endParaRPr/>
          </a:p>
        </p:txBody>
      </p:sp>
      <p:cxnSp>
        <p:nvCxnSpPr>
          <p:cNvPr id="569" name="Google Shape;569;p64"/>
          <p:cNvCxnSpPr/>
          <p:nvPr/>
        </p:nvCxnSpPr>
        <p:spPr>
          <a:xfrm flipH="1" rot="-5400000">
            <a:off x="308315" y="3258550"/>
            <a:ext cx="722700" cy="143700"/>
          </a:xfrm>
          <a:prstGeom prst="curvedConnector4">
            <a:avLst>
              <a:gd fmla="val 0" name="adj1"/>
              <a:gd fmla="val 0" name="adj2"/>
            </a:avLst>
          </a:prstGeom>
          <a:noFill/>
          <a:ln cap="flat" cmpd="sng" w="63500">
            <a:solidFill>
              <a:srgbClr val="29385E"/>
            </a:solidFill>
            <a:prstDash val="dot"/>
            <a:round/>
            <a:headEnd len="sm" w="sm" type="none"/>
            <a:tailEnd len="med" w="med" type="triangle"/>
          </a:ln>
          <a:effectLst>
            <a:outerShdw blurRad="50800" rotWithShape="0" algn="tl" dir="2700000" dist="38100">
              <a:srgbClr val="000000">
                <a:alpha val="40000"/>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gtEl>
                                        <p:attrNameLst>
                                          <p:attrName>style.visibility</p:attrName>
                                        </p:attrNameLst>
                                      </p:cBhvr>
                                      <p:to>
                                        <p:strVal val="visible"/>
                                      </p:to>
                                    </p:set>
                                    <p:animEffect filter="fade" transition="in">
                                      <p:cBhvr>
                                        <p:cTn dur="500"/>
                                        <p:tgtEl>
                                          <p:spTgt spid="5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7"/>
                                        </p:tgtEl>
                                        <p:attrNameLst>
                                          <p:attrName>style.visibility</p:attrName>
                                        </p:attrNameLst>
                                      </p:cBhvr>
                                      <p:to>
                                        <p:strVal val="visible"/>
                                      </p:to>
                                    </p:set>
                                    <p:animEffect filter="fade" transition="in">
                                      <p:cBhvr>
                                        <p:cTn dur="500"/>
                                        <p:tgtEl>
                                          <p:spTgt spid="567"/>
                                        </p:tgtEl>
                                      </p:cBhvr>
                                    </p:animEffect>
                                  </p:childTnLst>
                                </p:cTn>
                              </p:par>
                              <p:par>
                                <p:cTn fill="hold" nodeType="withEffect" presetClass="entr" presetID="10" presetSubtype="0">
                                  <p:stCondLst>
                                    <p:cond delay="0"/>
                                  </p:stCondLst>
                                  <p:childTnLst>
                                    <p:set>
                                      <p:cBhvr>
                                        <p:cTn dur="1" fill="hold">
                                          <p:stCondLst>
                                            <p:cond delay="0"/>
                                          </p:stCondLst>
                                        </p:cTn>
                                        <p:tgtEl>
                                          <p:spTgt spid="569"/>
                                        </p:tgtEl>
                                        <p:attrNameLst>
                                          <p:attrName>style.visibility</p:attrName>
                                        </p:attrNameLst>
                                      </p:cBhvr>
                                      <p:to>
                                        <p:strVal val="visible"/>
                                      </p:to>
                                    </p:set>
                                    <p:animEffect filter="fade" transition="in">
                                      <p:cBhvr>
                                        <p:cTn dur="500"/>
                                        <p:tgtEl>
                                          <p:spTgt spid="5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65"/>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Execution</a:t>
            </a:r>
            <a:r>
              <a:rPr lang="en-US" sz="3000">
                <a:latin typeface="Calibri"/>
                <a:ea typeface="Calibri"/>
                <a:cs typeface="Calibri"/>
                <a:sym typeface="Calibri"/>
              </a:rPr>
              <a:t> Stage</a:t>
            </a:r>
            <a:endParaRPr/>
          </a:p>
        </p:txBody>
      </p:sp>
      <p:sp>
        <p:nvSpPr>
          <p:cNvPr id="575" name="Google Shape;575;p65"/>
          <p:cNvSpPr/>
          <p:nvPr/>
        </p:nvSpPr>
        <p:spPr>
          <a:xfrm>
            <a:off x="435428" y="1308963"/>
            <a:ext cx="11177451" cy="630936"/>
          </a:xfrm>
          <a:prstGeom prst="roundRect">
            <a:avLst>
              <a:gd fmla="val 16667" name="adj"/>
            </a:avLst>
          </a:prstGeom>
          <a:solidFill>
            <a:srgbClr val="F2F8FC"/>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800">
                <a:solidFill>
                  <a:srgbClr val="29385E"/>
                </a:solidFill>
                <a:latin typeface="Calibri"/>
                <a:ea typeface="Calibri"/>
                <a:cs typeface="Calibri"/>
                <a:sym typeface="Calibri"/>
              </a:rPr>
              <a:t>Specific Function Unit </a:t>
            </a:r>
            <a:endParaRPr/>
          </a:p>
        </p:txBody>
      </p:sp>
      <p:sp>
        <p:nvSpPr>
          <p:cNvPr id="576" name="Google Shape;576;p65"/>
          <p:cNvSpPr/>
          <p:nvPr/>
        </p:nvSpPr>
        <p:spPr>
          <a:xfrm>
            <a:off x="669660" y="2951546"/>
            <a:ext cx="11151550" cy="477454"/>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2000">
                <a:solidFill>
                  <a:srgbClr val="29385E"/>
                </a:solidFill>
                <a:latin typeface="Calibri"/>
                <a:ea typeface="Calibri"/>
                <a:cs typeface="Calibri"/>
                <a:sym typeface="Calibri"/>
              </a:rPr>
              <a:t>1. Warp Control (SIMT Management)</a:t>
            </a:r>
            <a:endParaRPr/>
          </a:p>
        </p:txBody>
      </p:sp>
      <p:sp>
        <p:nvSpPr>
          <p:cNvPr id="577" name="Google Shape;577;p65"/>
          <p:cNvSpPr txBox="1"/>
          <p:nvPr/>
        </p:nvSpPr>
        <p:spPr>
          <a:xfrm>
            <a:off x="261379" y="2118797"/>
            <a:ext cx="11757796" cy="70788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Handles GPGPU-specific "Vortex Extensions" and control. The "management" of the SIMT (Single Instruction, Multiple Threads) execution model. It ensures that threads and warps coordinate correctly.</a:t>
            </a:r>
            <a:endParaRPr/>
          </a:p>
        </p:txBody>
      </p:sp>
      <p:sp>
        <p:nvSpPr>
          <p:cNvPr id="578" name="Google Shape;578;p65"/>
          <p:cNvSpPr txBox="1"/>
          <p:nvPr/>
        </p:nvSpPr>
        <p:spPr>
          <a:xfrm>
            <a:off x="366537" y="3677375"/>
            <a:ext cx="11151550" cy="2246769"/>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The SFU executes instructions that directly modify the </a:t>
            </a:r>
            <a:r>
              <a:rPr b="1" lang="en-US" sz="2000">
                <a:solidFill>
                  <a:schemeClr val="dk1"/>
                </a:solidFill>
                <a:latin typeface="Calibri"/>
                <a:ea typeface="Calibri"/>
                <a:cs typeface="Calibri"/>
                <a:sym typeface="Calibri"/>
              </a:rPr>
              <a:t>Warp State.</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000"/>
              <a:buFont typeface="Courier New"/>
              <a:buChar char="o"/>
            </a:pPr>
            <a:r>
              <a:rPr b="0" i="1" lang="en-US" sz="2000" u="none" cap="none" strike="noStrike">
                <a:solidFill>
                  <a:schemeClr val="dk1"/>
                </a:solidFill>
                <a:latin typeface="Calibri"/>
                <a:ea typeface="Calibri"/>
                <a:cs typeface="Calibri"/>
                <a:sym typeface="Calibri"/>
              </a:rPr>
              <a:t>WSPAWN: </a:t>
            </a:r>
            <a:r>
              <a:rPr b="0" i="0" lang="en-US" sz="2000" u="none" cap="none" strike="noStrike">
                <a:solidFill>
                  <a:schemeClr val="dk1"/>
                </a:solidFill>
                <a:latin typeface="Calibri"/>
                <a:ea typeface="Calibri"/>
                <a:cs typeface="Calibri"/>
                <a:sym typeface="Calibri"/>
              </a:rPr>
              <a:t>This is how Vortex starts parallel execution. It (activates) additional warps to run a kernel starting at a specific program counter (PC).</a:t>
            </a:r>
            <a:endParaRPr/>
          </a:p>
          <a:p>
            <a:pPr indent="0" lvl="1" marL="457200" marR="0" rtl="0" algn="l">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000"/>
              <a:buFont typeface="Courier New"/>
              <a:buChar char="o"/>
            </a:pPr>
            <a:r>
              <a:rPr b="0" i="1" lang="en-US" sz="2000" u="none" cap="none" strike="noStrike">
                <a:solidFill>
                  <a:schemeClr val="dk1"/>
                </a:solidFill>
                <a:latin typeface="Calibri"/>
                <a:ea typeface="Calibri"/>
                <a:cs typeface="Calibri"/>
                <a:sym typeface="Calibri"/>
              </a:rPr>
              <a:t>TMC (Thread Mask Control): </a:t>
            </a:r>
            <a:r>
              <a:rPr b="0" i="0" lang="en-US" sz="2000" u="none" cap="none" strike="noStrike">
                <a:solidFill>
                  <a:schemeClr val="dk1"/>
                </a:solidFill>
                <a:latin typeface="Calibri"/>
                <a:ea typeface="Calibri"/>
                <a:cs typeface="Calibri"/>
                <a:sym typeface="Calibri"/>
              </a:rPr>
              <a:t>This instruction updates the active thread mask for the current warp. If a bit in the mask is 0, that thread is disabled for subsequent instructions.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500"/>
                                        <p:tgtEl>
                                          <p:spTgt spid="575"/>
                                        </p:tgtEl>
                                      </p:cBhvr>
                                    </p:animEffect>
                                  </p:childTnLst>
                                </p:cTn>
                              </p:par>
                              <p:par>
                                <p:cTn fill="hold" nodeType="with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500"/>
                                        <p:tgtEl>
                                          <p:spTgt spid="5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500"/>
                                        <p:tgtEl>
                                          <p:spTgt spid="576"/>
                                        </p:tgtEl>
                                      </p:cBhvr>
                                    </p:animEffect>
                                  </p:childTnLst>
                                </p:cTn>
                              </p:par>
                              <p:par>
                                <p:cTn fill="hold" nodeType="with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500"/>
                                        <p:tgtEl>
                                          <p:spTgt spid="5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66"/>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Execution</a:t>
            </a:r>
            <a:r>
              <a:rPr lang="en-US" sz="3000">
                <a:latin typeface="Calibri"/>
                <a:ea typeface="Calibri"/>
                <a:cs typeface="Calibri"/>
                <a:sym typeface="Calibri"/>
              </a:rPr>
              <a:t> Stage</a:t>
            </a:r>
            <a:endParaRPr/>
          </a:p>
        </p:txBody>
      </p:sp>
      <p:sp>
        <p:nvSpPr>
          <p:cNvPr id="584" name="Google Shape;584;p66"/>
          <p:cNvSpPr/>
          <p:nvPr/>
        </p:nvSpPr>
        <p:spPr>
          <a:xfrm>
            <a:off x="435428" y="1308963"/>
            <a:ext cx="11177451" cy="630936"/>
          </a:xfrm>
          <a:prstGeom prst="roundRect">
            <a:avLst>
              <a:gd fmla="val 16667" name="adj"/>
            </a:avLst>
          </a:prstGeom>
          <a:solidFill>
            <a:srgbClr val="F2F8FC"/>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800">
                <a:solidFill>
                  <a:srgbClr val="29385E"/>
                </a:solidFill>
                <a:latin typeface="Calibri"/>
                <a:ea typeface="Calibri"/>
                <a:cs typeface="Calibri"/>
                <a:sym typeface="Calibri"/>
              </a:rPr>
              <a:t>Specific Function Unit </a:t>
            </a:r>
            <a:endParaRPr/>
          </a:p>
        </p:txBody>
      </p:sp>
      <p:sp>
        <p:nvSpPr>
          <p:cNvPr id="585" name="Google Shape;585;p66"/>
          <p:cNvSpPr/>
          <p:nvPr/>
        </p:nvSpPr>
        <p:spPr>
          <a:xfrm>
            <a:off x="669660" y="2951546"/>
            <a:ext cx="11151550" cy="477454"/>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2000">
                <a:solidFill>
                  <a:srgbClr val="29385E"/>
                </a:solidFill>
                <a:latin typeface="Calibri"/>
                <a:ea typeface="Calibri"/>
                <a:cs typeface="Calibri"/>
                <a:sym typeface="Calibri"/>
              </a:rPr>
              <a:t>2. Control Flow Divergence (Divergence Management)</a:t>
            </a:r>
            <a:endParaRPr/>
          </a:p>
        </p:txBody>
      </p:sp>
      <p:sp>
        <p:nvSpPr>
          <p:cNvPr id="586" name="Google Shape;586;p66"/>
          <p:cNvSpPr txBox="1"/>
          <p:nvPr/>
        </p:nvSpPr>
        <p:spPr>
          <a:xfrm>
            <a:off x="261379" y="2118797"/>
            <a:ext cx="11757796" cy="70788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Handles GPGPU-specific "Vortex Extensions" and control. The "management" of the SIMT (Single Instruction, Multiple Threads) execution model. It ensures that threads and warps coordinate correctly.</a:t>
            </a:r>
            <a:endParaRPr/>
          </a:p>
        </p:txBody>
      </p:sp>
      <p:sp>
        <p:nvSpPr>
          <p:cNvPr id="587" name="Google Shape;587;p66"/>
          <p:cNvSpPr txBox="1"/>
          <p:nvPr/>
        </p:nvSpPr>
        <p:spPr>
          <a:xfrm>
            <a:off x="261379" y="3677375"/>
            <a:ext cx="11559831" cy="2246769"/>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When a warp hits an if/else statement where some threads take the "if" path and others take the "else" path, the SFU manages </a:t>
            </a:r>
            <a:r>
              <a:rPr b="1" lang="en-US" sz="2000">
                <a:solidFill>
                  <a:schemeClr val="dk1"/>
                </a:solidFill>
                <a:latin typeface="Calibri"/>
                <a:ea typeface="Calibri"/>
                <a:cs typeface="Calibri"/>
                <a:sym typeface="Calibri"/>
              </a:rPr>
              <a:t>the IPDOM (Immediate Post-Dominator) Stack.</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000"/>
              <a:buFont typeface="Courier New"/>
              <a:buChar char="o"/>
            </a:pPr>
            <a:r>
              <a:rPr b="0" i="0" lang="en-US" sz="2000" u="none" cap="none" strike="noStrike">
                <a:solidFill>
                  <a:schemeClr val="dk1"/>
                </a:solidFill>
                <a:latin typeface="Calibri"/>
                <a:ea typeface="Calibri"/>
                <a:cs typeface="Calibri"/>
                <a:sym typeface="Calibri"/>
              </a:rPr>
              <a:t>SPLIT: Pushes the current thread mask and the return address onto a hardware stack to handle the divergent path.</a:t>
            </a:r>
            <a:endParaRPr/>
          </a:p>
          <a:p>
            <a:pPr indent="0" lvl="1" marL="457200" marR="0" rtl="0" algn="l">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000"/>
              <a:buFont typeface="Courier New"/>
              <a:buChar char="o"/>
            </a:pPr>
            <a:r>
              <a:rPr b="0" i="0" lang="en-US" sz="2000" u="none" cap="none" strike="noStrike">
                <a:solidFill>
                  <a:schemeClr val="dk1"/>
                </a:solidFill>
                <a:latin typeface="Calibri"/>
                <a:ea typeface="Calibri"/>
                <a:cs typeface="Calibri"/>
                <a:sym typeface="Calibri"/>
              </a:rPr>
              <a:t>JOIN: Pops the stack to restore the original thread mask once the divergent paths reconverge.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500"/>
                                        <p:tgtEl>
                                          <p:spTgt spid="585"/>
                                        </p:tgtEl>
                                      </p:cBhvr>
                                    </p:animEffect>
                                  </p:childTnLst>
                                </p:cTn>
                              </p:par>
                              <p:par>
                                <p:cTn fill="hold" nodeType="with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500"/>
                                        <p:tgtEl>
                                          <p:spTgt spid="5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67"/>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Execution</a:t>
            </a:r>
            <a:r>
              <a:rPr lang="en-US" sz="3000">
                <a:latin typeface="Calibri"/>
                <a:ea typeface="Calibri"/>
                <a:cs typeface="Calibri"/>
                <a:sym typeface="Calibri"/>
              </a:rPr>
              <a:t> Stage</a:t>
            </a:r>
            <a:endParaRPr/>
          </a:p>
        </p:txBody>
      </p:sp>
      <p:sp>
        <p:nvSpPr>
          <p:cNvPr id="593" name="Google Shape;593;p67"/>
          <p:cNvSpPr/>
          <p:nvPr/>
        </p:nvSpPr>
        <p:spPr>
          <a:xfrm>
            <a:off x="435428" y="1308963"/>
            <a:ext cx="11177451" cy="630936"/>
          </a:xfrm>
          <a:prstGeom prst="roundRect">
            <a:avLst>
              <a:gd fmla="val 16667" name="adj"/>
            </a:avLst>
          </a:prstGeom>
          <a:solidFill>
            <a:srgbClr val="F2F8FC"/>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800">
                <a:solidFill>
                  <a:srgbClr val="29385E"/>
                </a:solidFill>
                <a:latin typeface="Calibri"/>
                <a:ea typeface="Calibri"/>
                <a:cs typeface="Calibri"/>
                <a:sym typeface="Calibri"/>
              </a:rPr>
              <a:t>Specific Function Unit </a:t>
            </a:r>
            <a:endParaRPr/>
          </a:p>
        </p:txBody>
      </p:sp>
      <p:sp>
        <p:nvSpPr>
          <p:cNvPr id="594" name="Google Shape;594;p67"/>
          <p:cNvSpPr/>
          <p:nvPr/>
        </p:nvSpPr>
        <p:spPr>
          <a:xfrm>
            <a:off x="669660" y="2951546"/>
            <a:ext cx="11151550" cy="477454"/>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2000">
                <a:solidFill>
                  <a:srgbClr val="29385E"/>
                </a:solidFill>
                <a:latin typeface="Calibri"/>
                <a:ea typeface="Calibri"/>
                <a:cs typeface="Calibri"/>
                <a:sym typeface="Calibri"/>
              </a:rPr>
              <a:t>3. Warp Synchronization (Barriers)</a:t>
            </a:r>
            <a:endParaRPr/>
          </a:p>
        </p:txBody>
      </p:sp>
      <p:sp>
        <p:nvSpPr>
          <p:cNvPr id="595" name="Google Shape;595;p67"/>
          <p:cNvSpPr txBox="1"/>
          <p:nvPr/>
        </p:nvSpPr>
        <p:spPr>
          <a:xfrm>
            <a:off x="261379" y="2118797"/>
            <a:ext cx="11757796" cy="70788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Handles GPGPU-specific "Vortex Extensions" and control. The "management" of the SIMT (Single Instruction, Multiple Threads) execution model. It ensures that threads and warps coordinate correctly.</a:t>
            </a:r>
            <a:endParaRPr/>
          </a:p>
        </p:txBody>
      </p:sp>
      <p:sp>
        <p:nvSpPr>
          <p:cNvPr id="596" name="Google Shape;596;p67"/>
          <p:cNvSpPr txBox="1"/>
          <p:nvPr/>
        </p:nvSpPr>
        <p:spPr>
          <a:xfrm>
            <a:off x="669660" y="3553863"/>
            <a:ext cx="10695127" cy="1323439"/>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The SFU manages the </a:t>
            </a:r>
            <a:r>
              <a:rPr b="1" lang="en-US" sz="2000">
                <a:solidFill>
                  <a:schemeClr val="dk1"/>
                </a:solidFill>
                <a:latin typeface="Calibri"/>
                <a:ea typeface="Calibri"/>
                <a:cs typeface="Calibri"/>
                <a:sym typeface="Calibri"/>
              </a:rPr>
              <a:t>BAR</a:t>
            </a:r>
            <a:r>
              <a:rPr lang="en-US" sz="2000">
                <a:solidFill>
                  <a:schemeClr val="dk1"/>
                </a:solidFill>
                <a:latin typeface="Calibri"/>
                <a:ea typeface="Calibri"/>
                <a:cs typeface="Calibri"/>
                <a:sym typeface="Calibri"/>
              </a:rPr>
              <a:t> instruction.</a:t>
            </a:r>
            <a:endParaRPr/>
          </a:p>
          <a:p>
            <a:pPr indent="-342900" lvl="1" marL="800100" marR="0" rtl="0" algn="l">
              <a:spcBef>
                <a:spcPts val="0"/>
              </a:spcBef>
              <a:spcAft>
                <a:spcPts val="0"/>
              </a:spcAft>
              <a:buClr>
                <a:schemeClr val="dk1"/>
              </a:buClr>
              <a:buSzPts val="2000"/>
              <a:buFont typeface="Courier New"/>
              <a:buChar char="o"/>
            </a:pPr>
            <a:r>
              <a:rPr b="0" i="0" lang="en-US" sz="2000" u="none" cap="none" strike="noStrike">
                <a:solidFill>
                  <a:schemeClr val="dk1"/>
                </a:solidFill>
                <a:latin typeface="Calibri"/>
                <a:ea typeface="Calibri"/>
                <a:cs typeface="Calibri"/>
                <a:sym typeface="Calibri"/>
              </a:rPr>
              <a:t>It tracks how many warps have reached a specific "Barrier ID“ and sends a signal to the </a:t>
            </a:r>
            <a:r>
              <a:rPr b="1" i="0" lang="en-US" sz="2000" u="none" cap="none" strike="noStrike">
                <a:solidFill>
                  <a:schemeClr val="dk1"/>
                </a:solidFill>
                <a:latin typeface="Calibri"/>
                <a:ea typeface="Calibri"/>
                <a:cs typeface="Calibri"/>
                <a:sym typeface="Calibri"/>
              </a:rPr>
              <a:t>Warp Scheduler</a:t>
            </a:r>
            <a:r>
              <a:rPr b="0" i="0" lang="en-US" sz="2000" u="none" cap="none" strike="noStrike">
                <a:solidFill>
                  <a:schemeClr val="dk1"/>
                </a:solidFill>
                <a:latin typeface="Calibri"/>
                <a:ea typeface="Calibri"/>
                <a:cs typeface="Calibri"/>
                <a:sym typeface="Calibri"/>
              </a:rPr>
              <a:t> to stall these warps until the global or local "count" condition is met, ensuring all warps are synchronized before continuing.</a:t>
            </a:r>
            <a:endParaRPr/>
          </a:p>
        </p:txBody>
      </p:sp>
      <p:sp>
        <p:nvSpPr>
          <p:cNvPr id="597" name="Google Shape;597;p67"/>
          <p:cNvSpPr/>
          <p:nvPr/>
        </p:nvSpPr>
        <p:spPr>
          <a:xfrm>
            <a:off x="669660" y="4877302"/>
            <a:ext cx="11151550" cy="477454"/>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2000">
                <a:solidFill>
                  <a:srgbClr val="29385E"/>
                </a:solidFill>
                <a:latin typeface="Calibri"/>
                <a:ea typeface="Calibri"/>
                <a:cs typeface="Calibri"/>
                <a:sym typeface="Calibri"/>
              </a:rPr>
              <a:t>4. CSR Operations</a:t>
            </a:r>
            <a:endParaRPr/>
          </a:p>
        </p:txBody>
      </p:sp>
      <p:sp>
        <p:nvSpPr>
          <p:cNvPr id="598" name="Google Shape;598;p67"/>
          <p:cNvSpPr txBox="1"/>
          <p:nvPr/>
        </p:nvSpPr>
        <p:spPr>
          <a:xfrm>
            <a:off x="748436" y="5492855"/>
            <a:ext cx="10695127" cy="70788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handles reading and writing to Control and Status Registers (CSRs). These registers store processor metadata, performance counters, and configuration settings that the software needs to access.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94"/>
                                        </p:tgtEl>
                                        <p:attrNameLst>
                                          <p:attrName>style.visibility</p:attrName>
                                        </p:attrNameLst>
                                      </p:cBhvr>
                                      <p:to>
                                        <p:strVal val="visible"/>
                                      </p:to>
                                    </p:set>
                                    <p:animEffect filter="fade" transition="in">
                                      <p:cBhvr>
                                        <p:cTn dur="500"/>
                                        <p:tgtEl>
                                          <p:spTgt spid="594"/>
                                        </p:tgtEl>
                                      </p:cBhvr>
                                    </p:animEffect>
                                  </p:childTnLst>
                                </p:cTn>
                              </p:par>
                              <p:par>
                                <p:cTn fill="hold" nodeType="withEffect" presetClass="entr" presetID="10" presetSubtype="0">
                                  <p:stCondLst>
                                    <p:cond delay="0"/>
                                  </p:stCondLst>
                                  <p:childTnLst>
                                    <p:set>
                                      <p:cBhvr>
                                        <p:cTn dur="1" fill="hold">
                                          <p:stCondLst>
                                            <p:cond delay="0"/>
                                          </p:stCondLst>
                                        </p:cTn>
                                        <p:tgtEl>
                                          <p:spTgt spid="596"/>
                                        </p:tgtEl>
                                        <p:attrNameLst>
                                          <p:attrName>style.visibility</p:attrName>
                                        </p:attrNameLst>
                                      </p:cBhvr>
                                      <p:to>
                                        <p:strVal val="visible"/>
                                      </p:to>
                                    </p:set>
                                    <p:animEffect filter="fade" transition="in">
                                      <p:cBhvr>
                                        <p:cTn dur="500"/>
                                        <p:tgtEl>
                                          <p:spTgt spid="5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7"/>
                                        </p:tgtEl>
                                        <p:attrNameLst>
                                          <p:attrName>style.visibility</p:attrName>
                                        </p:attrNameLst>
                                      </p:cBhvr>
                                      <p:to>
                                        <p:strVal val="visible"/>
                                      </p:to>
                                    </p:set>
                                    <p:animEffect filter="fade" transition="in">
                                      <p:cBhvr>
                                        <p:cTn dur="500"/>
                                        <p:tgtEl>
                                          <p:spTgt spid="597"/>
                                        </p:tgtEl>
                                      </p:cBhvr>
                                    </p:animEffect>
                                  </p:childTnLst>
                                </p:cTn>
                              </p:par>
                              <p:par>
                                <p:cTn fill="hold" nodeType="withEffect" presetClass="entr" presetID="10" presetSubtype="0">
                                  <p:stCondLst>
                                    <p:cond delay="0"/>
                                  </p:stCondLst>
                                  <p:childTnLst>
                                    <p:set>
                                      <p:cBhvr>
                                        <p:cTn dur="1" fill="hold">
                                          <p:stCondLst>
                                            <p:cond delay="0"/>
                                          </p:stCondLst>
                                        </p:cTn>
                                        <p:tgtEl>
                                          <p:spTgt spid="598"/>
                                        </p:tgtEl>
                                        <p:attrNameLst>
                                          <p:attrName>style.visibility</p:attrName>
                                        </p:attrNameLst>
                                      </p:cBhvr>
                                      <p:to>
                                        <p:strVal val="visible"/>
                                      </p:to>
                                    </p:set>
                                    <p:animEffect filter="fade" transition="in">
                                      <p:cBhvr>
                                        <p:cTn dur="500"/>
                                        <p:tgtEl>
                                          <p:spTgt spid="5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68"/>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Execution</a:t>
            </a:r>
            <a:r>
              <a:rPr lang="en-US" sz="3000">
                <a:latin typeface="Calibri"/>
                <a:ea typeface="Calibri"/>
                <a:cs typeface="Calibri"/>
                <a:sym typeface="Calibri"/>
              </a:rPr>
              <a:t> Stage</a:t>
            </a:r>
            <a:endParaRPr/>
          </a:p>
        </p:txBody>
      </p:sp>
      <p:sp>
        <p:nvSpPr>
          <p:cNvPr id="604" name="Google Shape;604;p68"/>
          <p:cNvSpPr/>
          <p:nvPr/>
        </p:nvSpPr>
        <p:spPr>
          <a:xfrm>
            <a:off x="435428" y="1308963"/>
            <a:ext cx="11177451" cy="630936"/>
          </a:xfrm>
          <a:prstGeom prst="roundRect">
            <a:avLst>
              <a:gd fmla="val 16667" name="adj"/>
            </a:avLst>
          </a:prstGeom>
          <a:solidFill>
            <a:srgbClr val="F2F8FC"/>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800">
                <a:solidFill>
                  <a:srgbClr val="29385E"/>
                </a:solidFill>
                <a:latin typeface="Calibri"/>
                <a:ea typeface="Calibri"/>
                <a:cs typeface="Calibri"/>
                <a:sym typeface="Calibri"/>
              </a:rPr>
              <a:t>Arithmetic Logic Unit </a:t>
            </a:r>
            <a:endParaRPr/>
          </a:p>
        </p:txBody>
      </p:sp>
      <p:sp>
        <p:nvSpPr>
          <p:cNvPr id="605" name="Google Shape;605;p68"/>
          <p:cNvSpPr/>
          <p:nvPr/>
        </p:nvSpPr>
        <p:spPr>
          <a:xfrm>
            <a:off x="564502" y="2670661"/>
            <a:ext cx="11151550" cy="477454"/>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2000">
                <a:solidFill>
                  <a:srgbClr val="29385E"/>
                </a:solidFill>
                <a:latin typeface="Calibri"/>
                <a:ea typeface="Calibri"/>
                <a:cs typeface="Calibri"/>
                <a:sym typeface="Calibri"/>
              </a:rPr>
              <a:t>1. Arithmetic Operations</a:t>
            </a:r>
            <a:endParaRPr/>
          </a:p>
        </p:txBody>
      </p:sp>
      <p:sp>
        <p:nvSpPr>
          <p:cNvPr id="606" name="Google Shape;606;p68"/>
          <p:cNvSpPr txBox="1"/>
          <p:nvPr/>
        </p:nvSpPr>
        <p:spPr>
          <a:xfrm>
            <a:off x="261379" y="2118797"/>
            <a:ext cx="11757796" cy="40011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Handles all standard Integer processing and logical decisions. It is the "workhorse" for general computing.</a:t>
            </a:r>
            <a:endParaRPr/>
          </a:p>
        </p:txBody>
      </p:sp>
      <p:sp>
        <p:nvSpPr>
          <p:cNvPr id="607" name="Google Shape;607;p68"/>
          <p:cNvSpPr/>
          <p:nvPr/>
        </p:nvSpPr>
        <p:spPr>
          <a:xfrm>
            <a:off x="564502" y="3299869"/>
            <a:ext cx="11151550" cy="477454"/>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2000">
                <a:solidFill>
                  <a:srgbClr val="29385E"/>
                </a:solidFill>
                <a:latin typeface="Calibri"/>
                <a:ea typeface="Calibri"/>
                <a:cs typeface="Calibri"/>
                <a:sym typeface="Calibri"/>
              </a:rPr>
              <a:t>2. Logical Operations</a:t>
            </a:r>
            <a:endParaRPr/>
          </a:p>
        </p:txBody>
      </p:sp>
      <p:sp>
        <p:nvSpPr>
          <p:cNvPr id="608" name="Google Shape;608;p68"/>
          <p:cNvSpPr/>
          <p:nvPr/>
        </p:nvSpPr>
        <p:spPr>
          <a:xfrm>
            <a:off x="564502" y="3929077"/>
            <a:ext cx="11151550" cy="477454"/>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2000">
                <a:solidFill>
                  <a:srgbClr val="29385E"/>
                </a:solidFill>
                <a:latin typeface="Calibri"/>
                <a:ea typeface="Calibri"/>
                <a:cs typeface="Calibri"/>
                <a:sym typeface="Calibri"/>
              </a:rPr>
              <a:t>3. Shift Operations</a:t>
            </a:r>
            <a:endParaRPr/>
          </a:p>
        </p:txBody>
      </p:sp>
      <p:sp>
        <p:nvSpPr>
          <p:cNvPr id="609" name="Google Shape;609;p68"/>
          <p:cNvSpPr/>
          <p:nvPr/>
        </p:nvSpPr>
        <p:spPr>
          <a:xfrm>
            <a:off x="564502" y="4558285"/>
            <a:ext cx="11151550" cy="477454"/>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2000">
                <a:solidFill>
                  <a:srgbClr val="29385E"/>
                </a:solidFill>
                <a:latin typeface="Calibri"/>
                <a:ea typeface="Calibri"/>
                <a:cs typeface="Calibri"/>
                <a:sym typeface="Calibri"/>
              </a:rPr>
              <a:t>4. Comparisons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500"/>
                                        <p:tgtEl>
                                          <p:spTgt spid="6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500"/>
                                        <p:tgtEl>
                                          <p:spTgt spid="6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500"/>
                                        <p:tgtEl>
                                          <p:spTgt spid="6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500"/>
                                        <p:tgtEl>
                                          <p:spTgt spid="6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69"/>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Execution</a:t>
            </a:r>
            <a:r>
              <a:rPr lang="en-US" sz="3000">
                <a:latin typeface="Calibri"/>
                <a:ea typeface="Calibri"/>
                <a:cs typeface="Calibri"/>
                <a:sym typeface="Calibri"/>
              </a:rPr>
              <a:t> Stage</a:t>
            </a:r>
            <a:endParaRPr/>
          </a:p>
        </p:txBody>
      </p:sp>
      <p:sp>
        <p:nvSpPr>
          <p:cNvPr id="615" name="Google Shape;615;p69"/>
          <p:cNvSpPr/>
          <p:nvPr/>
        </p:nvSpPr>
        <p:spPr>
          <a:xfrm>
            <a:off x="435428" y="1308963"/>
            <a:ext cx="11177451" cy="630936"/>
          </a:xfrm>
          <a:prstGeom prst="roundRect">
            <a:avLst>
              <a:gd fmla="val 16667" name="adj"/>
            </a:avLst>
          </a:prstGeom>
          <a:solidFill>
            <a:srgbClr val="F2F8FC"/>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800">
                <a:solidFill>
                  <a:srgbClr val="29385E"/>
                </a:solidFill>
                <a:latin typeface="Calibri"/>
                <a:ea typeface="Calibri"/>
                <a:cs typeface="Calibri"/>
                <a:sym typeface="Calibri"/>
              </a:rPr>
              <a:t>Load Store Unit </a:t>
            </a:r>
            <a:endParaRPr/>
          </a:p>
        </p:txBody>
      </p:sp>
      <p:sp>
        <p:nvSpPr>
          <p:cNvPr id="616" name="Google Shape;616;p69"/>
          <p:cNvSpPr txBox="1"/>
          <p:nvPr/>
        </p:nvSpPr>
        <p:spPr>
          <a:xfrm>
            <a:off x="435427" y="2118797"/>
            <a:ext cx="11151551" cy="70788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The interface between the processor and the Memory System (L1 Data Cache). It is the only unit that can read/write to memory.</a:t>
            </a:r>
            <a:endParaRPr/>
          </a:p>
        </p:txBody>
      </p:sp>
      <p:sp>
        <p:nvSpPr>
          <p:cNvPr id="617" name="Google Shape;617;p69"/>
          <p:cNvSpPr/>
          <p:nvPr/>
        </p:nvSpPr>
        <p:spPr>
          <a:xfrm>
            <a:off x="590403" y="3190273"/>
            <a:ext cx="11151550" cy="477454"/>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457200" lvl="0" marL="457200" marR="0" rtl="0" algn="ctr">
              <a:spcBef>
                <a:spcPts val="0"/>
              </a:spcBef>
              <a:spcAft>
                <a:spcPts val="0"/>
              </a:spcAft>
              <a:buClr>
                <a:srgbClr val="29385E"/>
              </a:buClr>
              <a:buSzPts val="2000"/>
              <a:buFont typeface="Times New Roman"/>
              <a:buAutoNum type="arabicPeriod"/>
            </a:pPr>
            <a:r>
              <a:rPr b="1" i="1" lang="en-US" sz="2000">
                <a:solidFill>
                  <a:srgbClr val="29385E"/>
                </a:solidFill>
                <a:latin typeface="Calibri"/>
                <a:ea typeface="Calibri"/>
                <a:cs typeface="Calibri"/>
                <a:sym typeface="Calibri"/>
              </a:rPr>
              <a:t>Loads: </a:t>
            </a:r>
            <a:r>
              <a:rPr i="1" lang="en-US" sz="2000">
                <a:solidFill>
                  <a:srgbClr val="29385E"/>
                </a:solidFill>
                <a:latin typeface="Calibri"/>
                <a:ea typeface="Calibri"/>
                <a:cs typeface="Calibri"/>
                <a:sym typeface="Calibri"/>
              </a:rPr>
              <a:t>Reading data from memory into registers</a:t>
            </a:r>
            <a:endParaRPr/>
          </a:p>
        </p:txBody>
      </p:sp>
      <p:sp>
        <p:nvSpPr>
          <p:cNvPr id="618" name="Google Shape;618;p69"/>
          <p:cNvSpPr/>
          <p:nvPr/>
        </p:nvSpPr>
        <p:spPr>
          <a:xfrm>
            <a:off x="590403" y="5390397"/>
            <a:ext cx="11151550" cy="889402"/>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457200" lvl="0" marL="457200" marR="0" rtl="0" algn="ctr">
              <a:spcBef>
                <a:spcPts val="0"/>
              </a:spcBef>
              <a:spcAft>
                <a:spcPts val="0"/>
              </a:spcAft>
              <a:buClr>
                <a:srgbClr val="29385E"/>
              </a:buClr>
              <a:buSzPts val="2000"/>
              <a:buFont typeface="Times New Roman"/>
              <a:buAutoNum type="arabicPeriod" startAt="4"/>
            </a:pPr>
            <a:r>
              <a:rPr b="1" i="1" lang="en-US" sz="2000">
                <a:solidFill>
                  <a:srgbClr val="29385E"/>
                </a:solidFill>
                <a:latin typeface="Calibri"/>
                <a:ea typeface="Calibri"/>
                <a:cs typeface="Calibri"/>
                <a:sym typeface="Calibri"/>
              </a:rPr>
              <a:t>Address Calculation: </a:t>
            </a:r>
            <a:r>
              <a:rPr i="1" lang="en-US" sz="2000">
                <a:solidFill>
                  <a:srgbClr val="29385E"/>
                </a:solidFill>
                <a:latin typeface="Calibri"/>
                <a:ea typeface="Calibri"/>
                <a:cs typeface="Calibri"/>
                <a:sym typeface="Calibri"/>
              </a:rPr>
              <a:t>It calculates the effective memory address (Base Address + Offset) for every thread in the warp.</a:t>
            </a:r>
            <a:endParaRPr/>
          </a:p>
        </p:txBody>
      </p:sp>
      <p:sp>
        <p:nvSpPr>
          <p:cNvPr id="619" name="Google Shape;619;p69"/>
          <p:cNvSpPr/>
          <p:nvPr/>
        </p:nvSpPr>
        <p:spPr>
          <a:xfrm>
            <a:off x="590403" y="3773055"/>
            <a:ext cx="11151550" cy="477454"/>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457200" lvl="0" marL="457200" marR="0" rtl="0" algn="ctr">
              <a:spcBef>
                <a:spcPts val="0"/>
              </a:spcBef>
              <a:spcAft>
                <a:spcPts val="0"/>
              </a:spcAft>
              <a:buClr>
                <a:srgbClr val="29385E"/>
              </a:buClr>
              <a:buSzPts val="2000"/>
              <a:buFont typeface="Times New Roman"/>
              <a:buAutoNum type="arabicPeriod" startAt="2"/>
            </a:pPr>
            <a:r>
              <a:rPr b="1" i="1" lang="en-US" sz="2000">
                <a:solidFill>
                  <a:srgbClr val="29385E"/>
                </a:solidFill>
                <a:latin typeface="Calibri"/>
                <a:ea typeface="Calibri"/>
                <a:cs typeface="Calibri"/>
                <a:sym typeface="Calibri"/>
              </a:rPr>
              <a:t>Stores: </a:t>
            </a:r>
            <a:r>
              <a:rPr i="1" lang="en-US" sz="2000">
                <a:solidFill>
                  <a:srgbClr val="29385E"/>
                </a:solidFill>
                <a:latin typeface="Calibri"/>
                <a:ea typeface="Calibri"/>
                <a:cs typeface="Calibri"/>
                <a:sym typeface="Calibri"/>
              </a:rPr>
              <a:t>Writing data from registers to memory</a:t>
            </a:r>
            <a:endParaRPr/>
          </a:p>
        </p:txBody>
      </p:sp>
      <p:sp>
        <p:nvSpPr>
          <p:cNvPr id="620" name="Google Shape;620;p69"/>
          <p:cNvSpPr/>
          <p:nvPr/>
        </p:nvSpPr>
        <p:spPr>
          <a:xfrm>
            <a:off x="590403" y="4369399"/>
            <a:ext cx="11151550" cy="889402"/>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457200" lvl="0" marL="457200" marR="0" rtl="0" algn="ctr">
              <a:spcBef>
                <a:spcPts val="0"/>
              </a:spcBef>
              <a:spcAft>
                <a:spcPts val="0"/>
              </a:spcAft>
              <a:buClr>
                <a:srgbClr val="29385E"/>
              </a:buClr>
              <a:buSzPts val="2000"/>
              <a:buFont typeface="Times New Roman"/>
              <a:buAutoNum type="arabicPeriod" startAt="3"/>
            </a:pPr>
            <a:r>
              <a:rPr b="1" i="1" lang="en-US" sz="2000">
                <a:solidFill>
                  <a:srgbClr val="29385E"/>
                </a:solidFill>
                <a:latin typeface="Calibri"/>
                <a:ea typeface="Calibri"/>
                <a:cs typeface="Calibri"/>
                <a:sym typeface="Calibri"/>
              </a:rPr>
              <a:t>Atomics: </a:t>
            </a:r>
            <a:r>
              <a:rPr i="1" lang="en-US" sz="2000">
                <a:solidFill>
                  <a:srgbClr val="29385E"/>
                </a:solidFill>
                <a:latin typeface="Calibri"/>
                <a:ea typeface="Calibri"/>
                <a:cs typeface="Calibri"/>
                <a:sym typeface="Calibri"/>
              </a:rPr>
              <a:t>Handles Atomic Memory Operations (AMOADD, AMOSWAP) used for synchronization between threads</a:t>
            </a:r>
            <a:r>
              <a:rPr b="1" i="1" lang="en-US" sz="2000">
                <a:solidFill>
                  <a:srgbClr val="29385E"/>
                </a:solidFill>
                <a:latin typeface="Calibri"/>
                <a:ea typeface="Calibri"/>
                <a:cs typeface="Calibri"/>
                <a:sym typeface="Calibri"/>
              </a:rPr>
              <a:t>.</a:t>
            </a:r>
            <a:endParaRPr i="1" sz="2000">
              <a:solidFill>
                <a:srgbClr val="29385E"/>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500"/>
                                        <p:tgtEl>
                                          <p:spTgt spid="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500"/>
                                        <p:tgtEl>
                                          <p:spTgt spid="6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500"/>
                                        <p:tgtEl>
                                          <p:spTgt spid="6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gtEl>
                                        <p:attrNameLst>
                                          <p:attrName>style.visibility</p:attrName>
                                        </p:attrNameLst>
                                      </p:cBhvr>
                                      <p:to>
                                        <p:strVal val="visible"/>
                                      </p:to>
                                    </p:set>
                                    <p:animEffect filter="fade" transition="in">
                                      <p:cBhvr>
                                        <p:cTn dur="500"/>
                                        <p:tgtEl>
                                          <p:spTgt spid="6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70"/>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Execution</a:t>
            </a:r>
            <a:r>
              <a:rPr lang="en-US" sz="3000">
                <a:latin typeface="Calibri"/>
                <a:ea typeface="Calibri"/>
                <a:cs typeface="Calibri"/>
                <a:sym typeface="Calibri"/>
              </a:rPr>
              <a:t> Stage</a:t>
            </a:r>
            <a:endParaRPr/>
          </a:p>
        </p:txBody>
      </p:sp>
      <p:sp>
        <p:nvSpPr>
          <p:cNvPr id="626" name="Google Shape;626;p70"/>
          <p:cNvSpPr/>
          <p:nvPr/>
        </p:nvSpPr>
        <p:spPr>
          <a:xfrm>
            <a:off x="435428" y="1308963"/>
            <a:ext cx="11177451" cy="630936"/>
          </a:xfrm>
          <a:prstGeom prst="roundRect">
            <a:avLst>
              <a:gd fmla="val 16667" name="adj"/>
            </a:avLst>
          </a:prstGeom>
          <a:solidFill>
            <a:srgbClr val="F2F8FC"/>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800">
                <a:solidFill>
                  <a:srgbClr val="29385E"/>
                </a:solidFill>
                <a:latin typeface="Calibri"/>
                <a:ea typeface="Calibri"/>
                <a:cs typeface="Calibri"/>
                <a:sym typeface="Calibri"/>
              </a:rPr>
              <a:t>Floating Point Unit </a:t>
            </a:r>
            <a:endParaRPr/>
          </a:p>
        </p:txBody>
      </p:sp>
      <p:sp>
        <p:nvSpPr>
          <p:cNvPr id="627" name="Google Shape;627;p70"/>
          <p:cNvSpPr txBox="1"/>
          <p:nvPr/>
        </p:nvSpPr>
        <p:spPr>
          <a:xfrm>
            <a:off x="435427" y="2118797"/>
            <a:ext cx="11151551" cy="70788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This design optimizes for </a:t>
            </a:r>
            <a:r>
              <a:rPr b="1" lang="en-US" sz="2000">
                <a:solidFill>
                  <a:schemeClr val="dk1"/>
                </a:solidFill>
                <a:latin typeface="Calibri"/>
                <a:ea typeface="Calibri"/>
                <a:cs typeface="Calibri"/>
                <a:sym typeface="Calibri"/>
              </a:rPr>
              <a:t>Area Efficiency</a:t>
            </a:r>
            <a:r>
              <a:rPr lang="en-US" sz="2000">
                <a:solidFill>
                  <a:schemeClr val="dk1"/>
                </a:solidFill>
                <a:latin typeface="Calibri"/>
                <a:ea typeface="Calibri"/>
                <a:cs typeface="Calibri"/>
                <a:sym typeface="Calibri"/>
              </a:rPr>
              <a:t> by balancing heavily used units against large, infrequently used ones.</a:t>
            </a:r>
            <a:endParaRPr/>
          </a:p>
        </p:txBody>
      </p:sp>
      <p:sp>
        <p:nvSpPr>
          <p:cNvPr id="628" name="Google Shape;628;p70"/>
          <p:cNvSpPr/>
          <p:nvPr/>
        </p:nvSpPr>
        <p:spPr>
          <a:xfrm>
            <a:off x="590403" y="2945573"/>
            <a:ext cx="11151550" cy="477454"/>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457200" lvl="0" marL="457200" marR="0" rtl="0" algn="ctr">
              <a:spcBef>
                <a:spcPts val="0"/>
              </a:spcBef>
              <a:spcAft>
                <a:spcPts val="0"/>
              </a:spcAft>
              <a:buClr>
                <a:srgbClr val="29385E"/>
              </a:buClr>
              <a:buSzPts val="2000"/>
              <a:buFont typeface="Times New Roman"/>
              <a:buAutoNum type="arabicPeriod"/>
            </a:pPr>
            <a:r>
              <a:rPr b="1" i="1" lang="en-US" sz="2000">
                <a:solidFill>
                  <a:srgbClr val="29385E"/>
                </a:solidFill>
                <a:latin typeface="Calibri"/>
                <a:ea typeface="Calibri"/>
                <a:cs typeface="Calibri"/>
                <a:sym typeface="Calibri"/>
              </a:rPr>
              <a:t>Arithmetic: </a:t>
            </a:r>
            <a:r>
              <a:rPr i="1" lang="en-US" sz="2000">
                <a:solidFill>
                  <a:srgbClr val="29385E"/>
                </a:solidFill>
                <a:latin typeface="Calibri"/>
                <a:ea typeface="Calibri"/>
                <a:cs typeface="Calibri"/>
                <a:sym typeface="Calibri"/>
              </a:rPr>
              <a:t>Addition (FADD), Subtraction, Multiplication.</a:t>
            </a:r>
            <a:endParaRPr/>
          </a:p>
        </p:txBody>
      </p:sp>
      <p:sp>
        <p:nvSpPr>
          <p:cNvPr id="629" name="Google Shape;629;p70"/>
          <p:cNvSpPr/>
          <p:nvPr/>
        </p:nvSpPr>
        <p:spPr>
          <a:xfrm>
            <a:off x="590403" y="5390397"/>
            <a:ext cx="11151550" cy="889402"/>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457200" lvl="0" marL="457200" marR="0" rtl="0" algn="ctr">
              <a:spcBef>
                <a:spcPts val="0"/>
              </a:spcBef>
              <a:spcAft>
                <a:spcPts val="0"/>
              </a:spcAft>
              <a:buClr>
                <a:srgbClr val="29385E"/>
              </a:buClr>
              <a:buSzPts val="2000"/>
              <a:buFont typeface="Times New Roman"/>
              <a:buAutoNum type="arabicPeriod" startAt="4"/>
            </a:pPr>
            <a:r>
              <a:rPr b="1" i="1" lang="en-US" sz="2000">
                <a:solidFill>
                  <a:srgbClr val="29385E"/>
                </a:solidFill>
                <a:latin typeface="Calibri"/>
                <a:ea typeface="Calibri"/>
                <a:cs typeface="Calibri"/>
                <a:sym typeface="Calibri"/>
              </a:rPr>
              <a:t>Type Conversions: </a:t>
            </a:r>
            <a:r>
              <a:rPr i="1" lang="en-US" sz="2000">
                <a:solidFill>
                  <a:srgbClr val="29385E"/>
                </a:solidFill>
                <a:latin typeface="Calibri"/>
                <a:ea typeface="Calibri"/>
                <a:cs typeface="Calibri"/>
                <a:sym typeface="Calibri"/>
              </a:rPr>
              <a:t>Converting between Signed/Unsigned Integers and Floating Point</a:t>
            </a:r>
            <a:r>
              <a:rPr b="1" i="1" lang="en-US" sz="2000">
                <a:solidFill>
                  <a:srgbClr val="29385E"/>
                </a:solidFill>
                <a:latin typeface="Calibri"/>
                <a:ea typeface="Calibri"/>
                <a:cs typeface="Calibri"/>
                <a:sym typeface="Calibri"/>
              </a:rPr>
              <a:t>.</a:t>
            </a:r>
            <a:endParaRPr i="1" sz="2000">
              <a:solidFill>
                <a:srgbClr val="29385E"/>
              </a:solidFill>
              <a:latin typeface="Calibri"/>
              <a:ea typeface="Calibri"/>
              <a:cs typeface="Calibri"/>
              <a:sym typeface="Calibri"/>
            </a:endParaRPr>
          </a:p>
        </p:txBody>
      </p:sp>
      <p:sp>
        <p:nvSpPr>
          <p:cNvPr id="630" name="Google Shape;630;p70"/>
          <p:cNvSpPr/>
          <p:nvPr/>
        </p:nvSpPr>
        <p:spPr>
          <a:xfrm>
            <a:off x="590403" y="3554623"/>
            <a:ext cx="11151550" cy="477454"/>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457200" lvl="0" marL="457200" marR="0" rtl="0" algn="ctr">
              <a:spcBef>
                <a:spcPts val="0"/>
              </a:spcBef>
              <a:spcAft>
                <a:spcPts val="0"/>
              </a:spcAft>
              <a:buClr>
                <a:srgbClr val="29385E"/>
              </a:buClr>
              <a:buSzPts val="2000"/>
              <a:buFont typeface="Times New Roman"/>
              <a:buAutoNum type="arabicPeriod" startAt="2"/>
            </a:pPr>
            <a:r>
              <a:rPr b="1" i="1" lang="en-US" sz="2000">
                <a:solidFill>
                  <a:srgbClr val="29385E"/>
                </a:solidFill>
                <a:latin typeface="Calibri"/>
                <a:ea typeface="Calibri"/>
                <a:cs typeface="Calibri"/>
                <a:sym typeface="Calibri"/>
              </a:rPr>
              <a:t>Fused Operations: </a:t>
            </a:r>
            <a:r>
              <a:rPr i="1" lang="en-US" sz="2000">
                <a:solidFill>
                  <a:srgbClr val="29385E"/>
                </a:solidFill>
                <a:latin typeface="Calibri"/>
                <a:ea typeface="Calibri"/>
                <a:cs typeface="Calibri"/>
                <a:sym typeface="Calibri"/>
              </a:rPr>
              <a:t>FMA (Fused Multiply-Add), which is critical for matrix math.</a:t>
            </a:r>
            <a:endParaRPr/>
          </a:p>
        </p:txBody>
      </p:sp>
      <p:sp>
        <p:nvSpPr>
          <p:cNvPr id="631" name="Google Shape;631;p70"/>
          <p:cNvSpPr/>
          <p:nvPr/>
        </p:nvSpPr>
        <p:spPr>
          <a:xfrm>
            <a:off x="590403" y="4266536"/>
            <a:ext cx="11151550" cy="889402"/>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457200" lvl="0" marL="457200" marR="0" rtl="0" algn="ctr">
              <a:spcBef>
                <a:spcPts val="0"/>
              </a:spcBef>
              <a:spcAft>
                <a:spcPts val="0"/>
              </a:spcAft>
              <a:buClr>
                <a:srgbClr val="29385E"/>
              </a:buClr>
              <a:buSzPts val="2000"/>
              <a:buFont typeface="Times New Roman"/>
              <a:buAutoNum type="arabicPeriod" startAt="3"/>
            </a:pPr>
            <a:r>
              <a:rPr b="1" i="1" lang="en-US" sz="2000">
                <a:solidFill>
                  <a:srgbClr val="29385E"/>
                </a:solidFill>
                <a:latin typeface="Calibri"/>
                <a:ea typeface="Calibri"/>
                <a:cs typeface="Calibri"/>
                <a:sym typeface="Calibri"/>
              </a:rPr>
              <a:t>Comparisons: </a:t>
            </a:r>
            <a:r>
              <a:rPr i="1" lang="en-US" sz="2000">
                <a:solidFill>
                  <a:srgbClr val="29385E"/>
                </a:solidFill>
                <a:latin typeface="Calibri"/>
                <a:ea typeface="Calibri"/>
                <a:cs typeface="Calibri"/>
                <a:sym typeface="Calibri"/>
              </a:rPr>
              <a:t>FEQ, FLT, FLE (setting flags based on float values).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8"/>
                                        </p:tgtEl>
                                        <p:attrNameLst>
                                          <p:attrName>style.visibility</p:attrName>
                                        </p:attrNameLst>
                                      </p:cBhvr>
                                      <p:to>
                                        <p:strVal val="visible"/>
                                      </p:to>
                                    </p:set>
                                    <p:animEffect filter="fade" transition="in">
                                      <p:cBhvr>
                                        <p:cTn dur="500"/>
                                        <p:tgtEl>
                                          <p:spTgt spid="6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9"/>
                                        </p:tgtEl>
                                        <p:attrNameLst>
                                          <p:attrName>style.visibility</p:attrName>
                                        </p:attrNameLst>
                                      </p:cBhvr>
                                      <p:to>
                                        <p:strVal val="visible"/>
                                      </p:to>
                                    </p:set>
                                    <p:animEffect filter="fade" transition="in">
                                      <p:cBhvr>
                                        <p:cTn dur="500"/>
                                        <p:tgtEl>
                                          <p:spTgt spid="6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500"/>
                                        <p:tgtEl>
                                          <p:spTgt spid="6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500"/>
                                        <p:tgtEl>
                                          <p:spTgt spid="6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71"/>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Execution</a:t>
            </a:r>
            <a:r>
              <a:rPr lang="en-US" sz="3000">
                <a:latin typeface="Calibri"/>
                <a:ea typeface="Calibri"/>
                <a:cs typeface="Calibri"/>
                <a:sym typeface="Calibri"/>
              </a:rPr>
              <a:t> Stage</a:t>
            </a:r>
            <a:endParaRPr/>
          </a:p>
        </p:txBody>
      </p:sp>
      <p:sp>
        <p:nvSpPr>
          <p:cNvPr id="637" name="Google Shape;637;p71"/>
          <p:cNvSpPr/>
          <p:nvPr/>
        </p:nvSpPr>
        <p:spPr>
          <a:xfrm>
            <a:off x="435428" y="1308963"/>
            <a:ext cx="11177451" cy="630936"/>
          </a:xfrm>
          <a:prstGeom prst="roundRect">
            <a:avLst>
              <a:gd fmla="val 16667" name="adj"/>
            </a:avLst>
          </a:prstGeom>
          <a:solidFill>
            <a:srgbClr val="F2F8FC"/>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800">
                <a:solidFill>
                  <a:srgbClr val="29385E"/>
                </a:solidFill>
                <a:latin typeface="Calibri"/>
                <a:ea typeface="Calibri"/>
                <a:cs typeface="Calibri"/>
                <a:sym typeface="Calibri"/>
              </a:rPr>
              <a:t>Floating Point Unit </a:t>
            </a:r>
            <a:endParaRPr/>
          </a:p>
        </p:txBody>
      </p:sp>
      <p:sp>
        <p:nvSpPr>
          <p:cNvPr id="638" name="Google Shape;638;p71"/>
          <p:cNvSpPr txBox="1"/>
          <p:nvPr/>
        </p:nvSpPr>
        <p:spPr>
          <a:xfrm>
            <a:off x="435427" y="2118797"/>
            <a:ext cx="11151551" cy="70788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This design optimizes for </a:t>
            </a:r>
            <a:r>
              <a:rPr b="1" lang="en-US" sz="2000">
                <a:solidFill>
                  <a:schemeClr val="dk1"/>
                </a:solidFill>
                <a:latin typeface="Calibri"/>
                <a:ea typeface="Calibri"/>
                <a:cs typeface="Calibri"/>
                <a:sym typeface="Calibri"/>
              </a:rPr>
              <a:t>Area Efficiency</a:t>
            </a:r>
            <a:r>
              <a:rPr lang="en-US" sz="2000">
                <a:solidFill>
                  <a:schemeClr val="dk1"/>
                </a:solidFill>
                <a:latin typeface="Calibri"/>
                <a:ea typeface="Calibri"/>
                <a:cs typeface="Calibri"/>
                <a:sym typeface="Calibri"/>
              </a:rPr>
              <a:t> by balancing heavily used units against large, infrequently used ones.</a:t>
            </a:r>
            <a:endParaRPr/>
          </a:p>
        </p:txBody>
      </p:sp>
      <p:sp>
        <p:nvSpPr>
          <p:cNvPr id="639" name="Google Shape;639;p71"/>
          <p:cNvSpPr/>
          <p:nvPr/>
        </p:nvSpPr>
        <p:spPr>
          <a:xfrm>
            <a:off x="590403" y="2945573"/>
            <a:ext cx="11151550" cy="477454"/>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000">
                <a:solidFill>
                  <a:srgbClr val="29385E"/>
                </a:solidFill>
                <a:latin typeface="Calibri"/>
                <a:ea typeface="Calibri"/>
                <a:cs typeface="Calibri"/>
                <a:sym typeface="Calibri"/>
              </a:rPr>
              <a:t>A. Fully Parallel Units (1:1 Mapping)</a:t>
            </a:r>
            <a:endParaRPr i="1" sz="2000">
              <a:solidFill>
                <a:srgbClr val="29385E"/>
              </a:solidFill>
              <a:latin typeface="Calibri"/>
              <a:ea typeface="Calibri"/>
              <a:cs typeface="Calibri"/>
              <a:sym typeface="Calibri"/>
            </a:endParaRPr>
          </a:p>
        </p:txBody>
      </p:sp>
      <p:sp>
        <p:nvSpPr>
          <p:cNvPr id="640" name="Google Shape;640;p71"/>
          <p:cNvSpPr/>
          <p:nvPr/>
        </p:nvSpPr>
        <p:spPr>
          <a:xfrm>
            <a:off x="590403" y="3554623"/>
            <a:ext cx="11151550" cy="477454"/>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000">
                <a:solidFill>
                  <a:srgbClr val="29385E"/>
                </a:solidFill>
                <a:latin typeface="Calibri"/>
                <a:ea typeface="Calibri"/>
                <a:cs typeface="Calibri"/>
                <a:sym typeface="Calibri"/>
              </a:rPr>
              <a:t>B. Serialized Units (Shared Resources)</a:t>
            </a:r>
            <a:endParaRPr i="1" sz="2000">
              <a:solidFill>
                <a:srgbClr val="29385E"/>
              </a:solidFill>
              <a:latin typeface="Calibri"/>
              <a:ea typeface="Calibri"/>
              <a:cs typeface="Calibri"/>
              <a:sym typeface="Calibri"/>
            </a:endParaRPr>
          </a:p>
        </p:txBody>
      </p:sp>
      <p:sp>
        <p:nvSpPr>
          <p:cNvPr id="641" name="Google Shape;641;p71"/>
          <p:cNvSpPr/>
          <p:nvPr/>
        </p:nvSpPr>
        <p:spPr>
          <a:xfrm>
            <a:off x="590403" y="4266536"/>
            <a:ext cx="11151550" cy="477454"/>
          </a:xfrm>
          <a:prstGeom prst="roundRect">
            <a:avLst>
              <a:gd fmla="val 16667" name="adj"/>
            </a:avLst>
          </a:prstGeom>
          <a:solidFill>
            <a:srgbClr val="F1F1F1"/>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000">
                <a:solidFill>
                  <a:srgbClr val="29385E"/>
                </a:solidFill>
                <a:latin typeface="Calibri"/>
                <a:ea typeface="Calibri"/>
                <a:cs typeface="Calibri"/>
                <a:sym typeface="Calibri"/>
              </a:rPr>
              <a:t>C. NCP Blocks (Non-Computational Path / Control)</a:t>
            </a:r>
            <a:endParaRPr i="1" sz="2000">
              <a:solidFill>
                <a:srgbClr val="29385E"/>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500"/>
                                        <p:tgtEl>
                                          <p:spTgt spid="6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500"/>
                                        <p:tgtEl>
                                          <p:spTgt spid="6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500"/>
                                        <p:tgtEl>
                                          <p:spTgt spid="6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72"/>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Execution</a:t>
            </a:r>
            <a:r>
              <a:rPr lang="en-US" sz="3000">
                <a:latin typeface="Calibri"/>
                <a:ea typeface="Calibri"/>
                <a:cs typeface="Calibri"/>
                <a:sym typeface="Calibri"/>
              </a:rPr>
              <a:t> Stage</a:t>
            </a:r>
            <a:endParaRPr/>
          </a:p>
        </p:txBody>
      </p:sp>
      <p:sp>
        <p:nvSpPr>
          <p:cNvPr id="647" name="Google Shape;647;p72"/>
          <p:cNvSpPr/>
          <p:nvPr/>
        </p:nvSpPr>
        <p:spPr>
          <a:xfrm>
            <a:off x="435429" y="1308963"/>
            <a:ext cx="6501080" cy="630936"/>
          </a:xfrm>
          <a:prstGeom prst="roundRect">
            <a:avLst>
              <a:gd fmla="val 16667" name="adj"/>
            </a:avLst>
          </a:prstGeom>
          <a:solidFill>
            <a:srgbClr val="F2F8FC"/>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800">
                <a:solidFill>
                  <a:srgbClr val="29385E"/>
                </a:solidFill>
                <a:latin typeface="Calibri"/>
                <a:ea typeface="Calibri"/>
                <a:cs typeface="Calibri"/>
                <a:sym typeface="Calibri"/>
              </a:rPr>
              <a:t>Gather Unit </a:t>
            </a:r>
            <a:endParaRPr/>
          </a:p>
        </p:txBody>
      </p:sp>
      <p:pic>
        <p:nvPicPr>
          <p:cNvPr descr="A screenshot of a computer&#10;&#10;Description automatically generated" id="648" name="Google Shape;648;p72"/>
          <p:cNvPicPr preferRelativeResize="0"/>
          <p:nvPr/>
        </p:nvPicPr>
        <p:blipFill rotWithShape="1">
          <a:blip r:embed="rId3">
            <a:alphaModFix/>
          </a:blip>
          <a:srcRect b="0" l="0" r="0" t="27059"/>
          <a:stretch/>
        </p:blipFill>
        <p:spPr>
          <a:xfrm>
            <a:off x="7568042" y="1130961"/>
            <a:ext cx="4098415" cy="5419265"/>
          </a:xfrm>
          <a:prstGeom prst="roundRect">
            <a:avLst>
              <a:gd fmla="val 16667" name="adj"/>
            </a:avLst>
          </a:prstGeom>
          <a:noFill/>
          <a:ln>
            <a:noFill/>
          </a:ln>
          <a:effectLst>
            <a:outerShdw blurRad="76200" rotWithShape="0" algn="tl" dir="7800000" dist="38100">
              <a:srgbClr val="000000">
                <a:alpha val="40000"/>
              </a:srgbClr>
            </a:outerShdw>
          </a:effectLst>
        </p:spPr>
      </p:pic>
      <p:sp>
        <p:nvSpPr>
          <p:cNvPr id="649" name="Google Shape;649;p72"/>
          <p:cNvSpPr txBox="1"/>
          <p:nvPr/>
        </p:nvSpPr>
        <p:spPr>
          <a:xfrm>
            <a:off x="590876" y="2670661"/>
            <a:ext cx="6501081" cy="156966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Courier New"/>
              <a:buChar char="o"/>
            </a:pPr>
            <a:r>
              <a:rPr lang="en-US" sz="2400">
                <a:solidFill>
                  <a:schemeClr val="dk1"/>
                </a:solidFill>
                <a:latin typeface="Calibri"/>
                <a:ea typeface="Calibri"/>
                <a:cs typeface="Calibri"/>
                <a:sym typeface="Calibri"/>
              </a:rPr>
              <a:t>The inverse of the Dispatch Unit. It acts as a collector that merges results from the parallel hardware lanes back into a unified instruction packet.</a:t>
            </a:r>
            <a:endParaRPr/>
          </a:p>
        </p:txBody>
      </p:sp>
    </p:spTree>
  </p:cSld>
  <p:clrMapOvr>
    <a:masterClrMapping/>
  </p:clrMapOvr>
  <p:transition spd="slow">
    <p:wipe dir="r"/>
  </p:transition>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73"/>
          <p:cNvSpPr txBox="1"/>
          <p:nvPr>
            <p:ph type="ctrTitle"/>
          </p:nvPr>
        </p:nvSpPr>
        <p:spPr>
          <a:xfrm>
            <a:off x="1219200" y="2904335"/>
            <a:ext cx="10347158" cy="104933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Calibri"/>
                <a:ea typeface="Calibri"/>
                <a:cs typeface="Calibri"/>
                <a:sym typeface="Calibri"/>
              </a:rPr>
              <a:t>Commit Stage</a:t>
            </a:r>
            <a:br>
              <a:rPr lang="en-US" sz="4000"/>
            </a:br>
            <a:r>
              <a:rPr lang="en-US" sz="4000"/>
              <a:t>The Final touch </a:t>
            </a:r>
            <a:endParaRPr sz="40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74"/>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Commit Stage</a:t>
            </a:r>
            <a:endParaRPr/>
          </a:p>
        </p:txBody>
      </p:sp>
      <p:pic>
        <p:nvPicPr>
          <p:cNvPr descr="A diagram of a computer system&#10;&#10;Description automatically generated" id="660" name="Google Shape;660;p74"/>
          <p:cNvPicPr preferRelativeResize="0"/>
          <p:nvPr/>
        </p:nvPicPr>
        <p:blipFill rotWithShape="1">
          <a:blip r:embed="rId3">
            <a:alphaModFix/>
          </a:blip>
          <a:srcRect b="38414" l="16221" r="-166" t="-26"/>
          <a:stretch/>
        </p:blipFill>
        <p:spPr>
          <a:xfrm>
            <a:off x="310897" y="1308961"/>
            <a:ext cx="11289198" cy="5213757"/>
          </a:xfrm>
          <a:prstGeom prst="rect">
            <a:avLst/>
          </a:prstGeom>
          <a:noFill/>
          <a:ln>
            <a:noFill/>
          </a:ln>
        </p:spPr>
      </p:pic>
      <p:sp>
        <p:nvSpPr>
          <p:cNvPr id="661" name="Google Shape;661;p74"/>
          <p:cNvSpPr/>
          <p:nvPr/>
        </p:nvSpPr>
        <p:spPr>
          <a:xfrm>
            <a:off x="491800" y="1308962"/>
            <a:ext cx="9630608" cy="5461293"/>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sp>
        <p:nvSpPr>
          <p:cNvPr id="662" name="Google Shape;662;p74"/>
          <p:cNvSpPr/>
          <p:nvPr/>
        </p:nvSpPr>
        <p:spPr>
          <a:xfrm>
            <a:off x="10232875" y="1308960"/>
            <a:ext cx="1548123" cy="5213757"/>
          </a:xfrm>
          <a:prstGeom prst="rect">
            <a:avLst/>
          </a:prstGeom>
          <a:solidFill>
            <a:srgbClr val="FEE6F4">
              <a:alpha val="9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Commit</a:t>
            </a:r>
            <a:endParaRPr/>
          </a:p>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Stage</a:t>
            </a:r>
            <a:endParaRPr/>
          </a:p>
        </p:txBody>
      </p:sp>
      <p:sp>
        <p:nvSpPr>
          <p:cNvPr id="663" name="Google Shape;663;p74"/>
          <p:cNvSpPr/>
          <p:nvPr/>
        </p:nvSpPr>
        <p:spPr>
          <a:xfrm>
            <a:off x="2665193" y="1542417"/>
            <a:ext cx="4774119" cy="994611"/>
          </a:xfrm>
          <a:prstGeom prst="roundRect">
            <a:avLst>
              <a:gd fmla="val 16667" name="adj"/>
            </a:avLst>
          </a:prstGeom>
          <a:solidFill>
            <a:schemeClr val="lt1"/>
          </a:solidFill>
          <a:ln cap="flat" cmpd="sng" w="38100">
            <a:solidFill>
              <a:srgbClr val="29385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29385E"/>
                </a:solidFill>
                <a:latin typeface="Calibri"/>
                <a:ea typeface="Calibri"/>
                <a:cs typeface="Calibri"/>
                <a:sym typeface="Calibri"/>
              </a:rPr>
              <a:t>Two Main Responsibilities </a:t>
            </a:r>
            <a:endParaRPr b="1" i="1" sz="2400">
              <a:solidFill>
                <a:srgbClr val="29385E"/>
              </a:solidFill>
              <a:latin typeface="Calibri"/>
              <a:ea typeface="Calibri"/>
              <a:cs typeface="Calibri"/>
              <a:sym typeface="Calibri"/>
            </a:endParaRPr>
          </a:p>
        </p:txBody>
      </p:sp>
      <p:sp>
        <p:nvSpPr>
          <p:cNvPr id="664" name="Google Shape;664;p74"/>
          <p:cNvSpPr/>
          <p:nvPr/>
        </p:nvSpPr>
        <p:spPr>
          <a:xfrm>
            <a:off x="801176" y="2704470"/>
            <a:ext cx="8502155" cy="1449059"/>
          </a:xfrm>
          <a:prstGeom prst="roundRect">
            <a:avLst>
              <a:gd fmla="val 16667" name="adj"/>
            </a:avLst>
          </a:prstGeom>
          <a:solidFill>
            <a:schemeClr val="lt1"/>
          </a:solidFill>
          <a:ln cap="flat" cmpd="sng" w="38100">
            <a:solidFill>
              <a:srgbClr val="29385E"/>
            </a:solidFill>
            <a:prstDash val="solid"/>
            <a:round/>
            <a:headEnd len="sm" w="sm" type="none"/>
            <a:tailEnd len="sm" w="sm" type="none"/>
          </a:ln>
        </p:spPr>
        <p:txBody>
          <a:bodyPr anchorCtr="0" anchor="ctr" bIns="45700" lIns="91425" spcFirstLastPara="1" rIns="91425" wrap="square" tIns="45700">
            <a:noAutofit/>
          </a:bodyPr>
          <a:lstStyle/>
          <a:p>
            <a:pPr indent="-342900" lvl="0" marL="342900" marR="0" rtl="0" algn="l">
              <a:spcBef>
                <a:spcPts val="0"/>
              </a:spcBef>
              <a:spcAft>
                <a:spcPts val="0"/>
              </a:spcAft>
              <a:buClr>
                <a:srgbClr val="29385E"/>
              </a:buClr>
              <a:buSzPts val="2400"/>
              <a:buFont typeface="Noto Sans Symbols"/>
              <a:buChar char="❑"/>
            </a:pPr>
            <a:r>
              <a:rPr lang="en-US" sz="2400">
                <a:solidFill>
                  <a:srgbClr val="29385E"/>
                </a:solidFill>
                <a:latin typeface="Calibri"/>
                <a:ea typeface="Calibri"/>
                <a:cs typeface="Calibri"/>
                <a:sym typeface="Calibri"/>
              </a:rPr>
              <a:t>Register Update (Writeback) : </a:t>
            </a:r>
            <a:r>
              <a:rPr lang="en-US" sz="2400">
                <a:solidFill>
                  <a:schemeClr val="accent4"/>
                </a:solidFill>
                <a:latin typeface="Calibri"/>
                <a:ea typeface="Calibri"/>
                <a:cs typeface="Calibri"/>
                <a:sym typeface="Calibri"/>
              </a:rPr>
              <a:t>E</a:t>
            </a:r>
            <a:r>
              <a:rPr lang="en-US" sz="2400">
                <a:solidFill>
                  <a:schemeClr val="dk1"/>
                </a:solidFill>
                <a:latin typeface="Calibri"/>
                <a:ea typeface="Calibri"/>
                <a:cs typeface="Calibri"/>
                <a:sym typeface="Calibri"/>
              </a:rPr>
              <a:t>nsure that only the </a:t>
            </a:r>
            <a:r>
              <a:rPr b="1" lang="en-US" sz="2400">
                <a:solidFill>
                  <a:schemeClr val="dk1"/>
                </a:solidFill>
                <a:latin typeface="Calibri"/>
                <a:ea typeface="Calibri"/>
                <a:cs typeface="Calibri"/>
                <a:sym typeface="Calibri"/>
              </a:rPr>
              <a:t>threads that were active during the instruction update their registers </a:t>
            </a:r>
            <a:r>
              <a:rPr lang="en-US" sz="2400">
                <a:solidFill>
                  <a:schemeClr val="dk1"/>
                </a:solidFill>
                <a:latin typeface="Calibri"/>
                <a:ea typeface="Calibri"/>
                <a:cs typeface="Calibri"/>
                <a:sym typeface="Calibri"/>
              </a:rPr>
              <a:t>(inactive threads leave their registers untouched).</a:t>
            </a:r>
            <a:r>
              <a:rPr b="1" lang="en-US" sz="2400">
                <a:solidFill>
                  <a:srgbClr val="29385E"/>
                </a:solidFill>
                <a:latin typeface="Calibri"/>
                <a:ea typeface="Calibri"/>
                <a:cs typeface="Calibri"/>
                <a:sym typeface="Calibri"/>
              </a:rPr>
              <a:t> </a:t>
            </a:r>
            <a:endParaRPr b="1" i="1" sz="2400">
              <a:solidFill>
                <a:srgbClr val="29385E"/>
              </a:solidFill>
              <a:latin typeface="Calibri"/>
              <a:ea typeface="Calibri"/>
              <a:cs typeface="Calibri"/>
              <a:sym typeface="Calibri"/>
            </a:endParaRPr>
          </a:p>
        </p:txBody>
      </p:sp>
      <p:sp>
        <p:nvSpPr>
          <p:cNvPr id="665" name="Google Shape;665;p74"/>
          <p:cNvSpPr/>
          <p:nvPr/>
        </p:nvSpPr>
        <p:spPr>
          <a:xfrm>
            <a:off x="801176" y="4360189"/>
            <a:ext cx="8612030" cy="1689223"/>
          </a:xfrm>
          <a:prstGeom prst="roundRect">
            <a:avLst>
              <a:gd fmla="val 16667" name="adj"/>
            </a:avLst>
          </a:prstGeom>
          <a:solidFill>
            <a:schemeClr val="lt1"/>
          </a:solidFill>
          <a:ln cap="flat" cmpd="sng" w="38100">
            <a:solidFill>
              <a:srgbClr val="29385E"/>
            </a:solidFill>
            <a:prstDash val="solid"/>
            <a:round/>
            <a:headEnd len="sm" w="sm" type="none"/>
            <a:tailEnd len="sm" w="sm" type="none"/>
          </a:ln>
        </p:spPr>
        <p:txBody>
          <a:bodyPr anchorCtr="0" anchor="ctr" bIns="45700" lIns="91425" spcFirstLastPara="1" rIns="91425" wrap="square" tIns="45700">
            <a:noAutofit/>
          </a:bodyPr>
          <a:lstStyle/>
          <a:p>
            <a:pPr indent="-342900" lvl="0" marL="342900" marR="0" rtl="0" algn="l">
              <a:spcBef>
                <a:spcPts val="0"/>
              </a:spcBef>
              <a:spcAft>
                <a:spcPts val="0"/>
              </a:spcAft>
              <a:buClr>
                <a:srgbClr val="29385E"/>
              </a:buClr>
              <a:buSzPts val="2400"/>
              <a:buFont typeface="Noto Sans Symbols"/>
              <a:buChar char="❑"/>
            </a:pPr>
            <a:r>
              <a:rPr lang="en-US" sz="2400">
                <a:solidFill>
                  <a:srgbClr val="29385E"/>
                </a:solidFill>
                <a:latin typeface="Calibri"/>
                <a:ea typeface="Calibri"/>
                <a:cs typeface="Calibri"/>
                <a:sym typeface="Calibri"/>
              </a:rPr>
              <a:t>Hazard Resolution (Scoreboard Clearing): </a:t>
            </a:r>
            <a:r>
              <a:rPr lang="en-US" sz="2400">
                <a:solidFill>
                  <a:schemeClr val="dk1"/>
                </a:solidFill>
                <a:latin typeface="Calibri"/>
                <a:ea typeface="Calibri"/>
                <a:cs typeface="Calibri"/>
                <a:sym typeface="Calibri"/>
              </a:rPr>
              <a:t>"unlocks" the destination register in the Scoreboard, </a:t>
            </a:r>
            <a:r>
              <a:rPr b="1" lang="en-US" sz="2400">
                <a:solidFill>
                  <a:schemeClr val="dk1"/>
                </a:solidFill>
                <a:latin typeface="Calibri"/>
                <a:ea typeface="Calibri"/>
                <a:cs typeface="Calibri"/>
                <a:sym typeface="Calibri"/>
              </a:rPr>
              <a:t>allowing waiting instructions that need this data to finally proceed.</a:t>
            </a:r>
            <a:endParaRPr b="1" i="1" sz="24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1"/>
                                        </p:tgtEl>
                                        <p:attrNameLst>
                                          <p:attrName>style.visibility</p:attrName>
                                        </p:attrNameLst>
                                      </p:cBhvr>
                                      <p:to>
                                        <p:strVal val="visible"/>
                                      </p:to>
                                    </p:set>
                                    <p:animEffect filter="fade" transition="in">
                                      <p:cBhvr>
                                        <p:cTn dur="500"/>
                                        <p:tgtEl>
                                          <p:spTgt spid="661"/>
                                        </p:tgtEl>
                                      </p:cBhvr>
                                    </p:animEffect>
                                  </p:childTnLst>
                                </p:cTn>
                              </p:par>
                              <p:par>
                                <p:cTn fill="hold" nodeType="withEffect" presetClass="entr" presetID="2" presetSubtype="4">
                                  <p:stCondLst>
                                    <p:cond delay="0"/>
                                  </p:stCondLst>
                                  <p:childTnLst>
                                    <p:set>
                                      <p:cBhvr>
                                        <p:cTn dur="1" fill="hold">
                                          <p:stCondLst>
                                            <p:cond delay="0"/>
                                          </p:stCondLst>
                                        </p:cTn>
                                        <p:tgtEl>
                                          <p:spTgt spid="662"/>
                                        </p:tgtEl>
                                        <p:attrNameLst>
                                          <p:attrName>style.visibility</p:attrName>
                                        </p:attrNameLst>
                                      </p:cBhvr>
                                      <p:to>
                                        <p:strVal val="visible"/>
                                      </p:to>
                                    </p:set>
                                    <p:anim calcmode="lin" valueType="num">
                                      <p:cBhvr additive="base">
                                        <p:cTn dur="500"/>
                                        <p:tgtEl>
                                          <p:spTgt spid="66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75"/>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Commit Stage</a:t>
            </a:r>
            <a:endParaRPr/>
          </a:p>
        </p:txBody>
      </p:sp>
      <p:pic>
        <p:nvPicPr>
          <p:cNvPr descr="A diagram of a computer system&#10;&#10;Description automatically generated" id="671" name="Google Shape;671;p75"/>
          <p:cNvPicPr preferRelativeResize="0"/>
          <p:nvPr/>
        </p:nvPicPr>
        <p:blipFill rotWithShape="1">
          <a:blip r:embed="rId3">
            <a:alphaModFix/>
          </a:blip>
          <a:srcRect b="38414" l="16221" r="-166" t="-26"/>
          <a:stretch/>
        </p:blipFill>
        <p:spPr>
          <a:xfrm>
            <a:off x="310897" y="1308961"/>
            <a:ext cx="11289198" cy="5213757"/>
          </a:xfrm>
          <a:prstGeom prst="rect">
            <a:avLst/>
          </a:prstGeom>
          <a:noFill/>
          <a:ln>
            <a:noFill/>
          </a:ln>
        </p:spPr>
      </p:pic>
      <p:sp>
        <p:nvSpPr>
          <p:cNvPr id="672" name="Google Shape;672;p75"/>
          <p:cNvSpPr/>
          <p:nvPr/>
        </p:nvSpPr>
        <p:spPr>
          <a:xfrm>
            <a:off x="491800" y="1308962"/>
            <a:ext cx="9630608" cy="5461293"/>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sp>
        <p:nvSpPr>
          <p:cNvPr id="673" name="Google Shape;673;p75"/>
          <p:cNvSpPr/>
          <p:nvPr/>
        </p:nvSpPr>
        <p:spPr>
          <a:xfrm>
            <a:off x="10232875" y="1308960"/>
            <a:ext cx="1548123" cy="5213757"/>
          </a:xfrm>
          <a:prstGeom prst="rect">
            <a:avLst/>
          </a:prstGeom>
          <a:solidFill>
            <a:srgbClr val="FEE6F4">
              <a:alpha val="9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Commit</a:t>
            </a:r>
            <a:endParaRPr/>
          </a:p>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Stage</a:t>
            </a:r>
            <a:endParaRPr/>
          </a:p>
        </p:txBody>
      </p:sp>
      <p:sp>
        <p:nvSpPr>
          <p:cNvPr id="674" name="Google Shape;674;p75"/>
          <p:cNvSpPr/>
          <p:nvPr/>
        </p:nvSpPr>
        <p:spPr>
          <a:xfrm>
            <a:off x="1582858" y="2795223"/>
            <a:ext cx="7832352" cy="937787"/>
          </a:xfrm>
          <a:prstGeom prst="roundRect">
            <a:avLst>
              <a:gd fmla="val 16667" name="adj"/>
            </a:avLst>
          </a:prstGeom>
          <a:solidFill>
            <a:srgbClr val="F1F1F1"/>
          </a:solidFill>
          <a:ln cap="flat" cmpd="sng" w="95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457200" lvl="0" marL="457200" marR="0" rtl="0" algn="l">
              <a:spcBef>
                <a:spcPts val="0"/>
              </a:spcBef>
              <a:spcAft>
                <a:spcPts val="0"/>
              </a:spcAft>
              <a:buClr>
                <a:srgbClr val="29385E"/>
              </a:buClr>
              <a:buSzPts val="2000"/>
              <a:buFont typeface="Courier New"/>
              <a:buChar char="o"/>
            </a:pPr>
            <a:r>
              <a:rPr b="1" lang="en-US" sz="2000">
                <a:solidFill>
                  <a:srgbClr val="29385E"/>
                </a:solidFill>
                <a:latin typeface="Calibri"/>
                <a:ea typeface="Calibri"/>
                <a:cs typeface="Calibri"/>
                <a:sym typeface="Calibri"/>
              </a:rPr>
              <a:t>Execution Results: </a:t>
            </a:r>
            <a:r>
              <a:rPr lang="en-US" sz="2000">
                <a:solidFill>
                  <a:schemeClr val="dk1"/>
                </a:solidFill>
                <a:latin typeface="Calibri"/>
                <a:ea typeface="Calibri"/>
                <a:cs typeface="Calibri"/>
                <a:sym typeface="Calibri"/>
              </a:rPr>
              <a:t>The calculated data coming from execution unit</a:t>
            </a:r>
            <a:endParaRPr sz="2800">
              <a:solidFill>
                <a:schemeClr val="dk1"/>
              </a:solidFill>
              <a:latin typeface="Meddon"/>
              <a:ea typeface="Meddon"/>
              <a:cs typeface="Meddon"/>
              <a:sym typeface="Meddon"/>
            </a:endParaRPr>
          </a:p>
        </p:txBody>
      </p:sp>
      <p:sp>
        <p:nvSpPr>
          <p:cNvPr id="675" name="Google Shape;675;p75"/>
          <p:cNvSpPr/>
          <p:nvPr/>
        </p:nvSpPr>
        <p:spPr>
          <a:xfrm>
            <a:off x="710215" y="1617790"/>
            <a:ext cx="9193778" cy="730762"/>
          </a:xfrm>
          <a:prstGeom prst="roundRect">
            <a:avLst>
              <a:gd fmla="val 16667" name="adj"/>
            </a:avLst>
          </a:prstGeom>
          <a:solidFill>
            <a:schemeClr val="lt1"/>
          </a:solidFill>
          <a:ln cap="flat" cmpd="sng" w="19050">
            <a:solidFill>
              <a:srgbClr val="29385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3200">
                <a:solidFill>
                  <a:srgbClr val="29385E"/>
                </a:solidFill>
                <a:latin typeface="Calibri"/>
                <a:ea typeface="Calibri"/>
                <a:cs typeface="Calibri"/>
                <a:sym typeface="Calibri"/>
              </a:rPr>
              <a:t>Inputs to the Commit Stage</a:t>
            </a:r>
            <a:endParaRPr/>
          </a:p>
        </p:txBody>
      </p:sp>
      <p:sp>
        <p:nvSpPr>
          <p:cNvPr id="676" name="Google Shape;676;p75"/>
          <p:cNvSpPr/>
          <p:nvPr/>
        </p:nvSpPr>
        <p:spPr>
          <a:xfrm>
            <a:off x="1593163" y="3851124"/>
            <a:ext cx="7832352" cy="937787"/>
          </a:xfrm>
          <a:prstGeom prst="roundRect">
            <a:avLst>
              <a:gd fmla="val 16667" name="adj"/>
            </a:avLst>
          </a:prstGeom>
          <a:solidFill>
            <a:srgbClr val="F1F1F1"/>
          </a:solidFill>
          <a:ln cap="flat" cmpd="sng" w="95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457200" lvl="0" marL="457200" marR="0" rtl="0" algn="l">
              <a:spcBef>
                <a:spcPts val="0"/>
              </a:spcBef>
              <a:spcAft>
                <a:spcPts val="0"/>
              </a:spcAft>
              <a:buClr>
                <a:srgbClr val="29385E"/>
              </a:buClr>
              <a:buSzPts val="2000"/>
              <a:buFont typeface="Courier New"/>
              <a:buChar char="o"/>
            </a:pPr>
            <a:r>
              <a:rPr b="1" lang="en-US" sz="2000">
                <a:solidFill>
                  <a:srgbClr val="29385E"/>
                </a:solidFill>
                <a:latin typeface="Calibri"/>
                <a:ea typeface="Calibri"/>
                <a:cs typeface="Calibri"/>
                <a:sym typeface="Calibri"/>
              </a:rPr>
              <a:t>Destination Index (rd): </a:t>
            </a:r>
            <a:r>
              <a:rPr lang="en-US" sz="2000">
                <a:solidFill>
                  <a:schemeClr val="dk1"/>
                </a:solidFill>
                <a:latin typeface="Calibri"/>
                <a:ea typeface="Calibri"/>
                <a:cs typeface="Calibri"/>
                <a:sym typeface="Calibri"/>
              </a:rPr>
              <a:t>The address of the register where the result should be stored.</a:t>
            </a:r>
            <a:endParaRPr sz="2800">
              <a:solidFill>
                <a:schemeClr val="dk1"/>
              </a:solidFill>
              <a:latin typeface="Meddon"/>
              <a:ea typeface="Meddon"/>
              <a:cs typeface="Meddon"/>
              <a:sym typeface="Meddon"/>
            </a:endParaRPr>
          </a:p>
        </p:txBody>
      </p:sp>
      <p:sp>
        <p:nvSpPr>
          <p:cNvPr id="677" name="Google Shape;677;p75"/>
          <p:cNvSpPr/>
          <p:nvPr/>
        </p:nvSpPr>
        <p:spPr>
          <a:xfrm>
            <a:off x="1593163" y="5026671"/>
            <a:ext cx="7832352" cy="812470"/>
          </a:xfrm>
          <a:prstGeom prst="roundRect">
            <a:avLst>
              <a:gd fmla="val 16667" name="adj"/>
            </a:avLst>
          </a:prstGeom>
          <a:solidFill>
            <a:srgbClr val="F1F1F1"/>
          </a:solidFill>
          <a:ln cap="flat" cmpd="sng" w="95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457200" lvl="0" marL="457200" marR="0" rtl="0" algn="l">
              <a:spcBef>
                <a:spcPts val="0"/>
              </a:spcBef>
              <a:spcAft>
                <a:spcPts val="0"/>
              </a:spcAft>
              <a:buClr>
                <a:srgbClr val="29385E"/>
              </a:buClr>
              <a:buSzPts val="2000"/>
              <a:buFont typeface="Courier New"/>
              <a:buChar char="o"/>
            </a:pPr>
            <a:r>
              <a:rPr b="1" lang="en-US" sz="2000">
                <a:solidFill>
                  <a:srgbClr val="29385E"/>
                </a:solidFill>
                <a:latin typeface="Calibri"/>
                <a:ea typeface="Calibri"/>
                <a:cs typeface="Calibri"/>
                <a:sym typeface="Calibri"/>
              </a:rPr>
              <a:t>Warp Context :  </a:t>
            </a:r>
            <a:r>
              <a:rPr lang="en-US" sz="2000">
                <a:solidFill>
                  <a:schemeClr val="dk1"/>
                </a:solidFill>
                <a:latin typeface="Calibri"/>
                <a:ea typeface="Calibri"/>
                <a:cs typeface="Calibri"/>
                <a:sym typeface="Calibri"/>
              </a:rPr>
              <a:t>Warp ID , Thread Mask and PC</a:t>
            </a:r>
            <a:endParaRPr/>
          </a:p>
        </p:txBody>
      </p:sp>
      <p:cxnSp>
        <p:nvCxnSpPr>
          <p:cNvPr id="678" name="Google Shape;678;p75"/>
          <p:cNvCxnSpPr/>
          <p:nvPr/>
        </p:nvCxnSpPr>
        <p:spPr>
          <a:xfrm>
            <a:off x="9415210" y="3239149"/>
            <a:ext cx="817800" cy="1800"/>
          </a:xfrm>
          <a:prstGeom prst="bentConnector3">
            <a:avLst>
              <a:gd fmla="val 49993" name="adj1"/>
            </a:avLst>
          </a:prstGeom>
          <a:solidFill>
            <a:schemeClr val="accent1"/>
          </a:solidFill>
          <a:ln cap="flat" cmpd="sng" w="57150">
            <a:solidFill>
              <a:srgbClr val="29385E"/>
            </a:solidFill>
            <a:prstDash val="solid"/>
            <a:round/>
            <a:headEnd len="sm" w="sm" type="none"/>
            <a:tailEnd len="med" w="med" type="triangle"/>
          </a:ln>
        </p:spPr>
      </p:cxnSp>
      <p:cxnSp>
        <p:nvCxnSpPr>
          <p:cNvPr id="679" name="Google Shape;679;p75"/>
          <p:cNvCxnSpPr/>
          <p:nvPr/>
        </p:nvCxnSpPr>
        <p:spPr>
          <a:xfrm>
            <a:off x="9395194" y="4341203"/>
            <a:ext cx="817800" cy="1800"/>
          </a:xfrm>
          <a:prstGeom prst="bentConnector3">
            <a:avLst>
              <a:gd fmla="val 48863" name="adj1"/>
            </a:avLst>
          </a:prstGeom>
          <a:solidFill>
            <a:schemeClr val="accent1"/>
          </a:solidFill>
          <a:ln cap="flat" cmpd="sng" w="57150">
            <a:solidFill>
              <a:srgbClr val="29385E"/>
            </a:solidFill>
            <a:prstDash val="solid"/>
            <a:round/>
            <a:headEnd len="sm" w="sm" type="none"/>
            <a:tailEnd len="med" w="med" type="triangle"/>
          </a:ln>
        </p:spPr>
      </p:cxnSp>
      <p:cxnSp>
        <p:nvCxnSpPr>
          <p:cNvPr id="680" name="Google Shape;680;p75"/>
          <p:cNvCxnSpPr/>
          <p:nvPr/>
        </p:nvCxnSpPr>
        <p:spPr>
          <a:xfrm>
            <a:off x="9429137" y="5397104"/>
            <a:ext cx="817800" cy="1800"/>
          </a:xfrm>
          <a:prstGeom prst="bentConnector3">
            <a:avLst>
              <a:gd fmla="val 48863" name="adj1"/>
            </a:avLst>
          </a:prstGeom>
          <a:solidFill>
            <a:schemeClr val="accent1"/>
          </a:solidFill>
          <a:ln cap="flat" cmpd="sng" w="57150">
            <a:solidFill>
              <a:srgbClr val="29385E"/>
            </a:solidFill>
            <a:prstDash val="solid"/>
            <a:round/>
            <a:headEnd len="sm" w="sm"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2"/>
                                        </p:tgtEl>
                                        <p:attrNameLst>
                                          <p:attrName>style.visibility</p:attrName>
                                        </p:attrNameLst>
                                      </p:cBhvr>
                                      <p:to>
                                        <p:strVal val="visible"/>
                                      </p:to>
                                    </p:set>
                                    <p:animEffect filter="fade" transition="in">
                                      <p:cBhvr>
                                        <p:cTn dur="500"/>
                                        <p:tgtEl>
                                          <p:spTgt spid="672"/>
                                        </p:tgtEl>
                                      </p:cBhvr>
                                    </p:animEffect>
                                  </p:childTnLst>
                                </p:cTn>
                              </p:par>
                              <p:par>
                                <p:cTn fill="hold" nodeType="withEffect" presetClass="entr" presetID="2" presetSubtype="4">
                                  <p:stCondLst>
                                    <p:cond delay="0"/>
                                  </p:stCondLst>
                                  <p:childTnLst>
                                    <p:set>
                                      <p:cBhvr>
                                        <p:cTn dur="1" fill="hold">
                                          <p:stCondLst>
                                            <p:cond delay="0"/>
                                          </p:stCondLst>
                                        </p:cTn>
                                        <p:tgtEl>
                                          <p:spTgt spid="673"/>
                                        </p:tgtEl>
                                        <p:attrNameLst>
                                          <p:attrName>style.visibility</p:attrName>
                                        </p:attrNameLst>
                                      </p:cBhvr>
                                      <p:to>
                                        <p:strVal val="visible"/>
                                      </p:to>
                                    </p:set>
                                    <p:anim calcmode="lin" valueType="num">
                                      <p:cBhvr additive="base">
                                        <p:cTn dur="500"/>
                                        <p:tgtEl>
                                          <p:spTgt spid="67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
                                        </p:tgtEl>
                                        <p:attrNameLst>
                                          <p:attrName>style.visibility</p:attrName>
                                        </p:attrNameLst>
                                      </p:cBhvr>
                                      <p:to>
                                        <p:strVal val="visible"/>
                                      </p:to>
                                    </p:set>
                                    <p:animEffect filter="fade" transition="in">
                                      <p:cBhvr>
                                        <p:cTn dur="500"/>
                                        <p:tgtEl>
                                          <p:spTgt spid="6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gtEl>
                                        <p:attrNameLst>
                                          <p:attrName>style.visibility</p:attrName>
                                        </p:attrNameLst>
                                      </p:cBhvr>
                                      <p:to>
                                        <p:strVal val="visible"/>
                                      </p:to>
                                    </p:set>
                                    <p:animEffect filter="fade" transition="in">
                                      <p:cBhvr>
                                        <p:cTn dur="500"/>
                                        <p:tgtEl>
                                          <p:spTgt spid="6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7"/>
                                        </p:tgtEl>
                                        <p:attrNameLst>
                                          <p:attrName>style.visibility</p:attrName>
                                        </p:attrNameLst>
                                      </p:cBhvr>
                                      <p:to>
                                        <p:strVal val="visible"/>
                                      </p:to>
                                    </p:set>
                                    <p:animEffect filter="fade" transition="in">
                                      <p:cBhvr>
                                        <p:cTn dur="500"/>
                                        <p:tgtEl>
                                          <p:spTgt spid="677"/>
                                        </p:tgtEl>
                                      </p:cBhvr>
                                    </p:animEffect>
                                  </p:childTnLst>
                                </p:cTn>
                              </p:par>
                              <p:par>
                                <p:cTn fill="hold" nodeType="withEffect" presetClass="entr" presetID="10" presetSubtype="0">
                                  <p:stCondLst>
                                    <p:cond delay="0"/>
                                  </p:stCondLst>
                                  <p:childTnLst>
                                    <p:set>
                                      <p:cBhvr>
                                        <p:cTn dur="1" fill="hold">
                                          <p:stCondLst>
                                            <p:cond delay="0"/>
                                          </p:stCondLst>
                                        </p:cTn>
                                        <p:tgtEl>
                                          <p:spTgt spid="678"/>
                                        </p:tgtEl>
                                        <p:attrNameLst>
                                          <p:attrName>style.visibility</p:attrName>
                                        </p:attrNameLst>
                                      </p:cBhvr>
                                      <p:to>
                                        <p:strVal val="visible"/>
                                      </p:to>
                                    </p:set>
                                    <p:animEffect filter="fade" transition="in">
                                      <p:cBhvr>
                                        <p:cTn dur="500"/>
                                        <p:tgtEl>
                                          <p:spTgt spid="678"/>
                                        </p:tgtEl>
                                      </p:cBhvr>
                                    </p:animEffect>
                                  </p:childTnLst>
                                </p:cTn>
                              </p:par>
                              <p:par>
                                <p:cTn fill="hold" nodeType="withEffect" presetClass="entr" presetID="10" presetSubtype="0">
                                  <p:stCondLst>
                                    <p:cond delay="0"/>
                                  </p:stCondLst>
                                  <p:childTnLst>
                                    <p:set>
                                      <p:cBhvr>
                                        <p:cTn dur="1" fill="hold">
                                          <p:stCondLst>
                                            <p:cond delay="0"/>
                                          </p:stCondLst>
                                        </p:cTn>
                                        <p:tgtEl>
                                          <p:spTgt spid="679"/>
                                        </p:tgtEl>
                                        <p:attrNameLst>
                                          <p:attrName>style.visibility</p:attrName>
                                        </p:attrNameLst>
                                      </p:cBhvr>
                                      <p:to>
                                        <p:strVal val="visible"/>
                                      </p:to>
                                    </p:set>
                                    <p:animEffect filter="fade" transition="in">
                                      <p:cBhvr>
                                        <p:cTn dur="500"/>
                                        <p:tgtEl>
                                          <p:spTgt spid="679"/>
                                        </p:tgtEl>
                                      </p:cBhvr>
                                    </p:animEffect>
                                  </p:childTnLst>
                                </p:cTn>
                              </p:par>
                              <p:par>
                                <p:cTn fill="hold" nodeType="withEffect" presetClass="entr" presetID="10" presetSubtype="0">
                                  <p:stCondLst>
                                    <p:cond delay="0"/>
                                  </p:stCondLst>
                                  <p:childTnLst>
                                    <p:set>
                                      <p:cBhvr>
                                        <p:cTn dur="1" fill="hold">
                                          <p:stCondLst>
                                            <p:cond delay="0"/>
                                          </p:stCondLst>
                                        </p:cTn>
                                        <p:tgtEl>
                                          <p:spTgt spid="680"/>
                                        </p:tgtEl>
                                        <p:attrNameLst>
                                          <p:attrName>style.visibility</p:attrName>
                                        </p:attrNameLst>
                                      </p:cBhvr>
                                      <p:to>
                                        <p:strVal val="visible"/>
                                      </p:to>
                                    </p:set>
                                    <p:animEffect filter="fade" transition="in">
                                      <p:cBhvr>
                                        <p:cTn dur="500"/>
                                        <p:tgtEl>
                                          <p:spTgt spid="6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76"/>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Commit Stage</a:t>
            </a:r>
            <a:endParaRPr/>
          </a:p>
        </p:txBody>
      </p:sp>
      <p:pic>
        <p:nvPicPr>
          <p:cNvPr descr="A diagram of a computer system&#10;&#10;Description automatically generated" id="686" name="Google Shape;686;p76"/>
          <p:cNvPicPr preferRelativeResize="0"/>
          <p:nvPr/>
        </p:nvPicPr>
        <p:blipFill rotWithShape="1">
          <a:blip r:embed="rId3">
            <a:alphaModFix/>
          </a:blip>
          <a:srcRect b="38414" l="16221" r="-166" t="-26"/>
          <a:stretch/>
        </p:blipFill>
        <p:spPr>
          <a:xfrm>
            <a:off x="310897" y="1308961"/>
            <a:ext cx="11289198" cy="5213757"/>
          </a:xfrm>
          <a:prstGeom prst="rect">
            <a:avLst/>
          </a:prstGeom>
          <a:noFill/>
          <a:ln>
            <a:noFill/>
          </a:ln>
        </p:spPr>
      </p:pic>
      <p:sp>
        <p:nvSpPr>
          <p:cNvPr id="687" name="Google Shape;687;p76"/>
          <p:cNvSpPr/>
          <p:nvPr/>
        </p:nvSpPr>
        <p:spPr>
          <a:xfrm>
            <a:off x="491800" y="1308962"/>
            <a:ext cx="9741074" cy="5461293"/>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sp>
        <p:nvSpPr>
          <p:cNvPr id="688" name="Google Shape;688;p76"/>
          <p:cNvSpPr/>
          <p:nvPr/>
        </p:nvSpPr>
        <p:spPr>
          <a:xfrm>
            <a:off x="10232875" y="1308960"/>
            <a:ext cx="1548123" cy="5213757"/>
          </a:xfrm>
          <a:prstGeom prst="rect">
            <a:avLst/>
          </a:prstGeom>
          <a:solidFill>
            <a:srgbClr val="FEE6F4">
              <a:alpha val="9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Commit</a:t>
            </a:r>
            <a:endParaRPr/>
          </a:p>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Stage</a:t>
            </a:r>
            <a:endParaRPr/>
          </a:p>
        </p:txBody>
      </p:sp>
      <p:sp>
        <p:nvSpPr>
          <p:cNvPr id="689" name="Google Shape;689;p76"/>
          <p:cNvSpPr/>
          <p:nvPr/>
        </p:nvSpPr>
        <p:spPr>
          <a:xfrm>
            <a:off x="956456" y="2553610"/>
            <a:ext cx="8469059" cy="1545979"/>
          </a:xfrm>
          <a:prstGeom prst="roundRect">
            <a:avLst>
              <a:gd fmla="val 16667" name="adj"/>
            </a:avLst>
          </a:prstGeom>
          <a:solidFill>
            <a:srgbClr val="F1F1F1"/>
          </a:solidFill>
          <a:ln cap="flat" cmpd="sng" w="95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457200" lvl="0" marL="457200" marR="0" rtl="0" algn="l">
              <a:spcBef>
                <a:spcPts val="0"/>
              </a:spcBef>
              <a:spcAft>
                <a:spcPts val="0"/>
              </a:spcAft>
              <a:buClr>
                <a:srgbClr val="29385E"/>
              </a:buClr>
              <a:buSzPts val="2000"/>
              <a:buFont typeface="Courier New"/>
              <a:buChar char="o"/>
            </a:pPr>
            <a:r>
              <a:rPr b="1" lang="en-US" sz="2000">
                <a:solidFill>
                  <a:srgbClr val="29385E"/>
                </a:solidFill>
                <a:latin typeface="Calibri"/>
                <a:ea typeface="Calibri"/>
                <a:cs typeface="Calibri"/>
                <a:sym typeface="Calibri"/>
              </a:rPr>
              <a:t>Register Write Signals:</a:t>
            </a:r>
            <a:endParaRPr/>
          </a:p>
          <a:p>
            <a:pPr indent="0" lvl="1" marL="457200" marR="0" rtl="0" algn="l">
              <a:spcBef>
                <a:spcPts val="0"/>
              </a:spcBef>
              <a:spcAft>
                <a:spcPts val="0"/>
              </a:spcAft>
              <a:buNone/>
            </a:pPr>
            <a:r>
              <a:rPr b="1" i="0" lang="en-US" sz="2000" u="none" cap="none" strike="noStrike">
                <a:solidFill>
                  <a:schemeClr val="accent4"/>
                </a:solidFill>
                <a:latin typeface="Calibri"/>
                <a:ea typeface="Calibri"/>
                <a:cs typeface="Calibri"/>
                <a:sym typeface="Calibri"/>
              </a:rPr>
              <a:t>Destination: </a:t>
            </a:r>
            <a:r>
              <a:rPr b="0" i="0" lang="en-US" sz="2000" u="none" cap="none" strike="noStrike">
                <a:solidFill>
                  <a:schemeClr val="accent4"/>
                </a:solidFill>
                <a:latin typeface="Calibri"/>
                <a:ea typeface="Calibri"/>
                <a:cs typeface="Calibri"/>
                <a:sym typeface="Calibri"/>
              </a:rPr>
              <a:t>To the Register File.</a:t>
            </a:r>
            <a:endParaRPr/>
          </a:p>
          <a:p>
            <a:pPr indent="0" lvl="1" marL="457200" marR="0" rtl="0" algn="l">
              <a:spcBef>
                <a:spcPts val="0"/>
              </a:spcBef>
              <a:spcAft>
                <a:spcPts val="0"/>
              </a:spcAft>
              <a:buNone/>
            </a:pPr>
            <a:r>
              <a:rPr b="1" i="0" lang="en-US" sz="2000" u="none" cap="none" strike="noStrike">
                <a:solidFill>
                  <a:schemeClr val="accent4"/>
                </a:solidFill>
                <a:latin typeface="Calibri"/>
                <a:ea typeface="Calibri"/>
                <a:cs typeface="Calibri"/>
                <a:sym typeface="Calibri"/>
              </a:rPr>
              <a:t>Data: </a:t>
            </a:r>
            <a:r>
              <a:rPr b="0" i="0" lang="en-US" sz="2000" u="none" cap="none" strike="noStrike">
                <a:solidFill>
                  <a:schemeClr val="accent4"/>
                </a:solidFill>
                <a:latin typeface="Calibri"/>
                <a:ea typeface="Calibri"/>
                <a:cs typeface="Calibri"/>
                <a:sym typeface="Calibri"/>
              </a:rPr>
              <a:t>The actual 32 values to be written.</a:t>
            </a:r>
            <a:endParaRPr/>
          </a:p>
          <a:p>
            <a:pPr indent="0" lvl="1" marL="457200" marR="0" rtl="0" algn="l">
              <a:spcBef>
                <a:spcPts val="0"/>
              </a:spcBef>
              <a:spcAft>
                <a:spcPts val="0"/>
              </a:spcAft>
              <a:buNone/>
            </a:pPr>
            <a:r>
              <a:rPr b="1" i="0" lang="en-US" sz="2000" u="none" cap="none" strike="noStrike">
                <a:solidFill>
                  <a:schemeClr val="accent4"/>
                </a:solidFill>
                <a:latin typeface="Calibri"/>
                <a:ea typeface="Calibri"/>
                <a:cs typeface="Calibri"/>
                <a:sym typeface="Calibri"/>
              </a:rPr>
              <a:t>Write Enable: </a:t>
            </a:r>
            <a:r>
              <a:rPr b="0" i="0" lang="en-US" sz="2000" u="none" cap="none" strike="noStrike">
                <a:solidFill>
                  <a:schemeClr val="accent4"/>
                </a:solidFill>
                <a:latin typeface="Calibri"/>
                <a:ea typeface="Calibri"/>
                <a:cs typeface="Calibri"/>
                <a:sym typeface="Calibri"/>
              </a:rPr>
              <a:t>Controls which specific bytes/threads are written.</a:t>
            </a:r>
            <a:endParaRPr/>
          </a:p>
        </p:txBody>
      </p:sp>
      <p:sp>
        <p:nvSpPr>
          <p:cNvPr id="690" name="Google Shape;690;p76"/>
          <p:cNvSpPr/>
          <p:nvPr/>
        </p:nvSpPr>
        <p:spPr>
          <a:xfrm>
            <a:off x="710215" y="1617790"/>
            <a:ext cx="9193778" cy="730762"/>
          </a:xfrm>
          <a:prstGeom prst="roundRect">
            <a:avLst>
              <a:gd fmla="val 16667" name="adj"/>
            </a:avLst>
          </a:prstGeom>
          <a:solidFill>
            <a:schemeClr val="lt1"/>
          </a:solidFill>
          <a:ln cap="flat" cmpd="sng" w="19050">
            <a:solidFill>
              <a:srgbClr val="29385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3200">
                <a:solidFill>
                  <a:srgbClr val="29385E"/>
                </a:solidFill>
                <a:latin typeface="Calibri"/>
                <a:ea typeface="Calibri"/>
                <a:cs typeface="Calibri"/>
                <a:sym typeface="Calibri"/>
              </a:rPr>
              <a:t>Outputs from the Commit Stage</a:t>
            </a:r>
            <a:endParaRPr/>
          </a:p>
        </p:txBody>
      </p:sp>
      <p:sp>
        <p:nvSpPr>
          <p:cNvPr id="691" name="Google Shape;691;p76"/>
          <p:cNvSpPr/>
          <p:nvPr/>
        </p:nvSpPr>
        <p:spPr>
          <a:xfrm>
            <a:off x="946151" y="4655128"/>
            <a:ext cx="8479364" cy="1210870"/>
          </a:xfrm>
          <a:prstGeom prst="roundRect">
            <a:avLst>
              <a:gd fmla="val 16667" name="adj"/>
            </a:avLst>
          </a:prstGeom>
          <a:solidFill>
            <a:srgbClr val="F1F1F1"/>
          </a:solidFill>
          <a:ln cap="flat" cmpd="sng" w="95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457200" lvl="0" marL="457200" marR="0" rtl="0" algn="l">
              <a:spcBef>
                <a:spcPts val="0"/>
              </a:spcBef>
              <a:spcAft>
                <a:spcPts val="0"/>
              </a:spcAft>
              <a:buClr>
                <a:srgbClr val="29385E"/>
              </a:buClr>
              <a:buSzPts val="2000"/>
              <a:buFont typeface="Courier New"/>
              <a:buChar char="o"/>
            </a:pPr>
            <a:r>
              <a:rPr b="1" lang="en-US" sz="2000">
                <a:solidFill>
                  <a:srgbClr val="29385E"/>
                </a:solidFill>
                <a:latin typeface="Calibri"/>
                <a:ea typeface="Calibri"/>
                <a:cs typeface="Calibri"/>
                <a:sym typeface="Calibri"/>
              </a:rPr>
              <a:t>Scoreboard Release Signal: </a:t>
            </a:r>
            <a:r>
              <a:rPr lang="en-US" sz="2000">
                <a:solidFill>
                  <a:schemeClr val="dk1"/>
                </a:solidFill>
                <a:latin typeface="Calibri"/>
                <a:ea typeface="Calibri"/>
                <a:cs typeface="Calibri"/>
                <a:sym typeface="Calibri"/>
              </a:rPr>
              <a:t>A </a:t>
            </a:r>
            <a:r>
              <a:rPr b="1" lang="en-US" sz="2000">
                <a:solidFill>
                  <a:schemeClr val="dk1"/>
                </a:solidFill>
                <a:latin typeface="Calibri"/>
                <a:ea typeface="Calibri"/>
                <a:cs typeface="Calibri"/>
                <a:sym typeface="Calibri"/>
              </a:rPr>
              <a:t>feedback signal </a:t>
            </a:r>
            <a:r>
              <a:rPr lang="en-US" sz="2000">
                <a:solidFill>
                  <a:schemeClr val="dk1"/>
                </a:solidFill>
                <a:latin typeface="Calibri"/>
                <a:ea typeface="Calibri"/>
                <a:cs typeface="Calibri"/>
                <a:sym typeface="Calibri"/>
              </a:rPr>
              <a:t>sent back to the Issue Stage saying, "Warp X has finished writing to Register Y. Clear the busy bit."</a:t>
            </a:r>
            <a:endParaRPr sz="2800">
              <a:solidFill>
                <a:schemeClr val="dk1"/>
              </a:solidFill>
              <a:latin typeface="Meddon"/>
              <a:ea typeface="Meddon"/>
              <a:cs typeface="Meddon"/>
              <a:sym typeface="Meddon"/>
            </a:endParaRPr>
          </a:p>
        </p:txBody>
      </p:sp>
      <p:cxnSp>
        <p:nvCxnSpPr>
          <p:cNvPr id="692" name="Google Shape;692;p76"/>
          <p:cNvCxnSpPr/>
          <p:nvPr/>
        </p:nvCxnSpPr>
        <p:spPr>
          <a:xfrm flipH="1">
            <a:off x="9415075" y="3239149"/>
            <a:ext cx="817800" cy="1800"/>
          </a:xfrm>
          <a:prstGeom prst="bentConnector3">
            <a:avLst>
              <a:gd fmla="val 49993" name="adj1"/>
            </a:avLst>
          </a:prstGeom>
          <a:solidFill>
            <a:schemeClr val="accent1"/>
          </a:solidFill>
          <a:ln cap="flat" cmpd="sng" w="57150">
            <a:solidFill>
              <a:srgbClr val="29385E"/>
            </a:solidFill>
            <a:prstDash val="solid"/>
            <a:round/>
            <a:headEnd len="sm" w="sm" type="none"/>
            <a:tailEnd len="med" w="med" type="triangle"/>
          </a:ln>
        </p:spPr>
      </p:cxnSp>
      <p:cxnSp>
        <p:nvCxnSpPr>
          <p:cNvPr id="693" name="Google Shape;693;p76"/>
          <p:cNvCxnSpPr/>
          <p:nvPr/>
        </p:nvCxnSpPr>
        <p:spPr>
          <a:xfrm flipH="1">
            <a:off x="9415074" y="5192008"/>
            <a:ext cx="817800" cy="1800"/>
          </a:xfrm>
          <a:prstGeom prst="bentConnector3">
            <a:avLst>
              <a:gd fmla="val 49993" name="adj1"/>
            </a:avLst>
          </a:prstGeom>
          <a:solidFill>
            <a:schemeClr val="accent1"/>
          </a:solidFill>
          <a:ln cap="flat" cmpd="sng" w="57150">
            <a:solidFill>
              <a:srgbClr val="29385E"/>
            </a:solidFill>
            <a:prstDash val="solid"/>
            <a:round/>
            <a:headEnd len="sm" w="sm"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500"/>
                                        <p:tgtEl>
                                          <p:spTgt spid="687"/>
                                        </p:tgtEl>
                                      </p:cBhvr>
                                    </p:animEffect>
                                  </p:childTnLst>
                                </p:cTn>
                              </p:par>
                              <p:par>
                                <p:cTn fill="hold" nodeType="withEffect" presetClass="entr" presetID="2" presetSubtype="4">
                                  <p:stCondLst>
                                    <p:cond delay="0"/>
                                  </p:stCondLst>
                                  <p:childTnLst>
                                    <p:set>
                                      <p:cBhvr>
                                        <p:cTn dur="1" fill="hold">
                                          <p:stCondLst>
                                            <p:cond delay="0"/>
                                          </p:stCondLst>
                                        </p:cTn>
                                        <p:tgtEl>
                                          <p:spTgt spid="688"/>
                                        </p:tgtEl>
                                        <p:attrNameLst>
                                          <p:attrName>style.visibility</p:attrName>
                                        </p:attrNameLst>
                                      </p:cBhvr>
                                      <p:to>
                                        <p:strVal val="visible"/>
                                      </p:to>
                                    </p:set>
                                    <p:anim calcmode="lin" valueType="num">
                                      <p:cBhvr additive="base">
                                        <p:cTn dur="500"/>
                                        <p:tgtEl>
                                          <p:spTgt spid="68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gtEl>
                                        <p:attrNameLst>
                                          <p:attrName>style.visibility</p:attrName>
                                        </p:attrNameLst>
                                      </p:cBhvr>
                                      <p:to>
                                        <p:strVal val="visible"/>
                                      </p:to>
                                    </p:set>
                                    <p:animEffect filter="fade" transition="in">
                                      <p:cBhvr>
                                        <p:cTn dur="500"/>
                                        <p:tgtEl>
                                          <p:spTgt spid="6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500"/>
                                        <p:tgtEl>
                                          <p:spTgt spid="691"/>
                                        </p:tgtEl>
                                      </p:cBhvr>
                                    </p:animEffect>
                                  </p:childTnLst>
                                </p:cTn>
                              </p:par>
                              <p:par>
                                <p:cTn fill="hold" nodeType="withEffect" presetClass="entr" presetID="10" presetSubtype="0">
                                  <p:stCondLst>
                                    <p:cond delay="0"/>
                                  </p:stCondLst>
                                  <p:childTnLst>
                                    <p:set>
                                      <p:cBhvr>
                                        <p:cTn dur="1" fill="hold">
                                          <p:stCondLst>
                                            <p:cond delay="0"/>
                                          </p:stCondLst>
                                        </p:cTn>
                                        <p:tgtEl>
                                          <p:spTgt spid="692"/>
                                        </p:tgtEl>
                                        <p:attrNameLst>
                                          <p:attrName>style.visibility</p:attrName>
                                        </p:attrNameLst>
                                      </p:cBhvr>
                                      <p:to>
                                        <p:strVal val="visible"/>
                                      </p:to>
                                    </p:set>
                                    <p:animEffect filter="fade" transition="in">
                                      <p:cBhvr>
                                        <p:cTn dur="500"/>
                                        <p:tgtEl>
                                          <p:spTgt spid="692"/>
                                        </p:tgtEl>
                                      </p:cBhvr>
                                    </p:animEffect>
                                  </p:childTnLst>
                                </p:cTn>
                              </p:par>
                              <p:par>
                                <p:cTn fill="hold" nodeType="withEffect" presetClass="entr" presetID="10" presetSubtype="0">
                                  <p:stCondLst>
                                    <p:cond delay="0"/>
                                  </p:stCondLst>
                                  <p:childTnLst>
                                    <p:set>
                                      <p:cBhvr>
                                        <p:cTn dur="1" fill="hold">
                                          <p:stCondLst>
                                            <p:cond delay="0"/>
                                          </p:stCondLst>
                                        </p:cTn>
                                        <p:tgtEl>
                                          <p:spTgt spid="693"/>
                                        </p:tgtEl>
                                        <p:attrNameLst>
                                          <p:attrName>style.visibility</p:attrName>
                                        </p:attrNameLst>
                                      </p:cBhvr>
                                      <p:to>
                                        <p:strVal val="visible"/>
                                      </p:to>
                                    </p:set>
                                    <p:animEffect filter="fade" transition="in">
                                      <p:cBhvr>
                                        <p:cTn dur="500"/>
                                        <p:tgtEl>
                                          <p:spTgt spid="6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77"/>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Commit Stage</a:t>
            </a:r>
            <a:endParaRPr/>
          </a:p>
        </p:txBody>
      </p:sp>
      <p:pic>
        <p:nvPicPr>
          <p:cNvPr descr="A diagram of a computer system&#10;&#10;Description automatically generated" id="699" name="Google Shape;699;p77"/>
          <p:cNvPicPr preferRelativeResize="0"/>
          <p:nvPr/>
        </p:nvPicPr>
        <p:blipFill rotWithShape="1">
          <a:blip r:embed="rId3">
            <a:alphaModFix/>
          </a:blip>
          <a:srcRect b="38414" l="16221" r="-166" t="-26"/>
          <a:stretch/>
        </p:blipFill>
        <p:spPr>
          <a:xfrm>
            <a:off x="310897" y="1308961"/>
            <a:ext cx="11289198" cy="5213757"/>
          </a:xfrm>
          <a:prstGeom prst="rect">
            <a:avLst/>
          </a:prstGeom>
          <a:noFill/>
          <a:ln>
            <a:noFill/>
          </a:ln>
        </p:spPr>
      </p:pic>
      <p:sp>
        <p:nvSpPr>
          <p:cNvPr id="700" name="Google Shape;700;p77"/>
          <p:cNvSpPr/>
          <p:nvPr/>
        </p:nvSpPr>
        <p:spPr>
          <a:xfrm>
            <a:off x="491800" y="1308963"/>
            <a:ext cx="5345582" cy="5213756"/>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2400">
              <a:solidFill>
                <a:srgbClr val="29385E"/>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gtEl>
                                        <p:attrNameLst>
                                          <p:attrName>style.visibility</p:attrName>
                                        </p:attrNameLst>
                                      </p:cBhvr>
                                      <p:to>
                                        <p:strVal val="visible"/>
                                      </p:to>
                                    </p:set>
                                    <p:animEffect filter="fade" transition="in">
                                      <p:cBhvr>
                                        <p:cTn dur="500"/>
                                        <p:tgtEl>
                                          <p:spTgt spid="7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78"/>
          <p:cNvSpPr txBox="1"/>
          <p:nvPr/>
        </p:nvSpPr>
        <p:spPr>
          <a:xfrm>
            <a:off x="1248696" y="1986829"/>
            <a:ext cx="9753600" cy="1049337"/>
          </a:xfrm>
          <a:prstGeom prst="rect">
            <a:avLst/>
          </a:prstGeom>
          <a:noFill/>
          <a:ln>
            <a:noFill/>
          </a:ln>
        </p:spPr>
        <p:txBody>
          <a:bodyPr anchorCtr="0" anchor="ctr" bIns="45700" lIns="91425" spcFirstLastPara="1" rIns="91425" wrap="square" tIns="45700">
            <a:noAutofit/>
          </a:bodyPr>
          <a:lstStyle/>
          <a:p>
            <a:pPr indent="0" lvl="0" marL="0" marR="0" rtl="1" algn="ctr">
              <a:spcBef>
                <a:spcPts val="0"/>
              </a:spcBef>
              <a:spcAft>
                <a:spcPts val="0"/>
              </a:spcAft>
              <a:buNone/>
            </a:pPr>
            <a:r>
              <a:rPr b="1" i="1" lang="en-US" sz="3600">
                <a:solidFill>
                  <a:schemeClr val="dk1"/>
                </a:solidFill>
                <a:latin typeface="Calibri"/>
                <a:ea typeface="Calibri"/>
                <a:cs typeface="Calibri"/>
                <a:sym typeface="Calibri"/>
              </a:rPr>
              <a:t>Memory Architecture </a:t>
            </a:r>
            <a:endParaRPr/>
          </a:p>
        </p:txBody>
      </p:sp>
      <p:sp>
        <p:nvSpPr>
          <p:cNvPr id="706" name="Google Shape;706;p78"/>
          <p:cNvSpPr txBox="1"/>
          <p:nvPr/>
        </p:nvSpPr>
        <p:spPr>
          <a:xfrm>
            <a:off x="1971830" y="3036166"/>
            <a:ext cx="7992701"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600">
                <a:solidFill>
                  <a:schemeClr val="dk1"/>
                </a:solidFill>
                <a:latin typeface="Calibri"/>
                <a:ea typeface="Calibri"/>
                <a:cs typeface="Calibri"/>
                <a:sym typeface="Calibri"/>
              </a:rPr>
              <a:t>The Parallel Memory Execution Unit</a:t>
            </a:r>
            <a:endParaRPr/>
          </a:p>
          <a:p>
            <a:pPr indent="0" lvl="0" marL="0" marR="0" rtl="0" algn="l">
              <a:spcBef>
                <a:spcPts val="0"/>
              </a:spcBef>
              <a:spcAft>
                <a:spcPts val="0"/>
              </a:spcAft>
              <a:buNone/>
            </a:pPr>
            <a:r>
              <a:t/>
            </a:r>
            <a:endParaRPr sz="2400">
              <a:solidFill>
                <a:schemeClr val="dk1"/>
              </a:solidFill>
              <a:latin typeface="Meddon"/>
              <a:ea typeface="Meddon"/>
              <a:cs typeface="Meddon"/>
              <a:sym typeface="Meddo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79"/>
          <p:cNvSpPr txBox="1"/>
          <p:nvPr>
            <p:ph type="title"/>
          </p:nvPr>
        </p:nvSpPr>
        <p:spPr>
          <a:xfrm>
            <a:off x="946150" y="379550"/>
            <a:ext cx="10299700" cy="45719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Memory Architecture </a:t>
            </a:r>
            <a:endParaRPr/>
          </a:p>
        </p:txBody>
      </p:sp>
      <p:sp>
        <p:nvSpPr>
          <p:cNvPr id="712" name="Google Shape;712;p79"/>
          <p:cNvSpPr txBox="1"/>
          <p:nvPr/>
        </p:nvSpPr>
        <p:spPr>
          <a:xfrm>
            <a:off x="946150" y="1421524"/>
            <a:ext cx="9408160" cy="353943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70C0"/>
              </a:buClr>
              <a:buSzPts val="2800"/>
              <a:buFont typeface="Arial"/>
              <a:buChar char="•"/>
            </a:pPr>
            <a:r>
              <a:rPr lang="en-US" sz="2800">
                <a:solidFill>
                  <a:schemeClr val="dk1"/>
                </a:solidFill>
                <a:latin typeface="Calibri"/>
                <a:ea typeface="Calibri"/>
                <a:cs typeface="Calibri"/>
                <a:sym typeface="Calibri"/>
              </a:rPr>
              <a:t>Introduction</a:t>
            </a:r>
            <a:endParaRPr sz="2800">
              <a:solidFill>
                <a:schemeClr val="dk1"/>
              </a:solidFill>
              <a:latin typeface="Calibri"/>
              <a:ea typeface="Calibri"/>
              <a:cs typeface="Calibri"/>
              <a:sym typeface="Calibri"/>
            </a:endParaRPr>
          </a:p>
          <a:p>
            <a:pPr indent="-165100" lvl="0" marL="342900" marR="0" rtl="0" algn="l">
              <a:spcBef>
                <a:spcPts val="0"/>
              </a:spcBef>
              <a:spcAft>
                <a:spcPts val="0"/>
              </a:spcAft>
              <a:buClr>
                <a:srgbClr val="0070C0"/>
              </a:buClr>
              <a:buSzPts val="2800"/>
              <a:buFont typeface="Arial"/>
              <a:buNone/>
            </a:pPr>
            <a:r>
              <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lang="en-US" sz="2800">
                <a:solidFill>
                  <a:schemeClr val="dk1"/>
                </a:solidFill>
                <a:latin typeface="Calibri"/>
                <a:ea typeface="Calibri"/>
                <a:cs typeface="Calibri"/>
                <a:sym typeface="Calibri"/>
              </a:rPr>
              <a:t>Memory Hierarchy</a:t>
            </a:r>
            <a:endParaRPr sz="2800">
              <a:solidFill>
                <a:schemeClr val="dk1"/>
              </a:solidFill>
              <a:latin typeface="Calibri"/>
              <a:ea typeface="Calibri"/>
              <a:cs typeface="Calibri"/>
              <a:sym typeface="Calibri"/>
            </a:endParaRPr>
          </a:p>
          <a:p>
            <a:pPr indent="-165100" lvl="0" marL="342900" marR="0" rtl="0" algn="l">
              <a:spcBef>
                <a:spcPts val="0"/>
              </a:spcBef>
              <a:spcAft>
                <a:spcPts val="0"/>
              </a:spcAft>
              <a:buClr>
                <a:srgbClr val="0070C0"/>
              </a:buClr>
              <a:buSzPts val="2800"/>
              <a:buFont typeface="Arial"/>
              <a:buNone/>
            </a:pPr>
            <a:r>
              <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lang="en-US" sz="2800">
                <a:solidFill>
                  <a:schemeClr val="dk1"/>
                </a:solidFill>
                <a:latin typeface="Calibri"/>
                <a:ea typeface="Calibri"/>
                <a:cs typeface="Calibri"/>
                <a:sym typeface="Calibri"/>
              </a:rPr>
              <a:t>LSU Slice Architecture</a:t>
            </a:r>
            <a:endParaRPr sz="2400">
              <a:solidFill>
                <a:schemeClr val="dk1"/>
              </a:solidFill>
              <a:latin typeface="Meddon"/>
              <a:ea typeface="Meddon"/>
              <a:cs typeface="Meddon"/>
              <a:sym typeface="Meddon"/>
            </a:endParaRPr>
          </a:p>
          <a:p>
            <a:pPr indent="-165100" lvl="0" marL="342900" marR="0" rtl="0" algn="l">
              <a:spcBef>
                <a:spcPts val="0"/>
              </a:spcBef>
              <a:spcAft>
                <a:spcPts val="0"/>
              </a:spcAft>
              <a:buClr>
                <a:srgbClr val="0070C0"/>
              </a:buClr>
              <a:buSzPts val="2800"/>
              <a:buFont typeface="Arial"/>
              <a:buNone/>
            </a:pPr>
            <a:r>
              <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800"/>
              <a:buFont typeface="Arial"/>
              <a:buChar char="•"/>
            </a:pPr>
            <a:r>
              <a:rPr lang="en-US" sz="2800">
                <a:solidFill>
                  <a:schemeClr val="dk1"/>
                </a:solidFill>
                <a:latin typeface="Calibri"/>
                <a:ea typeface="Calibri"/>
                <a:cs typeface="Calibri"/>
                <a:sym typeface="Calibri"/>
              </a:rPr>
              <a:t>Scheduling and Coalescing</a:t>
            </a:r>
            <a:endParaRPr sz="2400">
              <a:solidFill>
                <a:schemeClr val="dk1"/>
              </a:solidFill>
              <a:latin typeface="Meddon"/>
              <a:ea typeface="Meddon"/>
              <a:cs typeface="Meddon"/>
              <a:sym typeface="Meddon"/>
            </a:endParaRPr>
          </a:p>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713" name="Google Shape;713;p79"/>
          <p:cNvSpPr txBox="1"/>
          <p:nvPr/>
        </p:nvSpPr>
        <p:spPr>
          <a:xfrm>
            <a:off x="574040" y="836749"/>
            <a:ext cx="915416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a:solidFill>
                  <a:srgbClr val="0B5F9F"/>
                </a:solidFill>
                <a:latin typeface="Calibri"/>
                <a:ea typeface="Calibri"/>
                <a:cs typeface="Calibri"/>
                <a:sym typeface="Calibri"/>
              </a:rPr>
              <a:t>Outlines</a:t>
            </a:r>
            <a:r>
              <a:rPr b="1" i="1" lang="en-US" sz="3200">
                <a:solidFill>
                  <a:srgbClr val="0B5F9F"/>
                </a:solidFill>
                <a:latin typeface="Arial"/>
                <a:ea typeface="Arial"/>
                <a:cs typeface="Arial"/>
                <a:sym typeface="Arial"/>
              </a:rPr>
              <a:t>:</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80"/>
          <p:cNvSpPr/>
          <p:nvPr/>
        </p:nvSpPr>
        <p:spPr>
          <a:xfrm>
            <a:off x="452673" y="1236667"/>
            <a:ext cx="17612009" cy="57942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i="1" lang="en-US" sz="4800">
                <a:solidFill>
                  <a:schemeClr val="dk1"/>
                </a:solidFill>
                <a:latin typeface="Calibri"/>
                <a:ea typeface="Calibri"/>
                <a:cs typeface="Calibri"/>
                <a:sym typeface="Calibri"/>
              </a:rPr>
              <a:t>Why are We interested in memory </a:t>
            </a:r>
            <a:endParaRPr/>
          </a:p>
        </p:txBody>
      </p:sp>
      <p:pic>
        <p:nvPicPr>
          <p:cNvPr id="719" name="Google Shape;719;p80"/>
          <p:cNvPicPr preferRelativeResize="0"/>
          <p:nvPr/>
        </p:nvPicPr>
        <p:blipFill rotWithShape="1">
          <a:blip r:embed="rId3">
            <a:alphaModFix/>
          </a:blip>
          <a:srcRect b="0" l="0" r="0" t="0"/>
          <a:stretch/>
        </p:blipFill>
        <p:spPr>
          <a:xfrm>
            <a:off x="1636291" y="1890712"/>
            <a:ext cx="8919418" cy="4652963"/>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81"/>
          <p:cNvSpPr/>
          <p:nvPr/>
        </p:nvSpPr>
        <p:spPr>
          <a:xfrm>
            <a:off x="452673" y="1236667"/>
            <a:ext cx="17612009" cy="57942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i="1" lang="en-US" sz="4800">
                <a:solidFill>
                  <a:schemeClr val="dk1"/>
                </a:solidFill>
                <a:latin typeface="Calibri"/>
                <a:ea typeface="Calibri"/>
                <a:cs typeface="Calibri"/>
                <a:sym typeface="Calibri"/>
              </a:rPr>
              <a:t>Why are We interested in memory </a:t>
            </a:r>
            <a:endParaRPr/>
          </a:p>
        </p:txBody>
      </p:sp>
      <p:sp>
        <p:nvSpPr>
          <p:cNvPr id="725" name="Google Shape;725;p81"/>
          <p:cNvSpPr txBox="1"/>
          <p:nvPr/>
        </p:nvSpPr>
        <p:spPr>
          <a:xfrm>
            <a:off x="1295400" y="3358336"/>
            <a:ext cx="96012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Hundreds of threads issuing simultaneous requests create a bottleneck at the main memory interface.</a:t>
            </a:r>
            <a:endParaRPr/>
          </a:p>
        </p:txBody>
      </p:sp>
      <p:sp>
        <p:nvSpPr>
          <p:cNvPr id="726" name="Google Shape;726;p81"/>
          <p:cNvSpPr txBox="1"/>
          <p:nvPr/>
        </p:nvSpPr>
        <p:spPr>
          <a:xfrm>
            <a:off x="857250" y="2619375"/>
            <a:ext cx="280987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800">
                <a:solidFill>
                  <a:schemeClr val="dk1"/>
                </a:solidFill>
                <a:latin typeface="Calibri"/>
                <a:ea typeface="Calibri"/>
                <a:cs typeface="Calibri"/>
                <a:sym typeface="Calibri"/>
              </a:rPr>
              <a:t>Problem:</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82"/>
          <p:cNvSpPr/>
          <p:nvPr/>
        </p:nvSpPr>
        <p:spPr>
          <a:xfrm>
            <a:off x="452673" y="1236667"/>
            <a:ext cx="17612009" cy="57942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i="1" lang="en-US" sz="4800">
                <a:solidFill>
                  <a:schemeClr val="dk1"/>
                </a:solidFill>
                <a:latin typeface="Calibri"/>
                <a:ea typeface="Calibri"/>
                <a:cs typeface="Calibri"/>
                <a:sym typeface="Calibri"/>
              </a:rPr>
              <a:t>Memory Hierarchy  </a:t>
            </a:r>
            <a:endParaRPr/>
          </a:p>
        </p:txBody>
      </p:sp>
      <p:pic>
        <p:nvPicPr>
          <p:cNvPr id="732" name="Google Shape;732;p82"/>
          <p:cNvPicPr preferRelativeResize="0"/>
          <p:nvPr/>
        </p:nvPicPr>
        <p:blipFill rotWithShape="1">
          <a:blip r:embed="rId3">
            <a:alphaModFix/>
          </a:blip>
          <a:srcRect b="0" l="0" r="0" t="0"/>
          <a:stretch/>
        </p:blipFill>
        <p:spPr>
          <a:xfrm>
            <a:off x="1064187" y="1526378"/>
            <a:ext cx="10063625" cy="5249858"/>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descr="A close up of a logo  Description automatically generated" id="737" name="Google Shape;737;p83"/>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A close up of a logo  Description automatically generated" id="738" name="Google Shape;738;p83"/>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739" name="Google Shape;739;p83"/>
          <p:cNvSpPr/>
          <p:nvPr/>
        </p:nvSpPr>
        <p:spPr>
          <a:xfrm>
            <a:off x="165347" y="92361"/>
            <a:ext cx="1049896" cy="1049896"/>
          </a:xfrm>
          <a:custGeom>
            <a:rect b="b" l="l" r="r" t="t"/>
            <a:pathLst>
              <a:path extrusionOk="0" h="1574844" w="1574844">
                <a:moveTo>
                  <a:pt x="0" y="0"/>
                </a:moveTo>
                <a:lnTo>
                  <a:pt x="1574845" y="0"/>
                </a:lnTo>
                <a:lnTo>
                  <a:pt x="1574845" y="1574845"/>
                </a:lnTo>
                <a:lnTo>
                  <a:pt x="0" y="1574845"/>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740" name="Google Shape;740;p83"/>
          <p:cNvSpPr/>
          <p:nvPr/>
        </p:nvSpPr>
        <p:spPr>
          <a:xfrm>
            <a:off x="1215244" y="1212523"/>
            <a:ext cx="10132468" cy="4432955"/>
          </a:xfrm>
          <a:custGeom>
            <a:rect b="b" l="l" r="r" t="t"/>
            <a:pathLst>
              <a:path extrusionOk="0" h="6649432" w="15198702">
                <a:moveTo>
                  <a:pt x="0" y="0"/>
                </a:moveTo>
                <a:lnTo>
                  <a:pt x="15198702" y="0"/>
                </a:lnTo>
                <a:lnTo>
                  <a:pt x="15198702" y="6649432"/>
                </a:lnTo>
                <a:lnTo>
                  <a:pt x="0" y="664943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grpSp>
        <p:nvGrpSpPr>
          <p:cNvPr id="741" name="Google Shape;741;p83"/>
          <p:cNvGrpSpPr/>
          <p:nvPr/>
        </p:nvGrpSpPr>
        <p:grpSpPr>
          <a:xfrm>
            <a:off x="7907057" y="4789643"/>
            <a:ext cx="1651411" cy="668413"/>
            <a:chOff x="0" y="-38100"/>
            <a:chExt cx="652409" cy="264065"/>
          </a:xfrm>
        </p:grpSpPr>
        <p:sp>
          <p:nvSpPr>
            <p:cNvPr id="742" name="Google Shape;742;p83"/>
            <p:cNvSpPr/>
            <p:nvPr/>
          </p:nvSpPr>
          <p:spPr>
            <a:xfrm>
              <a:off x="0" y="0"/>
              <a:ext cx="652409" cy="225965"/>
            </a:xfrm>
            <a:custGeom>
              <a:rect b="b" l="l" r="r" t="t"/>
              <a:pathLst>
                <a:path extrusionOk="0" h="225965" w="652409">
                  <a:moveTo>
                    <a:pt x="25003" y="0"/>
                  </a:moveTo>
                  <a:lnTo>
                    <a:pt x="627406" y="0"/>
                  </a:lnTo>
                  <a:cubicBezTo>
                    <a:pt x="634037" y="0"/>
                    <a:pt x="640397" y="2634"/>
                    <a:pt x="645086" y="7323"/>
                  </a:cubicBezTo>
                  <a:cubicBezTo>
                    <a:pt x="649775" y="12012"/>
                    <a:pt x="652409" y="18372"/>
                    <a:pt x="652409" y="25003"/>
                  </a:cubicBezTo>
                  <a:lnTo>
                    <a:pt x="652409" y="200962"/>
                  </a:lnTo>
                  <a:cubicBezTo>
                    <a:pt x="652409" y="207593"/>
                    <a:pt x="649775" y="213952"/>
                    <a:pt x="645086" y="218641"/>
                  </a:cubicBezTo>
                  <a:cubicBezTo>
                    <a:pt x="640397" y="223330"/>
                    <a:pt x="634037" y="225965"/>
                    <a:pt x="627406" y="225965"/>
                  </a:cubicBezTo>
                  <a:lnTo>
                    <a:pt x="25003" y="225965"/>
                  </a:lnTo>
                  <a:cubicBezTo>
                    <a:pt x="18372" y="225965"/>
                    <a:pt x="12012" y="223330"/>
                    <a:pt x="7323" y="218641"/>
                  </a:cubicBezTo>
                  <a:cubicBezTo>
                    <a:pt x="2634" y="213952"/>
                    <a:pt x="0" y="207593"/>
                    <a:pt x="0" y="200962"/>
                  </a:cubicBezTo>
                  <a:lnTo>
                    <a:pt x="0" y="25003"/>
                  </a:lnTo>
                  <a:cubicBezTo>
                    <a:pt x="0" y="18372"/>
                    <a:pt x="2634" y="12012"/>
                    <a:pt x="7323" y="7323"/>
                  </a:cubicBezTo>
                  <a:cubicBezTo>
                    <a:pt x="12012" y="2634"/>
                    <a:pt x="18372" y="0"/>
                    <a:pt x="25003" y="0"/>
                  </a:cubicBezTo>
                  <a:close/>
                </a:path>
              </a:pathLst>
            </a:custGeom>
            <a:solidFill>
              <a:srgbClr val="A1B5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743" name="Google Shape;743;p83"/>
            <p:cNvSpPr txBox="1"/>
            <p:nvPr/>
          </p:nvSpPr>
          <p:spPr>
            <a:xfrm>
              <a:off x="0" y="-38100"/>
              <a:ext cx="652409" cy="264065"/>
            </a:xfrm>
            <a:prstGeom prst="rect">
              <a:avLst/>
            </a:prstGeom>
            <a:noFill/>
            <a:ln>
              <a:noFill/>
            </a:ln>
          </p:spPr>
          <p:txBody>
            <a:bodyPr anchorCtr="0" anchor="ctr" bIns="33850" lIns="33850" spcFirstLastPara="1" rIns="33850" wrap="square" tIns="33850">
              <a:noAutofit/>
            </a:bodyPr>
            <a:lstStyle/>
            <a:p>
              <a:pPr indent="0" lvl="0" marL="0" marR="0" rtl="0" algn="ctr">
                <a:lnSpc>
                  <a:spcPct val="110812"/>
                </a:lnSpc>
                <a:spcBef>
                  <a:spcPts val="0"/>
                </a:spcBef>
                <a:spcAft>
                  <a:spcPts val="0"/>
                </a:spcAft>
                <a:buNone/>
              </a:pPr>
              <a:r>
                <a:t/>
              </a:r>
              <a:endParaRPr sz="1600">
                <a:solidFill>
                  <a:schemeClr val="dk1"/>
                </a:solidFill>
                <a:latin typeface="Meddon"/>
                <a:ea typeface="Meddon"/>
                <a:cs typeface="Meddon"/>
                <a:sym typeface="Meddon"/>
              </a:endParaRPr>
            </a:p>
          </p:txBody>
        </p:sp>
      </p:grpSp>
      <p:sp>
        <p:nvSpPr>
          <p:cNvPr id="744" name="Google Shape;744;p83"/>
          <p:cNvSpPr txBox="1"/>
          <p:nvPr/>
        </p:nvSpPr>
        <p:spPr>
          <a:xfrm>
            <a:off x="5656015" y="1722697"/>
            <a:ext cx="1072878" cy="956352"/>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lang="en-US" sz="2779">
                <a:solidFill>
                  <a:srgbClr val="000000"/>
                </a:solidFill>
                <a:latin typeface="Arial"/>
                <a:ea typeface="Arial"/>
                <a:cs typeface="Arial"/>
                <a:sym typeface="Arial"/>
              </a:rPr>
              <a:t>L1 </a:t>
            </a:r>
            <a:endParaRPr/>
          </a:p>
          <a:p>
            <a:pPr indent="0" lvl="0" marL="0" marR="0" rtl="0" algn="ctr">
              <a:lnSpc>
                <a:spcPct val="140014"/>
              </a:lnSpc>
              <a:spcBef>
                <a:spcPts val="0"/>
              </a:spcBef>
              <a:spcAft>
                <a:spcPts val="0"/>
              </a:spcAft>
              <a:buNone/>
            </a:pPr>
            <a:r>
              <a:rPr b="1" lang="en-US" sz="2779">
                <a:solidFill>
                  <a:srgbClr val="000000"/>
                </a:solidFill>
                <a:latin typeface="Arial"/>
                <a:ea typeface="Arial"/>
                <a:cs typeface="Arial"/>
                <a:sym typeface="Arial"/>
              </a:rPr>
              <a:t>Cache</a:t>
            </a:r>
            <a:endParaRPr/>
          </a:p>
        </p:txBody>
      </p:sp>
      <p:sp>
        <p:nvSpPr>
          <p:cNvPr id="745" name="Google Shape;745;p83"/>
          <p:cNvSpPr txBox="1"/>
          <p:nvPr/>
        </p:nvSpPr>
        <p:spPr>
          <a:xfrm>
            <a:off x="7765254" y="3628795"/>
            <a:ext cx="1721001" cy="456215"/>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lang="en-US" sz="2779">
                <a:solidFill>
                  <a:srgbClr val="000000"/>
                </a:solidFill>
                <a:latin typeface="Arial"/>
                <a:ea typeface="Arial"/>
                <a:cs typeface="Arial"/>
                <a:sym typeface="Arial"/>
              </a:rPr>
              <a:t>D-Cache</a:t>
            </a:r>
            <a:endParaRPr/>
          </a:p>
        </p:txBody>
      </p:sp>
      <p:sp>
        <p:nvSpPr>
          <p:cNvPr id="746" name="Google Shape;746;p83"/>
          <p:cNvSpPr txBox="1"/>
          <p:nvPr/>
        </p:nvSpPr>
        <p:spPr>
          <a:xfrm>
            <a:off x="2909229" y="3628795"/>
            <a:ext cx="1324313" cy="456215"/>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lang="en-US" sz="2779">
                <a:solidFill>
                  <a:srgbClr val="000000"/>
                </a:solidFill>
                <a:latin typeface="Arial"/>
                <a:ea typeface="Arial"/>
                <a:cs typeface="Arial"/>
                <a:sym typeface="Arial"/>
              </a:rPr>
              <a:t>I-Cache</a:t>
            </a:r>
            <a:endParaRPr/>
          </a:p>
        </p:txBody>
      </p:sp>
      <p:sp>
        <p:nvSpPr>
          <p:cNvPr id="747" name="Google Shape;747;p83"/>
          <p:cNvSpPr txBox="1"/>
          <p:nvPr/>
        </p:nvSpPr>
        <p:spPr>
          <a:xfrm>
            <a:off x="8438149" y="4971924"/>
            <a:ext cx="698231" cy="386901"/>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1" lang="en-US" sz="2381">
                <a:solidFill>
                  <a:srgbClr val="000000"/>
                </a:solidFill>
                <a:latin typeface="Arial"/>
                <a:ea typeface="Arial"/>
                <a:cs typeface="Arial"/>
                <a:sym typeface="Arial"/>
              </a:rPr>
              <a:t>LSU</a:t>
            </a:r>
            <a:endParaRPr/>
          </a:p>
        </p:txBody>
      </p:sp>
      <p:grpSp>
        <p:nvGrpSpPr>
          <p:cNvPr id="748" name="Google Shape;748;p83"/>
          <p:cNvGrpSpPr/>
          <p:nvPr/>
        </p:nvGrpSpPr>
        <p:grpSpPr>
          <a:xfrm>
            <a:off x="2796480" y="4795933"/>
            <a:ext cx="1651411" cy="668413"/>
            <a:chOff x="0" y="-38100"/>
            <a:chExt cx="652409" cy="264065"/>
          </a:xfrm>
        </p:grpSpPr>
        <p:sp>
          <p:nvSpPr>
            <p:cNvPr id="749" name="Google Shape;749;p83"/>
            <p:cNvSpPr/>
            <p:nvPr/>
          </p:nvSpPr>
          <p:spPr>
            <a:xfrm>
              <a:off x="0" y="0"/>
              <a:ext cx="652409" cy="225965"/>
            </a:xfrm>
            <a:custGeom>
              <a:rect b="b" l="l" r="r" t="t"/>
              <a:pathLst>
                <a:path extrusionOk="0" h="225965" w="652409">
                  <a:moveTo>
                    <a:pt x="25003" y="0"/>
                  </a:moveTo>
                  <a:lnTo>
                    <a:pt x="627406" y="0"/>
                  </a:lnTo>
                  <a:cubicBezTo>
                    <a:pt x="634037" y="0"/>
                    <a:pt x="640397" y="2634"/>
                    <a:pt x="645086" y="7323"/>
                  </a:cubicBezTo>
                  <a:cubicBezTo>
                    <a:pt x="649775" y="12012"/>
                    <a:pt x="652409" y="18372"/>
                    <a:pt x="652409" y="25003"/>
                  </a:cubicBezTo>
                  <a:lnTo>
                    <a:pt x="652409" y="200962"/>
                  </a:lnTo>
                  <a:cubicBezTo>
                    <a:pt x="652409" y="207593"/>
                    <a:pt x="649775" y="213952"/>
                    <a:pt x="645086" y="218641"/>
                  </a:cubicBezTo>
                  <a:cubicBezTo>
                    <a:pt x="640397" y="223330"/>
                    <a:pt x="634037" y="225965"/>
                    <a:pt x="627406" y="225965"/>
                  </a:cubicBezTo>
                  <a:lnTo>
                    <a:pt x="25003" y="225965"/>
                  </a:lnTo>
                  <a:cubicBezTo>
                    <a:pt x="18372" y="225965"/>
                    <a:pt x="12012" y="223330"/>
                    <a:pt x="7323" y="218641"/>
                  </a:cubicBezTo>
                  <a:cubicBezTo>
                    <a:pt x="2634" y="213952"/>
                    <a:pt x="0" y="207593"/>
                    <a:pt x="0" y="200962"/>
                  </a:cubicBezTo>
                  <a:lnTo>
                    <a:pt x="0" y="25003"/>
                  </a:lnTo>
                  <a:cubicBezTo>
                    <a:pt x="0" y="18372"/>
                    <a:pt x="2634" y="12012"/>
                    <a:pt x="7323" y="7323"/>
                  </a:cubicBezTo>
                  <a:cubicBezTo>
                    <a:pt x="12012" y="2634"/>
                    <a:pt x="18372" y="0"/>
                    <a:pt x="25003" y="0"/>
                  </a:cubicBezTo>
                  <a:close/>
                </a:path>
              </a:pathLst>
            </a:custGeom>
            <a:solidFill>
              <a:srgbClr val="A1B5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750" name="Google Shape;750;p83"/>
            <p:cNvSpPr txBox="1"/>
            <p:nvPr/>
          </p:nvSpPr>
          <p:spPr>
            <a:xfrm>
              <a:off x="0" y="-38100"/>
              <a:ext cx="652409" cy="264065"/>
            </a:xfrm>
            <a:prstGeom prst="rect">
              <a:avLst/>
            </a:prstGeom>
            <a:noFill/>
            <a:ln>
              <a:noFill/>
            </a:ln>
          </p:spPr>
          <p:txBody>
            <a:bodyPr anchorCtr="0" anchor="ctr" bIns="33850" lIns="33850" spcFirstLastPara="1" rIns="33850" wrap="square" tIns="33850">
              <a:noAutofit/>
            </a:bodyPr>
            <a:lstStyle/>
            <a:p>
              <a:pPr indent="0" lvl="0" marL="0" marR="0" rtl="0" algn="ctr">
                <a:lnSpc>
                  <a:spcPct val="110812"/>
                </a:lnSpc>
                <a:spcBef>
                  <a:spcPts val="0"/>
                </a:spcBef>
                <a:spcAft>
                  <a:spcPts val="0"/>
                </a:spcAft>
                <a:buNone/>
              </a:pPr>
              <a:r>
                <a:t/>
              </a:r>
              <a:endParaRPr sz="1600">
                <a:solidFill>
                  <a:schemeClr val="dk1"/>
                </a:solidFill>
                <a:latin typeface="Meddon"/>
                <a:ea typeface="Meddon"/>
                <a:cs typeface="Meddon"/>
                <a:sym typeface="Meddon"/>
              </a:endParaRPr>
            </a:p>
          </p:txBody>
        </p:sp>
      </p:grpSp>
      <p:sp>
        <p:nvSpPr>
          <p:cNvPr id="751" name="Google Shape;751;p83"/>
          <p:cNvSpPr txBox="1"/>
          <p:nvPr/>
        </p:nvSpPr>
        <p:spPr>
          <a:xfrm>
            <a:off x="2832113" y="4971362"/>
            <a:ext cx="1542046" cy="386901"/>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1" lang="en-US" sz="2381">
                <a:solidFill>
                  <a:srgbClr val="000000"/>
                </a:solidFill>
                <a:latin typeface="Arial"/>
                <a:ea typeface="Arial"/>
                <a:cs typeface="Arial"/>
                <a:sym typeface="Arial"/>
              </a:rPr>
              <a:t>Fetch Unit</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descr="A close up of a logo  Description automatically generated" id="756" name="Google Shape;756;p84"/>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A close up of a logo  Description automatically generated" id="757" name="Google Shape;757;p84"/>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758" name="Google Shape;758;p84"/>
          <p:cNvSpPr/>
          <p:nvPr/>
        </p:nvSpPr>
        <p:spPr>
          <a:xfrm>
            <a:off x="165347" y="92361"/>
            <a:ext cx="1049896" cy="1049896"/>
          </a:xfrm>
          <a:custGeom>
            <a:rect b="b" l="l" r="r" t="t"/>
            <a:pathLst>
              <a:path extrusionOk="0" h="1574844" w="1574844">
                <a:moveTo>
                  <a:pt x="0" y="0"/>
                </a:moveTo>
                <a:lnTo>
                  <a:pt x="1574845" y="0"/>
                </a:lnTo>
                <a:lnTo>
                  <a:pt x="1574845" y="1574845"/>
                </a:lnTo>
                <a:lnTo>
                  <a:pt x="0" y="1574845"/>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759" name="Google Shape;759;p84"/>
          <p:cNvSpPr txBox="1"/>
          <p:nvPr/>
        </p:nvSpPr>
        <p:spPr>
          <a:xfrm>
            <a:off x="479569" y="1296442"/>
            <a:ext cx="3381231" cy="55027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1" lang="en-US" sz="3365">
                <a:solidFill>
                  <a:srgbClr val="000000"/>
                </a:solidFill>
                <a:latin typeface="Arial"/>
                <a:ea typeface="Arial"/>
                <a:cs typeface="Arial"/>
                <a:sym typeface="Arial"/>
              </a:rPr>
              <a:t> L1 Data Cache</a:t>
            </a:r>
            <a:endParaRPr/>
          </a:p>
        </p:txBody>
      </p:sp>
      <p:sp>
        <p:nvSpPr>
          <p:cNvPr id="760" name="Google Shape;760;p84"/>
          <p:cNvSpPr txBox="1"/>
          <p:nvPr/>
        </p:nvSpPr>
        <p:spPr>
          <a:xfrm>
            <a:off x="529444" y="2383805"/>
            <a:ext cx="11325301" cy="2705484"/>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1" lang="en-US" sz="2779">
                <a:solidFill>
                  <a:srgbClr val="1D64A9"/>
                </a:solidFill>
                <a:latin typeface="Arial"/>
                <a:ea typeface="Arial"/>
                <a:cs typeface="Arial"/>
                <a:sym typeface="Arial"/>
              </a:rPr>
              <a:t>What is the D-Cache?</a:t>
            </a:r>
            <a:endParaRPr/>
          </a:p>
          <a:p>
            <a:pPr indent="-271261" lvl="1" marL="542522" marR="0" rtl="0" algn="l">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Arial"/>
                <a:ea typeface="Arial"/>
                <a:cs typeface="Arial"/>
                <a:sym typeface="Arial"/>
              </a:rPr>
              <a:t>Role: Fastest storage, closest to the core.</a:t>
            </a:r>
            <a:endParaRPr/>
          </a:p>
          <a:p>
            <a:pPr indent="-271261" lvl="1" marL="542522" marR="0" rtl="0" algn="l">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Arial"/>
                <a:ea typeface="Arial"/>
                <a:cs typeface="Arial"/>
                <a:sym typeface="Arial"/>
              </a:rPr>
              <a:t>Capacity: 32-64 KB.</a:t>
            </a:r>
            <a:endParaRPr/>
          </a:p>
          <a:p>
            <a:pPr indent="-271261" lvl="1" marL="542522" marR="0" rtl="0" algn="l">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Arial"/>
                <a:ea typeface="Arial"/>
                <a:cs typeface="Arial"/>
                <a:sym typeface="Arial"/>
              </a:rPr>
              <a:t>Speed: 3–10 cycles </a:t>
            </a:r>
            <a:endParaRPr/>
          </a:p>
          <a:p>
            <a:pPr indent="-271261" lvl="1" marL="542522" marR="0" rtl="0" algn="l">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Arial"/>
                <a:ea typeface="Arial"/>
                <a:cs typeface="Arial"/>
                <a:sym typeface="Arial"/>
              </a:rPr>
              <a:t>Management: Automatic (Hardware-controlled transparency).</a:t>
            </a:r>
            <a:endParaRPr/>
          </a:p>
          <a:p>
            <a:pPr indent="-271261" lvl="1" marL="542522" marR="0" rtl="0" algn="l">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Arial"/>
                <a:ea typeface="Arial"/>
                <a:cs typeface="Arial"/>
                <a:sym typeface="Arial"/>
              </a:rPr>
              <a:t>Bandwidth: Extremely high (&gt;100 GB/s per core).</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descr="A close up of a logo  Description automatically generated" id="765" name="Google Shape;765;p85"/>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A close up of a logo  Description automatically generated" id="766" name="Google Shape;766;p85"/>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767" name="Google Shape;767;p85"/>
          <p:cNvSpPr/>
          <p:nvPr/>
        </p:nvSpPr>
        <p:spPr>
          <a:xfrm>
            <a:off x="165347" y="92361"/>
            <a:ext cx="1049896" cy="1049896"/>
          </a:xfrm>
          <a:custGeom>
            <a:rect b="b" l="l" r="r" t="t"/>
            <a:pathLst>
              <a:path extrusionOk="0" h="1574844" w="1574844">
                <a:moveTo>
                  <a:pt x="0" y="0"/>
                </a:moveTo>
                <a:lnTo>
                  <a:pt x="1574845" y="0"/>
                </a:lnTo>
                <a:lnTo>
                  <a:pt x="1574845" y="1574845"/>
                </a:lnTo>
                <a:lnTo>
                  <a:pt x="0" y="1574845"/>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768" name="Google Shape;768;p85"/>
          <p:cNvSpPr txBox="1"/>
          <p:nvPr/>
        </p:nvSpPr>
        <p:spPr>
          <a:xfrm>
            <a:off x="479569" y="1296442"/>
            <a:ext cx="3686031" cy="55027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1" lang="en-US" sz="3365">
                <a:solidFill>
                  <a:srgbClr val="000000"/>
                </a:solidFill>
                <a:latin typeface="Arial"/>
                <a:ea typeface="Arial"/>
                <a:cs typeface="Arial"/>
                <a:sym typeface="Arial"/>
              </a:rPr>
              <a:t> L1 Data Cache</a:t>
            </a:r>
            <a:endParaRPr/>
          </a:p>
        </p:txBody>
      </p:sp>
      <p:sp>
        <p:nvSpPr>
          <p:cNvPr id="769" name="Google Shape;769;p85"/>
          <p:cNvSpPr txBox="1"/>
          <p:nvPr/>
        </p:nvSpPr>
        <p:spPr>
          <a:xfrm>
            <a:off x="572529" y="2495381"/>
            <a:ext cx="11501704" cy="2743956"/>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1" lang="en-US" sz="2779">
                <a:solidFill>
                  <a:srgbClr val="1D64A9"/>
                </a:solidFill>
                <a:latin typeface="Arial"/>
                <a:ea typeface="Arial"/>
                <a:cs typeface="Arial"/>
                <a:sym typeface="Arial"/>
              </a:rPr>
              <a:t>How does it work?</a:t>
            </a:r>
            <a:endParaRPr/>
          </a:p>
          <a:p>
            <a:pPr indent="-271261" lvl="1" marL="542522" marR="0" rtl="0" algn="l">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Arial"/>
                <a:ea typeface="Arial"/>
                <a:cs typeface="Arial"/>
                <a:sym typeface="Arial"/>
              </a:rPr>
              <a:t>The Flow: Request → Check L1 → </a:t>
            </a:r>
            <a:r>
              <a:rPr b="0" i="0" lang="en-US" sz="2513" u="none" cap="none" strike="noStrike">
                <a:solidFill>
                  <a:srgbClr val="1D64A9"/>
                </a:solidFill>
                <a:latin typeface="Arial"/>
                <a:ea typeface="Arial"/>
                <a:cs typeface="Arial"/>
                <a:sym typeface="Arial"/>
              </a:rPr>
              <a:t>Hit </a:t>
            </a:r>
            <a:r>
              <a:rPr b="0" i="0" lang="en-US" sz="2513" u="none" cap="none" strike="noStrike">
                <a:solidFill>
                  <a:srgbClr val="000000"/>
                </a:solidFill>
                <a:latin typeface="Arial"/>
                <a:ea typeface="Arial"/>
                <a:cs typeface="Arial"/>
                <a:sym typeface="Arial"/>
              </a:rPr>
              <a:t>(Fast) or </a:t>
            </a:r>
            <a:r>
              <a:rPr b="0" i="0" lang="en-US" sz="2513" u="none" cap="none" strike="noStrike">
                <a:solidFill>
                  <a:srgbClr val="1D64A9"/>
                </a:solidFill>
                <a:latin typeface="Arial"/>
                <a:ea typeface="Arial"/>
                <a:cs typeface="Arial"/>
                <a:sym typeface="Arial"/>
              </a:rPr>
              <a:t>Miss </a:t>
            </a:r>
            <a:r>
              <a:rPr b="0" i="0" lang="en-US" sz="2513" u="none" cap="none" strike="noStrike">
                <a:solidFill>
                  <a:srgbClr val="000000"/>
                </a:solidFill>
                <a:latin typeface="Arial"/>
                <a:ea typeface="Arial"/>
                <a:cs typeface="Arial"/>
                <a:sym typeface="Arial"/>
              </a:rPr>
              <a:t>(Fetch from L2).</a:t>
            </a:r>
            <a:endParaRPr b="0" i="0" sz="2513" u="none" cap="none" strike="noStrike">
              <a:solidFill>
                <a:srgbClr val="000000"/>
              </a:solidFill>
              <a:latin typeface="Arial"/>
              <a:ea typeface="Arial"/>
              <a:cs typeface="Arial"/>
              <a:sym typeface="Arial"/>
            </a:endParaRPr>
          </a:p>
          <a:p>
            <a:pPr indent="-271261" lvl="1" marL="542522" marR="0" rtl="0" algn="l">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Arial"/>
                <a:ea typeface="Arial"/>
                <a:cs typeface="Arial"/>
                <a:sym typeface="Arial"/>
              </a:rPr>
              <a:t>Scope: within the core.</a:t>
            </a:r>
            <a:endParaRPr/>
          </a:p>
          <a:p>
            <a:pPr indent="-271261" lvl="1" marL="542522" marR="0" rtl="0" algn="l">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Arial"/>
                <a:ea typeface="Arial"/>
                <a:cs typeface="Arial"/>
                <a:sym typeface="Arial"/>
              </a:rPr>
              <a:t>The Cache Line:</a:t>
            </a:r>
            <a:endParaRPr/>
          </a:p>
          <a:p>
            <a:pPr indent="-361680" lvl="2" marL="1085045" marR="0" rtl="0" algn="l">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Arial"/>
                <a:ea typeface="Arial"/>
                <a:cs typeface="Arial"/>
                <a:sym typeface="Arial"/>
              </a:rPr>
              <a:t>Memory is fetched in chunks (e.g., 128 bytes), not single bytes.</a:t>
            </a:r>
            <a:endParaRPr/>
          </a:p>
          <a:p>
            <a:pPr indent="0" lvl="0" marL="0" marR="0" rtl="0" algn="l">
              <a:lnSpc>
                <a:spcPct val="154834"/>
              </a:lnSpc>
              <a:spcBef>
                <a:spcPts val="0"/>
              </a:spcBef>
              <a:spcAft>
                <a:spcPts val="0"/>
              </a:spcAft>
              <a:buNone/>
            </a:pPr>
            <a:r>
              <a:t/>
            </a:r>
            <a:endParaRPr sz="2513">
              <a:solidFill>
                <a:srgbClr val="000000"/>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descr="A close up of a logo  Description automatically generated" id="774" name="Google Shape;774;p86"/>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A close up of a logo  Description automatically generated" id="775" name="Google Shape;775;p86"/>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776" name="Google Shape;776;p86"/>
          <p:cNvSpPr/>
          <p:nvPr/>
        </p:nvSpPr>
        <p:spPr>
          <a:xfrm>
            <a:off x="165347" y="92361"/>
            <a:ext cx="1049896" cy="1049896"/>
          </a:xfrm>
          <a:custGeom>
            <a:rect b="b" l="l" r="r" t="t"/>
            <a:pathLst>
              <a:path extrusionOk="0" h="1574844" w="1574844">
                <a:moveTo>
                  <a:pt x="0" y="0"/>
                </a:moveTo>
                <a:lnTo>
                  <a:pt x="1574845" y="0"/>
                </a:lnTo>
                <a:lnTo>
                  <a:pt x="1574845" y="1574845"/>
                </a:lnTo>
                <a:lnTo>
                  <a:pt x="0" y="1574845"/>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777" name="Google Shape;777;p86"/>
          <p:cNvSpPr txBox="1"/>
          <p:nvPr/>
        </p:nvSpPr>
        <p:spPr>
          <a:xfrm>
            <a:off x="38100" y="1296442"/>
            <a:ext cx="5364672" cy="55027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1" lang="en-US" sz="3365">
                <a:solidFill>
                  <a:srgbClr val="000000"/>
                </a:solidFill>
                <a:latin typeface="Arial"/>
                <a:ea typeface="Arial"/>
                <a:cs typeface="Arial"/>
                <a:sym typeface="Arial"/>
              </a:rPr>
              <a:t> L1 Instruction Cache</a:t>
            </a:r>
            <a:endParaRPr/>
          </a:p>
        </p:txBody>
      </p:sp>
      <p:sp>
        <p:nvSpPr>
          <p:cNvPr id="778" name="Google Shape;778;p86"/>
          <p:cNvSpPr txBox="1"/>
          <p:nvPr/>
        </p:nvSpPr>
        <p:spPr>
          <a:xfrm>
            <a:off x="568033" y="2296213"/>
            <a:ext cx="10252367" cy="2705484"/>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None/>
            </a:pPr>
            <a:r>
              <a:rPr b="1" i="1" lang="en-US" sz="2779">
                <a:solidFill>
                  <a:srgbClr val="1D64A9"/>
                </a:solidFill>
                <a:latin typeface="Arial"/>
                <a:ea typeface="Arial"/>
                <a:cs typeface="Arial"/>
                <a:sym typeface="Arial"/>
              </a:rPr>
              <a:t>Distinct Roles</a:t>
            </a:r>
            <a:endParaRPr/>
          </a:p>
          <a:p>
            <a:pPr indent="-271261" lvl="1" marL="542522" marR="0" rtl="0" algn="just">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Arial"/>
                <a:ea typeface="Arial"/>
                <a:cs typeface="Arial"/>
                <a:sym typeface="Arial"/>
              </a:rPr>
              <a:t>The Job: Stores machine code (opcodes), not variables.</a:t>
            </a:r>
            <a:endParaRPr/>
          </a:p>
          <a:p>
            <a:pPr indent="-271261" lvl="1" marL="542522" marR="0" rtl="0" algn="just">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Arial"/>
                <a:ea typeface="Arial"/>
                <a:cs typeface="Arial"/>
                <a:sym typeface="Arial"/>
              </a:rPr>
              <a:t>The Goal: Feed the Instruction Fetch Unit constantly to prevent pipeline stalls.</a:t>
            </a:r>
            <a:endParaRPr/>
          </a:p>
          <a:p>
            <a:pPr indent="-271261" lvl="1" marL="542522" marR="0" rtl="0" algn="just">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Arial"/>
                <a:ea typeface="Arial"/>
                <a:cs typeface="Arial"/>
                <a:sym typeface="Arial"/>
              </a:rPr>
              <a:t>Key Traits: Read-Only (Safety), Private (Per Core), Low Latency (~5 cycles).</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descr="A close up of a logo  Description automatically generated" id="783" name="Google Shape;783;p87"/>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A close up of a logo  Description automatically generated" id="784" name="Google Shape;784;p87"/>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785" name="Google Shape;785;p87"/>
          <p:cNvSpPr/>
          <p:nvPr/>
        </p:nvSpPr>
        <p:spPr>
          <a:xfrm>
            <a:off x="165347" y="92361"/>
            <a:ext cx="1049896" cy="1049896"/>
          </a:xfrm>
          <a:custGeom>
            <a:rect b="b" l="l" r="r" t="t"/>
            <a:pathLst>
              <a:path extrusionOk="0" h="1574844" w="1574844">
                <a:moveTo>
                  <a:pt x="0" y="0"/>
                </a:moveTo>
                <a:lnTo>
                  <a:pt x="1574845" y="0"/>
                </a:lnTo>
                <a:lnTo>
                  <a:pt x="1574845" y="1574845"/>
                </a:lnTo>
                <a:lnTo>
                  <a:pt x="0" y="1574845"/>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786" name="Google Shape;786;p87"/>
          <p:cNvSpPr txBox="1"/>
          <p:nvPr/>
        </p:nvSpPr>
        <p:spPr>
          <a:xfrm>
            <a:off x="3413664" y="541109"/>
            <a:ext cx="5364672" cy="631198"/>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b="1" i="1" lang="en-US" sz="3832">
                <a:solidFill>
                  <a:srgbClr val="000000"/>
                </a:solidFill>
                <a:latin typeface="Arial"/>
                <a:ea typeface="Arial"/>
                <a:cs typeface="Arial"/>
                <a:sym typeface="Arial"/>
              </a:rPr>
              <a:t> L2 Cache</a:t>
            </a:r>
            <a:endParaRPr/>
          </a:p>
        </p:txBody>
      </p:sp>
      <p:sp>
        <p:nvSpPr>
          <p:cNvPr id="787" name="Google Shape;787;p87"/>
          <p:cNvSpPr txBox="1"/>
          <p:nvPr/>
        </p:nvSpPr>
        <p:spPr>
          <a:xfrm>
            <a:off x="685800" y="1966814"/>
            <a:ext cx="11358409" cy="2258823"/>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None/>
            </a:pPr>
            <a:r>
              <a:rPr b="1" i="1" lang="en-US" sz="2779">
                <a:solidFill>
                  <a:srgbClr val="1D64A9"/>
                </a:solidFill>
                <a:latin typeface="Times"/>
                <a:ea typeface="Times"/>
                <a:cs typeface="Times"/>
                <a:sym typeface="Times"/>
              </a:rPr>
              <a:t>The Strategic Role</a:t>
            </a:r>
            <a:endParaRPr/>
          </a:p>
          <a:p>
            <a:pPr indent="-271261" lvl="1" marL="542522" marR="0" rtl="0" algn="just">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Times New Roman"/>
                <a:ea typeface="Times New Roman"/>
                <a:cs typeface="Times New Roman"/>
                <a:sym typeface="Times New Roman"/>
              </a:rPr>
              <a:t>The Bridge: Sits between hyper-fast L1 and sluggish DRAM.</a:t>
            </a:r>
            <a:endParaRPr/>
          </a:p>
          <a:p>
            <a:pPr indent="-271261" lvl="1" marL="542522" marR="0" rtl="0" algn="just">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Times New Roman"/>
                <a:ea typeface="Times New Roman"/>
                <a:cs typeface="Times New Roman"/>
                <a:sym typeface="Times New Roman"/>
              </a:rPr>
              <a:t>The Hub: Unlike L1 (Private), L2 is Shared across multiple cores.</a:t>
            </a:r>
            <a:endParaRPr/>
          </a:p>
          <a:p>
            <a:pPr indent="-271261" lvl="1" marL="542522" marR="0" rtl="0" algn="just">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Times New Roman"/>
                <a:ea typeface="Times New Roman"/>
                <a:cs typeface="Times New Roman"/>
                <a:sym typeface="Times New Roman"/>
              </a:rPr>
              <a:t>The Format: Unified stores both Instructions and Data in one place.</a:t>
            </a:r>
            <a:endParaRPr/>
          </a:p>
          <a:p>
            <a:pPr indent="0" lvl="0" marL="0" marR="0" rtl="0" algn="just">
              <a:lnSpc>
                <a:spcPct val="139992"/>
              </a:lnSpc>
              <a:spcBef>
                <a:spcPts val="0"/>
              </a:spcBef>
              <a:spcAft>
                <a:spcPts val="0"/>
              </a:spcAft>
              <a:buNone/>
            </a:pPr>
            <a:r>
              <a:t/>
            </a:r>
            <a:endParaRPr sz="2513">
              <a:solidFill>
                <a:srgbClr val="000000"/>
              </a:solidFill>
              <a:latin typeface="Times New Roman"/>
              <a:ea typeface="Times New Roman"/>
              <a:cs typeface="Times New Roman"/>
              <a:sym typeface="Times New Roman"/>
            </a:endParaRPr>
          </a:p>
        </p:txBody>
      </p:sp>
      <p:sp>
        <p:nvSpPr>
          <p:cNvPr id="788" name="Google Shape;788;p87"/>
          <p:cNvSpPr txBox="1"/>
          <p:nvPr/>
        </p:nvSpPr>
        <p:spPr>
          <a:xfrm>
            <a:off x="3413664" y="1300588"/>
            <a:ext cx="5857658" cy="392480"/>
          </a:xfrm>
          <a:prstGeom prst="rect">
            <a:avLst/>
          </a:prstGeom>
          <a:noFill/>
          <a:ln>
            <a:noFill/>
          </a:ln>
        </p:spPr>
        <p:txBody>
          <a:bodyPr anchorCtr="0" anchor="t" bIns="0" lIns="0" spcFirstLastPara="1" rIns="0" wrap="square" tIns="0">
            <a:spAutoFit/>
          </a:bodyPr>
          <a:lstStyle/>
          <a:p>
            <a:pPr indent="0" lvl="0" marL="0" marR="0" rtl="0" algn="ctr">
              <a:lnSpc>
                <a:spcPct val="132012"/>
              </a:lnSpc>
              <a:spcBef>
                <a:spcPts val="0"/>
              </a:spcBef>
              <a:spcAft>
                <a:spcPts val="0"/>
              </a:spcAft>
              <a:buNone/>
            </a:pPr>
            <a:r>
              <a:rPr lang="en-US" sz="2499">
                <a:solidFill>
                  <a:srgbClr val="000000"/>
                </a:solidFill>
                <a:latin typeface="Times New Roman"/>
                <a:ea typeface="Times New Roman"/>
                <a:cs typeface="Times New Roman"/>
                <a:sym typeface="Times New Roman"/>
              </a:rPr>
              <a:t>Unified Storage for Multi-Core Efficiency</a:t>
            </a:r>
            <a:endParaRPr/>
          </a:p>
        </p:txBody>
      </p:sp>
      <p:sp>
        <p:nvSpPr>
          <p:cNvPr id="789" name="Google Shape;789;p87"/>
          <p:cNvSpPr txBox="1"/>
          <p:nvPr/>
        </p:nvSpPr>
        <p:spPr>
          <a:xfrm>
            <a:off x="690296" y="3977143"/>
            <a:ext cx="10815904" cy="1758687"/>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None/>
            </a:pPr>
            <a:r>
              <a:rPr b="1" i="1" lang="en-US" sz="2513">
                <a:solidFill>
                  <a:srgbClr val="1D64A9"/>
                </a:solidFill>
                <a:latin typeface="Times"/>
                <a:ea typeface="Times"/>
                <a:cs typeface="Times"/>
                <a:sym typeface="Times"/>
              </a:rPr>
              <a:t>The Speed/Size Trade-off</a:t>
            </a:r>
            <a:endParaRPr/>
          </a:p>
          <a:p>
            <a:pPr indent="-271261" lvl="1" marL="542522" marR="0" rtl="0" algn="just">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Times New Roman"/>
                <a:ea typeface="Times New Roman"/>
                <a:cs typeface="Times New Roman"/>
                <a:sym typeface="Times New Roman"/>
              </a:rPr>
              <a:t>Capacity: 512 KB – 6 MB (Up to 100x larger than L1).</a:t>
            </a:r>
            <a:endParaRPr/>
          </a:p>
          <a:p>
            <a:pPr indent="-271261" lvl="1" marL="542522" marR="0" rtl="0" algn="just">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Times New Roman"/>
                <a:ea typeface="Times New Roman"/>
                <a:cs typeface="Times New Roman"/>
                <a:sym typeface="Times New Roman"/>
              </a:rPr>
              <a:t>Latency: ~30 cycles (Slower than L1, but </a:t>
            </a:r>
            <a:r>
              <a:rPr b="1" i="0" lang="en-US" sz="2513" u="none" cap="none" strike="noStrike">
                <a:solidFill>
                  <a:srgbClr val="0B5F9F"/>
                </a:solidFill>
                <a:latin typeface="Times"/>
                <a:ea typeface="Times"/>
                <a:cs typeface="Times"/>
                <a:sym typeface="Times"/>
              </a:rPr>
              <a:t>13x </a:t>
            </a:r>
            <a:r>
              <a:rPr b="0" i="0" lang="en-US" sz="2513" u="none" cap="none" strike="noStrike">
                <a:solidFill>
                  <a:srgbClr val="000000"/>
                </a:solidFill>
                <a:latin typeface="Times New Roman"/>
                <a:ea typeface="Times New Roman"/>
                <a:cs typeface="Times New Roman"/>
                <a:sym typeface="Times New Roman"/>
              </a:rPr>
              <a:t>faster than DRAM).</a:t>
            </a:r>
            <a:endParaRPr/>
          </a:p>
          <a:p>
            <a:pPr indent="-271261" lvl="1" marL="542522" marR="0" rtl="0" algn="just">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Times New Roman"/>
                <a:ea typeface="Times New Roman"/>
                <a:cs typeface="Times New Roman"/>
                <a:sym typeface="Times New Roman"/>
              </a:rPr>
              <a:t>Goal: Filter out </a:t>
            </a:r>
            <a:r>
              <a:rPr b="1" i="0" lang="en-US" sz="2513" u="none" cap="none" strike="noStrike">
                <a:solidFill>
                  <a:srgbClr val="1D64A9"/>
                </a:solidFill>
                <a:latin typeface="Times"/>
                <a:ea typeface="Times"/>
                <a:cs typeface="Times"/>
                <a:sym typeface="Times"/>
              </a:rPr>
              <a:t>70-90% </a:t>
            </a:r>
            <a:r>
              <a:rPr b="0" i="0" lang="en-US" sz="2513" u="none" cap="none" strike="noStrike">
                <a:solidFill>
                  <a:srgbClr val="000000"/>
                </a:solidFill>
                <a:latin typeface="Times New Roman"/>
                <a:ea typeface="Times New Roman"/>
                <a:cs typeface="Times New Roman"/>
                <a:sym typeface="Times New Roman"/>
              </a:rPr>
              <a:t>of traffic before it hits main memory.</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descr="A close up of a logo  Description automatically generated" id="794" name="Google Shape;794;p88"/>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A close up of a logo  Description automatically generated" id="795" name="Google Shape;795;p88"/>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796" name="Google Shape;796;p88"/>
          <p:cNvSpPr/>
          <p:nvPr/>
        </p:nvSpPr>
        <p:spPr>
          <a:xfrm>
            <a:off x="165347" y="92361"/>
            <a:ext cx="1049896" cy="1049896"/>
          </a:xfrm>
          <a:custGeom>
            <a:rect b="b" l="l" r="r" t="t"/>
            <a:pathLst>
              <a:path extrusionOk="0" h="1574844" w="1574844">
                <a:moveTo>
                  <a:pt x="0" y="0"/>
                </a:moveTo>
                <a:lnTo>
                  <a:pt x="1574845" y="0"/>
                </a:lnTo>
                <a:lnTo>
                  <a:pt x="1574845" y="1574845"/>
                </a:lnTo>
                <a:lnTo>
                  <a:pt x="0" y="1574845"/>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797" name="Google Shape;797;p88"/>
          <p:cNvSpPr txBox="1"/>
          <p:nvPr/>
        </p:nvSpPr>
        <p:spPr>
          <a:xfrm>
            <a:off x="3413664" y="541109"/>
            <a:ext cx="5364672" cy="631198"/>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b="1" i="1" lang="en-US" sz="3832">
                <a:solidFill>
                  <a:srgbClr val="000000"/>
                </a:solidFill>
                <a:latin typeface="Arial"/>
                <a:ea typeface="Arial"/>
                <a:cs typeface="Arial"/>
                <a:sym typeface="Arial"/>
              </a:rPr>
              <a:t>DRAM</a:t>
            </a:r>
            <a:endParaRPr/>
          </a:p>
        </p:txBody>
      </p:sp>
      <p:sp>
        <p:nvSpPr>
          <p:cNvPr id="798" name="Google Shape;798;p88"/>
          <p:cNvSpPr txBox="1"/>
          <p:nvPr/>
        </p:nvSpPr>
        <p:spPr>
          <a:xfrm>
            <a:off x="2776243" y="1300588"/>
            <a:ext cx="6772871" cy="392480"/>
          </a:xfrm>
          <a:prstGeom prst="rect">
            <a:avLst/>
          </a:prstGeom>
          <a:noFill/>
          <a:ln>
            <a:noFill/>
          </a:ln>
        </p:spPr>
        <p:txBody>
          <a:bodyPr anchorCtr="0" anchor="t" bIns="0" lIns="0" spcFirstLastPara="1" rIns="0" wrap="square" tIns="0">
            <a:spAutoFit/>
          </a:bodyPr>
          <a:lstStyle/>
          <a:p>
            <a:pPr indent="0" lvl="0" marL="0" marR="0" rtl="0" algn="ctr">
              <a:lnSpc>
                <a:spcPct val="132012"/>
              </a:lnSpc>
              <a:spcBef>
                <a:spcPts val="0"/>
              </a:spcBef>
              <a:spcAft>
                <a:spcPts val="0"/>
              </a:spcAft>
              <a:buNone/>
            </a:pPr>
            <a:r>
              <a:rPr lang="en-US" sz="2499">
                <a:solidFill>
                  <a:srgbClr val="000000"/>
                </a:solidFill>
                <a:latin typeface="Times New Roman"/>
                <a:ea typeface="Times New Roman"/>
                <a:cs typeface="Times New Roman"/>
                <a:sym typeface="Times New Roman"/>
              </a:rPr>
              <a:t>Device Memory </a:t>
            </a:r>
            <a:r>
              <a:rPr lang="en-US" sz="2499">
                <a:solidFill>
                  <a:srgbClr val="005D9D"/>
                </a:solidFill>
                <a:latin typeface="Times New Roman"/>
                <a:ea typeface="Times New Roman"/>
                <a:cs typeface="Times New Roman"/>
                <a:sym typeface="Times New Roman"/>
              </a:rPr>
              <a:t>“Infinite Space, Expensive Access“</a:t>
            </a:r>
            <a:endParaRPr/>
          </a:p>
        </p:txBody>
      </p:sp>
      <p:sp>
        <p:nvSpPr>
          <p:cNvPr id="799" name="Google Shape;799;p88"/>
          <p:cNvSpPr txBox="1"/>
          <p:nvPr/>
        </p:nvSpPr>
        <p:spPr>
          <a:xfrm>
            <a:off x="685800" y="1859389"/>
            <a:ext cx="10344388" cy="2656368"/>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None/>
            </a:pPr>
            <a:r>
              <a:rPr b="1" i="1" lang="en-US" sz="2513">
                <a:solidFill>
                  <a:srgbClr val="1D64A9"/>
                </a:solidFill>
                <a:latin typeface="Times"/>
                <a:ea typeface="Times"/>
                <a:cs typeface="Times"/>
                <a:sym typeface="Times"/>
              </a:rPr>
              <a:t>The Scale</a:t>
            </a:r>
            <a:endParaRPr/>
          </a:p>
          <a:p>
            <a:pPr indent="-271261" lvl="1" marL="542522" marR="0" rtl="0" algn="just">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Times New Roman"/>
                <a:ea typeface="Times New Roman"/>
                <a:cs typeface="Times New Roman"/>
                <a:sym typeface="Times New Roman"/>
              </a:rPr>
              <a:t>The Role: The ultimate storage for all GPU data (Gigabytes to Tens of GBs).</a:t>
            </a:r>
            <a:endParaRPr/>
          </a:p>
          <a:p>
            <a:pPr indent="-271261" lvl="1" marL="542522" marR="0" rtl="0" algn="just">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Times New Roman"/>
                <a:ea typeface="Times New Roman"/>
                <a:cs typeface="Times New Roman"/>
                <a:sym typeface="Times New Roman"/>
              </a:rPr>
              <a:t>The Trade-off:</a:t>
            </a:r>
            <a:endParaRPr/>
          </a:p>
          <a:p>
            <a:pPr indent="-361680" lvl="2" marL="1085045" marR="0" rtl="0" algn="just">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Times New Roman"/>
                <a:ea typeface="Times New Roman"/>
                <a:cs typeface="Times New Roman"/>
                <a:sym typeface="Times New Roman"/>
              </a:rPr>
              <a:t>Capacity: 100,000x larger than L2.</a:t>
            </a:r>
            <a:endParaRPr/>
          </a:p>
          <a:p>
            <a:pPr indent="-361680" lvl="2" marL="1085045" marR="0" rtl="0" algn="just">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Times New Roman"/>
                <a:ea typeface="Times New Roman"/>
                <a:cs typeface="Times New Roman"/>
                <a:sym typeface="Times New Roman"/>
              </a:rPr>
              <a:t>Latency: </a:t>
            </a:r>
            <a:r>
              <a:rPr b="0" i="0" lang="en-US" sz="2513" u="none" cap="none" strike="noStrike">
                <a:solidFill>
                  <a:srgbClr val="005D9D"/>
                </a:solidFill>
                <a:latin typeface="Times New Roman"/>
                <a:ea typeface="Times New Roman"/>
                <a:cs typeface="Times New Roman"/>
                <a:sym typeface="Times New Roman"/>
              </a:rPr>
              <a:t>400–800 cycles. </a:t>
            </a:r>
            <a:r>
              <a:rPr b="0" i="0" lang="en-US" sz="2513" u="none" cap="none" strike="noStrike">
                <a:solidFill>
                  <a:srgbClr val="000000"/>
                </a:solidFill>
                <a:latin typeface="Times New Roman"/>
                <a:ea typeface="Times New Roman"/>
                <a:cs typeface="Times New Roman"/>
                <a:sym typeface="Times New Roman"/>
              </a:rPr>
              <a:t>(The processor spends an eternity waiting).</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descr="A close up of a logo  Description automatically generated" id="804" name="Google Shape;804;p89"/>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A close up of a logo  Description automatically generated" id="805" name="Google Shape;805;p89"/>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06" name="Google Shape;806;p89"/>
          <p:cNvSpPr/>
          <p:nvPr/>
        </p:nvSpPr>
        <p:spPr>
          <a:xfrm>
            <a:off x="165347" y="92361"/>
            <a:ext cx="1049896" cy="1049896"/>
          </a:xfrm>
          <a:custGeom>
            <a:rect b="b" l="l" r="r" t="t"/>
            <a:pathLst>
              <a:path extrusionOk="0" h="1574844" w="1574844">
                <a:moveTo>
                  <a:pt x="0" y="0"/>
                </a:moveTo>
                <a:lnTo>
                  <a:pt x="1574845" y="0"/>
                </a:lnTo>
                <a:lnTo>
                  <a:pt x="1574845" y="1574845"/>
                </a:lnTo>
                <a:lnTo>
                  <a:pt x="0" y="1574845"/>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07" name="Google Shape;807;p89"/>
          <p:cNvSpPr txBox="1"/>
          <p:nvPr/>
        </p:nvSpPr>
        <p:spPr>
          <a:xfrm>
            <a:off x="3413664" y="541109"/>
            <a:ext cx="5364672" cy="631198"/>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b="1" i="1" lang="en-US" sz="3832">
                <a:solidFill>
                  <a:srgbClr val="000000"/>
                </a:solidFill>
                <a:latin typeface="Arial"/>
                <a:ea typeface="Arial"/>
                <a:cs typeface="Arial"/>
                <a:sym typeface="Arial"/>
              </a:rPr>
              <a:t>Shared Memory</a:t>
            </a:r>
            <a:endParaRPr/>
          </a:p>
        </p:txBody>
      </p:sp>
      <p:sp>
        <p:nvSpPr>
          <p:cNvPr id="808" name="Google Shape;808;p89"/>
          <p:cNvSpPr txBox="1"/>
          <p:nvPr/>
        </p:nvSpPr>
        <p:spPr>
          <a:xfrm>
            <a:off x="1516602" y="1300588"/>
            <a:ext cx="9548795" cy="392480"/>
          </a:xfrm>
          <a:prstGeom prst="rect">
            <a:avLst/>
          </a:prstGeom>
          <a:noFill/>
          <a:ln>
            <a:noFill/>
          </a:ln>
        </p:spPr>
        <p:txBody>
          <a:bodyPr anchorCtr="0" anchor="t" bIns="0" lIns="0" spcFirstLastPara="1" rIns="0" wrap="square" tIns="0">
            <a:spAutoFit/>
          </a:bodyPr>
          <a:lstStyle/>
          <a:p>
            <a:pPr indent="0" lvl="0" marL="0" marR="0" rtl="0" algn="ctr">
              <a:lnSpc>
                <a:spcPct val="132012"/>
              </a:lnSpc>
              <a:spcBef>
                <a:spcPts val="0"/>
              </a:spcBef>
              <a:spcAft>
                <a:spcPts val="0"/>
              </a:spcAft>
              <a:buNone/>
            </a:pPr>
            <a:r>
              <a:rPr lang="en-US" sz="2499">
                <a:solidFill>
                  <a:srgbClr val="000000"/>
                </a:solidFill>
                <a:latin typeface="Times New Roman"/>
                <a:ea typeface="Times New Roman"/>
                <a:cs typeface="Times New Roman"/>
                <a:sym typeface="Times New Roman"/>
              </a:rPr>
              <a:t>Manual Control for Deterministic Speed: </a:t>
            </a:r>
            <a:r>
              <a:rPr lang="en-US" sz="2499">
                <a:solidFill>
                  <a:srgbClr val="005D9D"/>
                </a:solidFill>
                <a:latin typeface="Times New Roman"/>
                <a:ea typeface="Times New Roman"/>
                <a:cs typeface="Times New Roman"/>
                <a:sym typeface="Times New Roman"/>
              </a:rPr>
              <a:t>The Programmer’s Scratchpad</a:t>
            </a:r>
            <a:endParaRPr/>
          </a:p>
        </p:txBody>
      </p:sp>
      <p:sp>
        <p:nvSpPr>
          <p:cNvPr id="809" name="Google Shape;809;p89"/>
          <p:cNvSpPr txBox="1"/>
          <p:nvPr/>
        </p:nvSpPr>
        <p:spPr>
          <a:xfrm>
            <a:off x="685800" y="1859389"/>
            <a:ext cx="10820400" cy="3105209"/>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None/>
            </a:pPr>
            <a:r>
              <a:rPr b="1" i="1" lang="en-US" sz="2513">
                <a:solidFill>
                  <a:srgbClr val="1D64A9"/>
                </a:solidFill>
                <a:latin typeface="Times"/>
                <a:ea typeface="Times"/>
                <a:cs typeface="Times"/>
                <a:sym typeface="Times"/>
              </a:rPr>
              <a:t>Control vs. Chaos</a:t>
            </a:r>
            <a:endParaRPr/>
          </a:p>
          <a:p>
            <a:pPr indent="-271261" lvl="1" marL="542522" marR="0" rtl="0" algn="just">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Times New Roman"/>
                <a:ea typeface="Times New Roman"/>
                <a:cs typeface="Times New Roman"/>
                <a:sym typeface="Times New Roman"/>
              </a:rPr>
              <a:t>The Definition: On-chip, high-speed memory managed manually by you (the code), not the hardware.</a:t>
            </a:r>
            <a:endParaRPr/>
          </a:p>
          <a:p>
            <a:pPr indent="-271261" lvl="1" marL="542522" marR="0" rtl="0" algn="just">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Times New Roman"/>
                <a:ea typeface="Times New Roman"/>
                <a:cs typeface="Times New Roman"/>
                <a:sym typeface="Times New Roman"/>
              </a:rPr>
              <a:t>The Stats:</a:t>
            </a:r>
            <a:endParaRPr/>
          </a:p>
          <a:p>
            <a:pPr indent="-361680" lvl="2" marL="1085045" marR="0" rtl="0" algn="just">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Times New Roman"/>
                <a:ea typeface="Times New Roman"/>
                <a:cs typeface="Times New Roman"/>
                <a:sym typeface="Times New Roman"/>
              </a:rPr>
              <a:t>Latency: Deterministic 1–2 cycles (Faster than L1).</a:t>
            </a:r>
            <a:endParaRPr/>
          </a:p>
          <a:p>
            <a:pPr indent="-361680" lvl="2" marL="1085045" marR="0" rtl="0" algn="just">
              <a:lnSpc>
                <a:spcPct val="139992"/>
              </a:lnSpc>
              <a:spcBef>
                <a:spcPts val="0"/>
              </a:spcBef>
              <a:spcAft>
                <a:spcPts val="0"/>
              </a:spcAft>
              <a:buClr>
                <a:srgbClr val="000000"/>
              </a:buClr>
              <a:buSzPts val="2513"/>
              <a:buFont typeface="Arial"/>
              <a:buChar char="⚬"/>
            </a:pPr>
            <a:r>
              <a:rPr b="0" i="0" lang="en-US" sz="2513" u="none" cap="none" strike="noStrike">
                <a:solidFill>
                  <a:srgbClr val="000000"/>
                </a:solidFill>
                <a:latin typeface="Times New Roman"/>
                <a:ea typeface="Times New Roman"/>
                <a:cs typeface="Times New Roman"/>
                <a:sym typeface="Times New Roman"/>
              </a:rPr>
              <a:t>Scope: Shared strictly within a Thread Block.</a:t>
            </a:r>
            <a:endParaRPr/>
          </a:p>
          <a:p>
            <a:pPr indent="0" lvl="0" marL="0" marR="0" rtl="0" algn="just">
              <a:lnSpc>
                <a:spcPct val="139992"/>
              </a:lnSpc>
              <a:spcBef>
                <a:spcPts val="0"/>
              </a:spcBef>
              <a:spcAft>
                <a:spcPts val="0"/>
              </a:spcAft>
              <a:buNone/>
            </a:pPr>
            <a:r>
              <a:t/>
            </a:r>
            <a:endParaRPr sz="2513">
              <a:solidFill>
                <a:srgbClr val="000000"/>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descr="A close up of a logo  Description automatically generated" id="814" name="Google Shape;814;p90"/>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15" name="Google Shape;815;p90"/>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A close up of a logo  Description automatically generated" id="816" name="Google Shape;816;p90"/>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A close up of a sign  Description automatically generated" id="817" name="Google Shape;817;p90"/>
          <p:cNvSpPr/>
          <p:nvPr/>
        </p:nvSpPr>
        <p:spPr>
          <a:xfrm>
            <a:off x="5318760" y="130340"/>
            <a:ext cx="1554480" cy="1554480"/>
          </a:xfrm>
          <a:custGeom>
            <a:rect b="b" l="l" r="r" t="t"/>
            <a:pathLst>
              <a:path extrusionOk="0" h="2331720" w="2331720">
                <a:moveTo>
                  <a:pt x="0" y="0"/>
                </a:moveTo>
                <a:lnTo>
                  <a:pt x="2331720" y="0"/>
                </a:lnTo>
                <a:lnTo>
                  <a:pt x="2331720" y="2331720"/>
                </a:lnTo>
                <a:lnTo>
                  <a:pt x="0" y="233172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18" name="Google Shape;818;p90"/>
          <p:cNvSpPr txBox="1"/>
          <p:nvPr/>
        </p:nvSpPr>
        <p:spPr>
          <a:xfrm>
            <a:off x="2492463" y="2770672"/>
            <a:ext cx="7207075" cy="631198"/>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b="1" i="1" lang="en-US" sz="3832">
                <a:solidFill>
                  <a:srgbClr val="000000"/>
                </a:solidFill>
                <a:latin typeface="Arial"/>
                <a:ea typeface="Arial"/>
                <a:cs typeface="Arial"/>
                <a:sym typeface="Arial"/>
              </a:rPr>
              <a:t>Cache Bank Architecture</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descr="A close up of a logo  Description automatically generated" id="823" name="Google Shape;823;p91"/>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A close up of a logo  Description automatically generated" id="824" name="Google Shape;824;p91"/>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25" name="Google Shape;825;p91"/>
          <p:cNvSpPr/>
          <p:nvPr/>
        </p:nvSpPr>
        <p:spPr>
          <a:xfrm>
            <a:off x="165347" y="92361"/>
            <a:ext cx="1049896" cy="1049896"/>
          </a:xfrm>
          <a:custGeom>
            <a:rect b="b" l="l" r="r" t="t"/>
            <a:pathLst>
              <a:path extrusionOk="0" h="1574844" w="1574844">
                <a:moveTo>
                  <a:pt x="0" y="0"/>
                </a:moveTo>
                <a:lnTo>
                  <a:pt x="1574845" y="0"/>
                </a:lnTo>
                <a:lnTo>
                  <a:pt x="1574845" y="1574845"/>
                </a:lnTo>
                <a:lnTo>
                  <a:pt x="0" y="1574845"/>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26" name="Google Shape;826;p91"/>
          <p:cNvSpPr txBox="1"/>
          <p:nvPr/>
        </p:nvSpPr>
        <p:spPr>
          <a:xfrm>
            <a:off x="1993083" y="577850"/>
            <a:ext cx="8205835" cy="631198"/>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b="1" i="1" lang="en-US" sz="3832">
                <a:solidFill>
                  <a:srgbClr val="000000"/>
                </a:solidFill>
                <a:latin typeface="Arial"/>
                <a:ea typeface="Arial"/>
                <a:cs typeface="Arial"/>
                <a:sym typeface="Arial"/>
              </a:rPr>
              <a:t>Why Multi-Bank Cache Design?</a:t>
            </a:r>
            <a:endParaRPr/>
          </a:p>
        </p:txBody>
      </p:sp>
      <p:sp>
        <p:nvSpPr>
          <p:cNvPr id="827" name="Google Shape;827;p91"/>
          <p:cNvSpPr/>
          <p:nvPr/>
        </p:nvSpPr>
        <p:spPr>
          <a:xfrm>
            <a:off x="690296" y="1598148"/>
            <a:ext cx="10815904" cy="4295662"/>
          </a:xfrm>
          <a:custGeom>
            <a:rect b="b" l="l" r="r" t="t"/>
            <a:pathLst>
              <a:path extrusionOk="0" h="5288534" w="13315823">
                <a:moveTo>
                  <a:pt x="75565" y="0"/>
                </a:moveTo>
                <a:lnTo>
                  <a:pt x="13089128" y="0"/>
                </a:lnTo>
                <a:cubicBezTo>
                  <a:pt x="13214350" y="0"/>
                  <a:pt x="13315823" y="101473"/>
                  <a:pt x="13315823" y="226695"/>
                </a:cubicBezTo>
                <a:lnTo>
                  <a:pt x="13315823" y="5061839"/>
                </a:lnTo>
                <a:cubicBezTo>
                  <a:pt x="13315823" y="5187061"/>
                  <a:pt x="13214350" y="5288534"/>
                  <a:pt x="13089128" y="5288534"/>
                </a:cubicBezTo>
                <a:lnTo>
                  <a:pt x="75565" y="5288534"/>
                </a:lnTo>
                <a:cubicBezTo>
                  <a:pt x="33782" y="5288534"/>
                  <a:pt x="0" y="5254752"/>
                  <a:pt x="0" y="5212969"/>
                </a:cubicBezTo>
                <a:lnTo>
                  <a:pt x="0" y="75565"/>
                </a:lnTo>
                <a:cubicBezTo>
                  <a:pt x="0" y="33782"/>
                  <a:pt x="33782" y="0"/>
                  <a:pt x="75565" y="0"/>
                </a:cubicBezTo>
                <a:close/>
              </a:path>
            </a:pathLst>
          </a:custGeom>
          <a:gradFill>
            <a:gsLst>
              <a:gs pos="0">
                <a:srgbClr val="FF3131">
                  <a:alpha val="20000"/>
                </a:srgbClr>
              </a:gs>
              <a:gs pos="100000">
                <a:srgbClr val="4A729D">
                  <a:alpha val="4705"/>
                </a:srgbClr>
              </a:gs>
            </a:gsLst>
            <a:lin ang="4100331"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28" name="Google Shape;828;p91"/>
          <p:cNvSpPr/>
          <p:nvPr/>
        </p:nvSpPr>
        <p:spPr>
          <a:xfrm>
            <a:off x="690296" y="1598148"/>
            <a:ext cx="61379" cy="4295662"/>
          </a:xfrm>
          <a:custGeom>
            <a:rect b="b" l="l" r="r" t="t"/>
            <a:pathLst>
              <a:path extrusionOk="0" h="5288534" w="75565">
                <a:moveTo>
                  <a:pt x="75565" y="0"/>
                </a:moveTo>
                <a:lnTo>
                  <a:pt x="75565" y="5288534"/>
                </a:lnTo>
                <a:cubicBezTo>
                  <a:pt x="33782" y="5288534"/>
                  <a:pt x="0" y="5254752"/>
                  <a:pt x="0" y="5212969"/>
                </a:cubicBezTo>
                <a:lnTo>
                  <a:pt x="0" y="75565"/>
                </a:lnTo>
                <a:cubicBezTo>
                  <a:pt x="0" y="33782"/>
                  <a:pt x="33782" y="0"/>
                  <a:pt x="75565" y="0"/>
                </a:cubicBezTo>
                <a:close/>
              </a:path>
            </a:pathLst>
          </a:custGeom>
          <a:solidFill>
            <a:srgbClr val="FF313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29" name="Google Shape;829;p91"/>
          <p:cNvSpPr/>
          <p:nvPr/>
        </p:nvSpPr>
        <p:spPr>
          <a:xfrm>
            <a:off x="844445" y="1775459"/>
            <a:ext cx="507163" cy="507163"/>
          </a:xfrm>
          <a:custGeom>
            <a:rect b="b" l="l" r="r" t="t"/>
            <a:pathLst>
              <a:path extrusionOk="0" h="760745" w="760745">
                <a:moveTo>
                  <a:pt x="0" y="0"/>
                </a:moveTo>
                <a:lnTo>
                  <a:pt x="760744" y="0"/>
                </a:lnTo>
                <a:lnTo>
                  <a:pt x="760744" y="760745"/>
                </a:lnTo>
                <a:lnTo>
                  <a:pt x="0" y="760745"/>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grpSp>
        <p:nvGrpSpPr>
          <p:cNvPr id="830" name="Google Shape;830;p91"/>
          <p:cNvGrpSpPr/>
          <p:nvPr/>
        </p:nvGrpSpPr>
        <p:grpSpPr>
          <a:xfrm>
            <a:off x="1444388" y="1608099"/>
            <a:ext cx="2439399" cy="760921"/>
            <a:chOff x="0" y="-161925"/>
            <a:chExt cx="4878798" cy="1521841"/>
          </a:xfrm>
        </p:grpSpPr>
        <p:sp>
          <p:nvSpPr>
            <p:cNvPr id="831" name="Google Shape;831;p91"/>
            <p:cNvSpPr/>
            <p:nvPr/>
          </p:nvSpPr>
          <p:spPr>
            <a:xfrm>
              <a:off x="0" y="0"/>
              <a:ext cx="4878798" cy="1359916"/>
            </a:xfrm>
            <a:custGeom>
              <a:rect b="b" l="l" r="r" t="t"/>
              <a:pathLst>
                <a:path extrusionOk="0" h="1359916" w="4878798">
                  <a:moveTo>
                    <a:pt x="0" y="0"/>
                  </a:moveTo>
                  <a:lnTo>
                    <a:pt x="4878798" y="0"/>
                  </a:lnTo>
                  <a:lnTo>
                    <a:pt x="4878798" y="1359916"/>
                  </a:lnTo>
                  <a:lnTo>
                    <a:pt x="0" y="1359916"/>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32" name="Google Shape;832;p91"/>
            <p:cNvSpPr txBox="1"/>
            <p:nvPr/>
          </p:nvSpPr>
          <p:spPr>
            <a:xfrm>
              <a:off x="0" y="-161925"/>
              <a:ext cx="4878798" cy="1521841"/>
            </a:xfrm>
            <a:prstGeom prst="rect">
              <a:avLst/>
            </a:prstGeom>
            <a:noFill/>
            <a:ln>
              <a:noFill/>
            </a:ln>
          </p:spPr>
          <p:txBody>
            <a:bodyPr anchorCtr="0" anchor="ctr" bIns="0" lIns="0" spcFirstLastPara="1" rIns="0" wrap="square" tIns="0">
              <a:noAutofit/>
            </a:bodyPr>
            <a:lstStyle/>
            <a:p>
              <a:pPr indent="0" lvl="0" marL="0" marR="0" rtl="0" algn="l">
                <a:lnSpc>
                  <a:spcPct val="156024"/>
                </a:lnSpc>
                <a:spcBef>
                  <a:spcPts val="0"/>
                </a:spcBef>
                <a:spcAft>
                  <a:spcPts val="0"/>
                </a:spcAft>
                <a:buNone/>
              </a:pPr>
              <a:r>
                <a:rPr b="1" i="1" lang="en-US" sz="2656">
                  <a:solidFill>
                    <a:srgbClr val="000000"/>
                  </a:solidFill>
                  <a:latin typeface="Times"/>
                  <a:ea typeface="Times"/>
                  <a:cs typeface="Times"/>
                  <a:sym typeface="Times"/>
                </a:rPr>
                <a:t>The Problem</a:t>
              </a:r>
              <a:endParaRPr/>
            </a:p>
          </p:txBody>
        </p:sp>
      </p:grpSp>
      <p:grpSp>
        <p:nvGrpSpPr>
          <p:cNvPr id="833" name="Google Shape;833;p91"/>
          <p:cNvGrpSpPr/>
          <p:nvPr/>
        </p:nvGrpSpPr>
        <p:grpSpPr>
          <a:xfrm>
            <a:off x="874426" y="2361651"/>
            <a:ext cx="10447647" cy="1550412"/>
            <a:chOff x="0" y="-152400"/>
            <a:chExt cx="20895292" cy="3100823"/>
          </a:xfrm>
        </p:grpSpPr>
        <p:sp>
          <p:nvSpPr>
            <p:cNvPr id="834" name="Google Shape;834;p91"/>
            <p:cNvSpPr/>
            <p:nvPr/>
          </p:nvSpPr>
          <p:spPr>
            <a:xfrm>
              <a:off x="0" y="0"/>
              <a:ext cx="20895292" cy="2948423"/>
            </a:xfrm>
            <a:custGeom>
              <a:rect b="b" l="l" r="r" t="t"/>
              <a:pathLst>
                <a:path extrusionOk="0" h="2948423" w="20895292">
                  <a:moveTo>
                    <a:pt x="0" y="0"/>
                  </a:moveTo>
                  <a:lnTo>
                    <a:pt x="20895292" y="0"/>
                  </a:lnTo>
                  <a:lnTo>
                    <a:pt x="20895292" y="2948423"/>
                  </a:lnTo>
                  <a:lnTo>
                    <a:pt x="0" y="294842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35" name="Google Shape;835;p91"/>
            <p:cNvSpPr txBox="1"/>
            <p:nvPr/>
          </p:nvSpPr>
          <p:spPr>
            <a:xfrm>
              <a:off x="0" y="-152400"/>
              <a:ext cx="20886295" cy="3100823"/>
            </a:xfrm>
            <a:prstGeom prst="rect">
              <a:avLst/>
            </a:prstGeom>
            <a:noFill/>
            <a:ln>
              <a:noFill/>
            </a:ln>
          </p:spPr>
          <p:txBody>
            <a:bodyPr anchorCtr="0" anchor="ctr" bIns="0" lIns="0" spcFirstLastPara="1" rIns="0" wrap="square" tIns="0">
              <a:noAutofit/>
            </a:bodyPr>
            <a:lstStyle/>
            <a:p>
              <a:pPr indent="0" lvl="0" marL="0" marR="0" rtl="0" algn="just">
                <a:lnSpc>
                  <a:spcPct val="156033"/>
                </a:lnSpc>
                <a:spcBef>
                  <a:spcPts val="0"/>
                </a:spcBef>
                <a:spcAft>
                  <a:spcPts val="0"/>
                </a:spcAft>
                <a:buNone/>
              </a:pPr>
              <a:r>
                <a:rPr lang="en-US" sz="2486">
                  <a:solidFill>
                    <a:srgbClr val="000000"/>
                  </a:solidFill>
                  <a:latin typeface="Times New Roman"/>
                  <a:ea typeface="Times New Roman"/>
                  <a:cs typeface="Times New Roman"/>
                  <a:sym typeface="Times New Roman"/>
                </a:rPr>
                <a:t>Single cache port severely limits parallelism in GPGPU architectures where thousands of threads require simultaneous memory access. With a monolithic cache design:</a:t>
              </a:r>
              <a:endParaRPr/>
            </a:p>
          </p:txBody>
        </p:sp>
      </p:grpSp>
      <p:grpSp>
        <p:nvGrpSpPr>
          <p:cNvPr id="836" name="Google Shape;836;p91"/>
          <p:cNvGrpSpPr/>
          <p:nvPr/>
        </p:nvGrpSpPr>
        <p:grpSpPr>
          <a:xfrm>
            <a:off x="1215244" y="3888135"/>
            <a:ext cx="9283787" cy="731320"/>
            <a:chOff x="0" y="-133350"/>
            <a:chExt cx="13201850" cy="1039961"/>
          </a:xfrm>
        </p:grpSpPr>
        <p:sp>
          <p:nvSpPr>
            <p:cNvPr id="837" name="Google Shape;837;p91"/>
            <p:cNvSpPr/>
            <p:nvPr/>
          </p:nvSpPr>
          <p:spPr>
            <a:xfrm>
              <a:off x="0" y="0"/>
              <a:ext cx="13201850" cy="906611"/>
            </a:xfrm>
            <a:custGeom>
              <a:rect b="b" l="l" r="r" t="t"/>
              <a:pathLst>
                <a:path extrusionOk="0" h="906611" w="13201850">
                  <a:moveTo>
                    <a:pt x="0" y="0"/>
                  </a:moveTo>
                  <a:lnTo>
                    <a:pt x="13201850" y="0"/>
                  </a:lnTo>
                  <a:lnTo>
                    <a:pt x="13201850" y="906611"/>
                  </a:lnTo>
                  <a:lnTo>
                    <a:pt x="0" y="906611"/>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38" name="Google Shape;838;p91"/>
            <p:cNvSpPr txBox="1"/>
            <p:nvPr/>
          </p:nvSpPr>
          <p:spPr>
            <a:xfrm>
              <a:off x="0" y="-133350"/>
              <a:ext cx="13201847" cy="1039959"/>
            </a:xfrm>
            <a:prstGeom prst="rect">
              <a:avLst/>
            </a:prstGeom>
            <a:noFill/>
            <a:ln>
              <a:noFill/>
            </a:ln>
          </p:spPr>
          <p:txBody>
            <a:bodyPr anchorCtr="0" anchor="ctr" bIns="0" lIns="0" spcFirstLastPara="1" rIns="0" wrap="square" tIns="0">
              <a:noAutofit/>
            </a:bodyPr>
            <a:lstStyle/>
            <a:p>
              <a:pPr indent="0" lvl="0" marL="0" marR="0" rtl="0" algn="l">
                <a:lnSpc>
                  <a:spcPct val="156028"/>
                </a:lnSpc>
                <a:spcBef>
                  <a:spcPts val="0"/>
                </a:spcBef>
                <a:spcAft>
                  <a:spcPts val="0"/>
                </a:spcAft>
                <a:buNone/>
              </a:pPr>
              <a:r>
                <a:rPr lang="en-US" sz="2256">
                  <a:solidFill>
                    <a:srgbClr val="000000"/>
                  </a:solidFill>
                  <a:latin typeface="Times New Roman"/>
                  <a:ea typeface="Times New Roman"/>
                  <a:cs typeface="Times New Roman"/>
                  <a:sym typeface="Times New Roman"/>
                </a:rPr>
                <a:t>▸Only </a:t>
              </a:r>
              <a:r>
                <a:rPr b="1" lang="en-US" sz="2256">
                  <a:solidFill>
                    <a:srgbClr val="000000"/>
                  </a:solidFill>
                  <a:latin typeface="Times"/>
                  <a:ea typeface="Times"/>
                  <a:cs typeface="Times"/>
                  <a:sym typeface="Times"/>
                </a:rPr>
                <a:t>one request per cycle</a:t>
              </a:r>
              <a:r>
                <a:rPr lang="en-US" sz="2256">
                  <a:solidFill>
                    <a:srgbClr val="000000"/>
                  </a:solidFill>
                  <a:latin typeface="Times New Roman"/>
                  <a:ea typeface="Times New Roman"/>
                  <a:cs typeface="Times New Roman"/>
                  <a:sym typeface="Times New Roman"/>
                </a:rPr>
                <a:t> can be serviced</a:t>
              </a:r>
              <a:endParaRPr/>
            </a:p>
          </p:txBody>
        </p:sp>
      </p:grpSp>
      <p:grpSp>
        <p:nvGrpSpPr>
          <p:cNvPr id="839" name="Google Shape;839;p91"/>
          <p:cNvGrpSpPr/>
          <p:nvPr/>
        </p:nvGrpSpPr>
        <p:grpSpPr>
          <a:xfrm>
            <a:off x="1208894" y="4391366"/>
            <a:ext cx="10290959" cy="544954"/>
            <a:chOff x="0" y="-133350"/>
            <a:chExt cx="14634080" cy="774943"/>
          </a:xfrm>
        </p:grpSpPr>
        <p:sp>
          <p:nvSpPr>
            <p:cNvPr id="840" name="Google Shape;840;p91"/>
            <p:cNvSpPr/>
            <p:nvPr/>
          </p:nvSpPr>
          <p:spPr>
            <a:xfrm>
              <a:off x="0" y="0"/>
              <a:ext cx="14634080" cy="641593"/>
            </a:xfrm>
            <a:custGeom>
              <a:rect b="b" l="l" r="r" t="t"/>
              <a:pathLst>
                <a:path extrusionOk="0" h="641593" w="14634080">
                  <a:moveTo>
                    <a:pt x="0" y="0"/>
                  </a:moveTo>
                  <a:lnTo>
                    <a:pt x="14634080" y="0"/>
                  </a:lnTo>
                  <a:lnTo>
                    <a:pt x="14634080" y="641593"/>
                  </a:lnTo>
                  <a:lnTo>
                    <a:pt x="0" y="64159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41" name="Google Shape;841;p91"/>
            <p:cNvSpPr txBox="1"/>
            <p:nvPr/>
          </p:nvSpPr>
          <p:spPr>
            <a:xfrm>
              <a:off x="0" y="-133350"/>
              <a:ext cx="14634076" cy="774940"/>
            </a:xfrm>
            <a:prstGeom prst="rect">
              <a:avLst/>
            </a:prstGeom>
            <a:noFill/>
            <a:ln>
              <a:noFill/>
            </a:ln>
          </p:spPr>
          <p:txBody>
            <a:bodyPr anchorCtr="0" anchor="ctr" bIns="0" lIns="0" spcFirstLastPara="1" rIns="0" wrap="square" tIns="0">
              <a:noAutofit/>
            </a:bodyPr>
            <a:lstStyle/>
            <a:p>
              <a:pPr indent="0" lvl="0" marL="0" marR="0" rtl="0" algn="l">
                <a:lnSpc>
                  <a:spcPct val="156028"/>
                </a:lnSpc>
                <a:spcBef>
                  <a:spcPts val="0"/>
                </a:spcBef>
                <a:spcAft>
                  <a:spcPts val="0"/>
                </a:spcAft>
                <a:buNone/>
              </a:pPr>
              <a:r>
                <a:rPr lang="en-US" sz="2256">
                  <a:solidFill>
                    <a:srgbClr val="000000"/>
                  </a:solidFill>
                  <a:latin typeface="Times New Roman"/>
                  <a:ea typeface="Times New Roman"/>
                  <a:cs typeface="Times New Roman"/>
                  <a:sym typeface="Times New Roman"/>
                </a:rPr>
                <a:t>▸Warps with 32 threads experience 32-way serialization</a:t>
              </a:r>
              <a:endParaRPr/>
            </a:p>
          </p:txBody>
        </p:sp>
      </p:grpSp>
      <p:grpSp>
        <p:nvGrpSpPr>
          <p:cNvPr id="842" name="Google Shape;842;p91"/>
          <p:cNvGrpSpPr/>
          <p:nvPr/>
        </p:nvGrpSpPr>
        <p:grpSpPr>
          <a:xfrm>
            <a:off x="1215244" y="4842544"/>
            <a:ext cx="10290957" cy="544954"/>
            <a:chOff x="0" y="-133350"/>
            <a:chExt cx="14634077" cy="774943"/>
          </a:xfrm>
        </p:grpSpPr>
        <p:sp>
          <p:nvSpPr>
            <p:cNvPr id="843" name="Google Shape;843;p91"/>
            <p:cNvSpPr/>
            <p:nvPr/>
          </p:nvSpPr>
          <p:spPr>
            <a:xfrm>
              <a:off x="0" y="0"/>
              <a:ext cx="14634077" cy="641593"/>
            </a:xfrm>
            <a:custGeom>
              <a:rect b="b" l="l" r="r" t="t"/>
              <a:pathLst>
                <a:path extrusionOk="0" h="641593" w="14634077">
                  <a:moveTo>
                    <a:pt x="0" y="0"/>
                  </a:moveTo>
                  <a:lnTo>
                    <a:pt x="14634077" y="0"/>
                  </a:lnTo>
                  <a:lnTo>
                    <a:pt x="14634077" y="641593"/>
                  </a:lnTo>
                  <a:lnTo>
                    <a:pt x="0" y="64159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44" name="Google Shape;844;p91"/>
            <p:cNvSpPr txBox="1"/>
            <p:nvPr/>
          </p:nvSpPr>
          <p:spPr>
            <a:xfrm>
              <a:off x="0" y="-133350"/>
              <a:ext cx="14634076" cy="774940"/>
            </a:xfrm>
            <a:prstGeom prst="rect">
              <a:avLst/>
            </a:prstGeom>
            <a:noFill/>
            <a:ln>
              <a:noFill/>
            </a:ln>
          </p:spPr>
          <p:txBody>
            <a:bodyPr anchorCtr="0" anchor="ctr" bIns="0" lIns="0" spcFirstLastPara="1" rIns="0" wrap="square" tIns="0">
              <a:noAutofit/>
            </a:bodyPr>
            <a:lstStyle/>
            <a:p>
              <a:pPr indent="0" lvl="0" marL="0" marR="0" rtl="0" algn="l">
                <a:lnSpc>
                  <a:spcPct val="156028"/>
                </a:lnSpc>
                <a:spcBef>
                  <a:spcPts val="0"/>
                </a:spcBef>
                <a:spcAft>
                  <a:spcPts val="0"/>
                </a:spcAft>
                <a:buNone/>
              </a:pPr>
              <a:r>
                <a:rPr lang="en-US" sz="2256">
                  <a:solidFill>
                    <a:srgbClr val="000000"/>
                  </a:solidFill>
                  <a:latin typeface="Times New Roman"/>
                  <a:ea typeface="Times New Roman"/>
                  <a:cs typeface="Times New Roman"/>
                  <a:sym typeface="Times New Roman"/>
                </a:rPr>
                <a:t>▸Massive performance </a:t>
              </a:r>
              <a:r>
                <a:rPr b="1" lang="en-US" sz="2256">
                  <a:solidFill>
                    <a:srgbClr val="000000"/>
                  </a:solidFill>
                  <a:latin typeface="Times"/>
                  <a:ea typeface="Times"/>
                  <a:cs typeface="Times"/>
                  <a:sym typeface="Times"/>
                </a:rPr>
                <a:t>bottleneck limits scalability</a:t>
              </a:r>
              <a:endParaRPr/>
            </a:p>
          </p:txBody>
        </p:sp>
      </p:grpSp>
      <p:grpSp>
        <p:nvGrpSpPr>
          <p:cNvPr id="845" name="Google Shape;845;p91"/>
          <p:cNvGrpSpPr/>
          <p:nvPr/>
        </p:nvGrpSpPr>
        <p:grpSpPr>
          <a:xfrm>
            <a:off x="1215244" y="5320704"/>
            <a:ext cx="10004478" cy="544954"/>
            <a:chOff x="0" y="-133350"/>
            <a:chExt cx="14226695" cy="774943"/>
          </a:xfrm>
        </p:grpSpPr>
        <p:sp>
          <p:nvSpPr>
            <p:cNvPr id="846" name="Google Shape;846;p91"/>
            <p:cNvSpPr/>
            <p:nvPr/>
          </p:nvSpPr>
          <p:spPr>
            <a:xfrm>
              <a:off x="0" y="0"/>
              <a:ext cx="14226680" cy="641593"/>
            </a:xfrm>
            <a:custGeom>
              <a:rect b="b" l="l" r="r" t="t"/>
              <a:pathLst>
                <a:path extrusionOk="0" h="641593" w="14226680">
                  <a:moveTo>
                    <a:pt x="0" y="0"/>
                  </a:moveTo>
                  <a:lnTo>
                    <a:pt x="14226680" y="0"/>
                  </a:lnTo>
                  <a:lnTo>
                    <a:pt x="14226680" y="641593"/>
                  </a:lnTo>
                  <a:lnTo>
                    <a:pt x="0" y="64159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47" name="Google Shape;847;p91"/>
            <p:cNvSpPr txBox="1"/>
            <p:nvPr/>
          </p:nvSpPr>
          <p:spPr>
            <a:xfrm>
              <a:off x="0" y="-133350"/>
              <a:ext cx="14226695" cy="774940"/>
            </a:xfrm>
            <a:prstGeom prst="rect">
              <a:avLst/>
            </a:prstGeom>
            <a:noFill/>
            <a:ln>
              <a:noFill/>
            </a:ln>
          </p:spPr>
          <p:txBody>
            <a:bodyPr anchorCtr="0" anchor="ctr" bIns="0" lIns="0" spcFirstLastPara="1" rIns="0" wrap="square" tIns="0">
              <a:noAutofit/>
            </a:bodyPr>
            <a:lstStyle/>
            <a:p>
              <a:pPr indent="0" lvl="0" marL="0" marR="0" rtl="0" algn="l">
                <a:lnSpc>
                  <a:spcPct val="156028"/>
                </a:lnSpc>
                <a:spcBef>
                  <a:spcPts val="0"/>
                </a:spcBef>
                <a:spcAft>
                  <a:spcPts val="0"/>
                </a:spcAft>
                <a:buNone/>
              </a:pPr>
              <a:r>
                <a:rPr lang="en-US" sz="2256">
                  <a:solidFill>
                    <a:srgbClr val="000000"/>
                  </a:solidFill>
                  <a:latin typeface="Times New Roman"/>
                  <a:ea typeface="Times New Roman"/>
                  <a:cs typeface="Times New Roman"/>
                  <a:sym typeface="Times New Roman"/>
                </a:rPr>
                <a:t>▸Thread-level parallelism</a:t>
              </a:r>
              <a:r>
                <a:rPr b="1" lang="en-US" sz="2256">
                  <a:solidFill>
                    <a:srgbClr val="000000"/>
                  </a:solidFill>
                  <a:latin typeface="Times"/>
                  <a:ea typeface="Times"/>
                  <a:cs typeface="Times"/>
                  <a:sym typeface="Times"/>
                </a:rPr>
                <a:t> cannot be exploited</a:t>
              </a:r>
              <a:endParaRPr/>
            </a:p>
          </p:txBody>
        </p:sp>
      </p:gr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descr="A close up of a logo  Description automatically generated" id="852" name="Google Shape;852;p92"/>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A close up of a logo  Description automatically generated" id="853" name="Google Shape;853;p92"/>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54" name="Google Shape;854;p92"/>
          <p:cNvSpPr/>
          <p:nvPr/>
        </p:nvSpPr>
        <p:spPr>
          <a:xfrm>
            <a:off x="165347" y="92361"/>
            <a:ext cx="1049896" cy="1049896"/>
          </a:xfrm>
          <a:custGeom>
            <a:rect b="b" l="l" r="r" t="t"/>
            <a:pathLst>
              <a:path extrusionOk="0" h="1574844" w="1574844">
                <a:moveTo>
                  <a:pt x="0" y="0"/>
                </a:moveTo>
                <a:lnTo>
                  <a:pt x="1574845" y="0"/>
                </a:lnTo>
                <a:lnTo>
                  <a:pt x="1574845" y="1574845"/>
                </a:lnTo>
                <a:lnTo>
                  <a:pt x="0" y="1574845"/>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55" name="Google Shape;855;p92"/>
          <p:cNvSpPr txBox="1"/>
          <p:nvPr/>
        </p:nvSpPr>
        <p:spPr>
          <a:xfrm>
            <a:off x="1993083" y="577850"/>
            <a:ext cx="8205835" cy="631198"/>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b="1" i="1" lang="en-US" sz="3832">
                <a:solidFill>
                  <a:srgbClr val="000000"/>
                </a:solidFill>
                <a:latin typeface="Arial"/>
                <a:ea typeface="Arial"/>
                <a:cs typeface="Arial"/>
                <a:sym typeface="Arial"/>
              </a:rPr>
              <a:t>Why Multi-Bank Cache Design?</a:t>
            </a:r>
            <a:endParaRPr/>
          </a:p>
        </p:txBody>
      </p:sp>
      <p:grpSp>
        <p:nvGrpSpPr>
          <p:cNvPr id="856" name="Google Shape;856;p92"/>
          <p:cNvGrpSpPr/>
          <p:nvPr/>
        </p:nvGrpSpPr>
        <p:grpSpPr>
          <a:xfrm>
            <a:off x="3192573" y="1606035"/>
            <a:ext cx="5706241" cy="567705"/>
            <a:chOff x="0" y="-142875"/>
            <a:chExt cx="11412482" cy="1135410"/>
          </a:xfrm>
        </p:grpSpPr>
        <p:sp>
          <p:nvSpPr>
            <p:cNvPr id="857" name="Google Shape;857;p92"/>
            <p:cNvSpPr/>
            <p:nvPr/>
          </p:nvSpPr>
          <p:spPr>
            <a:xfrm>
              <a:off x="0" y="0"/>
              <a:ext cx="11412478" cy="992535"/>
            </a:xfrm>
            <a:custGeom>
              <a:rect b="b" l="l" r="r" t="t"/>
              <a:pathLst>
                <a:path extrusionOk="0" h="992535" w="11412478">
                  <a:moveTo>
                    <a:pt x="0" y="0"/>
                  </a:moveTo>
                  <a:lnTo>
                    <a:pt x="11412478" y="0"/>
                  </a:lnTo>
                  <a:lnTo>
                    <a:pt x="11412478" y="992535"/>
                  </a:lnTo>
                  <a:lnTo>
                    <a:pt x="0" y="992535"/>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58" name="Google Shape;858;p92"/>
            <p:cNvSpPr txBox="1"/>
            <p:nvPr/>
          </p:nvSpPr>
          <p:spPr>
            <a:xfrm>
              <a:off x="0" y="-142875"/>
              <a:ext cx="11412482" cy="1135407"/>
            </a:xfrm>
            <a:prstGeom prst="rect">
              <a:avLst/>
            </a:prstGeom>
            <a:noFill/>
            <a:ln>
              <a:noFill/>
            </a:ln>
          </p:spPr>
          <p:txBody>
            <a:bodyPr anchorCtr="0" anchor="ctr" bIns="0" lIns="0" spcFirstLastPara="1" rIns="0" wrap="square" tIns="0">
              <a:noAutofit/>
            </a:bodyPr>
            <a:lstStyle/>
            <a:p>
              <a:pPr indent="0" lvl="0" marL="0" marR="0" rtl="0" algn="ctr">
                <a:lnSpc>
                  <a:spcPct val="156027"/>
                </a:lnSpc>
                <a:spcBef>
                  <a:spcPts val="0"/>
                </a:spcBef>
                <a:spcAft>
                  <a:spcPts val="0"/>
                </a:spcAft>
                <a:buNone/>
              </a:pPr>
              <a:r>
                <a:rPr b="1" i="1" lang="en-US" sz="2472">
                  <a:solidFill>
                    <a:srgbClr val="005D9D"/>
                  </a:solidFill>
                  <a:latin typeface="Times"/>
                  <a:ea typeface="Times"/>
                  <a:cs typeface="Times"/>
                  <a:sym typeface="Times"/>
                </a:rPr>
                <a:t>Single Cache vs. Multi-Bank Comparison</a:t>
              </a:r>
              <a:endParaRPr/>
            </a:p>
          </p:txBody>
        </p:sp>
      </p:grpSp>
      <p:sp>
        <p:nvSpPr>
          <p:cNvPr id="859" name="Google Shape;859;p92"/>
          <p:cNvSpPr/>
          <p:nvPr/>
        </p:nvSpPr>
        <p:spPr>
          <a:xfrm>
            <a:off x="685800" y="2542039"/>
            <a:ext cx="4220223" cy="1642053"/>
          </a:xfrm>
          <a:custGeom>
            <a:rect b="b" l="l" r="r" t="t"/>
            <a:pathLst>
              <a:path extrusionOk="0" h="2463079" w="6330334">
                <a:moveTo>
                  <a:pt x="0" y="0"/>
                </a:moveTo>
                <a:lnTo>
                  <a:pt x="6330334" y="0"/>
                </a:lnTo>
                <a:lnTo>
                  <a:pt x="6330334" y="2463079"/>
                </a:lnTo>
                <a:lnTo>
                  <a:pt x="0" y="2463079"/>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grpSp>
        <p:nvGrpSpPr>
          <p:cNvPr id="860" name="Google Shape;860;p92"/>
          <p:cNvGrpSpPr/>
          <p:nvPr/>
        </p:nvGrpSpPr>
        <p:grpSpPr>
          <a:xfrm>
            <a:off x="770207" y="2551305"/>
            <a:ext cx="4051408" cy="430976"/>
            <a:chOff x="0" y="-114300"/>
            <a:chExt cx="8102816" cy="861951"/>
          </a:xfrm>
        </p:grpSpPr>
        <p:sp>
          <p:nvSpPr>
            <p:cNvPr id="861" name="Google Shape;861;p92"/>
            <p:cNvSpPr/>
            <p:nvPr/>
          </p:nvSpPr>
          <p:spPr>
            <a:xfrm>
              <a:off x="0" y="0"/>
              <a:ext cx="8102816" cy="747651"/>
            </a:xfrm>
            <a:custGeom>
              <a:rect b="b" l="l" r="r" t="t"/>
              <a:pathLst>
                <a:path extrusionOk="0" h="747651" w="8102816">
                  <a:moveTo>
                    <a:pt x="0" y="0"/>
                  </a:moveTo>
                  <a:lnTo>
                    <a:pt x="8102816" y="0"/>
                  </a:lnTo>
                  <a:lnTo>
                    <a:pt x="8102816" y="747651"/>
                  </a:lnTo>
                  <a:lnTo>
                    <a:pt x="0" y="747651"/>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62" name="Google Shape;862;p92"/>
            <p:cNvSpPr txBox="1"/>
            <p:nvPr/>
          </p:nvSpPr>
          <p:spPr>
            <a:xfrm>
              <a:off x="0" y="-114300"/>
              <a:ext cx="8102816" cy="861948"/>
            </a:xfrm>
            <a:prstGeom prst="rect">
              <a:avLst/>
            </a:prstGeom>
            <a:noFill/>
            <a:ln>
              <a:noFill/>
            </a:ln>
          </p:spPr>
          <p:txBody>
            <a:bodyPr anchorCtr="0" anchor="ctr" bIns="0" lIns="0" spcFirstLastPara="1" rIns="0" wrap="square" tIns="0">
              <a:noAutofit/>
            </a:bodyPr>
            <a:lstStyle/>
            <a:p>
              <a:pPr indent="0" lvl="0" marL="0" marR="0" rtl="0" algn="ctr">
                <a:lnSpc>
                  <a:spcPct val="156002"/>
                </a:lnSpc>
                <a:spcBef>
                  <a:spcPts val="0"/>
                </a:spcBef>
                <a:spcAft>
                  <a:spcPts val="0"/>
                </a:spcAft>
                <a:buNone/>
              </a:pPr>
              <a:r>
                <a:rPr lang="en-US" sz="1866">
                  <a:solidFill>
                    <a:srgbClr val="000000"/>
                  </a:solidFill>
                  <a:latin typeface="Times New Roman"/>
                  <a:ea typeface="Times New Roman"/>
                  <a:cs typeface="Times New Roman"/>
                  <a:sym typeface="Times New Roman"/>
                </a:rPr>
                <a:t>Single Cache Design</a:t>
              </a:r>
              <a:endParaRPr/>
            </a:p>
          </p:txBody>
        </p:sp>
      </p:grpSp>
      <p:sp>
        <p:nvSpPr>
          <p:cNvPr id="863" name="Google Shape;863;p92"/>
          <p:cNvSpPr/>
          <p:nvPr/>
        </p:nvSpPr>
        <p:spPr>
          <a:xfrm>
            <a:off x="2187956" y="2963825"/>
            <a:ext cx="1215911" cy="611505"/>
          </a:xfrm>
          <a:custGeom>
            <a:rect b="b" l="l" r="r" t="t"/>
            <a:pathLst>
              <a:path extrusionOk="0" h="917258" w="1823866">
                <a:moveTo>
                  <a:pt x="0" y="0"/>
                </a:moveTo>
                <a:lnTo>
                  <a:pt x="1823866" y="0"/>
                </a:lnTo>
                <a:lnTo>
                  <a:pt x="1823866" y="917257"/>
                </a:lnTo>
                <a:lnTo>
                  <a:pt x="0" y="91725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64" name="Google Shape;864;p92"/>
          <p:cNvSpPr/>
          <p:nvPr/>
        </p:nvSpPr>
        <p:spPr>
          <a:xfrm>
            <a:off x="6970840" y="2542039"/>
            <a:ext cx="4423746" cy="1642053"/>
          </a:xfrm>
          <a:custGeom>
            <a:rect b="b" l="l" r="r" t="t"/>
            <a:pathLst>
              <a:path extrusionOk="0" h="2463079" w="6635619">
                <a:moveTo>
                  <a:pt x="0" y="0"/>
                </a:moveTo>
                <a:lnTo>
                  <a:pt x="6635619" y="0"/>
                </a:lnTo>
                <a:lnTo>
                  <a:pt x="6635619" y="2463079"/>
                </a:lnTo>
                <a:lnTo>
                  <a:pt x="0" y="2463079"/>
                </a:lnTo>
                <a:lnTo>
                  <a:pt x="0" y="0"/>
                </a:lnTo>
                <a:close/>
              </a:path>
            </a:pathLst>
          </a:custGeom>
          <a:blipFill rotWithShape="1">
            <a:blip r:embed="rId8">
              <a:alphaModFix/>
            </a:blip>
            <a:stretch>
              <a:fillRect b="-9442" l="-91439" r="-56484" t="-507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65" name="Google Shape;865;p92"/>
          <p:cNvSpPr/>
          <p:nvPr/>
        </p:nvSpPr>
        <p:spPr>
          <a:xfrm>
            <a:off x="8307629" y="3059926"/>
            <a:ext cx="943210" cy="527685"/>
          </a:xfrm>
          <a:custGeom>
            <a:rect b="b" l="l" r="r" t="t"/>
            <a:pathLst>
              <a:path extrusionOk="0" h="791527" w="1414815">
                <a:moveTo>
                  <a:pt x="0" y="0"/>
                </a:moveTo>
                <a:lnTo>
                  <a:pt x="1414815" y="0"/>
                </a:lnTo>
                <a:lnTo>
                  <a:pt x="1414815" y="791527"/>
                </a:lnTo>
                <a:lnTo>
                  <a:pt x="0" y="791527"/>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66" name="Google Shape;866;p92"/>
          <p:cNvSpPr/>
          <p:nvPr/>
        </p:nvSpPr>
        <p:spPr>
          <a:xfrm>
            <a:off x="7295248" y="3059926"/>
            <a:ext cx="943210" cy="527685"/>
          </a:xfrm>
          <a:custGeom>
            <a:rect b="b" l="l" r="r" t="t"/>
            <a:pathLst>
              <a:path extrusionOk="0" h="791527" w="1414815">
                <a:moveTo>
                  <a:pt x="0" y="0"/>
                </a:moveTo>
                <a:lnTo>
                  <a:pt x="1414815" y="0"/>
                </a:lnTo>
                <a:lnTo>
                  <a:pt x="1414815" y="791527"/>
                </a:lnTo>
                <a:lnTo>
                  <a:pt x="0" y="791527"/>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grpSp>
        <p:nvGrpSpPr>
          <p:cNvPr id="867" name="Google Shape;867;p92"/>
          <p:cNvGrpSpPr/>
          <p:nvPr/>
        </p:nvGrpSpPr>
        <p:grpSpPr>
          <a:xfrm>
            <a:off x="2357604" y="3015616"/>
            <a:ext cx="876617" cy="413385"/>
            <a:chOff x="0" y="-85725"/>
            <a:chExt cx="1753233" cy="826771"/>
          </a:xfrm>
        </p:grpSpPr>
        <p:sp>
          <p:nvSpPr>
            <p:cNvPr id="868" name="Google Shape;868;p92"/>
            <p:cNvSpPr/>
            <p:nvPr/>
          </p:nvSpPr>
          <p:spPr>
            <a:xfrm>
              <a:off x="0" y="0"/>
              <a:ext cx="1753232" cy="741046"/>
            </a:xfrm>
            <a:custGeom>
              <a:rect b="b" l="l" r="r" t="t"/>
              <a:pathLst>
                <a:path extrusionOk="0" h="741046" w="1753232">
                  <a:moveTo>
                    <a:pt x="0" y="0"/>
                  </a:moveTo>
                  <a:lnTo>
                    <a:pt x="1753232" y="0"/>
                  </a:lnTo>
                  <a:lnTo>
                    <a:pt x="1753232" y="741046"/>
                  </a:lnTo>
                  <a:lnTo>
                    <a:pt x="0" y="741046"/>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69" name="Google Shape;869;p92"/>
            <p:cNvSpPr txBox="1"/>
            <p:nvPr/>
          </p:nvSpPr>
          <p:spPr>
            <a:xfrm>
              <a:off x="0" y="-85725"/>
              <a:ext cx="1753233" cy="826769"/>
            </a:xfrm>
            <a:prstGeom prst="rect">
              <a:avLst/>
            </a:prstGeom>
            <a:noFill/>
            <a:ln>
              <a:noFill/>
            </a:ln>
          </p:spPr>
          <p:txBody>
            <a:bodyPr anchorCtr="0" anchor="ctr" bIns="0" lIns="0" spcFirstLastPara="1" rIns="0" wrap="square" tIns="0">
              <a:noAutofit/>
            </a:bodyPr>
            <a:lstStyle/>
            <a:p>
              <a:pPr indent="0" lvl="0" marL="0" marR="0" rtl="0" algn="l">
                <a:lnSpc>
                  <a:spcPct val="143997"/>
                </a:lnSpc>
                <a:spcBef>
                  <a:spcPts val="0"/>
                </a:spcBef>
                <a:spcAft>
                  <a:spcPts val="0"/>
                </a:spcAft>
                <a:buNone/>
              </a:pPr>
              <a:r>
                <a:rPr b="1" lang="en-US" sz="1866">
                  <a:solidFill>
                    <a:srgbClr val="000000"/>
                  </a:solidFill>
                  <a:latin typeface="Times"/>
                  <a:ea typeface="Times"/>
                  <a:cs typeface="Times"/>
                  <a:sym typeface="Times"/>
                </a:rPr>
                <a:t>CACHE</a:t>
              </a:r>
              <a:endParaRPr/>
            </a:p>
          </p:txBody>
        </p:sp>
      </p:grpSp>
      <p:grpSp>
        <p:nvGrpSpPr>
          <p:cNvPr id="870" name="Google Shape;870;p92"/>
          <p:cNvGrpSpPr/>
          <p:nvPr/>
        </p:nvGrpSpPr>
        <p:grpSpPr>
          <a:xfrm>
            <a:off x="770208" y="3572974"/>
            <a:ext cx="566630" cy="413386"/>
            <a:chOff x="0" y="-85725"/>
            <a:chExt cx="1133262" cy="826771"/>
          </a:xfrm>
        </p:grpSpPr>
        <p:sp>
          <p:nvSpPr>
            <p:cNvPr id="871" name="Google Shape;871;p92"/>
            <p:cNvSpPr/>
            <p:nvPr/>
          </p:nvSpPr>
          <p:spPr>
            <a:xfrm>
              <a:off x="0" y="0"/>
              <a:ext cx="1133262" cy="741046"/>
            </a:xfrm>
            <a:custGeom>
              <a:rect b="b" l="l" r="r" t="t"/>
              <a:pathLst>
                <a:path extrusionOk="0" h="741046" w="1133262">
                  <a:moveTo>
                    <a:pt x="0" y="0"/>
                  </a:moveTo>
                  <a:lnTo>
                    <a:pt x="1133262" y="0"/>
                  </a:lnTo>
                  <a:lnTo>
                    <a:pt x="1133262" y="741046"/>
                  </a:lnTo>
                  <a:lnTo>
                    <a:pt x="0" y="741046"/>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72" name="Google Shape;872;p92"/>
            <p:cNvSpPr txBox="1"/>
            <p:nvPr/>
          </p:nvSpPr>
          <p:spPr>
            <a:xfrm>
              <a:off x="0" y="-85725"/>
              <a:ext cx="1133259" cy="826769"/>
            </a:xfrm>
            <a:prstGeom prst="rect">
              <a:avLst/>
            </a:prstGeom>
            <a:noFill/>
            <a:ln>
              <a:noFill/>
            </a:ln>
          </p:spPr>
          <p:txBody>
            <a:bodyPr anchorCtr="0" anchor="ctr" bIns="0" lIns="0" spcFirstLastPara="1" rIns="0" wrap="square" tIns="0">
              <a:noAutofit/>
            </a:bodyPr>
            <a:lstStyle/>
            <a:p>
              <a:pPr indent="0" lvl="0" marL="0" marR="0" rtl="0" algn="ctr">
                <a:lnSpc>
                  <a:spcPct val="143997"/>
                </a:lnSpc>
                <a:spcBef>
                  <a:spcPts val="0"/>
                </a:spcBef>
                <a:spcAft>
                  <a:spcPts val="0"/>
                </a:spcAft>
                <a:buNone/>
              </a:pPr>
              <a:r>
                <a:rPr lang="en-US" sz="1866">
                  <a:solidFill>
                    <a:srgbClr val="000000"/>
                  </a:solidFill>
                  <a:latin typeface="Times New Roman"/>
                  <a:ea typeface="Times New Roman"/>
                  <a:cs typeface="Times New Roman"/>
                  <a:sym typeface="Times New Roman"/>
                </a:rPr>
                <a:t>1</a:t>
              </a:r>
              <a:endParaRPr/>
            </a:p>
          </p:txBody>
        </p:sp>
      </p:grpSp>
      <p:grpSp>
        <p:nvGrpSpPr>
          <p:cNvPr id="873" name="Google Shape;873;p92"/>
          <p:cNvGrpSpPr/>
          <p:nvPr/>
        </p:nvGrpSpPr>
        <p:grpSpPr>
          <a:xfrm>
            <a:off x="1215244" y="3588977"/>
            <a:ext cx="1425747" cy="397385"/>
            <a:chOff x="0" y="-47625"/>
            <a:chExt cx="2851493" cy="794770"/>
          </a:xfrm>
        </p:grpSpPr>
        <p:sp>
          <p:nvSpPr>
            <p:cNvPr id="874" name="Google Shape;874;p92"/>
            <p:cNvSpPr/>
            <p:nvPr/>
          </p:nvSpPr>
          <p:spPr>
            <a:xfrm>
              <a:off x="0" y="0"/>
              <a:ext cx="2851493" cy="747145"/>
            </a:xfrm>
            <a:custGeom>
              <a:rect b="b" l="l" r="r" t="t"/>
              <a:pathLst>
                <a:path extrusionOk="0" h="747145" w="2851493">
                  <a:moveTo>
                    <a:pt x="0" y="0"/>
                  </a:moveTo>
                  <a:lnTo>
                    <a:pt x="2851493" y="0"/>
                  </a:lnTo>
                  <a:lnTo>
                    <a:pt x="2851493" y="747145"/>
                  </a:lnTo>
                  <a:lnTo>
                    <a:pt x="0" y="747145"/>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75" name="Google Shape;875;p92"/>
            <p:cNvSpPr txBox="1"/>
            <p:nvPr/>
          </p:nvSpPr>
          <p:spPr>
            <a:xfrm>
              <a:off x="0" y="-47625"/>
              <a:ext cx="2851489" cy="794765"/>
            </a:xfrm>
            <a:prstGeom prst="rect">
              <a:avLst/>
            </a:prstGeom>
            <a:noFill/>
            <a:ln>
              <a:noFill/>
            </a:ln>
          </p:spPr>
          <p:txBody>
            <a:bodyPr anchorCtr="0" anchor="ctr" bIns="0" lIns="0" spcFirstLastPara="1" rIns="0" wrap="square" tIns="0">
              <a:noAutofit/>
            </a:bodyPr>
            <a:lstStyle/>
            <a:p>
              <a:pPr indent="0" lvl="0" marL="0" marR="0" rtl="0" algn="l">
                <a:lnSpc>
                  <a:spcPct val="131993"/>
                </a:lnSpc>
                <a:spcBef>
                  <a:spcPts val="0"/>
                </a:spcBef>
                <a:spcAft>
                  <a:spcPts val="0"/>
                </a:spcAft>
                <a:buNone/>
              </a:pPr>
              <a:r>
                <a:rPr lang="en-US" sz="1866">
                  <a:solidFill>
                    <a:srgbClr val="000000"/>
                  </a:solidFill>
                  <a:latin typeface="Times New Roman"/>
                  <a:ea typeface="Times New Roman"/>
                  <a:cs typeface="Times New Roman"/>
                  <a:sym typeface="Times New Roman"/>
                </a:rPr>
                <a:t>req/cycle</a:t>
              </a:r>
              <a:endParaRPr/>
            </a:p>
          </p:txBody>
        </p:sp>
      </p:grpSp>
      <p:grpSp>
        <p:nvGrpSpPr>
          <p:cNvPr id="876" name="Google Shape;876;p92"/>
          <p:cNvGrpSpPr/>
          <p:nvPr/>
        </p:nvGrpSpPr>
        <p:grpSpPr>
          <a:xfrm>
            <a:off x="3129995" y="3607138"/>
            <a:ext cx="547745" cy="413385"/>
            <a:chOff x="0" y="-85725"/>
            <a:chExt cx="1095489" cy="826771"/>
          </a:xfrm>
        </p:grpSpPr>
        <p:sp>
          <p:nvSpPr>
            <p:cNvPr id="877" name="Google Shape;877;p92"/>
            <p:cNvSpPr/>
            <p:nvPr/>
          </p:nvSpPr>
          <p:spPr>
            <a:xfrm>
              <a:off x="0" y="0"/>
              <a:ext cx="1095486" cy="741046"/>
            </a:xfrm>
            <a:custGeom>
              <a:rect b="b" l="l" r="r" t="t"/>
              <a:pathLst>
                <a:path extrusionOk="0" h="741046" w="1095486">
                  <a:moveTo>
                    <a:pt x="0" y="0"/>
                  </a:moveTo>
                  <a:lnTo>
                    <a:pt x="1095486" y="0"/>
                  </a:lnTo>
                  <a:lnTo>
                    <a:pt x="1095486" y="741046"/>
                  </a:lnTo>
                  <a:lnTo>
                    <a:pt x="0" y="741046"/>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78" name="Google Shape;878;p92"/>
            <p:cNvSpPr txBox="1"/>
            <p:nvPr/>
          </p:nvSpPr>
          <p:spPr>
            <a:xfrm>
              <a:off x="0" y="-85725"/>
              <a:ext cx="1095489" cy="826769"/>
            </a:xfrm>
            <a:prstGeom prst="rect">
              <a:avLst/>
            </a:prstGeom>
            <a:noFill/>
            <a:ln>
              <a:noFill/>
            </a:ln>
          </p:spPr>
          <p:txBody>
            <a:bodyPr anchorCtr="0" anchor="ctr" bIns="0" lIns="0" spcFirstLastPara="1" rIns="0" wrap="square" tIns="0">
              <a:noAutofit/>
            </a:bodyPr>
            <a:lstStyle/>
            <a:p>
              <a:pPr indent="0" lvl="0" marL="0" marR="0" rtl="0" algn="ctr">
                <a:lnSpc>
                  <a:spcPct val="143997"/>
                </a:lnSpc>
                <a:spcBef>
                  <a:spcPts val="0"/>
                </a:spcBef>
                <a:spcAft>
                  <a:spcPts val="0"/>
                </a:spcAft>
                <a:buNone/>
              </a:pPr>
              <a:r>
                <a:rPr lang="en-US" sz="1866">
                  <a:solidFill>
                    <a:srgbClr val="000000"/>
                  </a:solidFill>
                  <a:latin typeface="Times New Roman"/>
                  <a:ea typeface="Times New Roman"/>
                  <a:cs typeface="Times New Roman"/>
                  <a:sym typeface="Times New Roman"/>
                </a:rPr>
                <a:t>32×</a:t>
              </a:r>
              <a:endParaRPr/>
            </a:p>
          </p:txBody>
        </p:sp>
      </p:grpSp>
      <p:grpSp>
        <p:nvGrpSpPr>
          <p:cNvPr id="879" name="Google Shape;879;p92"/>
          <p:cNvGrpSpPr/>
          <p:nvPr/>
        </p:nvGrpSpPr>
        <p:grpSpPr>
          <a:xfrm>
            <a:off x="3642364" y="3626188"/>
            <a:ext cx="1135924" cy="397385"/>
            <a:chOff x="0" y="-47625"/>
            <a:chExt cx="2271848" cy="794770"/>
          </a:xfrm>
        </p:grpSpPr>
        <p:sp>
          <p:nvSpPr>
            <p:cNvPr id="880" name="Google Shape;880;p92"/>
            <p:cNvSpPr/>
            <p:nvPr/>
          </p:nvSpPr>
          <p:spPr>
            <a:xfrm>
              <a:off x="0" y="0"/>
              <a:ext cx="2271841" cy="747145"/>
            </a:xfrm>
            <a:custGeom>
              <a:rect b="b" l="l" r="r" t="t"/>
              <a:pathLst>
                <a:path extrusionOk="0" h="747145" w="2271841">
                  <a:moveTo>
                    <a:pt x="0" y="0"/>
                  </a:moveTo>
                  <a:lnTo>
                    <a:pt x="2271841" y="0"/>
                  </a:lnTo>
                  <a:lnTo>
                    <a:pt x="2271841" y="747145"/>
                  </a:lnTo>
                  <a:lnTo>
                    <a:pt x="0" y="747145"/>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81" name="Google Shape;881;p92"/>
            <p:cNvSpPr txBox="1"/>
            <p:nvPr/>
          </p:nvSpPr>
          <p:spPr>
            <a:xfrm>
              <a:off x="0" y="-47625"/>
              <a:ext cx="2271848" cy="794765"/>
            </a:xfrm>
            <a:prstGeom prst="rect">
              <a:avLst/>
            </a:prstGeom>
            <a:noFill/>
            <a:ln>
              <a:noFill/>
            </a:ln>
          </p:spPr>
          <p:txBody>
            <a:bodyPr anchorCtr="0" anchor="ctr" bIns="0" lIns="0" spcFirstLastPara="1" rIns="0" wrap="square" tIns="0">
              <a:noAutofit/>
            </a:bodyPr>
            <a:lstStyle/>
            <a:p>
              <a:pPr indent="0" lvl="0" marL="0" marR="0" rtl="0" algn="l">
                <a:lnSpc>
                  <a:spcPct val="131993"/>
                </a:lnSpc>
                <a:spcBef>
                  <a:spcPts val="0"/>
                </a:spcBef>
                <a:spcAft>
                  <a:spcPts val="0"/>
                </a:spcAft>
                <a:buNone/>
              </a:pPr>
              <a:r>
                <a:rPr lang="en-US" sz="1866">
                  <a:solidFill>
                    <a:srgbClr val="000000"/>
                  </a:solidFill>
                  <a:latin typeface="Times New Roman"/>
                  <a:ea typeface="Times New Roman"/>
                  <a:cs typeface="Times New Roman"/>
                  <a:sym typeface="Times New Roman"/>
                </a:rPr>
                <a:t>serialized</a:t>
              </a:r>
              <a:endParaRPr/>
            </a:p>
          </p:txBody>
        </p:sp>
      </p:grpSp>
      <p:sp>
        <p:nvSpPr>
          <p:cNvPr id="882" name="Google Shape;882;p92"/>
          <p:cNvSpPr/>
          <p:nvPr/>
        </p:nvSpPr>
        <p:spPr>
          <a:xfrm rot="-5400000">
            <a:off x="5626575" y="3019799"/>
            <a:ext cx="458337" cy="610987"/>
          </a:xfrm>
          <a:custGeom>
            <a:rect b="b" l="l" r="r" t="t"/>
            <a:pathLst>
              <a:path extrusionOk="0" h="453295" w="340043">
                <a:moveTo>
                  <a:pt x="150019" y="445008"/>
                </a:moveTo>
                <a:cubicBezTo>
                  <a:pt x="161068" y="456057"/>
                  <a:pt x="179102" y="456057"/>
                  <a:pt x="190151" y="445008"/>
                </a:cubicBezTo>
                <a:lnTo>
                  <a:pt x="331756" y="303276"/>
                </a:lnTo>
                <a:cubicBezTo>
                  <a:pt x="342805" y="292227"/>
                  <a:pt x="342805" y="274193"/>
                  <a:pt x="331756" y="263144"/>
                </a:cubicBezTo>
                <a:cubicBezTo>
                  <a:pt x="320707" y="252095"/>
                  <a:pt x="302673" y="252095"/>
                  <a:pt x="291624" y="263144"/>
                </a:cubicBezTo>
                <a:lnTo>
                  <a:pt x="198279" y="356489"/>
                </a:lnTo>
                <a:lnTo>
                  <a:pt x="198279" y="28321"/>
                </a:lnTo>
                <a:cubicBezTo>
                  <a:pt x="198406" y="12700"/>
                  <a:pt x="185706" y="0"/>
                  <a:pt x="170085" y="0"/>
                </a:cubicBezTo>
                <a:cubicBezTo>
                  <a:pt x="154464" y="0"/>
                  <a:pt x="141764" y="12700"/>
                  <a:pt x="141764" y="28321"/>
                </a:cubicBezTo>
                <a:lnTo>
                  <a:pt x="141764" y="356489"/>
                </a:lnTo>
                <a:lnTo>
                  <a:pt x="48419" y="263271"/>
                </a:lnTo>
                <a:cubicBezTo>
                  <a:pt x="37370" y="252222"/>
                  <a:pt x="19336" y="252222"/>
                  <a:pt x="8287" y="263271"/>
                </a:cubicBezTo>
                <a:cubicBezTo>
                  <a:pt x="-2762" y="274320"/>
                  <a:pt x="-2762" y="292354"/>
                  <a:pt x="8287" y="303403"/>
                </a:cubicBezTo>
                <a:lnTo>
                  <a:pt x="149892" y="445008"/>
                </a:lnTo>
                <a:close/>
              </a:path>
            </a:pathLst>
          </a:custGeom>
          <a:solidFill>
            <a:srgbClr val="005D9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grpSp>
        <p:nvGrpSpPr>
          <p:cNvPr id="883" name="Google Shape;883;p92"/>
          <p:cNvGrpSpPr/>
          <p:nvPr/>
        </p:nvGrpSpPr>
        <p:grpSpPr>
          <a:xfrm>
            <a:off x="7258774" y="2607075"/>
            <a:ext cx="4051408" cy="430976"/>
            <a:chOff x="0" y="-114300"/>
            <a:chExt cx="8102816" cy="861951"/>
          </a:xfrm>
        </p:grpSpPr>
        <p:sp>
          <p:nvSpPr>
            <p:cNvPr id="884" name="Google Shape;884;p92"/>
            <p:cNvSpPr/>
            <p:nvPr/>
          </p:nvSpPr>
          <p:spPr>
            <a:xfrm>
              <a:off x="0" y="0"/>
              <a:ext cx="8102816" cy="747651"/>
            </a:xfrm>
            <a:custGeom>
              <a:rect b="b" l="l" r="r" t="t"/>
              <a:pathLst>
                <a:path extrusionOk="0" h="747651" w="8102816">
                  <a:moveTo>
                    <a:pt x="0" y="0"/>
                  </a:moveTo>
                  <a:lnTo>
                    <a:pt x="8102816" y="0"/>
                  </a:lnTo>
                  <a:lnTo>
                    <a:pt x="8102816" y="747651"/>
                  </a:lnTo>
                  <a:lnTo>
                    <a:pt x="0" y="747651"/>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85" name="Google Shape;885;p92"/>
            <p:cNvSpPr txBox="1"/>
            <p:nvPr/>
          </p:nvSpPr>
          <p:spPr>
            <a:xfrm>
              <a:off x="0" y="-114300"/>
              <a:ext cx="8102816" cy="861948"/>
            </a:xfrm>
            <a:prstGeom prst="rect">
              <a:avLst/>
            </a:prstGeom>
            <a:noFill/>
            <a:ln>
              <a:noFill/>
            </a:ln>
          </p:spPr>
          <p:txBody>
            <a:bodyPr anchorCtr="0" anchor="ctr" bIns="0" lIns="0" spcFirstLastPara="1" rIns="0" wrap="square" tIns="0">
              <a:noAutofit/>
            </a:bodyPr>
            <a:lstStyle/>
            <a:p>
              <a:pPr indent="0" lvl="0" marL="0" marR="0" rtl="0" algn="ctr">
                <a:lnSpc>
                  <a:spcPct val="156002"/>
                </a:lnSpc>
                <a:spcBef>
                  <a:spcPts val="0"/>
                </a:spcBef>
                <a:spcAft>
                  <a:spcPts val="0"/>
                </a:spcAft>
                <a:buNone/>
              </a:pPr>
              <a:r>
                <a:rPr lang="en-US" sz="1866">
                  <a:solidFill>
                    <a:srgbClr val="000000"/>
                  </a:solidFill>
                  <a:latin typeface="Times New Roman"/>
                  <a:ea typeface="Times New Roman"/>
                  <a:cs typeface="Times New Roman"/>
                  <a:sym typeface="Times New Roman"/>
                </a:rPr>
                <a:t>Multi-Bank Design (4 Banks)</a:t>
              </a:r>
              <a:endParaRPr/>
            </a:p>
          </p:txBody>
        </p:sp>
      </p:grpSp>
      <p:grpSp>
        <p:nvGrpSpPr>
          <p:cNvPr id="886" name="Google Shape;886;p92"/>
          <p:cNvGrpSpPr/>
          <p:nvPr/>
        </p:nvGrpSpPr>
        <p:grpSpPr>
          <a:xfrm>
            <a:off x="7544461" y="3095644"/>
            <a:ext cx="444787" cy="413387"/>
            <a:chOff x="0" y="-85725"/>
            <a:chExt cx="889574" cy="826774"/>
          </a:xfrm>
        </p:grpSpPr>
        <p:sp>
          <p:nvSpPr>
            <p:cNvPr id="887" name="Google Shape;887;p92"/>
            <p:cNvSpPr/>
            <p:nvPr/>
          </p:nvSpPr>
          <p:spPr>
            <a:xfrm>
              <a:off x="0" y="0"/>
              <a:ext cx="889574" cy="741049"/>
            </a:xfrm>
            <a:custGeom>
              <a:rect b="b" l="l" r="r" t="t"/>
              <a:pathLst>
                <a:path extrusionOk="0" h="741049" w="889574">
                  <a:moveTo>
                    <a:pt x="0" y="0"/>
                  </a:moveTo>
                  <a:lnTo>
                    <a:pt x="889574" y="0"/>
                  </a:lnTo>
                  <a:lnTo>
                    <a:pt x="889574" y="741049"/>
                  </a:lnTo>
                  <a:lnTo>
                    <a:pt x="0" y="741049"/>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88" name="Google Shape;888;p92"/>
            <p:cNvSpPr txBox="1"/>
            <p:nvPr/>
          </p:nvSpPr>
          <p:spPr>
            <a:xfrm>
              <a:off x="0" y="-85725"/>
              <a:ext cx="889572" cy="826769"/>
            </a:xfrm>
            <a:prstGeom prst="rect">
              <a:avLst/>
            </a:prstGeom>
            <a:noFill/>
            <a:ln>
              <a:noFill/>
            </a:ln>
          </p:spPr>
          <p:txBody>
            <a:bodyPr anchorCtr="0" anchor="ctr" bIns="0" lIns="0" spcFirstLastPara="1" rIns="0" wrap="square" tIns="0">
              <a:noAutofit/>
            </a:bodyPr>
            <a:lstStyle/>
            <a:p>
              <a:pPr indent="0" lvl="0" marL="0" marR="0" rtl="0" algn="ctr">
                <a:lnSpc>
                  <a:spcPct val="143997"/>
                </a:lnSpc>
                <a:spcBef>
                  <a:spcPts val="0"/>
                </a:spcBef>
                <a:spcAft>
                  <a:spcPts val="0"/>
                </a:spcAft>
                <a:buNone/>
              </a:pPr>
              <a:r>
                <a:rPr lang="en-US" sz="1866">
                  <a:solidFill>
                    <a:srgbClr val="000000"/>
                  </a:solidFill>
                  <a:latin typeface="Times New Roman"/>
                  <a:ea typeface="Times New Roman"/>
                  <a:cs typeface="Times New Roman"/>
                  <a:sym typeface="Times New Roman"/>
                </a:rPr>
                <a:t>B0</a:t>
              </a:r>
              <a:endParaRPr/>
            </a:p>
          </p:txBody>
        </p:sp>
      </p:grpSp>
      <p:grpSp>
        <p:nvGrpSpPr>
          <p:cNvPr id="889" name="Google Shape;889;p92"/>
          <p:cNvGrpSpPr/>
          <p:nvPr/>
        </p:nvGrpSpPr>
        <p:grpSpPr>
          <a:xfrm>
            <a:off x="8575888" y="3095644"/>
            <a:ext cx="322927" cy="413387"/>
            <a:chOff x="0" y="-85725"/>
            <a:chExt cx="645855" cy="826774"/>
          </a:xfrm>
        </p:grpSpPr>
        <p:sp>
          <p:nvSpPr>
            <p:cNvPr id="890" name="Google Shape;890;p92"/>
            <p:cNvSpPr/>
            <p:nvPr/>
          </p:nvSpPr>
          <p:spPr>
            <a:xfrm>
              <a:off x="0" y="0"/>
              <a:ext cx="645855" cy="741049"/>
            </a:xfrm>
            <a:custGeom>
              <a:rect b="b" l="l" r="r" t="t"/>
              <a:pathLst>
                <a:path extrusionOk="0" h="741049" w="645855">
                  <a:moveTo>
                    <a:pt x="0" y="0"/>
                  </a:moveTo>
                  <a:lnTo>
                    <a:pt x="645855" y="0"/>
                  </a:lnTo>
                  <a:lnTo>
                    <a:pt x="645855" y="741049"/>
                  </a:lnTo>
                  <a:lnTo>
                    <a:pt x="0" y="741049"/>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91" name="Google Shape;891;p92"/>
            <p:cNvSpPr txBox="1"/>
            <p:nvPr/>
          </p:nvSpPr>
          <p:spPr>
            <a:xfrm>
              <a:off x="0" y="-85725"/>
              <a:ext cx="645853" cy="826769"/>
            </a:xfrm>
            <a:prstGeom prst="rect">
              <a:avLst/>
            </a:prstGeom>
            <a:noFill/>
            <a:ln>
              <a:noFill/>
            </a:ln>
          </p:spPr>
          <p:txBody>
            <a:bodyPr anchorCtr="0" anchor="ctr" bIns="0" lIns="0" spcFirstLastPara="1" rIns="0" wrap="square" tIns="0">
              <a:noAutofit/>
            </a:bodyPr>
            <a:lstStyle/>
            <a:p>
              <a:pPr indent="0" lvl="0" marL="0" marR="0" rtl="0" algn="ctr">
                <a:lnSpc>
                  <a:spcPct val="143997"/>
                </a:lnSpc>
                <a:spcBef>
                  <a:spcPts val="0"/>
                </a:spcBef>
                <a:spcAft>
                  <a:spcPts val="0"/>
                </a:spcAft>
                <a:buNone/>
              </a:pPr>
              <a:r>
                <a:rPr lang="en-US" sz="1866">
                  <a:solidFill>
                    <a:srgbClr val="000000"/>
                  </a:solidFill>
                  <a:latin typeface="Times New Roman"/>
                  <a:ea typeface="Times New Roman"/>
                  <a:cs typeface="Times New Roman"/>
                  <a:sym typeface="Times New Roman"/>
                </a:rPr>
                <a:t>B1</a:t>
              </a:r>
              <a:endParaRPr/>
            </a:p>
          </p:txBody>
        </p:sp>
      </p:grpSp>
      <p:sp>
        <p:nvSpPr>
          <p:cNvPr id="892" name="Google Shape;892;p92"/>
          <p:cNvSpPr/>
          <p:nvPr/>
        </p:nvSpPr>
        <p:spPr>
          <a:xfrm>
            <a:off x="9320003" y="3059926"/>
            <a:ext cx="943210" cy="527685"/>
          </a:xfrm>
          <a:custGeom>
            <a:rect b="b" l="l" r="r" t="t"/>
            <a:pathLst>
              <a:path extrusionOk="0" h="791527" w="1414815">
                <a:moveTo>
                  <a:pt x="0" y="0"/>
                </a:moveTo>
                <a:lnTo>
                  <a:pt x="1414815" y="0"/>
                </a:lnTo>
                <a:lnTo>
                  <a:pt x="1414815" y="791527"/>
                </a:lnTo>
                <a:lnTo>
                  <a:pt x="0" y="791527"/>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grpSp>
        <p:nvGrpSpPr>
          <p:cNvPr id="893" name="Google Shape;893;p92"/>
          <p:cNvGrpSpPr/>
          <p:nvPr/>
        </p:nvGrpSpPr>
        <p:grpSpPr>
          <a:xfrm>
            <a:off x="9587389" y="3095644"/>
            <a:ext cx="378346" cy="413387"/>
            <a:chOff x="0" y="-85725"/>
            <a:chExt cx="756691" cy="826774"/>
          </a:xfrm>
        </p:grpSpPr>
        <p:sp>
          <p:nvSpPr>
            <p:cNvPr id="894" name="Google Shape;894;p92"/>
            <p:cNvSpPr/>
            <p:nvPr/>
          </p:nvSpPr>
          <p:spPr>
            <a:xfrm>
              <a:off x="0" y="0"/>
              <a:ext cx="756689" cy="741049"/>
            </a:xfrm>
            <a:custGeom>
              <a:rect b="b" l="l" r="r" t="t"/>
              <a:pathLst>
                <a:path extrusionOk="0" h="741049" w="756689">
                  <a:moveTo>
                    <a:pt x="0" y="0"/>
                  </a:moveTo>
                  <a:lnTo>
                    <a:pt x="756689" y="0"/>
                  </a:lnTo>
                  <a:lnTo>
                    <a:pt x="756689" y="741049"/>
                  </a:lnTo>
                  <a:lnTo>
                    <a:pt x="0" y="741049"/>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95" name="Google Shape;895;p92"/>
            <p:cNvSpPr txBox="1"/>
            <p:nvPr/>
          </p:nvSpPr>
          <p:spPr>
            <a:xfrm>
              <a:off x="0" y="-85725"/>
              <a:ext cx="756691" cy="826769"/>
            </a:xfrm>
            <a:prstGeom prst="rect">
              <a:avLst/>
            </a:prstGeom>
            <a:noFill/>
            <a:ln>
              <a:noFill/>
            </a:ln>
          </p:spPr>
          <p:txBody>
            <a:bodyPr anchorCtr="0" anchor="ctr" bIns="0" lIns="0" spcFirstLastPara="1" rIns="0" wrap="square" tIns="0">
              <a:noAutofit/>
            </a:bodyPr>
            <a:lstStyle/>
            <a:p>
              <a:pPr indent="0" lvl="0" marL="0" marR="0" rtl="0" algn="ctr">
                <a:lnSpc>
                  <a:spcPct val="143997"/>
                </a:lnSpc>
                <a:spcBef>
                  <a:spcPts val="0"/>
                </a:spcBef>
                <a:spcAft>
                  <a:spcPts val="0"/>
                </a:spcAft>
                <a:buNone/>
              </a:pPr>
              <a:r>
                <a:rPr lang="en-US" sz="1866">
                  <a:solidFill>
                    <a:srgbClr val="000000"/>
                  </a:solidFill>
                  <a:latin typeface="Times New Roman"/>
                  <a:ea typeface="Times New Roman"/>
                  <a:cs typeface="Times New Roman"/>
                  <a:sym typeface="Times New Roman"/>
                </a:rPr>
                <a:t>B2</a:t>
              </a:r>
              <a:endParaRPr/>
            </a:p>
          </p:txBody>
        </p:sp>
      </p:grpSp>
      <p:sp>
        <p:nvSpPr>
          <p:cNvPr id="896" name="Google Shape;896;p92"/>
          <p:cNvSpPr/>
          <p:nvPr/>
        </p:nvSpPr>
        <p:spPr>
          <a:xfrm>
            <a:off x="10332384" y="3059926"/>
            <a:ext cx="943210" cy="527685"/>
          </a:xfrm>
          <a:custGeom>
            <a:rect b="b" l="l" r="r" t="t"/>
            <a:pathLst>
              <a:path extrusionOk="0" h="791527" w="1414815">
                <a:moveTo>
                  <a:pt x="0" y="0"/>
                </a:moveTo>
                <a:lnTo>
                  <a:pt x="1414815" y="0"/>
                </a:lnTo>
                <a:lnTo>
                  <a:pt x="1414815" y="791527"/>
                </a:lnTo>
                <a:lnTo>
                  <a:pt x="0" y="791527"/>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grpSp>
        <p:nvGrpSpPr>
          <p:cNvPr id="897" name="Google Shape;897;p92"/>
          <p:cNvGrpSpPr/>
          <p:nvPr/>
        </p:nvGrpSpPr>
        <p:grpSpPr>
          <a:xfrm>
            <a:off x="10624771" y="3095644"/>
            <a:ext cx="358435" cy="413387"/>
            <a:chOff x="0" y="-85725"/>
            <a:chExt cx="716869" cy="826774"/>
          </a:xfrm>
        </p:grpSpPr>
        <p:sp>
          <p:nvSpPr>
            <p:cNvPr id="898" name="Google Shape;898;p92"/>
            <p:cNvSpPr/>
            <p:nvPr/>
          </p:nvSpPr>
          <p:spPr>
            <a:xfrm>
              <a:off x="0" y="0"/>
              <a:ext cx="716867" cy="741049"/>
            </a:xfrm>
            <a:custGeom>
              <a:rect b="b" l="l" r="r" t="t"/>
              <a:pathLst>
                <a:path extrusionOk="0" h="741049" w="716867">
                  <a:moveTo>
                    <a:pt x="0" y="0"/>
                  </a:moveTo>
                  <a:lnTo>
                    <a:pt x="716867" y="0"/>
                  </a:lnTo>
                  <a:lnTo>
                    <a:pt x="716867" y="741049"/>
                  </a:lnTo>
                  <a:lnTo>
                    <a:pt x="0" y="741049"/>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899" name="Google Shape;899;p92"/>
            <p:cNvSpPr txBox="1"/>
            <p:nvPr/>
          </p:nvSpPr>
          <p:spPr>
            <a:xfrm>
              <a:off x="0" y="-85725"/>
              <a:ext cx="716869" cy="826769"/>
            </a:xfrm>
            <a:prstGeom prst="rect">
              <a:avLst/>
            </a:prstGeom>
            <a:noFill/>
            <a:ln>
              <a:noFill/>
            </a:ln>
          </p:spPr>
          <p:txBody>
            <a:bodyPr anchorCtr="0" anchor="ctr" bIns="0" lIns="0" spcFirstLastPara="1" rIns="0" wrap="square" tIns="0">
              <a:noAutofit/>
            </a:bodyPr>
            <a:lstStyle/>
            <a:p>
              <a:pPr indent="0" lvl="0" marL="0" marR="0" rtl="0" algn="ctr">
                <a:lnSpc>
                  <a:spcPct val="143997"/>
                </a:lnSpc>
                <a:spcBef>
                  <a:spcPts val="0"/>
                </a:spcBef>
                <a:spcAft>
                  <a:spcPts val="0"/>
                </a:spcAft>
                <a:buNone/>
              </a:pPr>
              <a:r>
                <a:rPr lang="en-US" sz="1866">
                  <a:solidFill>
                    <a:srgbClr val="000000"/>
                  </a:solidFill>
                  <a:latin typeface="Times New Roman"/>
                  <a:ea typeface="Times New Roman"/>
                  <a:cs typeface="Times New Roman"/>
                  <a:sym typeface="Times New Roman"/>
                </a:rPr>
                <a:t>B3</a:t>
              </a:r>
              <a:endParaRPr/>
            </a:p>
          </p:txBody>
        </p:sp>
      </p:grpSp>
      <p:grpSp>
        <p:nvGrpSpPr>
          <p:cNvPr id="900" name="Google Shape;900;p92"/>
          <p:cNvGrpSpPr/>
          <p:nvPr/>
        </p:nvGrpSpPr>
        <p:grpSpPr>
          <a:xfrm>
            <a:off x="7348252" y="3607138"/>
            <a:ext cx="642182" cy="413385"/>
            <a:chOff x="0" y="-85725"/>
            <a:chExt cx="1284364" cy="826771"/>
          </a:xfrm>
        </p:grpSpPr>
        <p:sp>
          <p:nvSpPr>
            <p:cNvPr id="901" name="Google Shape;901;p92"/>
            <p:cNvSpPr/>
            <p:nvPr/>
          </p:nvSpPr>
          <p:spPr>
            <a:xfrm>
              <a:off x="0" y="0"/>
              <a:ext cx="1284362" cy="741046"/>
            </a:xfrm>
            <a:custGeom>
              <a:rect b="b" l="l" r="r" t="t"/>
              <a:pathLst>
                <a:path extrusionOk="0" h="741046" w="1284362">
                  <a:moveTo>
                    <a:pt x="0" y="0"/>
                  </a:moveTo>
                  <a:lnTo>
                    <a:pt x="1284362" y="0"/>
                  </a:lnTo>
                  <a:lnTo>
                    <a:pt x="1284362" y="741046"/>
                  </a:lnTo>
                  <a:lnTo>
                    <a:pt x="0" y="741046"/>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02" name="Google Shape;902;p92"/>
            <p:cNvSpPr txBox="1"/>
            <p:nvPr/>
          </p:nvSpPr>
          <p:spPr>
            <a:xfrm>
              <a:off x="0" y="-85725"/>
              <a:ext cx="1284364" cy="826769"/>
            </a:xfrm>
            <a:prstGeom prst="rect">
              <a:avLst/>
            </a:prstGeom>
            <a:noFill/>
            <a:ln>
              <a:noFill/>
            </a:ln>
          </p:spPr>
          <p:txBody>
            <a:bodyPr anchorCtr="0" anchor="ctr" bIns="0" lIns="0" spcFirstLastPara="1" rIns="0" wrap="square" tIns="0">
              <a:noAutofit/>
            </a:bodyPr>
            <a:lstStyle/>
            <a:p>
              <a:pPr indent="0" lvl="0" marL="0" marR="0" rtl="0" algn="ctr">
                <a:lnSpc>
                  <a:spcPct val="143997"/>
                </a:lnSpc>
                <a:spcBef>
                  <a:spcPts val="0"/>
                </a:spcBef>
                <a:spcAft>
                  <a:spcPts val="0"/>
                </a:spcAft>
                <a:buNone/>
              </a:pPr>
              <a:r>
                <a:rPr lang="en-US" sz="1866">
                  <a:solidFill>
                    <a:srgbClr val="000000"/>
                  </a:solidFill>
                  <a:latin typeface="Times New Roman"/>
                  <a:ea typeface="Times New Roman"/>
                  <a:cs typeface="Times New Roman"/>
                  <a:sym typeface="Times New Roman"/>
                </a:rPr>
                <a:t>4×</a:t>
              </a:r>
              <a:endParaRPr/>
            </a:p>
          </p:txBody>
        </p:sp>
      </p:grpSp>
      <p:grpSp>
        <p:nvGrpSpPr>
          <p:cNvPr id="903" name="Google Shape;903;p92"/>
          <p:cNvGrpSpPr/>
          <p:nvPr/>
        </p:nvGrpSpPr>
        <p:grpSpPr>
          <a:xfrm>
            <a:off x="7714421" y="3626188"/>
            <a:ext cx="1295033" cy="397385"/>
            <a:chOff x="0" y="-47625"/>
            <a:chExt cx="2590064" cy="794770"/>
          </a:xfrm>
        </p:grpSpPr>
        <p:sp>
          <p:nvSpPr>
            <p:cNvPr id="904" name="Google Shape;904;p92"/>
            <p:cNvSpPr/>
            <p:nvPr/>
          </p:nvSpPr>
          <p:spPr>
            <a:xfrm>
              <a:off x="0" y="0"/>
              <a:ext cx="2590064" cy="747145"/>
            </a:xfrm>
            <a:custGeom>
              <a:rect b="b" l="l" r="r" t="t"/>
              <a:pathLst>
                <a:path extrusionOk="0" h="747145" w="2590064">
                  <a:moveTo>
                    <a:pt x="0" y="0"/>
                  </a:moveTo>
                  <a:lnTo>
                    <a:pt x="2590064" y="0"/>
                  </a:lnTo>
                  <a:lnTo>
                    <a:pt x="2590064" y="747145"/>
                  </a:lnTo>
                  <a:lnTo>
                    <a:pt x="0" y="747145"/>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05" name="Google Shape;905;p92"/>
            <p:cNvSpPr txBox="1"/>
            <p:nvPr/>
          </p:nvSpPr>
          <p:spPr>
            <a:xfrm>
              <a:off x="0" y="-47625"/>
              <a:ext cx="2590063" cy="794765"/>
            </a:xfrm>
            <a:prstGeom prst="rect">
              <a:avLst/>
            </a:prstGeom>
            <a:noFill/>
            <a:ln>
              <a:noFill/>
            </a:ln>
          </p:spPr>
          <p:txBody>
            <a:bodyPr anchorCtr="0" anchor="ctr" bIns="0" lIns="0" spcFirstLastPara="1" rIns="0" wrap="square" tIns="0">
              <a:noAutofit/>
            </a:bodyPr>
            <a:lstStyle/>
            <a:p>
              <a:pPr indent="0" lvl="0" marL="0" marR="0" rtl="0" algn="ctr">
                <a:lnSpc>
                  <a:spcPct val="131993"/>
                </a:lnSpc>
                <a:spcBef>
                  <a:spcPts val="0"/>
                </a:spcBef>
                <a:spcAft>
                  <a:spcPts val="0"/>
                </a:spcAft>
                <a:buNone/>
              </a:pPr>
              <a:r>
                <a:rPr lang="en-US" sz="1866">
                  <a:solidFill>
                    <a:srgbClr val="000000"/>
                  </a:solidFill>
                  <a:latin typeface="Times New Roman"/>
                  <a:ea typeface="Times New Roman"/>
                  <a:cs typeface="Times New Roman"/>
                  <a:sym typeface="Times New Roman"/>
                </a:rPr>
                <a:t>throughput</a:t>
              </a:r>
              <a:endParaRPr/>
            </a:p>
          </p:txBody>
        </p:sp>
      </p:grpSp>
      <p:grpSp>
        <p:nvGrpSpPr>
          <p:cNvPr id="906" name="Google Shape;906;p92"/>
          <p:cNvGrpSpPr/>
          <p:nvPr/>
        </p:nvGrpSpPr>
        <p:grpSpPr>
          <a:xfrm>
            <a:off x="9889592" y="3607138"/>
            <a:ext cx="453304" cy="413385"/>
            <a:chOff x="0" y="-85725"/>
            <a:chExt cx="906608" cy="826771"/>
          </a:xfrm>
        </p:grpSpPr>
        <p:sp>
          <p:nvSpPr>
            <p:cNvPr id="907" name="Google Shape;907;p92"/>
            <p:cNvSpPr/>
            <p:nvPr/>
          </p:nvSpPr>
          <p:spPr>
            <a:xfrm>
              <a:off x="0" y="0"/>
              <a:ext cx="906608" cy="741046"/>
            </a:xfrm>
            <a:custGeom>
              <a:rect b="b" l="l" r="r" t="t"/>
              <a:pathLst>
                <a:path extrusionOk="0" h="741046" w="906608">
                  <a:moveTo>
                    <a:pt x="0" y="0"/>
                  </a:moveTo>
                  <a:lnTo>
                    <a:pt x="906608" y="0"/>
                  </a:lnTo>
                  <a:lnTo>
                    <a:pt x="906608" y="741046"/>
                  </a:lnTo>
                  <a:lnTo>
                    <a:pt x="0" y="741046"/>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08" name="Google Shape;908;p92"/>
            <p:cNvSpPr txBox="1"/>
            <p:nvPr/>
          </p:nvSpPr>
          <p:spPr>
            <a:xfrm>
              <a:off x="0" y="-85725"/>
              <a:ext cx="906602" cy="826769"/>
            </a:xfrm>
            <a:prstGeom prst="rect">
              <a:avLst/>
            </a:prstGeom>
            <a:noFill/>
            <a:ln>
              <a:noFill/>
            </a:ln>
          </p:spPr>
          <p:txBody>
            <a:bodyPr anchorCtr="0" anchor="ctr" bIns="0" lIns="0" spcFirstLastPara="1" rIns="0" wrap="square" tIns="0">
              <a:noAutofit/>
            </a:bodyPr>
            <a:lstStyle/>
            <a:p>
              <a:pPr indent="0" lvl="0" marL="0" marR="0" rtl="0" algn="ctr">
                <a:lnSpc>
                  <a:spcPct val="143997"/>
                </a:lnSpc>
                <a:spcBef>
                  <a:spcPts val="0"/>
                </a:spcBef>
                <a:spcAft>
                  <a:spcPts val="0"/>
                </a:spcAft>
                <a:buNone/>
              </a:pPr>
              <a:r>
                <a:rPr lang="en-US" sz="1866">
                  <a:solidFill>
                    <a:srgbClr val="000000"/>
                  </a:solidFill>
                  <a:latin typeface="Times New Roman"/>
                  <a:ea typeface="Times New Roman"/>
                  <a:cs typeface="Times New Roman"/>
                  <a:sym typeface="Times New Roman"/>
                </a:rPr>
                <a:t>4</a:t>
              </a:r>
              <a:endParaRPr/>
            </a:p>
          </p:txBody>
        </p:sp>
      </p:grpSp>
      <p:grpSp>
        <p:nvGrpSpPr>
          <p:cNvPr id="909" name="Google Shape;909;p92"/>
          <p:cNvGrpSpPr/>
          <p:nvPr/>
        </p:nvGrpSpPr>
        <p:grpSpPr>
          <a:xfrm>
            <a:off x="10069094" y="3585675"/>
            <a:ext cx="1085954" cy="397385"/>
            <a:chOff x="0" y="-47625"/>
            <a:chExt cx="2171908" cy="794770"/>
          </a:xfrm>
        </p:grpSpPr>
        <p:sp>
          <p:nvSpPr>
            <p:cNvPr id="910" name="Google Shape;910;p92"/>
            <p:cNvSpPr/>
            <p:nvPr/>
          </p:nvSpPr>
          <p:spPr>
            <a:xfrm>
              <a:off x="0" y="0"/>
              <a:ext cx="2171896" cy="747145"/>
            </a:xfrm>
            <a:custGeom>
              <a:rect b="b" l="l" r="r" t="t"/>
              <a:pathLst>
                <a:path extrusionOk="0" h="747145" w="2171896">
                  <a:moveTo>
                    <a:pt x="0" y="0"/>
                  </a:moveTo>
                  <a:lnTo>
                    <a:pt x="2171896" y="0"/>
                  </a:lnTo>
                  <a:lnTo>
                    <a:pt x="2171896" y="747145"/>
                  </a:lnTo>
                  <a:lnTo>
                    <a:pt x="0" y="747145"/>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11" name="Google Shape;911;p92"/>
            <p:cNvSpPr txBox="1"/>
            <p:nvPr/>
          </p:nvSpPr>
          <p:spPr>
            <a:xfrm>
              <a:off x="0" y="-47625"/>
              <a:ext cx="2171908" cy="794765"/>
            </a:xfrm>
            <a:prstGeom prst="rect">
              <a:avLst/>
            </a:prstGeom>
            <a:noFill/>
            <a:ln>
              <a:noFill/>
            </a:ln>
          </p:spPr>
          <p:txBody>
            <a:bodyPr anchorCtr="0" anchor="ctr" bIns="0" lIns="0" spcFirstLastPara="1" rIns="0" wrap="square" tIns="0">
              <a:noAutofit/>
            </a:bodyPr>
            <a:lstStyle/>
            <a:p>
              <a:pPr indent="0" lvl="0" marL="0" marR="0" rtl="0" algn="ctr">
                <a:lnSpc>
                  <a:spcPct val="131993"/>
                </a:lnSpc>
                <a:spcBef>
                  <a:spcPts val="0"/>
                </a:spcBef>
                <a:spcAft>
                  <a:spcPts val="0"/>
                </a:spcAft>
                <a:buNone/>
              </a:pPr>
              <a:r>
                <a:rPr lang="en-US" sz="1866">
                  <a:solidFill>
                    <a:srgbClr val="000000"/>
                  </a:solidFill>
                  <a:latin typeface="Times New Roman"/>
                  <a:ea typeface="Times New Roman"/>
                  <a:cs typeface="Times New Roman"/>
                  <a:sym typeface="Times New Roman"/>
                </a:rPr>
                <a:t>parallel</a:t>
              </a:r>
              <a:endParaRPr/>
            </a:p>
          </p:txBody>
        </p:sp>
      </p:grpSp>
      <p:sp>
        <p:nvSpPr>
          <p:cNvPr id="912" name="Google Shape;912;p92"/>
          <p:cNvSpPr/>
          <p:nvPr/>
        </p:nvSpPr>
        <p:spPr>
          <a:xfrm>
            <a:off x="3640459" y="4945672"/>
            <a:ext cx="4935428" cy="1226528"/>
          </a:xfrm>
          <a:custGeom>
            <a:rect b="b" l="l" r="r" t="t"/>
            <a:pathLst>
              <a:path extrusionOk="0" h="1839792" w="7403142">
                <a:moveTo>
                  <a:pt x="0" y="0"/>
                </a:moveTo>
                <a:lnTo>
                  <a:pt x="7403142" y="0"/>
                </a:lnTo>
                <a:lnTo>
                  <a:pt x="7403142" y="1839792"/>
                </a:lnTo>
                <a:lnTo>
                  <a:pt x="0" y="1839792"/>
                </a:lnTo>
                <a:lnTo>
                  <a:pt x="0" y="0"/>
                </a:lnTo>
                <a:close/>
              </a:path>
            </a:pathLst>
          </a:custGeom>
          <a:blipFill rotWithShape="1">
            <a:blip r:embed="rId10">
              <a:alphaModFix/>
            </a:blip>
            <a:stretch>
              <a:fillRect b="-6178" l="-3174" r="0" t="-617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grpSp>
        <p:nvGrpSpPr>
          <p:cNvPr id="913" name="Google Shape;913;p92"/>
          <p:cNvGrpSpPr/>
          <p:nvPr/>
        </p:nvGrpSpPr>
        <p:grpSpPr>
          <a:xfrm>
            <a:off x="3830063" y="5324975"/>
            <a:ext cx="1477349" cy="430975"/>
            <a:chOff x="0" y="-114300"/>
            <a:chExt cx="2954697" cy="861951"/>
          </a:xfrm>
        </p:grpSpPr>
        <p:sp>
          <p:nvSpPr>
            <p:cNvPr id="914" name="Google Shape;914;p92"/>
            <p:cNvSpPr/>
            <p:nvPr/>
          </p:nvSpPr>
          <p:spPr>
            <a:xfrm>
              <a:off x="0" y="0"/>
              <a:ext cx="2954693" cy="747651"/>
            </a:xfrm>
            <a:custGeom>
              <a:rect b="b" l="l" r="r" t="t"/>
              <a:pathLst>
                <a:path extrusionOk="0" h="747651" w="2954693">
                  <a:moveTo>
                    <a:pt x="0" y="0"/>
                  </a:moveTo>
                  <a:lnTo>
                    <a:pt x="2954693" y="0"/>
                  </a:lnTo>
                  <a:lnTo>
                    <a:pt x="2954693" y="747651"/>
                  </a:lnTo>
                  <a:lnTo>
                    <a:pt x="0" y="747651"/>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15" name="Google Shape;915;p92"/>
            <p:cNvSpPr txBox="1"/>
            <p:nvPr/>
          </p:nvSpPr>
          <p:spPr>
            <a:xfrm>
              <a:off x="0" y="-114300"/>
              <a:ext cx="2954697" cy="861948"/>
            </a:xfrm>
            <a:prstGeom prst="rect">
              <a:avLst/>
            </a:prstGeom>
            <a:noFill/>
            <a:ln>
              <a:noFill/>
            </a:ln>
          </p:spPr>
          <p:txBody>
            <a:bodyPr anchorCtr="0" anchor="ctr" bIns="0" lIns="0" spcFirstLastPara="1" rIns="0" wrap="square" tIns="0">
              <a:noAutofit/>
            </a:bodyPr>
            <a:lstStyle/>
            <a:p>
              <a:pPr indent="0" lvl="0" marL="0" marR="0" rtl="0" algn="ctr">
                <a:lnSpc>
                  <a:spcPct val="156002"/>
                </a:lnSpc>
                <a:spcBef>
                  <a:spcPts val="0"/>
                </a:spcBef>
                <a:spcAft>
                  <a:spcPts val="0"/>
                </a:spcAft>
                <a:buNone/>
              </a:pPr>
              <a:r>
                <a:rPr lang="en-US" sz="1866">
                  <a:solidFill>
                    <a:srgbClr val="000000"/>
                  </a:solidFill>
                  <a:latin typeface="Times New Roman"/>
                  <a:ea typeface="Times New Roman"/>
                  <a:cs typeface="Times New Roman"/>
                  <a:sym typeface="Times New Roman"/>
                </a:rPr>
                <a:t>Single Cache</a:t>
              </a:r>
              <a:endParaRPr/>
            </a:p>
          </p:txBody>
        </p:sp>
      </p:grpSp>
      <p:grpSp>
        <p:nvGrpSpPr>
          <p:cNvPr id="916" name="Google Shape;916;p92"/>
          <p:cNvGrpSpPr/>
          <p:nvPr/>
        </p:nvGrpSpPr>
        <p:grpSpPr>
          <a:xfrm>
            <a:off x="3983220" y="5675919"/>
            <a:ext cx="1171036" cy="472359"/>
            <a:chOff x="0" y="-19050"/>
            <a:chExt cx="2342072" cy="944718"/>
          </a:xfrm>
        </p:grpSpPr>
        <p:sp>
          <p:nvSpPr>
            <p:cNvPr id="917" name="Google Shape;917;p92"/>
            <p:cNvSpPr/>
            <p:nvPr/>
          </p:nvSpPr>
          <p:spPr>
            <a:xfrm>
              <a:off x="0" y="0"/>
              <a:ext cx="2342072" cy="925666"/>
            </a:xfrm>
            <a:custGeom>
              <a:rect b="b" l="l" r="r" t="t"/>
              <a:pathLst>
                <a:path extrusionOk="0" h="925666" w="2342072">
                  <a:moveTo>
                    <a:pt x="0" y="0"/>
                  </a:moveTo>
                  <a:lnTo>
                    <a:pt x="2342072" y="0"/>
                  </a:lnTo>
                  <a:lnTo>
                    <a:pt x="2342072" y="925666"/>
                  </a:lnTo>
                  <a:lnTo>
                    <a:pt x="0" y="925666"/>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18" name="Google Shape;918;p92"/>
            <p:cNvSpPr txBox="1"/>
            <p:nvPr/>
          </p:nvSpPr>
          <p:spPr>
            <a:xfrm>
              <a:off x="0" y="-19050"/>
              <a:ext cx="2342070" cy="944718"/>
            </a:xfrm>
            <a:prstGeom prst="rect">
              <a:avLst/>
            </a:prstGeom>
            <a:noFill/>
            <a:ln>
              <a:noFill/>
            </a:ln>
          </p:spPr>
          <p:txBody>
            <a:bodyPr anchorCtr="0" anchor="ctr" bIns="0" lIns="0" spcFirstLastPara="1" rIns="0" wrap="square" tIns="0">
              <a:noAutofit/>
            </a:bodyPr>
            <a:lstStyle/>
            <a:p>
              <a:pPr indent="0" lvl="0" marL="0" marR="0" rtl="0" algn="ctr">
                <a:lnSpc>
                  <a:spcPct val="119974"/>
                </a:lnSpc>
                <a:spcBef>
                  <a:spcPts val="0"/>
                </a:spcBef>
                <a:spcAft>
                  <a:spcPts val="0"/>
                </a:spcAft>
                <a:buNone/>
              </a:pPr>
              <a:r>
                <a:rPr b="1" lang="en-US" sz="2333">
                  <a:solidFill>
                    <a:srgbClr val="005D9D"/>
                  </a:solidFill>
                  <a:latin typeface="Times"/>
                  <a:ea typeface="Times"/>
                  <a:cs typeface="Times"/>
                  <a:sym typeface="Times"/>
                </a:rPr>
                <a:t>3.2 GB/s</a:t>
              </a:r>
              <a:endParaRPr/>
            </a:p>
          </p:txBody>
        </p:sp>
      </p:grpSp>
      <p:grpSp>
        <p:nvGrpSpPr>
          <p:cNvPr id="919" name="Google Shape;919;p92"/>
          <p:cNvGrpSpPr/>
          <p:nvPr/>
        </p:nvGrpSpPr>
        <p:grpSpPr>
          <a:xfrm>
            <a:off x="6853917" y="5358100"/>
            <a:ext cx="1508020" cy="430975"/>
            <a:chOff x="0" y="-114300"/>
            <a:chExt cx="3016040" cy="861951"/>
          </a:xfrm>
        </p:grpSpPr>
        <p:sp>
          <p:nvSpPr>
            <p:cNvPr id="920" name="Google Shape;920;p92"/>
            <p:cNvSpPr/>
            <p:nvPr/>
          </p:nvSpPr>
          <p:spPr>
            <a:xfrm>
              <a:off x="0" y="0"/>
              <a:ext cx="3016038" cy="747651"/>
            </a:xfrm>
            <a:custGeom>
              <a:rect b="b" l="l" r="r" t="t"/>
              <a:pathLst>
                <a:path extrusionOk="0" h="747651" w="3016038">
                  <a:moveTo>
                    <a:pt x="0" y="0"/>
                  </a:moveTo>
                  <a:lnTo>
                    <a:pt x="3016038" y="0"/>
                  </a:lnTo>
                  <a:lnTo>
                    <a:pt x="3016038" y="747651"/>
                  </a:lnTo>
                  <a:lnTo>
                    <a:pt x="0" y="747651"/>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21" name="Google Shape;921;p92"/>
            <p:cNvSpPr txBox="1"/>
            <p:nvPr/>
          </p:nvSpPr>
          <p:spPr>
            <a:xfrm>
              <a:off x="0" y="-114300"/>
              <a:ext cx="3016040" cy="861948"/>
            </a:xfrm>
            <a:prstGeom prst="rect">
              <a:avLst/>
            </a:prstGeom>
            <a:noFill/>
            <a:ln>
              <a:noFill/>
            </a:ln>
          </p:spPr>
          <p:txBody>
            <a:bodyPr anchorCtr="0" anchor="ctr" bIns="0" lIns="0" spcFirstLastPara="1" rIns="0" wrap="square" tIns="0">
              <a:noAutofit/>
            </a:bodyPr>
            <a:lstStyle/>
            <a:p>
              <a:pPr indent="0" lvl="0" marL="0" marR="0" rtl="0" algn="ctr">
                <a:lnSpc>
                  <a:spcPct val="156002"/>
                </a:lnSpc>
                <a:spcBef>
                  <a:spcPts val="0"/>
                </a:spcBef>
                <a:spcAft>
                  <a:spcPts val="0"/>
                </a:spcAft>
                <a:buNone/>
              </a:pPr>
              <a:r>
                <a:rPr lang="en-US" sz="1866">
                  <a:solidFill>
                    <a:srgbClr val="000000"/>
                  </a:solidFill>
                  <a:latin typeface="Times New Roman"/>
                  <a:ea typeface="Times New Roman"/>
                  <a:cs typeface="Times New Roman"/>
                  <a:sym typeface="Times New Roman"/>
                </a:rPr>
                <a:t>4-Bank Cache</a:t>
              </a:r>
              <a:endParaRPr/>
            </a:p>
          </p:txBody>
        </p:sp>
      </p:grpSp>
      <p:grpSp>
        <p:nvGrpSpPr>
          <p:cNvPr id="922" name="Google Shape;922;p92"/>
          <p:cNvGrpSpPr/>
          <p:nvPr/>
        </p:nvGrpSpPr>
        <p:grpSpPr>
          <a:xfrm>
            <a:off x="6911724" y="5683645"/>
            <a:ext cx="1265476" cy="472359"/>
            <a:chOff x="0" y="-19050"/>
            <a:chExt cx="2530950" cy="944718"/>
          </a:xfrm>
        </p:grpSpPr>
        <p:sp>
          <p:nvSpPr>
            <p:cNvPr id="923" name="Google Shape;923;p92"/>
            <p:cNvSpPr/>
            <p:nvPr/>
          </p:nvSpPr>
          <p:spPr>
            <a:xfrm>
              <a:off x="0" y="0"/>
              <a:ext cx="2530950" cy="925666"/>
            </a:xfrm>
            <a:custGeom>
              <a:rect b="b" l="l" r="r" t="t"/>
              <a:pathLst>
                <a:path extrusionOk="0" h="925666" w="2530950">
                  <a:moveTo>
                    <a:pt x="0" y="0"/>
                  </a:moveTo>
                  <a:lnTo>
                    <a:pt x="2530950" y="0"/>
                  </a:lnTo>
                  <a:lnTo>
                    <a:pt x="2530950" y="925666"/>
                  </a:lnTo>
                  <a:lnTo>
                    <a:pt x="0" y="925666"/>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24" name="Google Shape;924;p92"/>
            <p:cNvSpPr txBox="1"/>
            <p:nvPr/>
          </p:nvSpPr>
          <p:spPr>
            <a:xfrm>
              <a:off x="0" y="-19050"/>
              <a:ext cx="2530945" cy="944718"/>
            </a:xfrm>
            <a:prstGeom prst="rect">
              <a:avLst/>
            </a:prstGeom>
            <a:noFill/>
            <a:ln>
              <a:noFill/>
            </a:ln>
          </p:spPr>
          <p:txBody>
            <a:bodyPr anchorCtr="0" anchor="ctr" bIns="0" lIns="0" spcFirstLastPara="1" rIns="0" wrap="square" tIns="0">
              <a:noAutofit/>
            </a:bodyPr>
            <a:lstStyle/>
            <a:p>
              <a:pPr indent="0" lvl="0" marL="0" marR="0" rtl="0" algn="ctr">
                <a:lnSpc>
                  <a:spcPct val="119974"/>
                </a:lnSpc>
                <a:spcBef>
                  <a:spcPts val="0"/>
                </a:spcBef>
                <a:spcAft>
                  <a:spcPts val="0"/>
                </a:spcAft>
                <a:buNone/>
              </a:pPr>
              <a:r>
                <a:rPr b="1" lang="en-US" sz="2333">
                  <a:solidFill>
                    <a:srgbClr val="005D9D"/>
                  </a:solidFill>
                  <a:latin typeface="Times"/>
                  <a:ea typeface="Times"/>
                  <a:cs typeface="Times"/>
                  <a:sym typeface="Times"/>
                </a:rPr>
                <a:t>12.8 GB/s</a:t>
              </a:r>
              <a:endParaRPr/>
            </a:p>
          </p:txBody>
        </p:sp>
      </p:grpSp>
      <p:grpSp>
        <p:nvGrpSpPr>
          <p:cNvPr id="925" name="Google Shape;925;p92"/>
          <p:cNvGrpSpPr/>
          <p:nvPr/>
        </p:nvGrpSpPr>
        <p:grpSpPr>
          <a:xfrm>
            <a:off x="3483744" y="4893175"/>
            <a:ext cx="5211816" cy="430975"/>
            <a:chOff x="0" y="-114300"/>
            <a:chExt cx="10423632" cy="861951"/>
          </a:xfrm>
        </p:grpSpPr>
        <p:sp>
          <p:nvSpPr>
            <p:cNvPr id="926" name="Google Shape;926;p92"/>
            <p:cNvSpPr/>
            <p:nvPr/>
          </p:nvSpPr>
          <p:spPr>
            <a:xfrm>
              <a:off x="0" y="0"/>
              <a:ext cx="10423632" cy="747651"/>
            </a:xfrm>
            <a:custGeom>
              <a:rect b="b" l="l" r="r" t="t"/>
              <a:pathLst>
                <a:path extrusionOk="0" h="747651" w="10423632">
                  <a:moveTo>
                    <a:pt x="0" y="0"/>
                  </a:moveTo>
                  <a:lnTo>
                    <a:pt x="10423632" y="0"/>
                  </a:lnTo>
                  <a:lnTo>
                    <a:pt x="10423632" y="747651"/>
                  </a:lnTo>
                  <a:lnTo>
                    <a:pt x="0" y="747651"/>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27" name="Google Shape;927;p92"/>
            <p:cNvSpPr txBox="1"/>
            <p:nvPr/>
          </p:nvSpPr>
          <p:spPr>
            <a:xfrm>
              <a:off x="0" y="-114300"/>
              <a:ext cx="10423626" cy="861948"/>
            </a:xfrm>
            <a:prstGeom prst="rect">
              <a:avLst/>
            </a:prstGeom>
            <a:noFill/>
            <a:ln>
              <a:noFill/>
            </a:ln>
          </p:spPr>
          <p:txBody>
            <a:bodyPr anchorCtr="0" anchor="ctr" bIns="0" lIns="0" spcFirstLastPara="1" rIns="0" wrap="square" tIns="0">
              <a:noAutofit/>
            </a:bodyPr>
            <a:lstStyle/>
            <a:p>
              <a:pPr indent="0" lvl="0" marL="0" marR="0" rtl="0" algn="ctr">
                <a:lnSpc>
                  <a:spcPct val="156002"/>
                </a:lnSpc>
                <a:spcBef>
                  <a:spcPts val="0"/>
                </a:spcBef>
                <a:spcAft>
                  <a:spcPts val="0"/>
                </a:spcAft>
                <a:buNone/>
              </a:pPr>
              <a:r>
                <a:rPr b="1" lang="en-US" sz="1866">
                  <a:solidFill>
                    <a:srgbClr val="000000"/>
                  </a:solidFill>
                  <a:latin typeface="Times"/>
                  <a:ea typeface="Times"/>
                  <a:cs typeface="Times"/>
                  <a:sym typeface="Times"/>
                </a:rPr>
                <a:t>Example: </a:t>
              </a:r>
              <a:r>
                <a:rPr lang="en-US" sz="1866">
                  <a:solidFill>
                    <a:srgbClr val="000000"/>
                  </a:solidFill>
                  <a:latin typeface="Times New Roman"/>
                  <a:ea typeface="Times New Roman"/>
                  <a:cs typeface="Times New Roman"/>
                  <a:sym typeface="Times New Roman"/>
                </a:rPr>
                <a:t>4-bank design achieves 4× bandwidth</a:t>
              </a:r>
              <a:endParaRPr/>
            </a:p>
          </p:txBody>
        </p:sp>
      </p:grpSp>
      <p:sp>
        <p:nvSpPr>
          <p:cNvPr descr="preencoded.png" id="928" name="Google Shape;928;p92"/>
          <p:cNvSpPr/>
          <p:nvPr/>
        </p:nvSpPr>
        <p:spPr>
          <a:xfrm>
            <a:off x="8117129" y="4308975"/>
            <a:ext cx="381000" cy="381000"/>
          </a:xfrm>
          <a:custGeom>
            <a:rect b="b" l="l" r="r" t="t"/>
            <a:pathLst>
              <a:path extrusionOk="0" h="571500" w="571500">
                <a:moveTo>
                  <a:pt x="0" y="0"/>
                </a:moveTo>
                <a:lnTo>
                  <a:pt x="571500" y="0"/>
                </a:lnTo>
                <a:lnTo>
                  <a:pt x="571500" y="571500"/>
                </a:lnTo>
                <a:lnTo>
                  <a:pt x="0" y="571500"/>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29" name="Google Shape;929;p92"/>
          <p:cNvSpPr/>
          <p:nvPr/>
        </p:nvSpPr>
        <p:spPr>
          <a:xfrm>
            <a:off x="8250479" y="4423275"/>
            <a:ext cx="114300" cy="152400"/>
          </a:xfrm>
          <a:custGeom>
            <a:rect b="b" l="l" r="r" t="t"/>
            <a:pathLst>
              <a:path extrusionOk="0" h="228600" w="171450">
                <a:moveTo>
                  <a:pt x="0" y="0"/>
                </a:moveTo>
                <a:lnTo>
                  <a:pt x="171450" y="0"/>
                </a:lnTo>
                <a:lnTo>
                  <a:pt x="171450" y="228600"/>
                </a:lnTo>
                <a:lnTo>
                  <a:pt x="0" y="228600"/>
                </a:lnTo>
                <a:lnTo>
                  <a:pt x="0" y="0"/>
                </a:lnTo>
                <a:close/>
              </a:path>
            </a:pathLst>
          </a:custGeom>
          <a:blipFill rotWithShape="1">
            <a:blip r:embed="rId1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30" name="Google Shape;930;p92"/>
          <p:cNvSpPr txBox="1"/>
          <p:nvPr/>
        </p:nvSpPr>
        <p:spPr>
          <a:xfrm>
            <a:off x="8504295" y="4279342"/>
            <a:ext cx="1828089" cy="353623"/>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None/>
            </a:pPr>
            <a:r>
              <a:rPr lang="en-US" sz="2166">
                <a:solidFill>
                  <a:srgbClr val="005D9D"/>
                </a:solidFill>
                <a:latin typeface="Times New Roman"/>
                <a:ea typeface="Times New Roman"/>
                <a:cs typeface="Times New Roman"/>
                <a:sym typeface="Times New Roman"/>
              </a:rPr>
              <a:t>Parallel </a:t>
            </a:r>
            <a:r>
              <a:rPr lang="en-US" sz="2166">
                <a:solidFill>
                  <a:srgbClr val="333333"/>
                </a:solidFill>
                <a:latin typeface="Times New Roman"/>
                <a:ea typeface="Times New Roman"/>
                <a:cs typeface="Times New Roman"/>
                <a:sym typeface="Times New Roman"/>
              </a:rPr>
              <a:t>Access</a:t>
            </a:r>
            <a:endParaRPr/>
          </a:p>
        </p:txBody>
      </p:sp>
      <p:sp>
        <p:nvSpPr>
          <p:cNvPr id="931" name="Google Shape;931;p92"/>
          <p:cNvSpPr txBox="1"/>
          <p:nvPr/>
        </p:nvSpPr>
        <p:spPr>
          <a:xfrm>
            <a:off x="2041689" y="4279342"/>
            <a:ext cx="1598771" cy="353623"/>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None/>
            </a:pPr>
            <a:r>
              <a:rPr lang="en-US" sz="2166">
                <a:solidFill>
                  <a:srgbClr val="005D9D"/>
                </a:solidFill>
                <a:latin typeface="Times New Roman"/>
                <a:ea typeface="Times New Roman"/>
                <a:cs typeface="Times New Roman"/>
                <a:sym typeface="Times New Roman"/>
              </a:rPr>
              <a:t>Serial </a:t>
            </a:r>
            <a:r>
              <a:rPr lang="en-US" sz="2166">
                <a:solidFill>
                  <a:srgbClr val="333333"/>
                </a:solidFill>
                <a:latin typeface="Times New Roman"/>
                <a:ea typeface="Times New Roman"/>
                <a:cs typeface="Times New Roman"/>
                <a:sym typeface="Times New Roman"/>
              </a:rPr>
              <a:t>Access</a:t>
            </a:r>
            <a:endParaRPr/>
          </a:p>
        </p:txBody>
      </p:sp>
      <p:sp>
        <p:nvSpPr>
          <p:cNvPr id="932" name="Google Shape;932;p92"/>
          <p:cNvSpPr/>
          <p:nvPr/>
        </p:nvSpPr>
        <p:spPr>
          <a:xfrm>
            <a:off x="1753608" y="4355435"/>
            <a:ext cx="288081" cy="288081"/>
          </a:xfrm>
          <a:custGeom>
            <a:rect b="b" l="l" r="r" t="t"/>
            <a:pathLst>
              <a:path extrusionOk="0" h="432121" w="432121">
                <a:moveTo>
                  <a:pt x="0" y="0"/>
                </a:moveTo>
                <a:lnTo>
                  <a:pt x="432121" y="0"/>
                </a:lnTo>
                <a:lnTo>
                  <a:pt x="432121" y="432120"/>
                </a:lnTo>
                <a:lnTo>
                  <a:pt x="0" y="432120"/>
                </a:lnTo>
                <a:lnTo>
                  <a:pt x="0" y="0"/>
                </a:lnTo>
                <a:close/>
              </a:path>
            </a:pathLst>
          </a:custGeom>
          <a:blipFill rotWithShape="1">
            <a:blip r:embed="rId1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33" name="Google Shape;933;p92"/>
          <p:cNvSpPr txBox="1"/>
          <p:nvPr/>
        </p:nvSpPr>
        <p:spPr>
          <a:xfrm>
            <a:off x="5855748" y="5370800"/>
            <a:ext cx="809069" cy="373885"/>
          </a:xfrm>
          <a:prstGeom prst="rect">
            <a:avLst/>
          </a:prstGeom>
          <a:noFill/>
          <a:ln>
            <a:noFill/>
          </a:ln>
        </p:spPr>
        <p:txBody>
          <a:bodyPr anchorCtr="0" anchor="t" bIns="0" lIns="0" spcFirstLastPara="1" rIns="0" wrap="square" tIns="0">
            <a:spAutoFit/>
          </a:bodyPr>
          <a:lstStyle/>
          <a:p>
            <a:pPr indent="0" lvl="0" marL="0" marR="0" rtl="0" algn="ctr">
              <a:lnSpc>
                <a:spcPct val="140026"/>
              </a:lnSpc>
              <a:spcBef>
                <a:spcPts val="0"/>
              </a:spcBef>
              <a:spcAft>
                <a:spcPts val="0"/>
              </a:spcAft>
              <a:buNone/>
            </a:pPr>
            <a:r>
              <a:rPr lang="en-US" sz="2266">
                <a:solidFill>
                  <a:srgbClr val="000000"/>
                </a:solidFill>
                <a:latin typeface="Arial"/>
                <a:ea typeface="Arial"/>
                <a:cs typeface="Arial"/>
                <a:sym typeface="Arial"/>
              </a:rPr>
              <a:t>⟶  </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descr="A close up of a logo  Description automatically generated" id="938" name="Google Shape;938;p93"/>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A close up of a logo  Description automatically generated" id="939" name="Google Shape;939;p93"/>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40" name="Google Shape;940;p93"/>
          <p:cNvSpPr/>
          <p:nvPr/>
        </p:nvSpPr>
        <p:spPr>
          <a:xfrm>
            <a:off x="8342110" y="3841750"/>
            <a:ext cx="1942920" cy="1639339"/>
          </a:xfrm>
          <a:custGeom>
            <a:rect b="b" l="l" r="r" t="t"/>
            <a:pathLst>
              <a:path extrusionOk="0" h="2459008" w="2914380">
                <a:moveTo>
                  <a:pt x="0" y="0"/>
                </a:moveTo>
                <a:lnTo>
                  <a:pt x="2914379" y="0"/>
                </a:lnTo>
                <a:lnTo>
                  <a:pt x="2914379" y="2459008"/>
                </a:lnTo>
                <a:lnTo>
                  <a:pt x="0" y="2459008"/>
                </a:lnTo>
                <a:lnTo>
                  <a:pt x="0" y="0"/>
                </a:lnTo>
                <a:close/>
              </a:path>
            </a:pathLst>
          </a:custGeom>
          <a:blipFill rotWithShape="1">
            <a:blip r:embed="rId5">
              <a:alphaModFix/>
            </a:blip>
            <a:stretch>
              <a:fillRect b="-924" l="0" r="0" t="-92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41" name="Google Shape;941;p93"/>
          <p:cNvSpPr/>
          <p:nvPr/>
        </p:nvSpPr>
        <p:spPr>
          <a:xfrm>
            <a:off x="6267450" y="3841750"/>
            <a:ext cx="1942920" cy="1639339"/>
          </a:xfrm>
          <a:custGeom>
            <a:rect b="b" l="l" r="r" t="t"/>
            <a:pathLst>
              <a:path extrusionOk="0" h="2459008" w="2914380">
                <a:moveTo>
                  <a:pt x="0" y="0"/>
                </a:moveTo>
                <a:lnTo>
                  <a:pt x="2914380" y="0"/>
                </a:lnTo>
                <a:lnTo>
                  <a:pt x="2914380" y="2459008"/>
                </a:lnTo>
                <a:lnTo>
                  <a:pt x="0" y="2459008"/>
                </a:lnTo>
                <a:lnTo>
                  <a:pt x="0" y="0"/>
                </a:lnTo>
                <a:close/>
              </a:path>
            </a:pathLst>
          </a:custGeom>
          <a:blipFill rotWithShape="1">
            <a:blip r:embed="rId5">
              <a:alphaModFix/>
            </a:blip>
            <a:stretch>
              <a:fillRect b="-924" l="0" r="0" t="-92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42" name="Google Shape;942;p93"/>
          <p:cNvSpPr/>
          <p:nvPr/>
        </p:nvSpPr>
        <p:spPr>
          <a:xfrm>
            <a:off x="6388883" y="5056075"/>
            <a:ext cx="1700055" cy="303581"/>
          </a:xfrm>
          <a:custGeom>
            <a:rect b="b" l="l" r="r" t="t"/>
            <a:pathLst>
              <a:path extrusionOk="0" h="455372" w="2550082">
                <a:moveTo>
                  <a:pt x="0" y="0"/>
                </a:moveTo>
                <a:lnTo>
                  <a:pt x="2550082" y="0"/>
                </a:lnTo>
                <a:lnTo>
                  <a:pt x="2550082" y="455372"/>
                </a:lnTo>
                <a:lnTo>
                  <a:pt x="0" y="45537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43" name="Google Shape;943;p93"/>
          <p:cNvSpPr/>
          <p:nvPr/>
        </p:nvSpPr>
        <p:spPr>
          <a:xfrm>
            <a:off x="6388883" y="4661420"/>
            <a:ext cx="1700055" cy="303581"/>
          </a:xfrm>
          <a:custGeom>
            <a:rect b="b" l="l" r="r" t="t"/>
            <a:pathLst>
              <a:path extrusionOk="0" h="455372" w="2550082">
                <a:moveTo>
                  <a:pt x="0" y="0"/>
                </a:moveTo>
                <a:lnTo>
                  <a:pt x="2550082" y="0"/>
                </a:lnTo>
                <a:lnTo>
                  <a:pt x="2550082" y="455372"/>
                </a:lnTo>
                <a:lnTo>
                  <a:pt x="0" y="45537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44" name="Google Shape;944;p93"/>
          <p:cNvSpPr/>
          <p:nvPr/>
        </p:nvSpPr>
        <p:spPr>
          <a:xfrm>
            <a:off x="6388883" y="4266764"/>
            <a:ext cx="1700055" cy="303581"/>
          </a:xfrm>
          <a:custGeom>
            <a:rect b="b" l="l" r="r" t="t"/>
            <a:pathLst>
              <a:path extrusionOk="0" h="455372" w="2550082">
                <a:moveTo>
                  <a:pt x="0" y="0"/>
                </a:moveTo>
                <a:lnTo>
                  <a:pt x="2550082" y="0"/>
                </a:lnTo>
                <a:lnTo>
                  <a:pt x="2550082" y="455371"/>
                </a:lnTo>
                <a:lnTo>
                  <a:pt x="0" y="455371"/>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45" name="Google Shape;945;p93"/>
          <p:cNvSpPr/>
          <p:nvPr/>
        </p:nvSpPr>
        <p:spPr>
          <a:xfrm>
            <a:off x="4153080" y="3841750"/>
            <a:ext cx="1942920" cy="1639339"/>
          </a:xfrm>
          <a:custGeom>
            <a:rect b="b" l="l" r="r" t="t"/>
            <a:pathLst>
              <a:path extrusionOk="0" h="2459008" w="2914380">
                <a:moveTo>
                  <a:pt x="0" y="0"/>
                </a:moveTo>
                <a:lnTo>
                  <a:pt x="2914380" y="0"/>
                </a:lnTo>
                <a:lnTo>
                  <a:pt x="2914380" y="2459008"/>
                </a:lnTo>
                <a:lnTo>
                  <a:pt x="0" y="2459008"/>
                </a:lnTo>
                <a:lnTo>
                  <a:pt x="0" y="0"/>
                </a:lnTo>
                <a:close/>
              </a:path>
            </a:pathLst>
          </a:custGeom>
          <a:blipFill rotWithShape="1">
            <a:blip r:embed="rId5">
              <a:alphaModFix/>
            </a:blip>
            <a:stretch>
              <a:fillRect b="-924" l="0" r="0" t="-92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46" name="Google Shape;946;p93"/>
          <p:cNvSpPr/>
          <p:nvPr/>
        </p:nvSpPr>
        <p:spPr>
          <a:xfrm>
            <a:off x="4274513" y="5056075"/>
            <a:ext cx="1700055" cy="303581"/>
          </a:xfrm>
          <a:custGeom>
            <a:rect b="b" l="l" r="r" t="t"/>
            <a:pathLst>
              <a:path extrusionOk="0" h="455372" w="2550082">
                <a:moveTo>
                  <a:pt x="0" y="0"/>
                </a:moveTo>
                <a:lnTo>
                  <a:pt x="2550082" y="0"/>
                </a:lnTo>
                <a:lnTo>
                  <a:pt x="2550082" y="455372"/>
                </a:lnTo>
                <a:lnTo>
                  <a:pt x="0" y="45537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47" name="Google Shape;947;p93"/>
          <p:cNvSpPr/>
          <p:nvPr/>
        </p:nvSpPr>
        <p:spPr>
          <a:xfrm>
            <a:off x="4274513" y="4661420"/>
            <a:ext cx="1700055" cy="303581"/>
          </a:xfrm>
          <a:custGeom>
            <a:rect b="b" l="l" r="r" t="t"/>
            <a:pathLst>
              <a:path extrusionOk="0" h="455372" w="2550082">
                <a:moveTo>
                  <a:pt x="0" y="0"/>
                </a:moveTo>
                <a:lnTo>
                  <a:pt x="2550082" y="0"/>
                </a:lnTo>
                <a:lnTo>
                  <a:pt x="2550082" y="455372"/>
                </a:lnTo>
                <a:lnTo>
                  <a:pt x="0" y="45537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48" name="Google Shape;948;p93"/>
          <p:cNvSpPr/>
          <p:nvPr/>
        </p:nvSpPr>
        <p:spPr>
          <a:xfrm>
            <a:off x="165347" y="92361"/>
            <a:ext cx="1049896" cy="1049896"/>
          </a:xfrm>
          <a:custGeom>
            <a:rect b="b" l="l" r="r" t="t"/>
            <a:pathLst>
              <a:path extrusionOk="0" h="1574844" w="1574844">
                <a:moveTo>
                  <a:pt x="0" y="0"/>
                </a:moveTo>
                <a:lnTo>
                  <a:pt x="1574845" y="0"/>
                </a:lnTo>
                <a:lnTo>
                  <a:pt x="1574845" y="1574845"/>
                </a:lnTo>
                <a:lnTo>
                  <a:pt x="0" y="1574845"/>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49" name="Google Shape;949;p93"/>
          <p:cNvSpPr/>
          <p:nvPr/>
        </p:nvSpPr>
        <p:spPr>
          <a:xfrm>
            <a:off x="406400" y="1397000"/>
            <a:ext cx="228600" cy="304800"/>
          </a:xfrm>
          <a:custGeom>
            <a:rect b="b" l="l" r="r" t="t"/>
            <a:pathLst>
              <a:path extrusionOk="0" h="457200" w="342900">
                <a:moveTo>
                  <a:pt x="0" y="0"/>
                </a:moveTo>
                <a:lnTo>
                  <a:pt x="342900" y="0"/>
                </a:lnTo>
                <a:lnTo>
                  <a:pt x="342900" y="457200"/>
                </a:lnTo>
                <a:lnTo>
                  <a:pt x="0" y="457200"/>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50" name="Google Shape;950;p93"/>
          <p:cNvSpPr txBox="1"/>
          <p:nvPr/>
        </p:nvSpPr>
        <p:spPr>
          <a:xfrm>
            <a:off x="723900" y="1320800"/>
            <a:ext cx="2422486" cy="424090"/>
          </a:xfrm>
          <a:prstGeom prst="rect">
            <a:avLst/>
          </a:prstGeom>
          <a:noFill/>
          <a:ln>
            <a:noFill/>
          </a:ln>
        </p:spPr>
        <p:txBody>
          <a:bodyPr anchorCtr="0" anchor="t" bIns="0" lIns="0" spcFirstLastPara="1" rIns="0" wrap="square" tIns="0">
            <a:spAutoFit/>
          </a:bodyPr>
          <a:lstStyle/>
          <a:p>
            <a:pPr indent="0" lvl="0" marL="0" marR="0" rtl="0" algn="l">
              <a:lnSpc>
                <a:spcPct val="133383"/>
              </a:lnSpc>
              <a:spcBef>
                <a:spcPts val="0"/>
              </a:spcBef>
              <a:spcAft>
                <a:spcPts val="0"/>
              </a:spcAft>
              <a:buNone/>
            </a:pPr>
            <a:r>
              <a:rPr b="1" i="1" lang="en-US" sz="2666">
                <a:solidFill>
                  <a:srgbClr val="333333"/>
                </a:solidFill>
                <a:latin typeface="Times"/>
                <a:ea typeface="Times"/>
                <a:cs typeface="Times"/>
                <a:sym typeface="Times"/>
              </a:rPr>
              <a:t>Key Features</a:t>
            </a:r>
            <a:endParaRPr/>
          </a:p>
        </p:txBody>
      </p:sp>
      <p:sp>
        <p:nvSpPr>
          <p:cNvPr id="951" name="Google Shape;951;p93"/>
          <p:cNvSpPr txBox="1"/>
          <p:nvPr/>
        </p:nvSpPr>
        <p:spPr>
          <a:xfrm>
            <a:off x="571500" y="1989689"/>
            <a:ext cx="5062894" cy="329386"/>
          </a:xfrm>
          <a:prstGeom prst="rect">
            <a:avLst/>
          </a:prstGeom>
          <a:noFill/>
          <a:ln>
            <a:noFill/>
          </a:ln>
        </p:spPr>
        <p:txBody>
          <a:bodyPr anchorCtr="0" anchor="t" bIns="0" lIns="0" spcFirstLastPara="1" rIns="0" wrap="square" tIns="0">
            <a:spAutoFit/>
          </a:bodyPr>
          <a:lstStyle/>
          <a:p>
            <a:pPr indent="-180983" lvl="1" marL="361968" marR="0" rtl="0" algn="l">
              <a:lnSpc>
                <a:spcPct val="140000"/>
              </a:lnSpc>
              <a:spcBef>
                <a:spcPts val="0"/>
              </a:spcBef>
              <a:spcAft>
                <a:spcPts val="0"/>
              </a:spcAft>
              <a:buClr>
                <a:srgbClr val="333333"/>
              </a:buClr>
              <a:buSzPts val="2000"/>
              <a:buFont typeface="Arial"/>
              <a:buChar char="•"/>
            </a:pPr>
            <a:r>
              <a:rPr b="0" i="0" lang="en-US" sz="2000" u="none" cap="none" strike="noStrike">
                <a:solidFill>
                  <a:srgbClr val="333333"/>
                </a:solidFill>
                <a:latin typeface="Times New Roman"/>
                <a:ea typeface="Times New Roman"/>
                <a:cs typeface="Times New Roman"/>
                <a:sym typeface="Times New Roman"/>
              </a:rPr>
              <a:t>Each bank is a </a:t>
            </a:r>
            <a:r>
              <a:rPr b="0" i="0" lang="en-US" sz="2000" u="none" cap="none" strike="noStrike">
                <a:solidFill>
                  <a:srgbClr val="1D64A9"/>
                </a:solidFill>
                <a:latin typeface="Times New Roman"/>
                <a:ea typeface="Times New Roman"/>
                <a:cs typeface="Times New Roman"/>
                <a:sym typeface="Times New Roman"/>
              </a:rPr>
              <a:t>complete, independent cache</a:t>
            </a:r>
            <a:endParaRPr/>
          </a:p>
        </p:txBody>
      </p:sp>
      <p:sp>
        <p:nvSpPr>
          <p:cNvPr id="952" name="Google Shape;952;p93"/>
          <p:cNvSpPr txBox="1"/>
          <p:nvPr/>
        </p:nvSpPr>
        <p:spPr>
          <a:xfrm>
            <a:off x="571500" y="2419350"/>
            <a:ext cx="5062894" cy="329386"/>
          </a:xfrm>
          <a:prstGeom prst="rect">
            <a:avLst/>
          </a:prstGeom>
          <a:noFill/>
          <a:ln>
            <a:noFill/>
          </a:ln>
        </p:spPr>
        <p:txBody>
          <a:bodyPr anchorCtr="0" anchor="t" bIns="0" lIns="0" spcFirstLastPara="1" rIns="0" wrap="square" tIns="0">
            <a:spAutoFit/>
          </a:bodyPr>
          <a:lstStyle/>
          <a:p>
            <a:pPr indent="-180983" lvl="1" marL="361968" marR="0" rtl="0" algn="l">
              <a:lnSpc>
                <a:spcPct val="140000"/>
              </a:lnSpc>
              <a:spcBef>
                <a:spcPts val="0"/>
              </a:spcBef>
              <a:spcAft>
                <a:spcPts val="0"/>
              </a:spcAft>
              <a:buClr>
                <a:srgbClr val="333333"/>
              </a:buClr>
              <a:buSzPts val="2000"/>
              <a:buFont typeface="Arial"/>
              <a:buChar char="•"/>
            </a:pPr>
            <a:r>
              <a:rPr b="0" i="0" lang="en-US" sz="2000" u="none" cap="none" strike="noStrike">
                <a:solidFill>
                  <a:srgbClr val="333333"/>
                </a:solidFill>
                <a:latin typeface="Times New Roman"/>
                <a:ea typeface="Times New Roman"/>
                <a:cs typeface="Times New Roman"/>
                <a:sym typeface="Times New Roman"/>
              </a:rPr>
              <a:t>Four banks: </a:t>
            </a:r>
            <a:r>
              <a:rPr b="0" i="0" lang="en-US" sz="2000" u="none" cap="none" strike="noStrike">
                <a:solidFill>
                  <a:srgbClr val="1D64A9"/>
                </a:solidFill>
                <a:latin typeface="Times New Roman"/>
                <a:ea typeface="Times New Roman"/>
                <a:cs typeface="Times New Roman"/>
                <a:sym typeface="Times New Roman"/>
              </a:rPr>
              <a:t>Bank 0, Bank 1, Bank 2, Bank 3</a:t>
            </a:r>
            <a:endParaRPr/>
          </a:p>
        </p:txBody>
      </p:sp>
      <p:sp>
        <p:nvSpPr>
          <p:cNvPr id="953" name="Google Shape;953;p93"/>
          <p:cNvSpPr txBox="1"/>
          <p:nvPr/>
        </p:nvSpPr>
        <p:spPr>
          <a:xfrm>
            <a:off x="571500" y="3295650"/>
            <a:ext cx="2574886" cy="329386"/>
          </a:xfrm>
          <a:prstGeom prst="rect">
            <a:avLst/>
          </a:prstGeom>
          <a:noFill/>
          <a:ln>
            <a:noFill/>
          </a:ln>
        </p:spPr>
        <p:txBody>
          <a:bodyPr anchorCtr="0" anchor="t" bIns="0" lIns="0" spcFirstLastPara="1" rIns="0" wrap="square" tIns="0">
            <a:spAutoFit/>
          </a:bodyPr>
          <a:lstStyle/>
          <a:p>
            <a:pPr indent="-180983" lvl="1" marL="361968" marR="0" rtl="0" algn="l">
              <a:lnSpc>
                <a:spcPct val="140000"/>
              </a:lnSpc>
              <a:spcBef>
                <a:spcPts val="0"/>
              </a:spcBef>
              <a:spcAft>
                <a:spcPts val="0"/>
              </a:spcAft>
              <a:buClr>
                <a:srgbClr val="333333"/>
              </a:buClr>
              <a:buSzPts val="2000"/>
              <a:buFont typeface="Arial"/>
              <a:buChar char="•"/>
            </a:pPr>
            <a:r>
              <a:rPr b="0" i="0" lang="en-US" sz="2000" u="none" cap="none" strike="noStrike">
                <a:solidFill>
                  <a:srgbClr val="333333"/>
                </a:solidFill>
                <a:latin typeface="Times New Roman"/>
                <a:ea typeface="Times New Roman"/>
                <a:cs typeface="Times New Roman"/>
                <a:sym typeface="Times New Roman"/>
              </a:rPr>
              <a:t>Each bank contains:</a:t>
            </a:r>
            <a:endParaRPr/>
          </a:p>
        </p:txBody>
      </p:sp>
      <p:sp>
        <p:nvSpPr>
          <p:cNvPr id="954" name="Google Shape;954;p93"/>
          <p:cNvSpPr txBox="1"/>
          <p:nvPr/>
        </p:nvSpPr>
        <p:spPr>
          <a:xfrm>
            <a:off x="6639725" y="1989689"/>
            <a:ext cx="4953000" cy="329386"/>
          </a:xfrm>
          <a:prstGeom prst="rect">
            <a:avLst/>
          </a:prstGeom>
          <a:noFill/>
          <a:ln>
            <a:noFill/>
          </a:ln>
        </p:spPr>
        <p:txBody>
          <a:bodyPr anchorCtr="0" anchor="t" bIns="0" lIns="0" spcFirstLastPara="1" rIns="0" wrap="square" tIns="0">
            <a:spAutoFit/>
          </a:bodyPr>
          <a:lstStyle/>
          <a:p>
            <a:pPr indent="-180983" lvl="1" marL="361968" marR="0" rtl="0" algn="l">
              <a:lnSpc>
                <a:spcPct val="140000"/>
              </a:lnSpc>
              <a:spcBef>
                <a:spcPts val="0"/>
              </a:spcBef>
              <a:spcAft>
                <a:spcPts val="0"/>
              </a:spcAft>
              <a:buClr>
                <a:srgbClr val="333333"/>
              </a:buClr>
              <a:buSzPts val="2000"/>
              <a:buFont typeface="Arial"/>
              <a:buChar char="•"/>
            </a:pPr>
            <a:r>
              <a:rPr b="0" i="0" lang="en-US" sz="2000" u="none" cap="none" strike="noStrike">
                <a:solidFill>
                  <a:srgbClr val="333333"/>
                </a:solidFill>
                <a:latin typeface="Times New Roman"/>
                <a:ea typeface="Times New Roman"/>
                <a:cs typeface="Times New Roman"/>
                <a:sym typeface="Times New Roman"/>
              </a:rPr>
              <a:t>All banks operate </a:t>
            </a:r>
            <a:r>
              <a:rPr b="0" i="0" lang="en-US" sz="2000" u="none" cap="none" strike="noStrike">
                <a:solidFill>
                  <a:srgbClr val="1161A2"/>
                </a:solidFill>
                <a:latin typeface="Times New Roman"/>
                <a:ea typeface="Times New Roman"/>
                <a:cs typeface="Times New Roman"/>
                <a:sym typeface="Times New Roman"/>
              </a:rPr>
              <a:t>simultaneously</a:t>
            </a:r>
            <a:r>
              <a:rPr b="0" i="0" lang="en-US" sz="2000" u="none" cap="none" strike="noStrike">
                <a:solidFill>
                  <a:srgbClr val="333333"/>
                </a:solidFill>
                <a:latin typeface="Times New Roman"/>
                <a:ea typeface="Times New Roman"/>
                <a:cs typeface="Times New Roman"/>
                <a:sym typeface="Times New Roman"/>
              </a:rPr>
              <a:t> in parallel</a:t>
            </a:r>
            <a:endParaRPr/>
          </a:p>
        </p:txBody>
      </p:sp>
      <p:sp>
        <p:nvSpPr>
          <p:cNvPr id="955" name="Google Shape;955;p93"/>
          <p:cNvSpPr txBox="1"/>
          <p:nvPr/>
        </p:nvSpPr>
        <p:spPr>
          <a:xfrm>
            <a:off x="6639725" y="2419350"/>
            <a:ext cx="5454443" cy="329386"/>
          </a:xfrm>
          <a:prstGeom prst="rect">
            <a:avLst/>
          </a:prstGeom>
          <a:noFill/>
          <a:ln>
            <a:noFill/>
          </a:ln>
        </p:spPr>
        <p:txBody>
          <a:bodyPr anchorCtr="0" anchor="t" bIns="0" lIns="0" spcFirstLastPara="1" rIns="0" wrap="square" tIns="0">
            <a:spAutoFit/>
          </a:bodyPr>
          <a:lstStyle/>
          <a:p>
            <a:pPr indent="-180983" lvl="1" marL="361968" marR="0" rtl="0" algn="l">
              <a:lnSpc>
                <a:spcPct val="140000"/>
              </a:lnSpc>
              <a:spcBef>
                <a:spcPts val="0"/>
              </a:spcBef>
              <a:spcAft>
                <a:spcPts val="0"/>
              </a:spcAft>
              <a:buClr>
                <a:srgbClr val="333333"/>
              </a:buClr>
              <a:buSzPts val="2000"/>
              <a:buFont typeface="Arial"/>
              <a:buChar char="•"/>
            </a:pPr>
            <a:r>
              <a:rPr b="0" i="0" lang="en-US" sz="2000" u="none" cap="none" strike="noStrike">
                <a:solidFill>
                  <a:srgbClr val="333333"/>
                </a:solidFill>
                <a:latin typeface="Times New Roman"/>
                <a:ea typeface="Times New Roman"/>
                <a:cs typeface="Times New Roman"/>
                <a:sym typeface="Times New Roman"/>
              </a:rPr>
              <a:t>This parallel operation is the </a:t>
            </a:r>
            <a:r>
              <a:rPr b="0" i="0" lang="en-US" sz="2000" u="none" cap="none" strike="noStrike">
                <a:solidFill>
                  <a:srgbClr val="1D64A9"/>
                </a:solidFill>
                <a:latin typeface="Times New Roman"/>
                <a:ea typeface="Times New Roman"/>
                <a:cs typeface="Times New Roman"/>
                <a:sym typeface="Times New Roman"/>
              </a:rPr>
              <a:t>key to performance</a:t>
            </a:r>
            <a:endParaRPr/>
          </a:p>
        </p:txBody>
      </p:sp>
      <p:sp>
        <p:nvSpPr>
          <p:cNvPr descr="preencoded.png" id="956" name="Google Shape;956;p93"/>
          <p:cNvSpPr/>
          <p:nvPr/>
        </p:nvSpPr>
        <p:spPr>
          <a:xfrm>
            <a:off x="2028403" y="3841750"/>
            <a:ext cx="1942920" cy="1639339"/>
          </a:xfrm>
          <a:custGeom>
            <a:rect b="b" l="l" r="r" t="t"/>
            <a:pathLst>
              <a:path extrusionOk="0" h="2459008" w="2914380">
                <a:moveTo>
                  <a:pt x="0" y="0"/>
                </a:moveTo>
                <a:lnTo>
                  <a:pt x="2914380" y="0"/>
                </a:lnTo>
                <a:lnTo>
                  <a:pt x="2914380" y="2459008"/>
                </a:lnTo>
                <a:lnTo>
                  <a:pt x="0" y="2459008"/>
                </a:lnTo>
                <a:lnTo>
                  <a:pt x="0" y="0"/>
                </a:lnTo>
                <a:close/>
              </a:path>
            </a:pathLst>
          </a:custGeom>
          <a:blipFill rotWithShape="1">
            <a:blip r:embed="rId5">
              <a:alphaModFix/>
            </a:blip>
            <a:stretch>
              <a:fillRect b="-924" l="0" r="0" t="-92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57" name="Google Shape;957;p93"/>
          <p:cNvSpPr/>
          <p:nvPr/>
        </p:nvSpPr>
        <p:spPr>
          <a:xfrm>
            <a:off x="2149835" y="4266764"/>
            <a:ext cx="1700055" cy="303581"/>
          </a:xfrm>
          <a:custGeom>
            <a:rect b="b" l="l" r="r" t="t"/>
            <a:pathLst>
              <a:path extrusionOk="0" h="455372" w="2550082">
                <a:moveTo>
                  <a:pt x="0" y="0"/>
                </a:moveTo>
                <a:lnTo>
                  <a:pt x="2550082" y="0"/>
                </a:lnTo>
                <a:lnTo>
                  <a:pt x="2550082" y="455371"/>
                </a:lnTo>
                <a:lnTo>
                  <a:pt x="0" y="455371"/>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58" name="Google Shape;958;p93"/>
          <p:cNvSpPr/>
          <p:nvPr/>
        </p:nvSpPr>
        <p:spPr>
          <a:xfrm>
            <a:off x="2210552" y="4357838"/>
            <a:ext cx="121433" cy="121433"/>
          </a:xfrm>
          <a:custGeom>
            <a:rect b="b" l="l" r="r" t="t"/>
            <a:pathLst>
              <a:path extrusionOk="0" h="182149" w="182149">
                <a:moveTo>
                  <a:pt x="0" y="0"/>
                </a:moveTo>
                <a:lnTo>
                  <a:pt x="182149" y="0"/>
                </a:lnTo>
                <a:lnTo>
                  <a:pt x="182149" y="182149"/>
                </a:lnTo>
                <a:lnTo>
                  <a:pt x="0" y="18214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59" name="Google Shape;959;p93"/>
          <p:cNvSpPr/>
          <p:nvPr/>
        </p:nvSpPr>
        <p:spPr>
          <a:xfrm>
            <a:off x="2149835" y="4661420"/>
            <a:ext cx="1700055" cy="303581"/>
          </a:xfrm>
          <a:custGeom>
            <a:rect b="b" l="l" r="r" t="t"/>
            <a:pathLst>
              <a:path extrusionOk="0" h="455372" w="2550082">
                <a:moveTo>
                  <a:pt x="0" y="0"/>
                </a:moveTo>
                <a:lnTo>
                  <a:pt x="2550082" y="0"/>
                </a:lnTo>
                <a:lnTo>
                  <a:pt x="2550082" y="455372"/>
                </a:lnTo>
                <a:lnTo>
                  <a:pt x="0" y="45537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60" name="Google Shape;960;p93"/>
          <p:cNvSpPr/>
          <p:nvPr/>
        </p:nvSpPr>
        <p:spPr>
          <a:xfrm>
            <a:off x="2210552" y="4752494"/>
            <a:ext cx="136611" cy="121433"/>
          </a:xfrm>
          <a:custGeom>
            <a:rect b="b" l="l" r="r" t="t"/>
            <a:pathLst>
              <a:path extrusionOk="0" h="182149" w="204917">
                <a:moveTo>
                  <a:pt x="0" y="0"/>
                </a:moveTo>
                <a:lnTo>
                  <a:pt x="204918" y="0"/>
                </a:lnTo>
                <a:lnTo>
                  <a:pt x="204918" y="182149"/>
                </a:lnTo>
                <a:lnTo>
                  <a:pt x="0" y="182149"/>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61" name="Google Shape;961;p93"/>
          <p:cNvSpPr/>
          <p:nvPr/>
        </p:nvSpPr>
        <p:spPr>
          <a:xfrm>
            <a:off x="2149835" y="5056075"/>
            <a:ext cx="1700055" cy="303581"/>
          </a:xfrm>
          <a:custGeom>
            <a:rect b="b" l="l" r="r" t="t"/>
            <a:pathLst>
              <a:path extrusionOk="0" h="455372" w="2550082">
                <a:moveTo>
                  <a:pt x="0" y="0"/>
                </a:moveTo>
                <a:lnTo>
                  <a:pt x="2550082" y="0"/>
                </a:lnTo>
                <a:lnTo>
                  <a:pt x="2550082" y="455372"/>
                </a:lnTo>
                <a:lnTo>
                  <a:pt x="0" y="45537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62" name="Google Shape;962;p93"/>
          <p:cNvSpPr/>
          <p:nvPr/>
        </p:nvSpPr>
        <p:spPr>
          <a:xfrm>
            <a:off x="2210552" y="5147150"/>
            <a:ext cx="121433" cy="121433"/>
          </a:xfrm>
          <a:custGeom>
            <a:rect b="b" l="l" r="r" t="t"/>
            <a:pathLst>
              <a:path extrusionOk="0" h="182149" w="182149">
                <a:moveTo>
                  <a:pt x="0" y="0"/>
                </a:moveTo>
                <a:lnTo>
                  <a:pt x="182149" y="0"/>
                </a:lnTo>
                <a:lnTo>
                  <a:pt x="182149" y="182149"/>
                </a:lnTo>
                <a:lnTo>
                  <a:pt x="0" y="182149"/>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63" name="Google Shape;963;p93"/>
          <p:cNvSpPr txBox="1"/>
          <p:nvPr/>
        </p:nvSpPr>
        <p:spPr>
          <a:xfrm>
            <a:off x="2149835" y="3912383"/>
            <a:ext cx="1700055" cy="29444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1795">
                <a:solidFill>
                  <a:srgbClr val="333333"/>
                </a:solidFill>
                <a:latin typeface="Times New Roman"/>
                <a:ea typeface="Times New Roman"/>
                <a:cs typeface="Times New Roman"/>
                <a:sym typeface="Times New Roman"/>
              </a:rPr>
              <a:t>Bank 0</a:t>
            </a:r>
            <a:endParaRPr/>
          </a:p>
        </p:txBody>
      </p:sp>
      <p:sp>
        <p:nvSpPr>
          <p:cNvPr id="964" name="Google Shape;964;p93"/>
          <p:cNvSpPr txBox="1"/>
          <p:nvPr/>
        </p:nvSpPr>
        <p:spPr>
          <a:xfrm>
            <a:off x="2423059" y="4244999"/>
            <a:ext cx="1152172" cy="26795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556">
                <a:solidFill>
                  <a:srgbClr val="333333"/>
                </a:solidFill>
                <a:latin typeface="Times New Roman"/>
                <a:ea typeface="Times New Roman"/>
                <a:cs typeface="Times New Roman"/>
                <a:sym typeface="Times New Roman"/>
              </a:rPr>
              <a:t>Tag Array</a:t>
            </a:r>
            <a:endParaRPr/>
          </a:p>
        </p:txBody>
      </p:sp>
      <p:sp>
        <p:nvSpPr>
          <p:cNvPr id="965" name="Google Shape;965;p93"/>
          <p:cNvSpPr txBox="1"/>
          <p:nvPr/>
        </p:nvSpPr>
        <p:spPr>
          <a:xfrm>
            <a:off x="2438238" y="4664985"/>
            <a:ext cx="883421" cy="26795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556">
                <a:solidFill>
                  <a:srgbClr val="333333"/>
                </a:solidFill>
                <a:latin typeface="Times New Roman"/>
                <a:ea typeface="Times New Roman"/>
                <a:cs typeface="Times New Roman"/>
                <a:sym typeface="Times New Roman"/>
              </a:rPr>
              <a:t>Data Array</a:t>
            </a:r>
            <a:endParaRPr/>
          </a:p>
        </p:txBody>
      </p:sp>
      <p:sp>
        <p:nvSpPr>
          <p:cNvPr id="966" name="Google Shape;966;p93"/>
          <p:cNvSpPr txBox="1"/>
          <p:nvPr/>
        </p:nvSpPr>
        <p:spPr>
          <a:xfrm>
            <a:off x="2410359" y="5027960"/>
            <a:ext cx="1152172" cy="26795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556">
                <a:solidFill>
                  <a:srgbClr val="333333"/>
                </a:solidFill>
                <a:latin typeface="Times New Roman"/>
                <a:ea typeface="Times New Roman"/>
                <a:cs typeface="Times New Roman"/>
                <a:sym typeface="Times New Roman"/>
              </a:rPr>
              <a:t>MSHR</a:t>
            </a:r>
            <a:endParaRPr/>
          </a:p>
        </p:txBody>
      </p:sp>
      <p:sp>
        <p:nvSpPr>
          <p:cNvPr id="967" name="Google Shape;967;p93"/>
          <p:cNvSpPr txBox="1"/>
          <p:nvPr/>
        </p:nvSpPr>
        <p:spPr>
          <a:xfrm>
            <a:off x="4214188" y="3912383"/>
            <a:ext cx="1700055" cy="29444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1795">
                <a:solidFill>
                  <a:srgbClr val="333333"/>
                </a:solidFill>
                <a:latin typeface="Times New Roman"/>
                <a:ea typeface="Times New Roman"/>
                <a:cs typeface="Times New Roman"/>
                <a:sym typeface="Times New Roman"/>
              </a:rPr>
              <a:t>Bank 1</a:t>
            </a:r>
            <a:endParaRPr/>
          </a:p>
        </p:txBody>
      </p:sp>
      <p:sp>
        <p:nvSpPr>
          <p:cNvPr id="968" name="Google Shape;968;p93"/>
          <p:cNvSpPr txBox="1"/>
          <p:nvPr/>
        </p:nvSpPr>
        <p:spPr>
          <a:xfrm>
            <a:off x="4502590" y="4664985"/>
            <a:ext cx="883421" cy="26795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556">
                <a:solidFill>
                  <a:srgbClr val="333333"/>
                </a:solidFill>
                <a:latin typeface="Times New Roman"/>
                <a:ea typeface="Times New Roman"/>
                <a:cs typeface="Times New Roman"/>
                <a:sym typeface="Times New Roman"/>
              </a:rPr>
              <a:t>Data Array</a:t>
            </a:r>
            <a:endParaRPr/>
          </a:p>
        </p:txBody>
      </p:sp>
      <p:sp>
        <p:nvSpPr>
          <p:cNvPr id="969" name="Google Shape;969;p93"/>
          <p:cNvSpPr txBox="1"/>
          <p:nvPr/>
        </p:nvSpPr>
        <p:spPr>
          <a:xfrm>
            <a:off x="4508940" y="5027960"/>
            <a:ext cx="898601" cy="26795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556">
                <a:solidFill>
                  <a:srgbClr val="333333"/>
                </a:solidFill>
                <a:latin typeface="Times New Roman"/>
                <a:ea typeface="Times New Roman"/>
                <a:cs typeface="Times New Roman"/>
                <a:sym typeface="Times New Roman"/>
              </a:rPr>
              <a:t>MSHR</a:t>
            </a:r>
            <a:endParaRPr/>
          </a:p>
        </p:txBody>
      </p:sp>
      <p:sp>
        <p:nvSpPr>
          <p:cNvPr id="970" name="Google Shape;970;p93"/>
          <p:cNvSpPr txBox="1"/>
          <p:nvPr/>
        </p:nvSpPr>
        <p:spPr>
          <a:xfrm>
            <a:off x="6277757" y="3912383"/>
            <a:ext cx="1700055" cy="29444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1795">
                <a:solidFill>
                  <a:srgbClr val="333333"/>
                </a:solidFill>
                <a:latin typeface="Times New Roman"/>
                <a:ea typeface="Times New Roman"/>
                <a:cs typeface="Times New Roman"/>
                <a:sym typeface="Times New Roman"/>
              </a:rPr>
              <a:t>Bank 2</a:t>
            </a:r>
            <a:endParaRPr/>
          </a:p>
        </p:txBody>
      </p:sp>
      <p:sp>
        <p:nvSpPr>
          <p:cNvPr id="971" name="Google Shape;971;p93"/>
          <p:cNvSpPr txBox="1"/>
          <p:nvPr/>
        </p:nvSpPr>
        <p:spPr>
          <a:xfrm>
            <a:off x="6550981" y="4244999"/>
            <a:ext cx="1426832" cy="26795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556">
                <a:solidFill>
                  <a:srgbClr val="333333"/>
                </a:solidFill>
                <a:latin typeface="Times New Roman"/>
                <a:ea typeface="Times New Roman"/>
                <a:cs typeface="Times New Roman"/>
                <a:sym typeface="Times New Roman"/>
              </a:rPr>
              <a:t>Tag Array</a:t>
            </a:r>
            <a:endParaRPr/>
          </a:p>
        </p:txBody>
      </p:sp>
      <p:sp>
        <p:nvSpPr>
          <p:cNvPr id="972" name="Google Shape;972;p93"/>
          <p:cNvSpPr txBox="1"/>
          <p:nvPr/>
        </p:nvSpPr>
        <p:spPr>
          <a:xfrm>
            <a:off x="6566160" y="4664985"/>
            <a:ext cx="883421" cy="26795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556">
                <a:solidFill>
                  <a:srgbClr val="333333"/>
                </a:solidFill>
                <a:latin typeface="Times New Roman"/>
                <a:ea typeface="Times New Roman"/>
                <a:cs typeface="Times New Roman"/>
                <a:sym typeface="Times New Roman"/>
              </a:rPr>
              <a:t>Data Array</a:t>
            </a:r>
            <a:endParaRPr/>
          </a:p>
        </p:txBody>
      </p:sp>
      <p:sp>
        <p:nvSpPr>
          <p:cNvPr id="973" name="Google Shape;973;p93"/>
          <p:cNvSpPr txBox="1"/>
          <p:nvPr/>
        </p:nvSpPr>
        <p:spPr>
          <a:xfrm>
            <a:off x="8342110" y="3912383"/>
            <a:ext cx="1700055" cy="29444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1795">
                <a:solidFill>
                  <a:srgbClr val="333333"/>
                </a:solidFill>
                <a:latin typeface="Times New Roman"/>
                <a:ea typeface="Times New Roman"/>
                <a:cs typeface="Times New Roman"/>
                <a:sym typeface="Times New Roman"/>
              </a:rPr>
              <a:t>Bank 3</a:t>
            </a:r>
            <a:endParaRPr/>
          </a:p>
        </p:txBody>
      </p:sp>
      <p:sp>
        <p:nvSpPr>
          <p:cNvPr descr="preencoded.png" id="974" name="Google Shape;974;p93"/>
          <p:cNvSpPr/>
          <p:nvPr/>
        </p:nvSpPr>
        <p:spPr>
          <a:xfrm>
            <a:off x="8469892" y="5056075"/>
            <a:ext cx="1700055" cy="303581"/>
          </a:xfrm>
          <a:custGeom>
            <a:rect b="b" l="l" r="r" t="t"/>
            <a:pathLst>
              <a:path extrusionOk="0" h="455372" w="2550082">
                <a:moveTo>
                  <a:pt x="0" y="0"/>
                </a:moveTo>
                <a:lnTo>
                  <a:pt x="2550083" y="0"/>
                </a:lnTo>
                <a:lnTo>
                  <a:pt x="2550083" y="455372"/>
                </a:lnTo>
                <a:lnTo>
                  <a:pt x="0" y="45537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75" name="Google Shape;975;p93"/>
          <p:cNvSpPr txBox="1"/>
          <p:nvPr/>
        </p:nvSpPr>
        <p:spPr>
          <a:xfrm>
            <a:off x="8638254" y="5027960"/>
            <a:ext cx="898601" cy="26795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556">
                <a:solidFill>
                  <a:srgbClr val="333333"/>
                </a:solidFill>
                <a:latin typeface="Times New Roman"/>
                <a:ea typeface="Times New Roman"/>
                <a:cs typeface="Times New Roman"/>
                <a:sym typeface="Times New Roman"/>
              </a:rPr>
              <a:t>MSHR</a:t>
            </a:r>
            <a:endParaRPr/>
          </a:p>
        </p:txBody>
      </p:sp>
      <p:sp>
        <p:nvSpPr>
          <p:cNvPr id="976" name="Google Shape;976;p93"/>
          <p:cNvSpPr txBox="1"/>
          <p:nvPr/>
        </p:nvSpPr>
        <p:spPr>
          <a:xfrm>
            <a:off x="1993083" y="577850"/>
            <a:ext cx="8205835" cy="631198"/>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b="1" i="1" lang="en-US" sz="3832">
                <a:solidFill>
                  <a:srgbClr val="000000"/>
                </a:solidFill>
                <a:latin typeface="Arial"/>
                <a:ea typeface="Arial"/>
                <a:cs typeface="Arial"/>
                <a:sym typeface="Arial"/>
              </a:rPr>
              <a:t>Banking Architecture Overview</a:t>
            </a:r>
            <a:endParaRPr/>
          </a:p>
        </p:txBody>
      </p:sp>
      <p:sp>
        <p:nvSpPr>
          <p:cNvPr descr="preencoded.png" id="977" name="Google Shape;977;p93"/>
          <p:cNvSpPr/>
          <p:nvPr/>
        </p:nvSpPr>
        <p:spPr>
          <a:xfrm>
            <a:off x="4274513" y="4266764"/>
            <a:ext cx="1700055" cy="303581"/>
          </a:xfrm>
          <a:custGeom>
            <a:rect b="b" l="l" r="r" t="t"/>
            <a:pathLst>
              <a:path extrusionOk="0" h="455372" w="2550082">
                <a:moveTo>
                  <a:pt x="0" y="0"/>
                </a:moveTo>
                <a:lnTo>
                  <a:pt x="2550082" y="0"/>
                </a:lnTo>
                <a:lnTo>
                  <a:pt x="2550082" y="455371"/>
                </a:lnTo>
                <a:lnTo>
                  <a:pt x="0" y="455371"/>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78" name="Google Shape;978;p93"/>
          <p:cNvSpPr txBox="1"/>
          <p:nvPr/>
        </p:nvSpPr>
        <p:spPr>
          <a:xfrm>
            <a:off x="4487411" y="4244999"/>
            <a:ext cx="1392689" cy="26795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556">
                <a:solidFill>
                  <a:srgbClr val="333333"/>
                </a:solidFill>
                <a:latin typeface="Times New Roman"/>
                <a:ea typeface="Times New Roman"/>
                <a:cs typeface="Times New Roman"/>
                <a:sym typeface="Times New Roman"/>
              </a:rPr>
              <a:t>Tag Array</a:t>
            </a:r>
            <a:endParaRPr/>
          </a:p>
        </p:txBody>
      </p:sp>
      <p:sp>
        <p:nvSpPr>
          <p:cNvPr id="979" name="Google Shape;979;p93"/>
          <p:cNvSpPr txBox="1"/>
          <p:nvPr/>
        </p:nvSpPr>
        <p:spPr>
          <a:xfrm>
            <a:off x="6566159" y="5027960"/>
            <a:ext cx="1237443" cy="26795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556">
                <a:solidFill>
                  <a:srgbClr val="333333"/>
                </a:solidFill>
                <a:latin typeface="Times New Roman"/>
                <a:ea typeface="Times New Roman"/>
                <a:cs typeface="Times New Roman"/>
                <a:sym typeface="Times New Roman"/>
              </a:rPr>
              <a:t>MSHR</a:t>
            </a:r>
            <a:endParaRPr/>
          </a:p>
        </p:txBody>
      </p:sp>
      <p:sp>
        <p:nvSpPr>
          <p:cNvPr descr="preencoded.png" id="980" name="Google Shape;980;p93"/>
          <p:cNvSpPr/>
          <p:nvPr/>
        </p:nvSpPr>
        <p:spPr>
          <a:xfrm>
            <a:off x="8469892" y="4266764"/>
            <a:ext cx="1700055" cy="303581"/>
          </a:xfrm>
          <a:custGeom>
            <a:rect b="b" l="l" r="r" t="t"/>
            <a:pathLst>
              <a:path extrusionOk="0" h="455372" w="2550082">
                <a:moveTo>
                  <a:pt x="0" y="0"/>
                </a:moveTo>
                <a:lnTo>
                  <a:pt x="2550083" y="0"/>
                </a:lnTo>
                <a:lnTo>
                  <a:pt x="2550083" y="455371"/>
                </a:lnTo>
                <a:lnTo>
                  <a:pt x="0" y="455371"/>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81" name="Google Shape;981;p93"/>
          <p:cNvSpPr txBox="1"/>
          <p:nvPr/>
        </p:nvSpPr>
        <p:spPr>
          <a:xfrm>
            <a:off x="8621683" y="4244999"/>
            <a:ext cx="1056941" cy="26795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556">
                <a:solidFill>
                  <a:srgbClr val="333333"/>
                </a:solidFill>
                <a:latin typeface="Times New Roman"/>
                <a:ea typeface="Times New Roman"/>
                <a:cs typeface="Times New Roman"/>
                <a:sym typeface="Times New Roman"/>
              </a:rPr>
              <a:t>Tag Array</a:t>
            </a:r>
            <a:endParaRPr/>
          </a:p>
        </p:txBody>
      </p:sp>
      <p:sp>
        <p:nvSpPr>
          <p:cNvPr descr="preencoded.png" id="982" name="Google Shape;982;p93"/>
          <p:cNvSpPr/>
          <p:nvPr/>
        </p:nvSpPr>
        <p:spPr>
          <a:xfrm>
            <a:off x="8469892" y="4661420"/>
            <a:ext cx="1700055" cy="303581"/>
          </a:xfrm>
          <a:custGeom>
            <a:rect b="b" l="l" r="r" t="t"/>
            <a:pathLst>
              <a:path extrusionOk="0" h="455372" w="2550082">
                <a:moveTo>
                  <a:pt x="0" y="0"/>
                </a:moveTo>
                <a:lnTo>
                  <a:pt x="2550083" y="0"/>
                </a:lnTo>
                <a:lnTo>
                  <a:pt x="2550083" y="455372"/>
                </a:lnTo>
                <a:lnTo>
                  <a:pt x="0" y="45537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83" name="Google Shape;983;p93"/>
          <p:cNvSpPr txBox="1"/>
          <p:nvPr/>
        </p:nvSpPr>
        <p:spPr>
          <a:xfrm>
            <a:off x="8630512" y="4664985"/>
            <a:ext cx="883421" cy="26795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556">
                <a:solidFill>
                  <a:srgbClr val="333333"/>
                </a:solidFill>
                <a:latin typeface="Times New Roman"/>
                <a:ea typeface="Times New Roman"/>
                <a:cs typeface="Times New Roman"/>
                <a:sym typeface="Times New Roman"/>
              </a:rPr>
              <a:t>Data Array</a:t>
            </a:r>
            <a:endParaRPr/>
          </a:p>
        </p:txBody>
      </p:sp>
      <p:sp>
        <p:nvSpPr>
          <p:cNvPr descr="preencoded.png" id="984" name="Google Shape;984;p93"/>
          <p:cNvSpPr/>
          <p:nvPr/>
        </p:nvSpPr>
        <p:spPr>
          <a:xfrm>
            <a:off x="4325118" y="4345138"/>
            <a:ext cx="121433" cy="121433"/>
          </a:xfrm>
          <a:custGeom>
            <a:rect b="b" l="l" r="r" t="t"/>
            <a:pathLst>
              <a:path extrusionOk="0" h="182149" w="182149">
                <a:moveTo>
                  <a:pt x="0" y="0"/>
                </a:moveTo>
                <a:lnTo>
                  <a:pt x="182148" y="0"/>
                </a:lnTo>
                <a:lnTo>
                  <a:pt x="182148" y="182149"/>
                </a:lnTo>
                <a:lnTo>
                  <a:pt x="0" y="18214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85" name="Google Shape;985;p93"/>
          <p:cNvSpPr/>
          <p:nvPr/>
        </p:nvSpPr>
        <p:spPr>
          <a:xfrm>
            <a:off x="4325118" y="4739794"/>
            <a:ext cx="136611" cy="121433"/>
          </a:xfrm>
          <a:custGeom>
            <a:rect b="b" l="l" r="r" t="t"/>
            <a:pathLst>
              <a:path extrusionOk="0" h="182149" w="204917">
                <a:moveTo>
                  <a:pt x="0" y="0"/>
                </a:moveTo>
                <a:lnTo>
                  <a:pt x="204917" y="0"/>
                </a:lnTo>
                <a:lnTo>
                  <a:pt x="204917" y="182149"/>
                </a:lnTo>
                <a:lnTo>
                  <a:pt x="0" y="182149"/>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86" name="Google Shape;986;p93"/>
          <p:cNvSpPr/>
          <p:nvPr/>
        </p:nvSpPr>
        <p:spPr>
          <a:xfrm>
            <a:off x="4325118" y="5134450"/>
            <a:ext cx="121433" cy="121433"/>
          </a:xfrm>
          <a:custGeom>
            <a:rect b="b" l="l" r="r" t="t"/>
            <a:pathLst>
              <a:path extrusionOk="0" h="182149" w="182149">
                <a:moveTo>
                  <a:pt x="0" y="0"/>
                </a:moveTo>
                <a:lnTo>
                  <a:pt x="182148" y="0"/>
                </a:lnTo>
                <a:lnTo>
                  <a:pt x="182148" y="182149"/>
                </a:lnTo>
                <a:lnTo>
                  <a:pt x="0" y="182149"/>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87" name="Google Shape;987;p93"/>
          <p:cNvSpPr/>
          <p:nvPr/>
        </p:nvSpPr>
        <p:spPr>
          <a:xfrm>
            <a:off x="6414370" y="4351488"/>
            <a:ext cx="121433" cy="121433"/>
          </a:xfrm>
          <a:custGeom>
            <a:rect b="b" l="l" r="r" t="t"/>
            <a:pathLst>
              <a:path extrusionOk="0" h="182149" w="182149">
                <a:moveTo>
                  <a:pt x="0" y="0"/>
                </a:moveTo>
                <a:lnTo>
                  <a:pt x="182148" y="0"/>
                </a:lnTo>
                <a:lnTo>
                  <a:pt x="182148" y="182149"/>
                </a:lnTo>
                <a:lnTo>
                  <a:pt x="0" y="18214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88" name="Google Shape;988;p93"/>
          <p:cNvSpPr/>
          <p:nvPr/>
        </p:nvSpPr>
        <p:spPr>
          <a:xfrm>
            <a:off x="6414370" y="4746144"/>
            <a:ext cx="136611" cy="121433"/>
          </a:xfrm>
          <a:custGeom>
            <a:rect b="b" l="l" r="r" t="t"/>
            <a:pathLst>
              <a:path extrusionOk="0" h="182149" w="204917">
                <a:moveTo>
                  <a:pt x="0" y="0"/>
                </a:moveTo>
                <a:lnTo>
                  <a:pt x="204917" y="0"/>
                </a:lnTo>
                <a:lnTo>
                  <a:pt x="204917" y="182149"/>
                </a:lnTo>
                <a:lnTo>
                  <a:pt x="0" y="182149"/>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89" name="Google Shape;989;p93"/>
          <p:cNvSpPr/>
          <p:nvPr/>
        </p:nvSpPr>
        <p:spPr>
          <a:xfrm>
            <a:off x="6414370" y="5140800"/>
            <a:ext cx="121433" cy="121433"/>
          </a:xfrm>
          <a:custGeom>
            <a:rect b="b" l="l" r="r" t="t"/>
            <a:pathLst>
              <a:path extrusionOk="0" h="182149" w="182149">
                <a:moveTo>
                  <a:pt x="0" y="0"/>
                </a:moveTo>
                <a:lnTo>
                  <a:pt x="182148" y="0"/>
                </a:lnTo>
                <a:lnTo>
                  <a:pt x="182148" y="182149"/>
                </a:lnTo>
                <a:lnTo>
                  <a:pt x="0" y="182149"/>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90" name="Google Shape;990;p93"/>
          <p:cNvSpPr/>
          <p:nvPr/>
        </p:nvSpPr>
        <p:spPr>
          <a:xfrm>
            <a:off x="8478722" y="4351488"/>
            <a:ext cx="121433" cy="121433"/>
          </a:xfrm>
          <a:custGeom>
            <a:rect b="b" l="l" r="r" t="t"/>
            <a:pathLst>
              <a:path extrusionOk="0" h="182149" w="182149">
                <a:moveTo>
                  <a:pt x="0" y="0"/>
                </a:moveTo>
                <a:lnTo>
                  <a:pt x="182149" y="0"/>
                </a:lnTo>
                <a:lnTo>
                  <a:pt x="182149" y="182149"/>
                </a:lnTo>
                <a:lnTo>
                  <a:pt x="0" y="18214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91" name="Google Shape;991;p93"/>
          <p:cNvSpPr/>
          <p:nvPr/>
        </p:nvSpPr>
        <p:spPr>
          <a:xfrm>
            <a:off x="8478722" y="4746144"/>
            <a:ext cx="136611" cy="121433"/>
          </a:xfrm>
          <a:custGeom>
            <a:rect b="b" l="l" r="r" t="t"/>
            <a:pathLst>
              <a:path extrusionOk="0" h="182149" w="204917">
                <a:moveTo>
                  <a:pt x="0" y="0"/>
                </a:moveTo>
                <a:lnTo>
                  <a:pt x="204917" y="0"/>
                </a:lnTo>
                <a:lnTo>
                  <a:pt x="204917" y="182149"/>
                </a:lnTo>
                <a:lnTo>
                  <a:pt x="0" y="182149"/>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preencoded.png" id="992" name="Google Shape;992;p93"/>
          <p:cNvSpPr/>
          <p:nvPr/>
        </p:nvSpPr>
        <p:spPr>
          <a:xfrm>
            <a:off x="8478722" y="5140800"/>
            <a:ext cx="121433" cy="121433"/>
          </a:xfrm>
          <a:custGeom>
            <a:rect b="b" l="l" r="r" t="t"/>
            <a:pathLst>
              <a:path extrusionOk="0" h="182149" w="182149">
                <a:moveTo>
                  <a:pt x="0" y="0"/>
                </a:moveTo>
                <a:lnTo>
                  <a:pt x="182149" y="0"/>
                </a:lnTo>
                <a:lnTo>
                  <a:pt x="182149" y="182149"/>
                </a:lnTo>
                <a:lnTo>
                  <a:pt x="0" y="182149"/>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descr="A close up of a logo  Description automatically generated" id="997" name="Google Shape;997;p94"/>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A close up of a logo  Description automatically generated" id="998" name="Google Shape;998;p94"/>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999" name="Google Shape;999;p94"/>
          <p:cNvSpPr/>
          <p:nvPr/>
        </p:nvSpPr>
        <p:spPr>
          <a:xfrm>
            <a:off x="165347" y="92361"/>
            <a:ext cx="1049896" cy="1049896"/>
          </a:xfrm>
          <a:custGeom>
            <a:rect b="b" l="l" r="r" t="t"/>
            <a:pathLst>
              <a:path extrusionOk="0" h="1574844" w="1574844">
                <a:moveTo>
                  <a:pt x="0" y="0"/>
                </a:moveTo>
                <a:lnTo>
                  <a:pt x="1574845" y="0"/>
                </a:lnTo>
                <a:lnTo>
                  <a:pt x="1574845" y="1574845"/>
                </a:lnTo>
                <a:lnTo>
                  <a:pt x="0" y="1574845"/>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grpSp>
        <p:nvGrpSpPr>
          <p:cNvPr id="1000" name="Google Shape;1000;p94"/>
          <p:cNvGrpSpPr/>
          <p:nvPr/>
        </p:nvGrpSpPr>
        <p:grpSpPr>
          <a:xfrm>
            <a:off x="1215244" y="1851814"/>
            <a:ext cx="10016597" cy="4320386"/>
            <a:chOff x="0" y="-57150"/>
            <a:chExt cx="3957174" cy="1706819"/>
          </a:xfrm>
        </p:grpSpPr>
        <p:sp>
          <p:nvSpPr>
            <p:cNvPr id="1001" name="Google Shape;1001;p94"/>
            <p:cNvSpPr/>
            <p:nvPr/>
          </p:nvSpPr>
          <p:spPr>
            <a:xfrm>
              <a:off x="0" y="0"/>
              <a:ext cx="3957174" cy="1649669"/>
            </a:xfrm>
            <a:custGeom>
              <a:rect b="b" l="l" r="r" t="t"/>
              <a:pathLst>
                <a:path extrusionOk="0" h="1649669" w="3957174">
                  <a:moveTo>
                    <a:pt x="0" y="0"/>
                  </a:moveTo>
                  <a:lnTo>
                    <a:pt x="3957174" y="0"/>
                  </a:lnTo>
                  <a:lnTo>
                    <a:pt x="3957174" y="1649669"/>
                  </a:lnTo>
                  <a:lnTo>
                    <a:pt x="0" y="1649669"/>
                  </a:lnTo>
                  <a:close/>
                </a:path>
              </a:pathLst>
            </a:custGeom>
            <a:solidFill>
              <a:srgbClr val="000000">
                <a:alpha val="0"/>
              </a:srgbClr>
            </a:solidFill>
            <a:ln cap="sq" cmpd="sng" w="76200">
              <a:solidFill>
                <a:srgbClr val="005D9D"/>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02" name="Google Shape;1002;p94"/>
            <p:cNvSpPr txBox="1"/>
            <p:nvPr/>
          </p:nvSpPr>
          <p:spPr>
            <a:xfrm>
              <a:off x="0" y="-57150"/>
              <a:ext cx="3957174" cy="1706819"/>
            </a:xfrm>
            <a:prstGeom prst="rect">
              <a:avLst/>
            </a:prstGeom>
            <a:noFill/>
            <a:ln>
              <a:noFill/>
            </a:ln>
          </p:spPr>
          <p:txBody>
            <a:bodyPr anchorCtr="0" anchor="ctr" bIns="33850" lIns="33850" spcFirstLastPara="1" rIns="33850" wrap="square" tIns="33850">
              <a:noAutofit/>
            </a:bodyPr>
            <a:lstStyle/>
            <a:p>
              <a:pPr indent="0" lvl="0" marL="0" marR="0" rtl="0" algn="ctr">
                <a:lnSpc>
                  <a:spcPct val="89625"/>
                </a:lnSpc>
                <a:spcBef>
                  <a:spcPts val="0"/>
                </a:spcBef>
                <a:spcAft>
                  <a:spcPts val="0"/>
                </a:spcAft>
                <a:buNone/>
              </a:pPr>
              <a:r>
                <a:t/>
              </a:r>
              <a:endParaRPr sz="1600">
                <a:solidFill>
                  <a:schemeClr val="dk1"/>
                </a:solidFill>
                <a:latin typeface="Meddon"/>
                <a:ea typeface="Meddon"/>
                <a:cs typeface="Meddon"/>
                <a:sym typeface="Meddon"/>
              </a:endParaRPr>
            </a:p>
          </p:txBody>
        </p:sp>
      </p:grpSp>
      <p:grpSp>
        <p:nvGrpSpPr>
          <p:cNvPr id="1003" name="Google Shape;1003;p94"/>
          <p:cNvGrpSpPr/>
          <p:nvPr/>
        </p:nvGrpSpPr>
        <p:grpSpPr>
          <a:xfrm>
            <a:off x="2480060" y="2502593"/>
            <a:ext cx="3848081" cy="764388"/>
            <a:chOff x="0" y="-104775"/>
            <a:chExt cx="1520230" cy="301980"/>
          </a:xfrm>
        </p:grpSpPr>
        <p:sp>
          <p:nvSpPr>
            <p:cNvPr id="1004" name="Google Shape;1004;p94"/>
            <p:cNvSpPr/>
            <p:nvPr/>
          </p:nvSpPr>
          <p:spPr>
            <a:xfrm>
              <a:off x="0" y="0"/>
              <a:ext cx="1520229" cy="197205"/>
            </a:xfrm>
            <a:custGeom>
              <a:rect b="b" l="l" r="r" t="t"/>
              <a:pathLst>
                <a:path extrusionOk="0" h="197205" w="1520229">
                  <a:moveTo>
                    <a:pt x="0" y="0"/>
                  </a:moveTo>
                  <a:lnTo>
                    <a:pt x="1520229" y="0"/>
                  </a:lnTo>
                  <a:lnTo>
                    <a:pt x="1520229" y="197205"/>
                  </a:lnTo>
                  <a:lnTo>
                    <a:pt x="0" y="197205"/>
                  </a:lnTo>
                  <a:close/>
                </a:path>
              </a:pathLst>
            </a:custGeom>
            <a:solidFill>
              <a:srgbClr val="000000">
                <a:alpha val="0"/>
              </a:srgbClr>
            </a:solidFill>
            <a:ln cap="sq" cmpd="sng" w="38100">
              <a:solidFill>
                <a:srgbClr val="005D9D"/>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05" name="Google Shape;1005;p94"/>
            <p:cNvSpPr txBox="1"/>
            <p:nvPr/>
          </p:nvSpPr>
          <p:spPr>
            <a:xfrm>
              <a:off x="0" y="-104775"/>
              <a:ext cx="1520230" cy="301980"/>
            </a:xfrm>
            <a:prstGeom prst="rect">
              <a:avLst/>
            </a:prstGeom>
            <a:noFill/>
            <a:ln>
              <a:noFill/>
            </a:ln>
          </p:spPr>
          <p:txBody>
            <a:bodyPr anchorCtr="0" anchor="ctr" bIns="33850" lIns="33850" spcFirstLastPara="1" rIns="33850" wrap="square" tIns="33850">
              <a:noAutofit/>
            </a:bodyPr>
            <a:lstStyle/>
            <a:p>
              <a:pPr indent="0" lvl="0" marL="0" marR="0" rtl="0" algn="ctr">
                <a:lnSpc>
                  <a:spcPct val="150000"/>
                </a:lnSpc>
                <a:spcBef>
                  <a:spcPts val="0"/>
                </a:spcBef>
                <a:spcAft>
                  <a:spcPts val="0"/>
                </a:spcAft>
                <a:buNone/>
              </a:pPr>
              <a:r>
                <a:rPr lang="en-US" sz="1956">
                  <a:solidFill>
                    <a:srgbClr val="000000"/>
                  </a:solidFill>
                  <a:latin typeface="Times New Roman"/>
                  <a:ea typeface="Times New Roman"/>
                  <a:cs typeface="Times New Roman"/>
                  <a:sym typeface="Times New Roman"/>
                </a:rPr>
                <a:t>Request Queue &amp; Arbiter</a:t>
              </a:r>
              <a:endParaRPr/>
            </a:p>
          </p:txBody>
        </p:sp>
      </p:grpSp>
      <p:grpSp>
        <p:nvGrpSpPr>
          <p:cNvPr id="1006" name="Google Shape;1006;p94"/>
          <p:cNvGrpSpPr/>
          <p:nvPr/>
        </p:nvGrpSpPr>
        <p:grpSpPr>
          <a:xfrm>
            <a:off x="2480060" y="3336413"/>
            <a:ext cx="3848081" cy="764388"/>
            <a:chOff x="0" y="-104775"/>
            <a:chExt cx="1520230" cy="301980"/>
          </a:xfrm>
        </p:grpSpPr>
        <p:sp>
          <p:nvSpPr>
            <p:cNvPr id="1007" name="Google Shape;1007;p94"/>
            <p:cNvSpPr/>
            <p:nvPr/>
          </p:nvSpPr>
          <p:spPr>
            <a:xfrm>
              <a:off x="0" y="0"/>
              <a:ext cx="1520229" cy="197205"/>
            </a:xfrm>
            <a:custGeom>
              <a:rect b="b" l="l" r="r" t="t"/>
              <a:pathLst>
                <a:path extrusionOk="0" h="197205" w="1520229">
                  <a:moveTo>
                    <a:pt x="0" y="0"/>
                  </a:moveTo>
                  <a:lnTo>
                    <a:pt x="1520229" y="0"/>
                  </a:lnTo>
                  <a:lnTo>
                    <a:pt x="1520229" y="197205"/>
                  </a:lnTo>
                  <a:lnTo>
                    <a:pt x="0" y="197205"/>
                  </a:lnTo>
                  <a:close/>
                </a:path>
              </a:pathLst>
            </a:custGeom>
            <a:solidFill>
              <a:srgbClr val="000000">
                <a:alpha val="0"/>
              </a:srgbClr>
            </a:solidFill>
            <a:ln cap="sq" cmpd="sng" w="38100">
              <a:solidFill>
                <a:srgbClr val="005D9D"/>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08" name="Google Shape;1008;p94"/>
            <p:cNvSpPr txBox="1"/>
            <p:nvPr/>
          </p:nvSpPr>
          <p:spPr>
            <a:xfrm>
              <a:off x="0" y="-104775"/>
              <a:ext cx="1520230" cy="301980"/>
            </a:xfrm>
            <a:prstGeom prst="rect">
              <a:avLst/>
            </a:prstGeom>
            <a:noFill/>
            <a:ln>
              <a:noFill/>
            </a:ln>
          </p:spPr>
          <p:txBody>
            <a:bodyPr anchorCtr="0" anchor="ctr" bIns="33850" lIns="33850" spcFirstLastPara="1" rIns="33850" wrap="square" tIns="33850">
              <a:noAutofit/>
            </a:bodyPr>
            <a:lstStyle/>
            <a:p>
              <a:pPr indent="0" lvl="0" marL="0" marR="0" rtl="0" algn="ctr">
                <a:lnSpc>
                  <a:spcPct val="150000"/>
                </a:lnSpc>
                <a:spcBef>
                  <a:spcPts val="0"/>
                </a:spcBef>
                <a:spcAft>
                  <a:spcPts val="0"/>
                </a:spcAft>
                <a:buNone/>
              </a:pPr>
              <a:r>
                <a:rPr lang="en-US" sz="1956">
                  <a:solidFill>
                    <a:srgbClr val="000000"/>
                  </a:solidFill>
                  <a:latin typeface="Times New Roman"/>
                  <a:ea typeface="Times New Roman"/>
                  <a:cs typeface="Times New Roman"/>
                  <a:sym typeface="Times New Roman"/>
                </a:rPr>
                <a:t>Tag Array</a:t>
              </a:r>
              <a:endParaRPr/>
            </a:p>
          </p:txBody>
        </p:sp>
      </p:grpSp>
      <p:grpSp>
        <p:nvGrpSpPr>
          <p:cNvPr id="1009" name="Google Shape;1009;p94"/>
          <p:cNvGrpSpPr/>
          <p:nvPr/>
        </p:nvGrpSpPr>
        <p:grpSpPr>
          <a:xfrm>
            <a:off x="2480060" y="4164835"/>
            <a:ext cx="3848081" cy="764388"/>
            <a:chOff x="0" y="-104775"/>
            <a:chExt cx="1520230" cy="301980"/>
          </a:xfrm>
        </p:grpSpPr>
        <p:sp>
          <p:nvSpPr>
            <p:cNvPr id="1010" name="Google Shape;1010;p94"/>
            <p:cNvSpPr/>
            <p:nvPr/>
          </p:nvSpPr>
          <p:spPr>
            <a:xfrm>
              <a:off x="0" y="0"/>
              <a:ext cx="1520229" cy="197205"/>
            </a:xfrm>
            <a:custGeom>
              <a:rect b="b" l="l" r="r" t="t"/>
              <a:pathLst>
                <a:path extrusionOk="0" h="197205" w="1520229">
                  <a:moveTo>
                    <a:pt x="0" y="0"/>
                  </a:moveTo>
                  <a:lnTo>
                    <a:pt x="1520229" y="0"/>
                  </a:lnTo>
                  <a:lnTo>
                    <a:pt x="1520229" y="197205"/>
                  </a:lnTo>
                  <a:lnTo>
                    <a:pt x="0" y="197205"/>
                  </a:lnTo>
                  <a:close/>
                </a:path>
              </a:pathLst>
            </a:custGeom>
            <a:solidFill>
              <a:srgbClr val="000000">
                <a:alpha val="0"/>
              </a:srgbClr>
            </a:solidFill>
            <a:ln cap="sq" cmpd="sng" w="38100">
              <a:solidFill>
                <a:srgbClr val="005D9D"/>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11" name="Google Shape;1011;p94"/>
            <p:cNvSpPr txBox="1"/>
            <p:nvPr/>
          </p:nvSpPr>
          <p:spPr>
            <a:xfrm>
              <a:off x="0" y="-104775"/>
              <a:ext cx="1520230" cy="301980"/>
            </a:xfrm>
            <a:prstGeom prst="rect">
              <a:avLst/>
            </a:prstGeom>
            <a:noFill/>
            <a:ln>
              <a:noFill/>
            </a:ln>
          </p:spPr>
          <p:txBody>
            <a:bodyPr anchorCtr="0" anchor="ctr" bIns="33850" lIns="33850" spcFirstLastPara="1" rIns="33850" wrap="square" tIns="33850">
              <a:noAutofit/>
            </a:bodyPr>
            <a:lstStyle/>
            <a:p>
              <a:pPr indent="0" lvl="0" marL="0" marR="0" rtl="0" algn="ctr">
                <a:lnSpc>
                  <a:spcPct val="150000"/>
                </a:lnSpc>
                <a:spcBef>
                  <a:spcPts val="0"/>
                </a:spcBef>
                <a:spcAft>
                  <a:spcPts val="0"/>
                </a:spcAft>
                <a:buNone/>
              </a:pPr>
              <a:r>
                <a:rPr lang="en-US" sz="1956">
                  <a:solidFill>
                    <a:srgbClr val="000000"/>
                  </a:solidFill>
                  <a:latin typeface="Times New Roman"/>
                  <a:ea typeface="Times New Roman"/>
                  <a:cs typeface="Times New Roman"/>
                  <a:sym typeface="Times New Roman"/>
                </a:rPr>
                <a:t>Data Array</a:t>
              </a:r>
              <a:endParaRPr/>
            </a:p>
          </p:txBody>
        </p:sp>
      </p:grpSp>
      <p:grpSp>
        <p:nvGrpSpPr>
          <p:cNvPr id="1012" name="Google Shape;1012;p94"/>
          <p:cNvGrpSpPr/>
          <p:nvPr/>
        </p:nvGrpSpPr>
        <p:grpSpPr>
          <a:xfrm>
            <a:off x="2480060" y="4993258"/>
            <a:ext cx="3848081" cy="764388"/>
            <a:chOff x="0" y="-104775"/>
            <a:chExt cx="1520230" cy="301980"/>
          </a:xfrm>
        </p:grpSpPr>
        <p:sp>
          <p:nvSpPr>
            <p:cNvPr id="1013" name="Google Shape;1013;p94"/>
            <p:cNvSpPr/>
            <p:nvPr/>
          </p:nvSpPr>
          <p:spPr>
            <a:xfrm>
              <a:off x="0" y="0"/>
              <a:ext cx="1520229" cy="197205"/>
            </a:xfrm>
            <a:custGeom>
              <a:rect b="b" l="l" r="r" t="t"/>
              <a:pathLst>
                <a:path extrusionOk="0" h="197205" w="1520229">
                  <a:moveTo>
                    <a:pt x="0" y="0"/>
                  </a:moveTo>
                  <a:lnTo>
                    <a:pt x="1520229" y="0"/>
                  </a:lnTo>
                  <a:lnTo>
                    <a:pt x="1520229" y="197205"/>
                  </a:lnTo>
                  <a:lnTo>
                    <a:pt x="0" y="197205"/>
                  </a:lnTo>
                  <a:close/>
                </a:path>
              </a:pathLst>
            </a:custGeom>
            <a:solidFill>
              <a:srgbClr val="000000">
                <a:alpha val="0"/>
              </a:srgbClr>
            </a:solidFill>
            <a:ln cap="sq" cmpd="sng" w="38100">
              <a:solidFill>
                <a:srgbClr val="005D9D"/>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14" name="Google Shape;1014;p94"/>
            <p:cNvSpPr txBox="1"/>
            <p:nvPr/>
          </p:nvSpPr>
          <p:spPr>
            <a:xfrm>
              <a:off x="0" y="-104775"/>
              <a:ext cx="1520230" cy="301980"/>
            </a:xfrm>
            <a:prstGeom prst="rect">
              <a:avLst/>
            </a:prstGeom>
            <a:noFill/>
            <a:ln>
              <a:noFill/>
            </a:ln>
          </p:spPr>
          <p:txBody>
            <a:bodyPr anchorCtr="0" anchor="ctr" bIns="33850" lIns="33850" spcFirstLastPara="1" rIns="33850" wrap="square" tIns="33850">
              <a:noAutofit/>
            </a:bodyPr>
            <a:lstStyle/>
            <a:p>
              <a:pPr indent="0" lvl="0" marL="0" marR="0" rtl="0" algn="ctr">
                <a:lnSpc>
                  <a:spcPct val="150000"/>
                </a:lnSpc>
                <a:spcBef>
                  <a:spcPts val="0"/>
                </a:spcBef>
                <a:spcAft>
                  <a:spcPts val="0"/>
                </a:spcAft>
                <a:buNone/>
              </a:pPr>
              <a:r>
                <a:rPr lang="en-US" sz="1956">
                  <a:solidFill>
                    <a:srgbClr val="000000"/>
                  </a:solidFill>
                  <a:latin typeface="Times New Roman"/>
                  <a:ea typeface="Times New Roman"/>
                  <a:cs typeface="Times New Roman"/>
                  <a:sym typeface="Times New Roman"/>
                </a:rPr>
                <a:t>Replecement Logic</a:t>
              </a:r>
              <a:endParaRPr/>
            </a:p>
          </p:txBody>
        </p:sp>
      </p:grpSp>
      <p:grpSp>
        <p:nvGrpSpPr>
          <p:cNvPr id="1015" name="Google Shape;1015;p94"/>
          <p:cNvGrpSpPr/>
          <p:nvPr/>
        </p:nvGrpSpPr>
        <p:grpSpPr>
          <a:xfrm>
            <a:off x="7605445" y="2502594"/>
            <a:ext cx="3451175" cy="1111054"/>
            <a:chOff x="0" y="-104775"/>
            <a:chExt cx="1363427" cy="438935"/>
          </a:xfrm>
        </p:grpSpPr>
        <p:sp>
          <p:nvSpPr>
            <p:cNvPr id="1016" name="Google Shape;1016;p94"/>
            <p:cNvSpPr/>
            <p:nvPr/>
          </p:nvSpPr>
          <p:spPr>
            <a:xfrm>
              <a:off x="0" y="0"/>
              <a:ext cx="1363427" cy="334160"/>
            </a:xfrm>
            <a:custGeom>
              <a:rect b="b" l="l" r="r" t="t"/>
              <a:pathLst>
                <a:path extrusionOk="0" h="334160" w="1363427">
                  <a:moveTo>
                    <a:pt x="0" y="0"/>
                  </a:moveTo>
                  <a:lnTo>
                    <a:pt x="1363427" y="0"/>
                  </a:lnTo>
                  <a:lnTo>
                    <a:pt x="1363427" y="334160"/>
                  </a:lnTo>
                  <a:lnTo>
                    <a:pt x="0" y="334160"/>
                  </a:lnTo>
                  <a:close/>
                </a:path>
              </a:pathLst>
            </a:custGeom>
            <a:solidFill>
              <a:srgbClr val="000000">
                <a:alpha val="0"/>
              </a:srgbClr>
            </a:solidFill>
            <a:ln cap="sq" cmpd="sng" w="38100">
              <a:solidFill>
                <a:srgbClr val="005D9D"/>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17" name="Google Shape;1017;p94"/>
            <p:cNvSpPr txBox="1"/>
            <p:nvPr/>
          </p:nvSpPr>
          <p:spPr>
            <a:xfrm>
              <a:off x="0" y="-104775"/>
              <a:ext cx="1363427" cy="438935"/>
            </a:xfrm>
            <a:prstGeom prst="rect">
              <a:avLst/>
            </a:prstGeom>
            <a:noFill/>
            <a:ln>
              <a:noFill/>
            </a:ln>
          </p:spPr>
          <p:txBody>
            <a:bodyPr anchorCtr="0" anchor="ctr" bIns="33850" lIns="33850" spcFirstLastPara="1" rIns="33850" wrap="square" tIns="33850">
              <a:noAutofit/>
            </a:bodyPr>
            <a:lstStyle/>
            <a:p>
              <a:pPr indent="0" lvl="0" marL="0" marR="0" rtl="0" algn="ctr">
                <a:lnSpc>
                  <a:spcPct val="150000"/>
                </a:lnSpc>
                <a:spcBef>
                  <a:spcPts val="0"/>
                </a:spcBef>
                <a:spcAft>
                  <a:spcPts val="0"/>
                </a:spcAft>
                <a:buNone/>
              </a:pPr>
              <a:r>
                <a:rPr lang="en-US" sz="1956">
                  <a:solidFill>
                    <a:srgbClr val="000000"/>
                  </a:solidFill>
                  <a:latin typeface="Times New Roman"/>
                  <a:ea typeface="Times New Roman"/>
                  <a:cs typeface="Times New Roman"/>
                  <a:sym typeface="Times New Roman"/>
                </a:rPr>
                <a:t>MSHR</a:t>
              </a:r>
              <a:endParaRPr/>
            </a:p>
            <a:p>
              <a:pPr indent="0" lvl="0" marL="0" marR="0" rtl="0" algn="ctr">
                <a:lnSpc>
                  <a:spcPct val="150026"/>
                </a:lnSpc>
                <a:spcBef>
                  <a:spcPts val="0"/>
                </a:spcBef>
                <a:spcAft>
                  <a:spcPts val="0"/>
                </a:spcAft>
                <a:buNone/>
              </a:pPr>
              <a:r>
                <a:rPr lang="en-US" sz="1889">
                  <a:solidFill>
                    <a:srgbClr val="000000"/>
                  </a:solidFill>
                  <a:latin typeface="Times New Roman"/>
                  <a:ea typeface="Times New Roman"/>
                  <a:cs typeface="Times New Roman"/>
                  <a:sym typeface="Times New Roman"/>
                </a:rPr>
                <a:t>(Miss Status Handling Register)</a:t>
              </a:r>
              <a:endParaRPr/>
            </a:p>
          </p:txBody>
        </p:sp>
      </p:grpSp>
      <p:grpSp>
        <p:nvGrpSpPr>
          <p:cNvPr id="1018" name="Google Shape;1018;p94"/>
          <p:cNvGrpSpPr/>
          <p:nvPr/>
        </p:nvGrpSpPr>
        <p:grpSpPr>
          <a:xfrm>
            <a:off x="4237118" y="3236257"/>
            <a:ext cx="346666" cy="371041"/>
            <a:chOff x="0" y="-57150"/>
            <a:chExt cx="812800" cy="869950"/>
          </a:xfrm>
        </p:grpSpPr>
        <p:sp>
          <p:nvSpPr>
            <p:cNvPr id="1019" name="Google Shape;1019;p94"/>
            <p:cNvSpPr/>
            <p:nvPr/>
          </p:nvSpPr>
          <p:spPr>
            <a:xfrm>
              <a:off x="0" y="0"/>
              <a:ext cx="812800" cy="812800"/>
            </a:xfrm>
            <a:custGeom>
              <a:rect b="b" l="l" r="r" t="t"/>
              <a:pathLst>
                <a:path extrusionOk="0"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3676B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20" name="Google Shape;1020;p94"/>
            <p:cNvSpPr txBox="1"/>
            <p:nvPr/>
          </p:nvSpPr>
          <p:spPr>
            <a:xfrm>
              <a:off x="203200" y="-57150"/>
              <a:ext cx="406400" cy="768350"/>
            </a:xfrm>
            <a:prstGeom prst="rect">
              <a:avLst/>
            </a:prstGeom>
            <a:noFill/>
            <a:ln>
              <a:noFill/>
            </a:ln>
          </p:spPr>
          <p:txBody>
            <a:bodyPr anchorCtr="0" anchor="ctr" bIns="33850" lIns="33850" spcFirstLastPara="1" rIns="33850" wrap="square" tIns="33850">
              <a:noAutofit/>
            </a:bodyPr>
            <a:lstStyle/>
            <a:p>
              <a:pPr indent="0" lvl="0" marL="0" marR="0" rtl="0" algn="ctr">
                <a:lnSpc>
                  <a:spcPct val="89625"/>
                </a:lnSpc>
                <a:spcBef>
                  <a:spcPts val="0"/>
                </a:spcBef>
                <a:spcAft>
                  <a:spcPts val="0"/>
                </a:spcAft>
                <a:buNone/>
              </a:pPr>
              <a:r>
                <a:t/>
              </a:r>
              <a:endParaRPr sz="1600">
                <a:solidFill>
                  <a:schemeClr val="dk1"/>
                </a:solidFill>
                <a:latin typeface="Meddon"/>
                <a:ea typeface="Meddon"/>
                <a:cs typeface="Meddon"/>
                <a:sym typeface="Meddon"/>
              </a:endParaRPr>
            </a:p>
          </p:txBody>
        </p:sp>
      </p:grpSp>
      <p:grpSp>
        <p:nvGrpSpPr>
          <p:cNvPr id="1021" name="Google Shape;1021;p94"/>
          <p:cNvGrpSpPr/>
          <p:nvPr/>
        </p:nvGrpSpPr>
        <p:grpSpPr>
          <a:xfrm>
            <a:off x="4237118" y="4071368"/>
            <a:ext cx="346666" cy="371041"/>
            <a:chOff x="0" y="-57150"/>
            <a:chExt cx="812800" cy="869950"/>
          </a:xfrm>
        </p:grpSpPr>
        <p:sp>
          <p:nvSpPr>
            <p:cNvPr id="1022" name="Google Shape;1022;p94"/>
            <p:cNvSpPr/>
            <p:nvPr/>
          </p:nvSpPr>
          <p:spPr>
            <a:xfrm>
              <a:off x="0" y="0"/>
              <a:ext cx="812800" cy="812800"/>
            </a:xfrm>
            <a:custGeom>
              <a:rect b="b" l="l" r="r" t="t"/>
              <a:pathLst>
                <a:path extrusionOk="0"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3676B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23" name="Google Shape;1023;p94"/>
            <p:cNvSpPr txBox="1"/>
            <p:nvPr/>
          </p:nvSpPr>
          <p:spPr>
            <a:xfrm>
              <a:off x="203200" y="-57150"/>
              <a:ext cx="406400" cy="768350"/>
            </a:xfrm>
            <a:prstGeom prst="rect">
              <a:avLst/>
            </a:prstGeom>
            <a:noFill/>
            <a:ln>
              <a:noFill/>
            </a:ln>
          </p:spPr>
          <p:txBody>
            <a:bodyPr anchorCtr="0" anchor="ctr" bIns="33850" lIns="33850" spcFirstLastPara="1" rIns="33850" wrap="square" tIns="33850">
              <a:noAutofit/>
            </a:bodyPr>
            <a:lstStyle/>
            <a:p>
              <a:pPr indent="0" lvl="0" marL="0" marR="0" rtl="0" algn="ctr">
                <a:lnSpc>
                  <a:spcPct val="89625"/>
                </a:lnSpc>
                <a:spcBef>
                  <a:spcPts val="0"/>
                </a:spcBef>
                <a:spcAft>
                  <a:spcPts val="0"/>
                </a:spcAft>
                <a:buNone/>
              </a:pPr>
              <a:r>
                <a:t/>
              </a:r>
              <a:endParaRPr sz="1600">
                <a:solidFill>
                  <a:schemeClr val="dk1"/>
                </a:solidFill>
                <a:latin typeface="Meddon"/>
                <a:ea typeface="Meddon"/>
                <a:cs typeface="Meddon"/>
                <a:sym typeface="Meddon"/>
              </a:endParaRPr>
            </a:p>
          </p:txBody>
        </p:sp>
      </p:grpSp>
      <p:grpSp>
        <p:nvGrpSpPr>
          <p:cNvPr id="1024" name="Google Shape;1024;p94"/>
          <p:cNvGrpSpPr/>
          <p:nvPr/>
        </p:nvGrpSpPr>
        <p:grpSpPr>
          <a:xfrm>
            <a:off x="4237118" y="4887429"/>
            <a:ext cx="346666" cy="371041"/>
            <a:chOff x="0" y="-57150"/>
            <a:chExt cx="812800" cy="869950"/>
          </a:xfrm>
        </p:grpSpPr>
        <p:sp>
          <p:nvSpPr>
            <p:cNvPr id="1025" name="Google Shape;1025;p94"/>
            <p:cNvSpPr/>
            <p:nvPr/>
          </p:nvSpPr>
          <p:spPr>
            <a:xfrm>
              <a:off x="0" y="0"/>
              <a:ext cx="812800" cy="812800"/>
            </a:xfrm>
            <a:custGeom>
              <a:rect b="b" l="l" r="r" t="t"/>
              <a:pathLst>
                <a:path extrusionOk="0"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3676B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26" name="Google Shape;1026;p94"/>
            <p:cNvSpPr txBox="1"/>
            <p:nvPr/>
          </p:nvSpPr>
          <p:spPr>
            <a:xfrm>
              <a:off x="203200" y="-57150"/>
              <a:ext cx="406400" cy="768350"/>
            </a:xfrm>
            <a:prstGeom prst="rect">
              <a:avLst/>
            </a:prstGeom>
            <a:noFill/>
            <a:ln>
              <a:noFill/>
            </a:ln>
          </p:spPr>
          <p:txBody>
            <a:bodyPr anchorCtr="0" anchor="ctr" bIns="33850" lIns="33850" spcFirstLastPara="1" rIns="33850" wrap="square" tIns="33850">
              <a:noAutofit/>
            </a:bodyPr>
            <a:lstStyle/>
            <a:p>
              <a:pPr indent="0" lvl="0" marL="0" marR="0" rtl="0" algn="ctr">
                <a:lnSpc>
                  <a:spcPct val="89625"/>
                </a:lnSpc>
                <a:spcBef>
                  <a:spcPts val="0"/>
                </a:spcBef>
                <a:spcAft>
                  <a:spcPts val="0"/>
                </a:spcAft>
                <a:buNone/>
              </a:pPr>
              <a:r>
                <a:t/>
              </a:r>
              <a:endParaRPr sz="1600">
                <a:solidFill>
                  <a:schemeClr val="dk1"/>
                </a:solidFill>
                <a:latin typeface="Meddon"/>
                <a:ea typeface="Meddon"/>
                <a:cs typeface="Meddon"/>
                <a:sym typeface="Meddon"/>
              </a:endParaRPr>
            </a:p>
          </p:txBody>
        </p:sp>
      </p:grpSp>
      <p:grpSp>
        <p:nvGrpSpPr>
          <p:cNvPr id="1027" name="Google Shape;1027;p94"/>
          <p:cNvGrpSpPr/>
          <p:nvPr/>
        </p:nvGrpSpPr>
        <p:grpSpPr>
          <a:xfrm>
            <a:off x="6328142" y="2651374"/>
            <a:ext cx="1260841" cy="782591"/>
            <a:chOff x="0" y="0"/>
            <a:chExt cx="736600" cy="457200"/>
          </a:xfrm>
        </p:grpSpPr>
        <p:sp>
          <p:nvSpPr>
            <p:cNvPr id="1028" name="Google Shape;1028;p94"/>
            <p:cNvSpPr/>
            <p:nvPr/>
          </p:nvSpPr>
          <p:spPr>
            <a:xfrm>
              <a:off x="0" y="0"/>
              <a:ext cx="736600" cy="457200"/>
            </a:xfrm>
            <a:custGeom>
              <a:rect b="b" l="l" r="r" t="t"/>
              <a:pathLst>
                <a:path extrusionOk="0" h="457200" w="736600">
                  <a:moveTo>
                    <a:pt x="736600" y="228606"/>
                  </a:moveTo>
                  <a:lnTo>
                    <a:pt x="476634" y="457200"/>
                  </a:lnTo>
                  <a:lnTo>
                    <a:pt x="492392" y="332453"/>
                  </a:lnTo>
                  <a:lnTo>
                    <a:pt x="244208" y="332453"/>
                  </a:lnTo>
                  <a:lnTo>
                    <a:pt x="259966" y="457200"/>
                  </a:lnTo>
                  <a:lnTo>
                    <a:pt x="0" y="228606"/>
                  </a:lnTo>
                  <a:lnTo>
                    <a:pt x="259966" y="0"/>
                  </a:lnTo>
                  <a:lnTo>
                    <a:pt x="244196" y="124785"/>
                  </a:lnTo>
                  <a:lnTo>
                    <a:pt x="492404" y="124785"/>
                  </a:lnTo>
                  <a:lnTo>
                    <a:pt x="476634" y="0"/>
                  </a:lnTo>
                  <a:lnTo>
                    <a:pt x="736600" y="228606"/>
                  </a:lnTo>
                  <a:close/>
                </a:path>
              </a:pathLst>
            </a:custGeom>
            <a:solidFill>
              <a:srgbClr val="3676B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29" name="Google Shape;1029;p94"/>
            <p:cNvSpPr txBox="1"/>
            <p:nvPr/>
          </p:nvSpPr>
          <p:spPr>
            <a:xfrm>
              <a:off x="114300" y="69850"/>
              <a:ext cx="508000" cy="260350"/>
            </a:xfrm>
            <a:prstGeom prst="rect">
              <a:avLst/>
            </a:prstGeom>
            <a:noFill/>
            <a:ln>
              <a:noFill/>
            </a:ln>
          </p:spPr>
          <p:txBody>
            <a:bodyPr anchorCtr="0" anchor="ctr" bIns="33850" lIns="33850" spcFirstLastPara="1" rIns="33850" wrap="square" tIns="33850">
              <a:noAutofit/>
            </a:bodyPr>
            <a:lstStyle/>
            <a:p>
              <a:pPr indent="0" lvl="0" marL="0" marR="0" rtl="0" algn="ctr">
                <a:lnSpc>
                  <a:spcPct val="89625"/>
                </a:lnSpc>
                <a:spcBef>
                  <a:spcPts val="0"/>
                </a:spcBef>
                <a:spcAft>
                  <a:spcPts val="0"/>
                </a:spcAft>
                <a:buNone/>
              </a:pPr>
              <a:r>
                <a:t/>
              </a:r>
              <a:endParaRPr sz="1600">
                <a:solidFill>
                  <a:schemeClr val="dk1"/>
                </a:solidFill>
                <a:latin typeface="Meddon"/>
                <a:ea typeface="Meddon"/>
                <a:cs typeface="Meddon"/>
                <a:sym typeface="Meddon"/>
              </a:endParaRPr>
            </a:p>
          </p:txBody>
        </p:sp>
      </p:grpSp>
      <p:sp>
        <p:nvSpPr>
          <p:cNvPr id="1030" name="Google Shape;1030;p94"/>
          <p:cNvSpPr txBox="1"/>
          <p:nvPr/>
        </p:nvSpPr>
        <p:spPr>
          <a:xfrm>
            <a:off x="690296" y="1507525"/>
            <a:ext cx="3720155" cy="410625"/>
          </a:xfrm>
          <a:prstGeom prst="rect">
            <a:avLst/>
          </a:prstGeom>
          <a:noFill/>
          <a:ln>
            <a:noFill/>
          </a:ln>
        </p:spPr>
        <p:txBody>
          <a:bodyPr anchorCtr="0" anchor="t" bIns="0" lIns="0" spcFirstLastPara="1" rIns="0" wrap="square" tIns="0">
            <a:spAutoFit/>
          </a:bodyPr>
          <a:lstStyle/>
          <a:p>
            <a:pPr indent="-229245" lvl="1" marL="458490" marR="0" rtl="0" algn="l">
              <a:lnSpc>
                <a:spcPct val="139992"/>
              </a:lnSpc>
              <a:spcBef>
                <a:spcPts val="0"/>
              </a:spcBef>
              <a:spcAft>
                <a:spcPts val="0"/>
              </a:spcAft>
              <a:buClr>
                <a:srgbClr val="333333"/>
              </a:buClr>
              <a:buSzPts val="2533"/>
              <a:buFont typeface="Arial"/>
              <a:buChar char="•"/>
            </a:pPr>
            <a:r>
              <a:rPr b="1" i="1" lang="en-US" sz="2533" u="none" cap="none" strike="noStrike">
                <a:solidFill>
                  <a:srgbClr val="333333"/>
                </a:solidFill>
                <a:latin typeface="Times"/>
                <a:ea typeface="Times"/>
                <a:cs typeface="Times"/>
                <a:sym typeface="Times"/>
              </a:rPr>
              <a:t>Each bank contains:</a:t>
            </a:r>
            <a:endParaRPr/>
          </a:p>
        </p:txBody>
      </p:sp>
      <p:sp>
        <p:nvSpPr>
          <p:cNvPr id="1031" name="Google Shape;1031;p94"/>
          <p:cNvSpPr txBox="1"/>
          <p:nvPr/>
        </p:nvSpPr>
        <p:spPr>
          <a:xfrm>
            <a:off x="4011050" y="1926625"/>
            <a:ext cx="4169901" cy="48244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lang="en-US" sz="2931">
                <a:solidFill>
                  <a:srgbClr val="333333"/>
                </a:solidFill>
                <a:latin typeface="Times New Roman"/>
                <a:ea typeface="Times New Roman"/>
                <a:cs typeface="Times New Roman"/>
                <a:sym typeface="Times New Roman"/>
              </a:rPr>
              <a:t>Bank </a:t>
            </a:r>
            <a:endParaRPr/>
          </a:p>
        </p:txBody>
      </p:sp>
      <p:sp>
        <p:nvSpPr>
          <p:cNvPr id="1032" name="Google Shape;1032;p94"/>
          <p:cNvSpPr txBox="1"/>
          <p:nvPr/>
        </p:nvSpPr>
        <p:spPr>
          <a:xfrm>
            <a:off x="1993083" y="577850"/>
            <a:ext cx="8205835" cy="631198"/>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b="1" i="1" lang="en-US" sz="3832">
                <a:solidFill>
                  <a:srgbClr val="000000"/>
                </a:solidFill>
                <a:latin typeface="Arial"/>
                <a:ea typeface="Arial"/>
                <a:cs typeface="Arial"/>
                <a:sym typeface="Arial"/>
              </a:rPr>
              <a:t>Banking Architecture Overview</a:t>
            </a:r>
            <a:endParaRPr/>
          </a:p>
        </p:txBody>
      </p:sp>
      <p:cxnSp>
        <p:nvCxnSpPr>
          <p:cNvPr id="1033" name="Google Shape;1033;p94"/>
          <p:cNvCxnSpPr/>
          <p:nvPr/>
        </p:nvCxnSpPr>
        <p:spPr>
          <a:xfrm flipH="1" rot="10800000">
            <a:off x="6328139" y="3613501"/>
            <a:ext cx="3003000" cy="1949100"/>
          </a:xfrm>
          <a:prstGeom prst="bentConnector2">
            <a:avLst/>
          </a:prstGeom>
          <a:noFill/>
          <a:ln cap="flat" cmpd="sng" w="38100">
            <a:solidFill>
              <a:srgbClr val="3676B3"/>
            </a:solidFill>
            <a:prstDash val="solid"/>
            <a:round/>
            <a:headEnd len="med" w="med" type="triangle"/>
            <a:tailEnd len="med" w="med" type="triangle"/>
          </a:ln>
          <a:effectLst>
            <a:outerShdw blurRad="40000" rotWithShape="0" dir="5400000" dist="23000">
              <a:srgbClr val="000000">
                <a:alpha val="34901"/>
              </a:srgbClr>
            </a:outerShdw>
          </a:effectLst>
        </p:spPr>
      </p:cxn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descr="A close up of a logo  Description automatically generated" id="1038" name="Google Shape;1038;p95"/>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descr="A close up of a logo  Description automatically generated" id="1039" name="Google Shape;1039;p95"/>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40" name="Google Shape;1040;p95"/>
          <p:cNvSpPr/>
          <p:nvPr/>
        </p:nvSpPr>
        <p:spPr>
          <a:xfrm>
            <a:off x="165347" y="92361"/>
            <a:ext cx="1049896" cy="1049896"/>
          </a:xfrm>
          <a:custGeom>
            <a:rect b="b" l="l" r="r" t="t"/>
            <a:pathLst>
              <a:path extrusionOk="0" h="1574844" w="1574844">
                <a:moveTo>
                  <a:pt x="0" y="0"/>
                </a:moveTo>
                <a:lnTo>
                  <a:pt x="1574845" y="0"/>
                </a:lnTo>
                <a:lnTo>
                  <a:pt x="1574845" y="1574845"/>
                </a:lnTo>
                <a:lnTo>
                  <a:pt x="0" y="1574845"/>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41" name="Google Shape;1041;p95"/>
          <p:cNvSpPr txBox="1"/>
          <p:nvPr/>
        </p:nvSpPr>
        <p:spPr>
          <a:xfrm>
            <a:off x="1993083" y="577850"/>
            <a:ext cx="8205835" cy="631198"/>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None/>
            </a:pPr>
            <a:r>
              <a:rPr b="1" i="1" lang="en-US" sz="3832">
                <a:solidFill>
                  <a:srgbClr val="000000"/>
                </a:solidFill>
                <a:latin typeface="Arial"/>
                <a:ea typeface="Arial"/>
                <a:cs typeface="Arial"/>
                <a:sym typeface="Arial"/>
              </a:rPr>
              <a:t>MSHR </a:t>
            </a:r>
            <a:endParaRPr/>
          </a:p>
        </p:txBody>
      </p:sp>
      <p:grpSp>
        <p:nvGrpSpPr>
          <p:cNvPr id="1042" name="Google Shape;1042;p95"/>
          <p:cNvGrpSpPr/>
          <p:nvPr/>
        </p:nvGrpSpPr>
        <p:grpSpPr>
          <a:xfrm>
            <a:off x="685800" y="1188553"/>
            <a:ext cx="3641052" cy="453197"/>
            <a:chOff x="0" y="-95250"/>
            <a:chExt cx="7282104" cy="906393"/>
          </a:xfrm>
        </p:grpSpPr>
        <p:sp>
          <p:nvSpPr>
            <p:cNvPr id="1043" name="Google Shape;1043;p95"/>
            <p:cNvSpPr/>
            <p:nvPr/>
          </p:nvSpPr>
          <p:spPr>
            <a:xfrm>
              <a:off x="0" y="0"/>
              <a:ext cx="7282100" cy="811143"/>
            </a:xfrm>
            <a:custGeom>
              <a:rect b="b" l="l" r="r" t="t"/>
              <a:pathLst>
                <a:path extrusionOk="0" h="811143" w="7282100">
                  <a:moveTo>
                    <a:pt x="0" y="0"/>
                  </a:moveTo>
                  <a:lnTo>
                    <a:pt x="7282100" y="0"/>
                  </a:lnTo>
                  <a:lnTo>
                    <a:pt x="7282100" y="811143"/>
                  </a:lnTo>
                  <a:lnTo>
                    <a:pt x="0" y="81114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44" name="Google Shape;1044;p95"/>
            <p:cNvSpPr txBox="1"/>
            <p:nvPr/>
          </p:nvSpPr>
          <p:spPr>
            <a:xfrm>
              <a:off x="0" y="-95250"/>
              <a:ext cx="7282104" cy="906393"/>
            </a:xfrm>
            <a:prstGeom prst="rect">
              <a:avLst/>
            </a:prstGeom>
            <a:noFill/>
            <a:ln>
              <a:noFill/>
            </a:ln>
          </p:spPr>
          <p:txBody>
            <a:bodyPr anchorCtr="0" anchor="ctr" bIns="0" lIns="0" spcFirstLastPara="1" rIns="0" wrap="square" tIns="0">
              <a:noAutofit/>
            </a:bodyPr>
            <a:lstStyle/>
            <a:p>
              <a:pPr indent="0" lvl="0" marL="0" marR="0" rtl="0" algn="ctr">
                <a:lnSpc>
                  <a:spcPct val="144134"/>
                </a:lnSpc>
                <a:spcBef>
                  <a:spcPts val="0"/>
                </a:spcBef>
                <a:spcAft>
                  <a:spcPts val="0"/>
                </a:spcAft>
                <a:buNone/>
              </a:pPr>
              <a:r>
                <a:rPr b="1" i="1" lang="en-US" sz="2046">
                  <a:solidFill>
                    <a:srgbClr val="005D9D"/>
                  </a:solidFill>
                  <a:latin typeface="Times"/>
                  <a:ea typeface="Times"/>
                  <a:cs typeface="Times"/>
                  <a:sym typeface="Times"/>
                </a:rPr>
                <a:t>Complete Hit Path Flow</a:t>
              </a:r>
              <a:endParaRPr/>
            </a:p>
          </p:txBody>
        </p:sp>
      </p:grpSp>
      <p:sp>
        <p:nvSpPr>
          <p:cNvPr id="1045" name="Google Shape;1045;p95"/>
          <p:cNvSpPr/>
          <p:nvPr/>
        </p:nvSpPr>
        <p:spPr>
          <a:xfrm>
            <a:off x="1072522" y="1714653"/>
            <a:ext cx="3005753" cy="569189"/>
          </a:xfrm>
          <a:custGeom>
            <a:rect b="b" l="l" r="r" t="t"/>
            <a:pathLst>
              <a:path extrusionOk="0" h="853783" w="4508630">
                <a:moveTo>
                  <a:pt x="0" y="0"/>
                </a:moveTo>
                <a:lnTo>
                  <a:pt x="4508630" y="0"/>
                </a:lnTo>
                <a:lnTo>
                  <a:pt x="4508630" y="853783"/>
                </a:lnTo>
                <a:lnTo>
                  <a:pt x="0" y="85378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grpSp>
        <p:nvGrpSpPr>
          <p:cNvPr id="1046" name="Google Shape;1046;p95"/>
          <p:cNvGrpSpPr/>
          <p:nvPr/>
        </p:nvGrpSpPr>
        <p:grpSpPr>
          <a:xfrm>
            <a:off x="1154837" y="1674965"/>
            <a:ext cx="2914682" cy="354558"/>
            <a:chOff x="0" y="-66675"/>
            <a:chExt cx="5829364" cy="709115"/>
          </a:xfrm>
        </p:grpSpPr>
        <p:sp>
          <p:nvSpPr>
            <p:cNvPr id="1047" name="Google Shape;1047;p95"/>
            <p:cNvSpPr/>
            <p:nvPr/>
          </p:nvSpPr>
          <p:spPr>
            <a:xfrm>
              <a:off x="0" y="0"/>
              <a:ext cx="5829358" cy="642440"/>
            </a:xfrm>
            <a:custGeom>
              <a:rect b="b" l="l" r="r" t="t"/>
              <a:pathLst>
                <a:path extrusionOk="0" h="642440" w="5829358">
                  <a:moveTo>
                    <a:pt x="0" y="0"/>
                  </a:moveTo>
                  <a:lnTo>
                    <a:pt x="5829358" y="0"/>
                  </a:lnTo>
                  <a:lnTo>
                    <a:pt x="5829358" y="642440"/>
                  </a:lnTo>
                  <a:lnTo>
                    <a:pt x="0" y="64244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48" name="Google Shape;1048;p95"/>
            <p:cNvSpPr txBox="1"/>
            <p:nvPr/>
          </p:nvSpPr>
          <p:spPr>
            <a:xfrm>
              <a:off x="0" y="-66675"/>
              <a:ext cx="5829364" cy="709112"/>
            </a:xfrm>
            <a:prstGeom prst="rect">
              <a:avLst/>
            </a:prstGeom>
            <a:noFill/>
            <a:ln>
              <a:noFill/>
            </a:ln>
          </p:spPr>
          <p:txBody>
            <a:bodyPr anchorCtr="0" anchor="ctr" bIns="0" lIns="0" spcFirstLastPara="1" rIns="0" wrap="square" tIns="0">
              <a:no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Request Arrives</a:t>
              </a:r>
              <a:endParaRPr/>
            </a:p>
          </p:txBody>
        </p:sp>
      </p:grpSp>
      <p:grpSp>
        <p:nvGrpSpPr>
          <p:cNvPr id="1049" name="Google Shape;1049;p95"/>
          <p:cNvGrpSpPr/>
          <p:nvPr/>
        </p:nvGrpSpPr>
        <p:grpSpPr>
          <a:xfrm>
            <a:off x="1154837" y="1895633"/>
            <a:ext cx="2905487" cy="354558"/>
            <a:chOff x="0" y="-66675"/>
            <a:chExt cx="5810974" cy="709115"/>
          </a:xfrm>
        </p:grpSpPr>
        <p:sp>
          <p:nvSpPr>
            <p:cNvPr id="1050" name="Google Shape;1050;p95"/>
            <p:cNvSpPr/>
            <p:nvPr/>
          </p:nvSpPr>
          <p:spPr>
            <a:xfrm>
              <a:off x="0" y="0"/>
              <a:ext cx="5810968" cy="642440"/>
            </a:xfrm>
            <a:custGeom>
              <a:rect b="b" l="l" r="r" t="t"/>
              <a:pathLst>
                <a:path extrusionOk="0" h="642440" w="5810968">
                  <a:moveTo>
                    <a:pt x="0" y="0"/>
                  </a:moveTo>
                  <a:lnTo>
                    <a:pt x="5810968" y="0"/>
                  </a:lnTo>
                  <a:lnTo>
                    <a:pt x="5810968" y="642440"/>
                  </a:lnTo>
                  <a:lnTo>
                    <a:pt x="0" y="64244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51" name="Google Shape;1051;p95"/>
            <p:cNvSpPr txBox="1"/>
            <p:nvPr/>
          </p:nvSpPr>
          <p:spPr>
            <a:xfrm>
              <a:off x="0" y="-66675"/>
              <a:ext cx="5810974" cy="709112"/>
            </a:xfrm>
            <a:prstGeom prst="rect">
              <a:avLst/>
            </a:prstGeom>
            <a:noFill/>
            <a:ln>
              <a:noFill/>
            </a:ln>
          </p:spPr>
          <p:txBody>
            <a:bodyPr anchorCtr="0" anchor="ctr" bIns="0" lIns="0" spcFirstLastPara="1" rIns="0" wrap="square" tIns="0">
              <a:no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Core issues request to cache bank</a:t>
              </a:r>
              <a:endParaRPr/>
            </a:p>
          </p:txBody>
        </p:sp>
      </p:grpSp>
      <p:sp>
        <p:nvSpPr>
          <p:cNvPr id="1052" name="Google Shape;1052;p95"/>
          <p:cNvSpPr/>
          <p:nvPr/>
        </p:nvSpPr>
        <p:spPr>
          <a:xfrm>
            <a:off x="2238814" y="2283841"/>
            <a:ext cx="124206" cy="165481"/>
          </a:xfrm>
          <a:custGeom>
            <a:rect b="b" l="l" r="r" t="t"/>
            <a:pathLst>
              <a:path extrusionOk="0" h="330962" w="248412">
                <a:moveTo>
                  <a:pt x="109601" y="324866"/>
                </a:moveTo>
                <a:cubicBezTo>
                  <a:pt x="117729" y="332994"/>
                  <a:pt x="130810" y="332994"/>
                  <a:pt x="138938" y="324866"/>
                </a:cubicBezTo>
                <a:lnTo>
                  <a:pt x="242316" y="221488"/>
                </a:lnTo>
                <a:cubicBezTo>
                  <a:pt x="250444" y="213360"/>
                  <a:pt x="250444" y="200279"/>
                  <a:pt x="242316" y="192151"/>
                </a:cubicBezTo>
                <a:cubicBezTo>
                  <a:pt x="234188" y="184023"/>
                  <a:pt x="221107" y="184023"/>
                  <a:pt x="212979" y="192151"/>
                </a:cubicBezTo>
                <a:lnTo>
                  <a:pt x="144907" y="260350"/>
                </a:lnTo>
                <a:lnTo>
                  <a:pt x="144907" y="20701"/>
                </a:lnTo>
                <a:cubicBezTo>
                  <a:pt x="144907" y="9271"/>
                  <a:pt x="135636" y="0"/>
                  <a:pt x="124206" y="0"/>
                </a:cubicBezTo>
                <a:cubicBezTo>
                  <a:pt x="112776" y="0"/>
                  <a:pt x="103505" y="9271"/>
                  <a:pt x="103505" y="20701"/>
                </a:cubicBezTo>
                <a:lnTo>
                  <a:pt x="103505" y="260350"/>
                </a:lnTo>
                <a:lnTo>
                  <a:pt x="35433" y="192151"/>
                </a:lnTo>
                <a:cubicBezTo>
                  <a:pt x="27305" y="184023"/>
                  <a:pt x="14224" y="184023"/>
                  <a:pt x="6096" y="192151"/>
                </a:cubicBezTo>
                <a:cubicBezTo>
                  <a:pt x="-2032" y="200279"/>
                  <a:pt x="-2032" y="213360"/>
                  <a:pt x="6096" y="221488"/>
                </a:cubicBezTo>
                <a:lnTo>
                  <a:pt x="109474" y="324866"/>
                </a:lnTo>
                <a:close/>
              </a:path>
            </a:pathLst>
          </a:custGeom>
          <a:solidFill>
            <a:srgbClr val="A3C6E4"/>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53" name="Google Shape;1053;p95"/>
          <p:cNvSpPr/>
          <p:nvPr/>
        </p:nvSpPr>
        <p:spPr>
          <a:xfrm>
            <a:off x="1072522" y="2442992"/>
            <a:ext cx="3005753" cy="569189"/>
          </a:xfrm>
          <a:custGeom>
            <a:rect b="b" l="l" r="r" t="t"/>
            <a:pathLst>
              <a:path extrusionOk="0" h="853783" w="4508630">
                <a:moveTo>
                  <a:pt x="0" y="0"/>
                </a:moveTo>
                <a:lnTo>
                  <a:pt x="4508630" y="0"/>
                </a:lnTo>
                <a:lnTo>
                  <a:pt x="4508630" y="853782"/>
                </a:lnTo>
                <a:lnTo>
                  <a:pt x="0" y="853782"/>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grpSp>
        <p:nvGrpSpPr>
          <p:cNvPr id="1054" name="Google Shape;1054;p95"/>
          <p:cNvGrpSpPr/>
          <p:nvPr/>
        </p:nvGrpSpPr>
        <p:grpSpPr>
          <a:xfrm>
            <a:off x="1154837" y="2491968"/>
            <a:ext cx="2914682" cy="354558"/>
            <a:chOff x="0" y="-66675"/>
            <a:chExt cx="5829364" cy="709115"/>
          </a:xfrm>
        </p:grpSpPr>
        <p:sp>
          <p:nvSpPr>
            <p:cNvPr id="1055" name="Google Shape;1055;p95"/>
            <p:cNvSpPr/>
            <p:nvPr/>
          </p:nvSpPr>
          <p:spPr>
            <a:xfrm>
              <a:off x="0" y="0"/>
              <a:ext cx="5829358" cy="642440"/>
            </a:xfrm>
            <a:custGeom>
              <a:rect b="b" l="l" r="r" t="t"/>
              <a:pathLst>
                <a:path extrusionOk="0" h="642440" w="5829358">
                  <a:moveTo>
                    <a:pt x="0" y="0"/>
                  </a:moveTo>
                  <a:lnTo>
                    <a:pt x="5829358" y="0"/>
                  </a:lnTo>
                  <a:lnTo>
                    <a:pt x="5829358" y="642440"/>
                  </a:lnTo>
                  <a:lnTo>
                    <a:pt x="0" y="64244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56" name="Google Shape;1056;p95"/>
            <p:cNvSpPr txBox="1"/>
            <p:nvPr/>
          </p:nvSpPr>
          <p:spPr>
            <a:xfrm>
              <a:off x="0" y="-66675"/>
              <a:ext cx="5829364" cy="709112"/>
            </a:xfrm>
            <a:prstGeom prst="rect">
              <a:avLst/>
            </a:prstGeom>
            <a:noFill/>
            <a:ln>
              <a:noFill/>
            </a:ln>
          </p:spPr>
          <p:txBody>
            <a:bodyPr anchorCtr="0" anchor="ctr" bIns="0" lIns="0" spcFirstLastPara="1" rIns="0" wrap="square" tIns="0">
              <a:no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Stage 0: Tag Lookup</a:t>
              </a:r>
              <a:endParaRPr/>
            </a:p>
          </p:txBody>
        </p:sp>
      </p:grpSp>
      <p:sp>
        <p:nvSpPr>
          <p:cNvPr id="1057" name="Google Shape;1057;p95"/>
          <p:cNvSpPr/>
          <p:nvPr/>
        </p:nvSpPr>
        <p:spPr>
          <a:xfrm>
            <a:off x="2238814" y="3005829"/>
            <a:ext cx="124206" cy="165481"/>
          </a:xfrm>
          <a:custGeom>
            <a:rect b="b" l="l" r="r" t="t"/>
            <a:pathLst>
              <a:path extrusionOk="0" h="330962" w="248412">
                <a:moveTo>
                  <a:pt x="109601" y="324866"/>
                </a:moveTo>
                <a:cubicBezTo>
                  <a:pt x="117729" y="332994"/>
                  <a:pt x="130810" y="332994"/>
                  <a:pt x="138938" y="324866"/>
                </a:cubicBezTo>
                <a:lnTo>
                  <a:pt x="242316" y="221488"/>
                </a:lnTo>
                <a:cubicBezTo>
                  <a:pt x="250444" y="213360"/>
                  <a:pt x="250444" y="200279"/>
                  <a:pt x="242316" y="192151"/>
                </a:cubicBezTo>
                <a:cubicBezTo>
                  <a:pt x="234188" y="184023"/>
                  <a:pt x="221107" y="184023"/>
                  <a:pt x="212979" y="192151"/>
                </a:cubicBezTo>
                <a:lnTo>
                  <a:pt x="144907" y="260350"/>
                </a:lnTo>
                <a:lnTo>
                  <a:pt x="144907" y="20701"/>
                </a:lnTo>
                <a:cubicBezTo>
                  <a:pt x="144907" y="9271"/>
                  <a:pt x="135636" y="0"/>
                  <a:pt x="124206" y="0"/>
                </a:cubicBezTo>
                <a:cubicBezTo>
                  <a:pt x="112776" y="0"/>
                  <a:pt x="103505" y="9271"/>
                  <a:pt x="103505" y="20701"/>
                </a:cubicBezTo>
                <a:lnTo>
                  <a:pt x="103505" y="260350"/>
                </a:lnTo>
                <a:lnTo>
                  <a:pt x="35433" y="192151"/>
                </a:lnTo>
                <a:cubicBezTo>
                  <a:pt x="27305" y="184023"/>
                  <a:pt x="14224" y="184023"/>
                  <a:pt x="6096" y="192151"/>
                </a:cubicBezTo>
                <a:cubicBezTo>
                  <a:pt x="-2032" y="200279"/>
                  <a:pt x="-2032" y="213360"/>
                  <a:pt x="6096" y="221488"/>
                </a:cubicBezTo>
                <a:lnTo>
                  <a:pt x="109474" y="324866"/>
                </a:lnTo>
                <a:close/>
              </a:path>
            </a:pathLst>
          </a:custGeom>
          <a:solidFill>
            <a:srgbClr val="A3C6E4"/>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58" name="Google Shape;1058;p95"/>
          <p:cNvSpPr/>
          <p:nvPr/>
        </p:nvSpPr>
        <p:spPr>
          <a:xfrm>
            <a:off x="1072522" y="3170930"/>
            <a:ext cx="3005753" cy="569189"/>
          </a:xfrm>
          <a:custGeom>
            <a:rect b="b" l="l" r="r" t="t"/>
            <a:pathLst>
              <a:path extrusionOk="0" h="853783" w="4508630">
                <a:moveTo>
                  <a:pt x="0" y="0"/>
                </a:moveTo>
                <a:lnTo>
                  <a:pt x="4508630" y="0"/>
                </a:lnTo>
                <a:lnTo>
                  <a:pt x="4508630" y="853783"/>
                </a:lnTo>
                <a:lnTo>
                  <a:pt x="0" y="853783"/>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grpSp>
        <p:nvGrpSpPr>
          <p:cNvPr id="1059" name="Google Shape;1059;p95"/>
          <p:cNvGrpSpPr/>
          <p:nvPr/>
        </p:nvGrpSpPr>
        <p:grpSpPr>
          <a:xfrm>
            <a:off x="1154837" y="3145089"/>
            <a:ext cx="2914682" cy="354558"/>
            <a:chOff x="0" y="-66675"/>
            <a:chExt cx="5829364" cy="709115"/>
          </a:xfrm>
        </p:grpSpPr>
        <p:sp>
          <p:nvSpPr>
            <p:cNvPr id="1060" name="Google Shape;1060;p95"/>
            <p:cNvSpPr/>
            <p:nvPr/>
          </p:nvSpPr>
          <p:spPr>
            <a:xfrm>
              <a:off x="0" y="0"/>
              <a:ext cx="5829358" cy="642440"/>
            </a:xfrm>
            <a:custGeom>
              <a:rect b="b" l="l" r="r" t="t"/>
              <a:pathLst>
                <a:path extrusionOk="0" h="642440" w="5829358">
                  <a:moveTo>
                    <a:pt x="0" y="0"/>
                  </a:moveTo>
                  <a:lnTo>
                    <a:pt x="5829358" y="0"/>
                  </a:lnTo>
                  <a:lnTo>
                    <a:pt x="5829358" y="642440"/>
                  </a:lnTo>
                  <a:lnTo>
                    <a:pt x="0" y="64244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61" name="Google Shape;1061;p95"/>
            <p:cNvSpPr txBox="1"/>
            <p:nvPr/>
          </p:nvSpPr>
          <p:spPr>
            <a:xfrm>
              <a:off x="0" y="-66675"/>
              <a:ext cx="5829364" cy="709112"/>
            </a:xfrm>
            <a:prstGeom prst="rect">
              <a:avLst/>
            </a:prstGeom>
            <a:noFill/>
            <a:ln>
              <a:noFill/>
            </a:ln>
          </p:spPr>
          <p:txBody>
            <a:bodyPr anchorCtr="0" anchor="ctr" bIns="0" lIns="0" spcFirstLastPara="1" rIns="0" wrap="square" tIns="0">
              <a:no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Hit Detection</a:t>
              </a:r>
              <a:endParaRPr/>
            </a:p>
          </p:txBody>
        </p:sp>
      </p:grpSp>
      <p:grpSp>
        <p:nvGrpSpPr>
          <p:cNvPr id="1062" name="Google Shape;1062;p95"/>
          <p:cNvGrpSpPr/>
          <p:nvPr/>
        </p:nvGrpSpPr>
        <p:grpSpPr>
          <a:xfrm>
            <a:off x="1154837" y="3365764"/>
            <a:ext cx="2905487" cy="354558"/>
            <a:chOff x="0" y="-66675"/>
            <a:chExt cx="5810974" cy="709115"/>
          </a:xfrm>
        </p:grpSpPr>
        <p:sp>
          <p:nvSpPr>
            <p:cNvPr id="1063" name="Google Shape;1063;p95"/>
            <p:cNvSpPr/>
            <p:nvPr/>
          </p:nvSpPr>
          <p:spPr>
            <a:xfrm>
              <a:off x="0" y="0"/>
              <a:ext cx="5810968" cy="642440"/>
            </a:xfrm>
            <a:custGeom>
              <a:rect b="b" l="l" r="r" t="t"/>
              <a:pathLst>
                <a:path extrusionOk="0" h="642440" w="5810968">
                  <a:moveTo>
                    <a:pt x="0" y="0"/>
                  </a:moveTo>
                  <a:lnTo>
                    <a:pt x="5810968" y="0"/>
                  </a:lnTo>
                  <a:lnTo>
                    <a:pt x="5810968" y="642440"/>
                  </a:lnTo>
                  <a:lnTo>
                    <a:pt x="0" y="64244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64" name="Google Shape;1064;p95"/>
            <p:cNvSpPr txBox="1"/>
            <p:nvPr/>
          </p:nvSpPr>
          <p:spPr>
            <a:xfrm>
              <a:off x="0" y="-66675"/>
              <a:ext cx="5810974" cy="709112"/>
            </a:xfrm>
            <a:prstGeom prst="rect">
              <a:avLst/>
            </a:prstGeom>
            <a:noFill/>
            <a:ln>
              <a:noFill/>
            </a:ln>
          </p:spPr>
          <p:txBody>
            <a:bodyPr anchorCtr="0" anchor="ctr" bIns="0" lIns="0" spcFirstLastPara="1" rIns="0" wrap="square" tIns="0">
              <a:no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One way matches, way selected</a:t>
              </a:r>
              <a:endParaRPr/>
            </a:p>
          </p:txBody>
        </p:sp>
      </p:grpSp>
      <p:sp>
        <p:nvSpPr>
          <p:cNvPr id="1065" name="Google Shape;1065;p95"/>
          <p:cNvSpPr/>
          <p:nvPr/>
        </p:nvSpPr>
        <p:spPr>
          <a:xfrm>
            <a:off x="2238814" y="3740118"/>
            <a:ext cx="124206" cy="165481"/>
          </a:xfrm>
          <a:custGeom>
            <a:rect b="b" l="l" r="r" t="t"/>
            <a:pathLst>
              <a:path extrusionOk="0" h="330962" w="248412">
                <a:moveTo>
                  <a:pt x="109601" y="324866"/>
                </a:moveTo>
                <a:cubicBezTo>
                  <a:pt x="117729" y="332994"/>
                  <a:pt x="130810" y="332994"/>
                  <a:pt x="138938" y="324866"/>
                </a:cubicBezTo>
                <a:lnTo>
                  <a:pt x="242316" y="221488"/>
                </a:lnTo>
                <a:cubicBezTo>
                  <a:pt x="250444" y="213360"/>
                  <a:pt x="250444" y="200279"/>
                  <a:pt x="242316" y="192151"/>
                </a:cubicBezTo>
                <a:cubicBezTo>
                  <a:pt x="234188" y="184023"/>
                  <a:pt x="221107" y="184023"/>
                  <a:pt x="212979" y="192151"/>
                </a:cubicBezTo>
                <a:lnTo>
                  <a:pt x="144907" y="260350"/>
                </a:lnTo>
                <a:lnTo>
                  <a:pt x="144907" y="20701"/>
                </a:lnTo>
                <a:cubicBezTo>
                  <a:pt x="144907" y="9271"/>
                  <a:pt x="135636" y="0"/>
                  <a:pt x="124206" y="0"/>
                </a:cubicBezTo>
                <a:cubicBezTo>
                  <a:pt x="112776" y="0"/>
                  <a:pt x="103505" y="9271"/>
                  <a:pt x="103505" y="20701"/>
                </a:cubicBezTo>
                <a:lnTo>
                  <a:pt x="103505" y="260350"/>
                </a:lnTo>
                <a:lnTo>
                  <a:pt x="35433" y="192151"/>
                </a:lnTo>
                <a:cubicBezTo>
                  <a:pt x="27305" y="184023"/>
                  <a:pt x="14224" y="184023"/>
                  <a:pt x="6096" y="192151"/>
                </a:cubicBezTo>
                <a:cubicBezTo>
                  <a:pt x="-2032" y="200279"/>
                  <a:pt x="-2032" y="213360"/>
                  <a:pt x="6096" y="221488"/>
                </a:cubicBezTo>
                <a:lnTo>
                  <a:pt x="109474" y="324866"/>
                </a:lnTo>
                <a:close/>
              </a:path>
            </a:pathLst>
          </a:custGeom>
          <a:solidFill>
            <a:srgbClr val="A3C6E4"/>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66" name="Google Shape;1066;p95"/>
          <p:cNvSpPr/>
          <p:nvPr/>
        </p:nvSpPr>
        <p:spPr>
          <a:xfrm>
            <a:off x="1072522" y="3905618"/>
            <a:ext cx="3005753" cy="569189"/>
          </a:xfrm>
          <a:custGeom>
            <a:rect b="b" l="l" r="r" t="t"/>
            <a:pathLst>
              <a:path extrusionOk="0" h="853783" w="4508630">
                <a:moveTo>
                  <a:pt x="0" y="0"/>
                </a:moveTo>
                <a:lnTo>
                  <a:pt x="4508630" y="0"/>
                </a:lnTo>
                <a:lnTo>
                  <a:pt x="4508630" y="853783"/>
                </a:lnTo>
                <a:lnTo>
                  <a:pt x="0" y="85378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grpSp>
        <p:nvGrpSpPr>
          <p:cNvPr id="1067" name="Google Shape;1067;p95"/>
          <p:cNvGrpSpPr/>
          <p:nvPr/>
        </p:nvGrpSpPr>
        <p:grpSpPr>
          <a:xfrm>
            <a:off x="1154837" y="3891330"/>
            <a:ext cx="2914682" cy="354558"/>
            <a:chOff x="0" y="-66675"/>
            <a:chExt cx="5829364" cy="709115"/>
          </a:xfrm>
        </p:grpSpPr>
        <p:sp>
          <p:nvSpPr>
            <p:cNvPr id="1068" name="Google Shape;1068;p95"/>
            <p:cNvSpPr/>
            <p:nvPr/>
          </p:nvSpPr>
          <p:spPr>
            <a:xfrm>
              <a:off x="0" y="0"/>
              <a:ext cx="5829358" cy="642440"/>
            </a:xfrm>
            <a:custGeom>
              <a:rect b="b" l="l" r="r" t="t"/>
              <a:pathLst>
                <a:path extrusionOk="0" h="642440" w="5829358">
                  <a:moveTo>
                    <a:pt x="0" y="0"/>
                  </a:moveTo>
                  <a:lnTo>
                    <a:pt x="5829358" y="0"/>
                  </a:lnTo>
                  <a:lnTo>
                    <a:pt x="5829358" y="642440"/>
                  </a:lnTo>
                  <a:lnTo>
                    <a:pt x="0" y="64244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69" name="Google Shape;1069;p95"/>
            <p:cNvSpPr txBox="1"/>
            <p:nvPr/>
          </p:nvSpPr>
          <p:spPr>
            <a:xfrm>
              <a:off x="0" y="-66675"/>
              <a:ext cx="5829364" cy="709112"/>
            </a:xfrm>
            <a:prstGeom prst="rect">
              <a:avLst/>
            </a:prstGeom>
            <a:noFill/>
            <a:ln>
              <a:noFill/>
            </a:ln>
          </p:spPr>
          <p:txBody>
            <a:bodyPr anchorCtr="0" anchor="ctr" bIns="0" lIns="0" spcFirstLastPara="1" rIns="0" wrap="square" tIns="0">
              <a:no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Stage 1: Data Read</a:t>
              </a:r>
              <a:endParaRPr/>
            </a:p>
          </p:txBody>
        </p:sp>
      </p:grpSp>
      <p:grpSp>
        <p:nvGrpSpPr>
          <p:cNvPr id="1070" name="Google Shape;1070;p95"/>
          <p:cNvGrpSpPr/>
          <p:nvPr/>
        </p:nvGrpSpPr>
        <p:grpSpPr>
          <a:xfrm>
            <a:off x="1154837" y="4111999"/>
            <a:ext cx="2905487" cy="354558"/>
            <a:chOff x="0" y="-66675"/>
            <a:chExt cx="5810974" cy="709115"/>
          </a:xfrm>
        </p:grpSpPr>
        <p:sp>
          <p:nvSpPr>
            <p:cNvPr id="1071" name="Google Shape;1071;p95"/>
            <p:cNvSpPr/>
            <p:nvPr/>
          </p:nvSpPr>
          <p:spPr>
            <a:xfrm>
              <a:off x="0" y="0"/>
              <a:ext cx="5810968" cy="642440"/>
            </a:xfrm>
            <a:custGeom>
              <a:rect b="b" l="l" r="r" t="t"/>
              <a:pathLst>
                <a:path extrusionOk="0" h="642440" w="5810968">
                  <a:moveTo>
                    <a:pt x="0" y="0"/>
                  </a:moveTo>
                  <a:lnTo>
                    <a:pt x="5810968" y="0"/>
                  </a:lnTo>
                  <a:lnTo>
                    <a:pt x="5810968" y="642440"/>
                  </a:lnTo>
                  <a:lnTo>
                    <a:pt x="0" y="64244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72" name="Google Shape;1072;p95"/>
            <p:cNvSpPr txBox="1"/>
            <p:nvPr/>
          </p:nvSpPr>
          <p:spPr>
            <a:xfrm>
              <a:off x="0" y="-66675"/>
              <a:ext cx="5810974" cy="709112"/>
            </a:xfrm>
            <a:prstGeom prst="rect">
              <a:avLst/>
            </a:prstGeom>
            <a:noFill/>
            <a:ln>
              <a:noFill/>
            </a:ln>
          </p:spPr>
          <p:txBody>
            <a:bodyPr anchorCtr="0" anchor="ctr" bIns="0" lIns="0" spcFirstLastPara="1" rIns="0" wrap="square" tIns="0">
              <a:no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Access data array at selected way</a:t>
              </a:r>
              <a:endParaRPr/>
            </a:p>
          </p:txBody>
        </p:sp>
      </p:grpSp>
      <p:sp>
        <p:nvSpPr>
          <p:cNvPr id="1073" name="Google Shape;1073;p95"/>
          <p:cNvSpPr/>
          <p:nvPr/>
        </p:nvSpPr>
        <p:spPr>
          <a:xfrm>
            <a:off x="2238814" y="4462000"/>
            <a:ext cx="124206" cy="165481"/>
          </a:xfrm>
          <a:custGeom>
            <a:rect b="b" l="l" r="r" t="t"/>
            <a:pathLst>
              <a:path extrusionOk="0" h="330962" w="248412">
                <a:moveTo>
                  <a:pt x="109601" y="324866"/>
                </a:moveTo>
                <a:cubicBezTo>
                  <a:pt x="117729" y="332994"/>
                  <a:pt x="130810" y="332994"/>
                  <a:pt x="138938" y="324866"/>
                </a:cubicBezTo>
                <a:lnTo>
                  <a:pt x="242316" y="221488"/>
                </a:lnTo>
                <a:cubicBezTo>
                  <a:pt x="250444" y="213360"/>
                  <a:pt x="250444" y="200279"/>
                  <a:pt x="242316" y="192151"/>
                </a:cubicBezTo>
                <a:cubicBezTo>
                  <a:pt x="234188" y="184023"/>
                  <a:pt x="221107" y="184023"/>
                  <a:pt x="212979" y="192151"/>
                </a:cubicBezTo>
                <a:lnTo>
                  <a:pt x="144907" y="260350"/>
                </a:lnTo>
                <a:lnTo>
                  <a:pt x="144907" y="20701"/>
                </a:lnTo>
                <a:cubicBezTo>
                  <a:pt x="144907" y="9271"/>
                  <a:pt x="135636" y="0"/>
                  <a:pt x="124206" y="0"/>
                </a:cubicBezTo>
                <a:cubicBezTo>
                  <a:pt x="112776" y="0"/>
                  <a:pt x="103505" y="9271"/>
                  <a:pt x="103505" y="20701"/>
                </a:cubicBezTo>
                <a:lnTo>
                  <a:pt x="103505" y="260350"/>
                </a:lnTo>
                <a:lnTo>
                  <a:pt x="35433" y="192151"/>
                </a:lnTo>
                <a:cubicBezTo>
                  <a:pt x="27305" y="184023"/>
                  <a:pt x="14224" y="184023"/>
                  <a:pt x="6096" y="192151"/>
                </a:cubicBezTo>
                <a:cubicBezTo>
                  <a:pt x="-2032" y="200279"/>
                  <a:pt x="-2032" y="213360"/>
                  <a:pt x="6096" y="221488"/>
                </a:cubicBezTo>
                <a:lnTo>
                  <a:pt x="109474" y="324866"/>
                </a:lnTo>
                <a:close/>
              </a:path>
            </a:pathLst>
          </a:custGeom>
          <a:solidFill>
            <a:srgbClr val="A3C6E4"/>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74" name="Google Shape;1074;p95"/>
          <p:cNvSpPr/>
          <p:nvPr/>
        </p:nvSpPr>
        <p:spPr>
          <a:xfrm>
            <a:off x="1072522" y="4620857"/>
            <a:ext cx="3005753" cy="569189"/>
          </a:xfrm>
          <a:custGeom>
            <a:rect b="b" l="l" r="r" t="t"/>
            <a:pathLst>
              <a:path extrusionOk="0" h="853783" w="4508630">
                <a:moveTo>
                  <a:pt x="0" y="0"/>
                </a:moveTo>
                <a:lnTo>
                  <a:pt x="4508630" y="0"/>
                </a:lnTo>
                <a:lnTo>
                  <a:pt x="4508630" y="853783"/>
                </a:lnTo>
                <a:lnTo>
                  <a:pt x="0" y="853783"/>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grpSp>
        <p:nvGrpSpPr>
          <p:cNvPr id="1075" name="Google Shape;1075;p95"/>
          <p:cNvGrpSpPr/>
          <p:nvPr/>
        </p:nvGrpSpPr>
        <p:grpSpPr>
          <a:xfrm>
            <a:off x="1154837" y="4528145"/>
            <a:ext cx="3074756" cy="354558"/>
            <a:chOff x="0" y="-66675"/>
            <a:chExt cx="6149512" cy="709115"/>
          </a:xfrm>
        </p:grpSpPr>
        <p:sp>
          <p:nvSpPr>
            <p:cNvPr id="1076" name="Google Shape;1076;p95"/>
            <p:cNvSpPr/>
            <p:nvPr/>
          </p:nvSpPr>
          <p:spPr>
            <a:xfrm>
              <a:off x="0" y="0"/>
              <a:ext cx="6149506" cy="642440"/>
            </a:xfrm>
            <a:custGeom>
              <a:rect b="b" l="l" r="r" t="t"/>
              <a:pathLst>
                <a:path extrusionOk="0" h="642440" w="6149506">
                  <a:moveTo>
                    <a:pt x="0" y="0"/>
                  </a:moveTo>
                  <a:lnTo>
                    <a:pt x="6149506" y="0"/>
                  </a:lnTo>
                  <a:lnTo>
                    <a:pt x="6149506" y="642440"/>
                  </a:lnTo>
                  <a:lnTo>
                    <a:pt x="0" y="64244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77" name="Google Shape;1077;p95"/>
            <p:cNvSpPr txBox="1"/>
            <p:nvPr/>
          </p:nvSpPr>
          <p:spPr>
            <a:xfrm>
              <a:off x="0" y="-66675"/>
              <a:ext cx="6149512" cy="709112"/>
            </a:xfrm>
            <a:prstGeom prst="rect">
              <a:avLst/>
            </a:prstGeom>
            <a:noFill/>
            <a:ln>
              <a:noFill/>
            </a:ln>
          </p:spPr>
          <p:txBody>
            <a:bodyPr anchorCtr="0" anchor="ctr" bIns="0" lIns="0" spcFirstLastPara="1" rIns="0" wrap="square" tIns="0">
              <a:no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Response Generation</a:t>
              </a:r>
              <a:endParaRPr/>
            </a:p>
          </p:txBody>
        </p:sp>
      </p:grpSp>
      <p:grpSp>
        <p:nvGrpSpPr>
          <p:cNvPr id="1078" name="Google Shape;1078;p95"/>
          <p:cNvGrpSpPr/>
          <p:nvPr/>
        </p:nvGrpSpPr>
        <p:grpSpPr>
          <a:xfrm>
            <a:off x="1162145" y="4754500"/>
            <a:ext cx="2948839" cy="478700"/>
            <a:chOff x="0" y="0"/>
            <a:chExt cx="5897677" cy="957399"/>
          </a:xfrm>
        </p:grpSpPr>
        <p:sp>
          <p:nvSpPr>
            <p:cNvPr id="1079" name="Google Shape;1079;p95"/>
            <p:cNvSpPr/>
            <p:nvPr/>
          </p:nvSpPr>
          <p:spPr>
            <a:xfrm>
              <a:off x="0" y="0"/>
              <a:ext cx="5897671" cy="957399"/>
            </a:xfrm>
            <a:custGeom>
              <a:rect b="b" l="l" r="r" t="t"/>
              <a:pathLst>
                <a:path extrusionOk="0" h="957399" w="5897671">
                  <a:moveTo>
                    <a:pt x="0" y="0"/>
                  </a:moveTo>
                  <a:lnTo>
                    <a:pt x="5897671" y="0"/>
                  </a:lnTo>
                  <a:lnTo>
                    <a:pt x="5897671" y="957399"/>
                  </a:lnTo>
                  <a:lnTo>
                    <a:pt x="0" y="957399"/>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80" name="Google Shape;1080;p95"/>
            <p:cNvSpPr txBox="1"/>
            <p:nvPr/>
          </p:nvSpPr>
          <p:spPr>
            <a:xfrm>
              <a:off x="0" y="85725"/>
              <a:ext cx="5897677" cy="871671"/>
            </a:xfrm>
            <a:prstGeom prst="rect">
              <a:avLst/>
            </a:prstGeom>
            <a:noFill/>
            <a:ln>
              <a:noFill/>
            </a:ln>
          </p:spPr>
          <p:txBody>
            <a:bodyPr anchorCtr="0" anchor="ctr" bIns="0" lIns="0" spcFirstLastPara="1" rIns="0" wrap="square" tIns="0">
              <a:noAutofit/>
            </a:bodyPr>
            <a:lstStyle/>
            <a:p>
              <a:pPr indent="0" lvl="0" marL="0" marR="0" rtl="0" algn="l">
                <a:lnSpc>
                  <a:spcPct val="78986"/>
                </a:lnSpc>
                <a:spcBef>
                  <a:spcPts val="0"/>
                </a:spcBef>
                <a:spcAft>
                  <a:spcPts val="0"/>
                </a:spcAft>
                <a:buNone/>
              </a:pPr>
              <a:r>
                <a:rPr lang="en-US" sz="1599">
                  <a:solidFill>
                    <a:srgbClr val="000000"/>
                  </a:solidFill>
                  <a:latin typeface="Times New Roman"/>
                  <a:ea typeface="Times New Roman"/>
                  <a:cs typeface="Times New Roman"/>
                  <a:sym typeface="Times New Roman"/>
                </a:rPr>
                <a:t>Format response with data and status</a:t>
              </a:r>
              <a:endParaRPr/>
            </a:p>
          </p:txBody>
        </p:sp>
      </p:grpSp>
      <p:sp>
        <p:nvSpPr>
          <p:cNvPr id="1081" name="Google Shape;1081;p95"/>
          <p:cNvSpPr/>
          <p:nvPr/>
        </p:nvSpPr>
        <p:spPr>
          <a:xfrm>
            <a:off x="2238814" y="5183695"/>
            <a:ext cx="124206" cy="165481"/>
          </a:xfrm>
          <a:custGeom>
            <a:rect b="b" l="l" r="r" t="t"/>
            <a:pathLst>
              <a:path extrusionOk="0" h="330962" w="248412">
                <a:moveTo>
                  <a:pt x="109601" y="324866"/>
                </a:moveTo>
                <a:cubicBezTo>
                  <a:pt x="117729" y="332994"/>
                  <a:pt x="130810" y="332994"/>
                  <a:pt x="138938" y="324866"/>
                </a:cubicBezTo>
                <a:lnTo>
                  <a:pt x="242316" y="221488"/>
                </a:lnTo>
                <a:cubicBezTo>
                  <a:pt x="250444" y="213360"/>
                  <a:pt x="250444" y="200279"/>
                  <a:pt x="242316" y="192151"/>
                </a:cubicBezTo>
                <a:cubicBezTo>
                  <a:pt x="234188" y="184023"/>
                  <a:pt x="221107" y="184023"/>
                  <a:pt x="212979" y="192151"/>
                </a:cubicBezTo>
                <a:lnTo>
                  <a:pt x="144907" y="260350"/>
                </a:lnTo>
                <a:lnTo>
                  <a:pt x="144907" y="20701"/>
                </a:lnTo>
                <a:cubicBezTo>
                  <a:pt x="144907" y="9271"/>
                  <a:pt x="135636" y="0"/>
                  <a:pt x="124206" y="0"/>
                </a:cubicBezTo>
                <a:cubicBezTo>
                  <a:pt x="112776" y="0"/>
                  <a:pt x="103505" y="9271"/>
                  <a:pt x="103505" y="20701"/>
                </a:cubicBezTo>
                <a:lnTo>
                  <a:pt x="103505" y="260350"/>
                </a:lnTo>
                <a:lnTo>
                  <a:pt x="35433" y="192151"/>
                </a:lnTo>
                <a:cubicBezTo>
                  <a:pt x="27305" y="184023"/>
                  <a:pt x="14224" y="184023"/>
                  <a:pt x="6096" y="192151"/>
                </a:cubicBezTo>
                <a:cubicBezTo>
                  <a:pt x="-2032" y="200279"/>
                  <a:pt x="-2032" y="213360"/>
                  <a:pt x="6096" y="221488"/>
                </a:cubicBezTo>
                <a:lnTo>
                  <a:pt x="109474" y="324866"/>
                </a:lnTo>
                <a:close/>
              </a:path>
            </a:pathLst>
          </a:custGeom>
          <a:solidFill>
            <a:srgbClr val="A3C6E4"/>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82" name="Google Shape;1082;p95"/>
          <p:cNvSpPr/>
          <p:nvPr/>
        </p:nvSpPr>
        <p:spPr>
          <a:xfrm>
            <a:off x="1072522" y="5342846"/>
            <a:ext cx="3005753" cy="569189"/>
          </a:xfrm>
          <a:custGeom>
            <a:rect b="b" l="l" r="r" t="t"/>
            <a:pathLst>
              <a:path extrusionOk="0" h="853783" w="4508630">
                <a:moveTo>
                  <a:pt x="0" y="0"/>
                </a:moveTo>
                <a:lnTo>
                  <a:pt x="4508630" y="0"/>
                </a:lnTo>
                <a:lnTo>
                  <a:pt x="4508630" y="853783"/>
                </a:lnTo>
                <a:lnTo>
                  <a:pt x="0" y="85378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grpSp>
        <p:nvGrpSpPr>
          <p:cNvPr id="1083" name="Google Shape;1083;p95"/>
          <p:cNvGrpSpPr/>
          <p:nvPr/>
        </p:nvGrpSpPr>
        <p:grpSpPr>
          <a:xfrm>
            <a:off x="1154837" y="5315857"/>
            <a:ext cx="2914682" cy="354558"/>
            <a:chOff x="0" y="-66675"/>
            <a:chExt cx="5829364" cy="709115"/>
          </a:xfrm>
        </p:grpSpPr>
        <p:sp>
          <p:nvSpPr>
            <p:cNvPr id="1084" name="Google Shape;1084;p95"/>
            <p:cNvSpPr/>
            <p:nvPr/>
          </p:nvSpPr>
          <p:spPr>
            <a:xfrm>
              <a:off x="0" y="0"/>
              <a:ext cx="5829358" cy="642440"/>
            </a:xfrm>
            <a:custGeom>
              <a:rect b="b" l="l" r="r" t="t"/>
              <a:pathLst>
                <a:path extrusionOk="0" h="642440" w="5829358">
                  <a:moveTo>
                    <a:pt x="0" y="0"/>
                  </a:moveTo>
                  <a:lnTo>
                    <a:pt x="5829358" y="0"/>
                  </a:lnTo>
                  <a:lnTo>
                    <a:pt x="5829358" y="642440"/>
                  </a:lnTo>
                  <a:lnTo>
                    <a:pt x="0" y="64244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85" name="Google Shape;1085;p95"/>
            <p:cNvSpPr txBox="1"/>
            <p:nvPr/>
          </p:nvSpPr>
          <p:spPr>
            <a:xfrm>
              <a:off x="0" y="-66675"/>
              <a:ext cx="5829364" cy="709112"/>
            </a:xfrm>
            <a:prstGeom prst="rect">
              <a:avLst/>
            </a:prstGeom>
            <a:noFill/>
            <a:ln>
              <a:noFill/>
            </a:ln>
          </p:spPr>
          <p:txBody>
            <a:bodyPr anchorCtr="0" anchor="ctr" bIns="0" lIns="0" spcFirstLastPara="1" rIns="0" wrap="square" tIns="0">
              <a:no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Send to Requester</a:t>
              </a:r>
              <a:endParaRPr/>
            </a:p>
          </p:txBody>
        </p:sp>
      </p:grpSp>
      <p:grpSp>
        <p:nvGrpSpPr>
          <p:cNvPr id="1086" name="Google Shape;1086;p95"/>
          <p:cNvGrpSpPr/>
          <p:nvPr/>
        </p:nvGrpSpPr>
        <p:grpSpPr>
          <a:xfrm>
            <a:off x="1154837" y="5536527"/>
            <a:ext cx="2905487" cy="354558"/>
            <a:chOff x="0" y="-66675"/>
            <a:chExt cx="5810974" cy="709115"/>
          </a:xfrm>
        </p:grpSpPr>
        <p:sp>
          <p:nvSpPr>
            <p:cNvPr id="1087" name="Google Shape;1087;p95"/>
            <p:cNvSpPr/>
            <p:nvPr/>
          </p:nvSpPr>
          <p:spPr>
            <a:xfrm>
              <a:off x="0" y="0"/>
              <a:ext cx="5810968" cy="642440"/>
            </a:xfrm>
            <a:custGeom>
              <a:rect b="b" l="l" r="r" t="t"/>
              <a:pathLst>
                <a:path extrusionOk="0" h="642440" w="5810968">
                  <a:moveTo>
                    <a:pt x="0" y="0"/>
                  </a:moveTo>
                  <a:lnTo>
                    <a:pt x="5810968" y="0"/>
                  </a:lnTo>
                  <a:lnTo>
                    <a:pt x="5810968" y="642440"/>
                  </a:lnTo>
                  <a:lnTo>
                    <a:pt x="0" y="64244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88" name="Google Shape;1088;p95"/>
            <p:cNvSpPr txBox="1"/>
            <p:nvPr/>
          </p:nvSpPr>
          <p:spPr>
            <a:xfrm>
              <a:off x="0" y="-66675"/>
              <a:ext cx="5810974" cy="709112"/>
            </a:xfrm>
            <a:prstGeom prst="rect">
              <a:avLst/>
            </a:prstGeom>
            <a:noFill/>
            <a:ln>
              <a:noFill/>
            </a:ln>
          </p:spPr>
          <p:txBody>
            <a:bodyPr anchorCtr="0" anchor="ctr" bIns="0" lIns="0" spcFirstLastPara="1" rIns="0" wrap="square" tIns="0">
              <a:no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Response routed back to core</a:t>
              </a:r>
              <a:endParaRPr/>
            </a:p>
          </p:txBody>
        </p:sp>
      </p:grpSp>
      <p:grpSp>
        <p:nvGrpSpPr>
          <p:cNvPr id="1089" name="Google Shape;1089;p95"/>
          <p:cNvGrpSpPr/>
          <p:nvPr/>
        </p:nvGrpSpPr>
        <p:grpSpPr>
          <a:xfrm>
            <a:off x="6191568" y="1189589"/>
            <a:ext cx="5508625" cy="453197"/>
            <a:chOff x="0" y="-95250"/>
            <a:chExt cx="11017250" cy="906393"/>
          </a:xfrm>
        </p:grpSpPr>
        <p:sp>
          <p:nvSpPr>
            <p:cNvPr id="1090" name="Google Shape;1090;p95"/>
            <p:cNvSpPr/>
            <p:nvPr/>
          </p:nvSpPr>
          <p:spPr>
            <a:xfrm>
              <a:off x="0" y="0"/>
              <a:ext cx="11017250" cy="811143"/>
            </a:xfrm>
            <a:custGeom>
              <a:rect b="b" l="l" r="r" t="t"/>
              <a:pathLst>
                <a:path extrusionOk="0" h="811143" w="11017250">
                  <a:moveTo>
                    <a:pt x="0" y="0"/>
                  </a:moveTo>
                  <a:lnTo>
                    <a:pt x="11017250" y="0"/>
                  </a:lnTo>
                  <a:lnTo>
                    <a:pt x="11017250" y="811143"/>
                  </a:lnTo>
                  <a:lnTo>
                    <a:pt x="0" y="81114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91" name="Google Shape;1091;p95"/>
            <p:cNvSpPr txBox="1"/>
            <p:nvPr/>
          </p:nvSpPr>
          <p:spPr>
            <a:xfrm>
              <a:off x="0" y="-95250"/>
              <a:ext cx="11017250" cy="906393"/>
            </a:xfrm>
            <a:prstGeom prst="rect">
              <a:avLst/>
            </a:prstGeom>
            <a:noFill/>
            <a:ln>
              <a:noFill/>
            </a:ln>
          </p:spPr>
          <p:txBody>
            <a:bodyPr anchorCtr="0" anchor="ctr" bIns="0" lIns="0" spcFirstLastPara="1" rIns="0" wrap="square" tIns="0">
              <a:noAutofit/>
            </a:bodyPr>
            <a:lstStyle/>
            <a:p>
              <a:pPr indent="0" lvl="0" marL="0" marR="0" rtl="0" algn="ctr">
                <a:lnSpc>
                  <a:spcPct val="144134"/>
                </a:lnSpc>
                <a:spcBef>
                  <a:spcPts val="0"/>
                </a:spcBef>
                <a:spcAft>
                  <a:spcPts val="0"/>
                </a:spcAft>
                <a:buNone/>
              </a:pPr>
              <a:r>
                <a:rPr b="1" i="1" lang="en-US" sz="2046">
                  <a:solidFill>
                    <a:srgbClr val="005D9D"/>
                  </a:solidFill>
                  <a:latin typeface="Times"/>
                  <a:ea typeface="Times"/>
                  <a:cs typeface="Times"/>
                  <a:sym typeface="Times"/>
                </a:rPr>
                <a:t>Miss Path Flow</a:t>
              </a:r>
              <a:endParaRPr/>
            </a:p>
          </p:txBody>
        </p:sp>
      </p:grpSp>
      <p:sp>
        <p:nvSpPr>
          <p:cNvPr id="1092" name="Google Shape;1092;p95"/>
          <p:cNvSpPr/>
          <p:nvPr/>
        </p:nvSpPr>
        <p:spPr>
          <a:xfrm>
            <a:off x="7443004" y="1693702"/>
            <a:ext cx="3005753" cy="569189"/>
          </a:xfrm>
          <a:custGeom>
            <a:rect b="b" l="l" r="r" t="t"/>
            <a:pathLst>
              <a:path extrusionOk="0" h="853783" w="4508630">
                <a:moveTo>
                  <a:pt x="0" y="0"/>
                </a:moveTo>
                <a:lnTo>
                  <a:pt x="4508630" y="0"/>
                </a:lnTo>
                <a:lnTo>
                  <a:pt x="4508630" y="853783"/>
                </a:lnTo>
                <a:lnTo>
                  <a:pt x="0" y="85378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93" name="Google Shape;1093;p95"/>
          <p:cNvSpPr/>
          <p:nvPr/>
        </p:nvSpPr>
        <p:spPr>
          <a:xfrm>
            <a:off x="8609296" y="2262890"/>
            <a:ext cx="124206" cy="165481"/>
          </a:xfrm>
          <a:custGeom>
            <a:rect b="b" l="l" r="r" t="t"/>
            <a:pathLst>
              <a:path extrusionOk="0" h="330962" w="248412">
                <a:moveTo>
                  <a:pt x="109601" y="324866"/>
                </a:moveTo>
                <a:cubicBezTo>
                  <a:pt x="117729" y="332994"/>
                  <a:pt x="130810" y="332994"/>
                  <a:pt x="138938" y="324866"/>
                </a:cubicBezTo>
                <a:lnTo>
                  <a:pt x="242316" y="221488"/>
                </a:lnTo>
                <a:cubicBezTo>
                  <a:pt x="250444" y="213360"/>
                  <a:pt x="250444" y="200279"/>
                  <a:pt x="242316" y="192151"/>
                </a:cubicBezTo>
                <a:cubicBezTo>
                  <a:pt x="234188" y="184023"/>
                  <a:pt x="221107" y="184023"/>
                  <a:pt x="212979" y="192151"/>
                </a:cubicBezTo>
                <a:lnTo>
                  <a:pt x="144907" y="260350"/>
                </a:lnTo>
                <a:lnTo>
                  <a:pt x="144907" y="20701"/>
                </a:lnTo>
                <a:cubicBezTo>
                  <a:pt x="144907" y="9271"/>
                  <a:pt x="135636" y="0"/>
                  <a:pt x="124206" y="0"/>
                </a:cubicBezTo>
                <a:cubicBezTo>
                  <a:pt x="112776" y="0"/>
                  <a:pt x="103505" y="9271"/>
                  <a:pt x="103505" y="20701"/>
                </a:cubicBezTo>
                <a:lnTo>
                  <a:pt x="103505" y="260350"/>
                </a:lnTo>
                <a:lnTo>
                  <a:pt x="35433" y="192151"/>
                </a:lnTo>
                <a:cubicBezTo>
                  <a:pt x="27305" y="184023"/>
                  <a:pt x="14224" y="184023"/>
                  <a:pt x="6096" y="192151"/>
                </a:cubicBezTo>
                <a:cubicBezTo>
                  <a:pt x="-2032" y="200279"/>
                  <a:pt x="-2032" y="213360"/>
                  <a:pt x="6096" y="221488"/>
                </a:cubicBezTo>
                <a:lnTo>
                  <a:pt x="109474" y="324866"/>
                </a:lnTo>
                <a:close/>
              </a:path>
            </a:pathLst>
          </a:custGeom>
          <a:solidFill>
            <a:srgbClr val="A3C6E4"/>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94" name="Google Shape;1094;p95"/>
          <p:cNvSpPr/>
          <p:nvPr/>
        </p:nvSpPr>
        <p:spPr>
          <a:xfrm>
            <a:off x="7443004" y="2422040"/>
            <a:ext cx="3005753" cy="569189"/>
          </a:xfrm>
          <a:custGeom>
            <a:rect b="b" l="l" r="r" t="t"/>
            <a:pathLst>
              <a:path extrusionOk="0" h="853783" w="4508630">
                <a:moveTo>
                  <a:pt x="0" y="0"/>
                </a:moveTo>
                <a:lnTo>
                  <a:pt x="4508630" y="0"/>
                </a:lnTo>
                <a:lnTo>
                  <a:pt x="4508630" y="853783"/>
                </a:lnTo>
                <a:lnTo>
                  <a:pt x="0" y="85378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95" name="Google Shape;1095;p95"/>
          <p:cNvSpPr/>
          <p:nvPr/>
        </p:nvSpPr>
        <p:spPr>
          <a:xfrm>
            <a:off x="8609296" y="2984879"/>
            <a:ext cx="124206" cy="165481"/>
          </a:xfrm>
          <a:custGeom>
            <a:rect b="b" l="l" r="r" t="t"/>
            <a:pathLst>
              <a:path extrusionOk="0" h="330962" w="248412">
                <a:moveTo>
                  <a:pt x="109601" y="324866"/>
                </a:moveTo>
                <a:cubicBezTo>
                  <a:pt x="117729" y="332994"/>
                  <a:pt x="130810" y="332994"/>
                  <a:pt x="138938" y="324866"/>
                </a:cubicBezTo>
                <a:lnTo>
                  <a:pt x="242316" y="221488"/>
                </a:lnTo>
                <a:cubicBezTo>
                  <a:pt x="250444" y="213360"/>
                  <a:pt x="250444" y="200279"/>
                  <a:pt x="242316" y="192151"/>
                </a:cubicBezTo>
                <a:cubicBezTo>
                  <a:pt x="234188" y="184023"/>
                  <a:pt x="221107" y="184023"/>
                  <a:pt x="212979" y="192151"/>
                </a:cubicBezTo>
                <a:lnTo>
                  <a:pt x="144907" y="260350"/>
                </a:lnTo>
                <a:lnTo>
                  <a:pt x="144907" y="20701"/>
                </a:lnTo>
                <a:cubicBezTo>
                  <a:pt x="144907" y="9271"/>
                  <a:pt x="135636" y="0"/>
                  <a:pt x="124206" y="0"/>
                </a:cubicBezTo>
                <a:cubicBezTo>
                  <a:pt x="112776" y="0"/>
                  <a:pt x="103505" y="9271"/>
                  <a:pt x="103505" y="20701"/>
                </a:cubicBezTo>
                <a:lnTo>
                  <a:pt x="103505" y="260350"/>
                </a:lnTo>
                <a:lnTo>
                  <a:pt x="35433" y="192151"/>
                </a:lnTo>
                <a:cubicBezTo>
                  <a:pt x="27305" y="184023"/>
                  <a:pt x="14224" y="184023"/>
                  <a:pt x="6096" y="192151"/>
                </a:cubicBezTo>
                <a:cubicBezTo>
                  <a:pt x="-2032" y="200279"/>
                  <a:pt x="-2032" y="213360"/>
                  <a:pt x="6096" y="221488"/>
                </a:cubicBezTo>
                <a:lnTo>
                  <a:pt x="109474" y="324866"/>
                </a:lnTo>
                <a:close/>
              </a:path>
            </a:pathLst>
          </a:custGeom>
          <a:solidFill>
            <a:srgbClr val="A3C6E4"/>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96" name="Google Shape;1096;p95"/>
          <p:cNvSpPr/>
          <p:nvPr/>
        </p:nvSpPr>
        <p:spPr>
          <a:xfrm>
            <a:off x="7443004" y="3149979"/>
            <a:ext cx="3005753" cy="569189"/>
          </a:xfrm>
          <a:custGeom>
            <a:rect b="b" l="l" r="r" t="t"/>
            <a:pathLst>
              <a:path extrusionOk="0" h="853783" w="4508630">
                <a:moveTo>
                  <a:pt x="0" y="0"/>
                </a:moveTo>
                <a:lnTo>
                  <a:pt x="4508630" y="0"/>
                </a:lnTo>
                <a:lnTo>
                  <a:pt x="4508630" y="853783"/>
                </a:lnTo>
                <a:lnTo>
                  <a:pt x="0" y="853783"/>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97" name="Google Shape;1097;p95"/>
          <p:cNvSpPr/>
          <p:nvPr/>
        </p:nvSpPr>
        <p:spPr>
          <a:xfrm>
            <a:off x="8609296" y="3719167"/>
            <a:ext cx="124206" cy="165481"/>
          </a:xfrm>
          <a:custGeom>
            <a:rect b="b" l="l" r="r" t="t"/>
            <a:pathLst>
              <a:path extrusionOk="0" h="330962" w="248412">
                <a:moveTo>
                  <a:pt x="109601" y="324866"/>
                </a:moveTo>
                <a:cubicBezTo>
                  <a:pt x="117729" y="332994"/>
                  <a:pt x="130810" y="332994"/>
                  <a:pt x="138938" y="324866"/>
                </a:cubicBezTo>
                <a:lnTo>
                  <a:pt x="242316" y="221488"/>
                </a:lnTo>
                <a:cubicBezTo>
                  <a:pt x="250444" y="213360"/>
                  <a:pt x="250444" y="200279"/>
                  <a:pt x="242316" y="192151"/>
                </a:cubicBezTo>
                <a:cubicBezTo>
                  <a:pt x="234188" y="184023"/>
                  <a:pt x="221107" y="184023"/>
                  <a:pt x="212979" y="192151"/>
                </a:cubicBezTo>
                <a:lnTo>
                  <a:pt x="144907" y="260350"/>
                </a:lnTo>
                <a:lnTo>
                  <a:pt x="144907" y="20701"/>
                </a:lnTo>
                <a:cubicBezTo>
                  <a:pt x="144907" y="9271"/>
                  <a:pt x="135636" y="0"/>
                  <a:pt x="124206" y="0"/>
                </a:cubicBezTo>
                <a:cubicBezTo>
                  <a:pt x="112776" y="0"/>
                  <a:pt x="103505" y="9271"/>
                  <a:pt x="103505" y="20701"/>
                </a:cubicBezTo>
                <a:lnTo>
                  <a:pt x="103505" y="260350"/>
                </a:lnTo>
                <a:lnTo>
                  <a:pt x="35433" y="192151"/>
                </a:lnTo>
                <a:cubicBezTo>
                  <a:pt x="27305" y="184023"/>
                  <a:pt x="14224" y="184023"/>
                  <a:pt x="6096" y="192151"/>
                </a:cubicBezTo>
                <a:cubicBezTo>
                  <a:pt x="-2032" y="200279"/>
                  <a:pt x="-2032" y="213360"/>
                  <a:pt x="6096" y="221488"/>
                </a:cubicBezTo>
                <a:lnTo>
                  <a:pt x="109474" y="324866"/>
                </a:lnTo>
                <a:close/>
              </a:path>
            </a:pathLst>
          </a:custGeom>
          <a:solidFill>
            <a:srgbClr val="A3C6E4"/>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98" name="Google Shape;1098;p95"/>
          <p:cNvSpPr/>
          <p:nvPr/>
        </p:nvSpPr>
        <p:spPr>
          <a:xfrm>
            <a:off x="7443004" y="3884668"/>
            <a:ext cx="3005753" cy="569189"/>
          </a:xfrm>
          <a:custGeom>
            <a:rect b="b" l="l" r="r" t="t"/>
            <a:pathLst>
              <a:path extrusionOk="0" h="853783" w="4508630">
                <a:moveTo>
                  <a:pt x="0" y="0"/>
                </a:moveTo>
                <a:lnTo>
                  <a:pt x="4508630" y="0"/>
                </a:lnTo>
                <a:lnTo>
                  <a:pt x="4508630" y="853783"/>
                </a:lnTo>
                <a:lnTo>
                  <a:pt x="0" y="85378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099" name="Google Shape;1099;p95"/>
          <p:cNvSpPr/>
          <p:nvPr/>
        </p:nvSpPr>
        <p:spPr>
          <a:xfrm>
            <a:off x="8609296" y="4441049"/>
            <a:ext cx="124206" cy="165481"/>
          </a:xfrm>
          <a:custGeom>
            <a:rect b="b" l="l" r="r" t="t"/>
            <a:pathLst>
              <a:path extrusionOk="0" h="330962" w="248412">
                <a:moveTo>
                  <a:pt x="109601" y="324866"/>
                </a:moveTo>
                <a:cubicBezTo>
                  <a:pt x="117729" y="332994"/>
                  <a:pt x="130810" y="332994"/>
                  <a:pt x="138938" y="324866"/>
                </a:cubicBezTo>
                <a:lnTo>
                  <a:pt x="242316" y="221488"/>
                </a:lnTo>
                <a:cubicBezTo>
                  <a:pt x="250444" y="213360"/>
                  <a:pt x="250444" y="200279"/>
                  <a:pt x="242316" y="192151"/>
                </a:cubicBezTo>
                <a:cubicBezTo>
                  <a:pt x="234188" y="184023"/>
                  <a:pt x="221107" y="184023"/>
                  <a:pt x="212979" y="192151"/>
                </a:cubicBezTo>
                <a:lnTo>
                  <a:pt x="144907" y="260350"/>
                </a:lnTo>
                <a:lnTo>
                  <a:pt x="144907" y="20701"/>
                </a:lnTo>
                <a:cubicBezTo>
                  <a:pt x="144907" y="9271"/>
                  <a:pt x="135636" y="0"/>
                  <a:pt x="124206" y="0"/>
                </a:cubicBezTo>
                <a:cubicBezTo>
                  <a:pt x="112776" y="0"/>
                  <a:pt x="103505" y="9271"/>
                  <a:pt x="103505" y="20701"/>
                </a:cubicBezTo>
                <a:lnTo>
                  <a:pt x="103505" y="260350"/>
                </a:lnTo>
                <a:lnTo>
                  <a:pt x="35433" y="192151"/>
                </a:lnTo>
                <a:cubicBezTo>
                  <a:pt x="27305" y="184023"/>
                  <a:pt x="14224" y="184023"/>
                  <a:pt x="6096" y="192151"/>
                </a:cubicBezTo>
                <a:cubicBezTo>
                  <a:pt x="-2032" y="200279"/>
                  <a:pt x="-2032" y="213360"/>
                  <a:pt x="6096" y="221488"/>
                </a:cubicBezTo>
                <a:lnTo>
                  <a:pt x="109474" y="324866"/>
                </a:lnTo>
                <a:close/>
              </a:path>
            </a:pathLst>
          </a:custGeom>
          <a:solidFill>
            <a:srgbClr val="A3C6E4"/>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100" name="Google Shape;1100;p95"/>
          <p:cNvSpPr/>
          <p:nvPr/>
        </p:nvSpPr>
        <p:spPr>
          <a:xfrm>
            <a:off x="7443004" y="4599906"/>
            <a:ext cx="3005753" cy="569189"/>
          </a:xfrm>
          <a:custGeom>
            <a:rect b="b" l="l" r="r" t="t"/>
            <a:pathLst>
              <a:path extrusionOk="0" h="853783" w="4508630">
                <a:moveTo>
                  <a:pt x="0" y="0"/>
                </a:moveTo>
                <a:lnTo>
                  <a:pt x="4508630" y="0"/>
                </a:lnTo>
                <a:lnTo>
                  <a:pt x="4508630" y="853783"/>
                </a:lnTo>
                <a:lnTo>
                  <a:pt x="0" y="853783"/>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101" name="Google Shape;1101;p95"/>
          <p:cNvSpPr/>
          <p:nvPr/>
        </p:nvSpPr>
        <p:spPr>
          <a:xfrm>
            <a:off x="8609296" y="5162745"/>
            <a:ext cx="124206" cy="165481"/>
          </a:xfrm>
          <a:custGeom>
            <a:rect b="b" l="l" r="r" t="t"/>
            <a:pathLst>
              <a:path extrusionOk="0" h="330962" w="248412">
                <a:moveTo>
                  <a:pt x="109601" y="324866"/>
                </a:moveTo>
                <a:cubicBezTo>
                  <a:pt x="117729" y="332994"/>
                  <a:pt x="130810" y="332994"/>
                  <a:pt x="138938" y="324866"/>
                </a:cubicBezTo>
                <a:lnTo>
                  <a:pt x="242316" y="221488"/>
                </a:lnTo>
                <a:cubicBezTo>
                  <a:pt x="250444" y="213360"/>
                  <a:pt x="250444" y="200279"/>
                  <a:pt x="242316" y="192151"/>
                </a:cubicBezTo>
                <a:cubicBezTo>
                  <a:pt x="234188" y="184023"/>
                  <a:pt x="221107" y="184023"/>
                  <a:pt x="212979" y="192151"/>
                </a:cubicBezTo>
                <a:lnTo>
                  <a:pt x="144907" y="260350"/>
                </a:lnTo>
                <a:lnTo>
                  <a:pt x="144907" y="20701"/>
                </a:lnTo>
                <a:cubicBezTo>
                  <a:pt x="144907" y="9271"/>
                  <a:pt x="135636" y="0"/>
                  <a:pt x="124206" y="0"/>
                </a:cubicBezTo>
                <a:cubicBezTo>
                  <a:pt x="112776" y="0"/>
                  <a:pt x="103505" y="9271"/>
                  <a:pt x="103505" y="20701"/>
                </a:cubicBezTo>
                <a:lnTo>
                  <a:pt x="103505" y="260350"/>
                </a:lnTo>
                <a:lnTo>
                  <a:pt x="35433" y="192151"/>
                </a:lnTo>
                <a:cubicBezTo>
                  <a:pt x="27305" y="184023"/>
                  <a:pt x="14224" y="184023"/>
                  <a:pt x="6096" y="192151"/>
                </a:cubicBezTo>
                <a:cubicBezTo>
                  <a:pt x="-2032" y="200279"/>
                  <a:pt x="-2032" y="213360"/>
                  <a:pt x="6096" y="221488"/>
                </a:cubicBezTo>
                <a:lnTo>
                  <a:pt x="109474" y="324866"/>
                </a:lnTo>
                <a:close/>
              </a:path>
            </a:pathLst>
          </a:custGeom>
          <a:solidFill>
            <a:srgbClr val="A3C6E4"/>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102" name="Google Shape;1102;p95"/>
          <p:cNvSpPr/>
          <p:nvPr/>
        </p:nvSpPr>
        <p:spPr>
          <a:xfrm>
            <a:off x="7443004" y="5321895"/>
            <a:ext cx="3005753" cy="569189"/>
          </a:xfrm>
          <a:custGeom>
            <a:rect b="b" l="l" r="r" t="t"/>
            <a:pathLst>
              <a:path extrusionOk="0" h="853783" w="4508630">
                <a:moveTo>
                  <a:pt x="0" y="0"/>
                </a:moveTo>
                <a:lnTo>
                  <a:pt x="4508630" y="0"/>
                </a:lnTo>
                <a:lnTo>
                  <a:pt x="4508630" y="853783"/>
                </a:lnTo>
                <a:lnTo>
                  <a:pt x="0" y="85378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Meddon"/>
              <a:ea typeface="Meddon"/>
              <a:cs typeface="Meddon"/>
              <a:sym typeface="Meddon"/>
            </a:endParaRPr>
          </a:p>
        </p:txBody>
      </p:sp>
      <p:sp>
        <p:nvSpPr>
          <p:cNvPr id="1103" name="Google Shape;1103;p95"/>
          <p:cNvSpPr txBox="1"/>
          <p:nvPr/>
        </p:nvSpPr>
        <p:spPr>
          <a:xfrm>
            <a:off x="7572076" y="1687081"/>
            <a:ext cx="3005753" cy="564257"/>
          </a:xfrm>
          <a:prstGeom prst="rect">
            <a:avLst/>
          </a:prstGeom>
          <a:noFill/>
          <a:ln>
            <a:noFill/>
          </a:ln>
        </p:spPr>
        <p:txBody>
          <a:bodyPr anchorCtr="0" anchor="t" bIns="0" lIns="0" spcFirstLastPara="1" rIns="0" wrap="square" tIns="0">
            <a:sp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Request → Tag Lookup</a:t>
            </a:r>
            <a:endParaRPr/>
          </a:p>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Miss Detection</a:t>
            </a:r>
            <a:endParaRPr/>
          </a:p>
        </p:txBody>
      </p:sp>
      <p:sp>
        <p:nvSpPr>
          <p:cNvPr id="1104" name="Google Shape;1104;p95"/>
          <p:cNvSpPr txBox="1"/>
          <p:nvPr/>
        </p:nvSpPr>
        <p:spPr>
          <a:xfrm>
            <a:off x="7991412" y="2531997"/>
            <a:ext cx="1484154" cy="269304"/>
          </a:xfrm>
          <a:prstGeom prst="rect">
            <a:avLst/>
          </a:prstGeom>
          <a:noFill/>
          <a:ln>
            <a:noFill/>
          </a:ln>
        </p:spPr>
        <p:txBody>
          <a:bodyPr anchorCtr="0" anchor="t" bIns="0" lIns="0" spcFirstLastPara="1" rIns="0" wrap="square" tIns="0">
            <a:sp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MSHR Allocation</a:t>
            </a:r>
            <a:endParaRPr/>
          </a:p>
        </p:txBody>
      </p:sp>
      <p:sp>
        <p:nvSpPr>
          <p:cNvPr id="1105" name="Google Shape;1105;p95"/>
          <p:cNvSpPr txBox="1"/>
          <p:nvPr/>
        </p:nvSpPr>
        <p:spPr>
          <a:xfrm>
            <a:off x="7938118" y="3137065"/>
            <a:ext cx="1678322" cy="269304"/>
          </a:xfrm>
          <a:prstGeom prst="rect">
            <a:avLst/>
          </a:prstGeom>
          <a:noFill/>
          <a:ln>
            <a:noFill/>
          </a:ln>
        </p:spPr>
        <p:txBody>
          <a:bodyPr anchorCtr="0" anchor="t" bIns="0" lIns="0" spcFirstLastPara="1" rIns="0" wrap="square" tIns="0">
            <a:sp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Memory Request</a:t>
            </a:r>
            <a:endParaRPr/>
          </a:p>
        </p:txBody>
      </p:sp>
      <p:sp>
        <p:nvSpPr>
          <p:cNvPr id="1106" name="Google Shape;1106;p95"/>
          <p:cNvSpPr txBox="1"/>
          <p:nvPr/>
        </p:nvSpPr>
        <p:spPr>
          <a:xfrm>
            <a:off x="7938117" y="3400249"/>
            <a:ext cx="1466612" cy="269304"/>
          </a:xfrm>
          <a:prstGeom prst="rect">
            <a:avLst/>
          </a:prstGeom>
          <a:noFill/>
          <a:ln>
            <a:noFill/>
          </a:ln>
        </p:spPr>
        <p:txBody>
          <a:bodyPr anchorCtr="0" anchor="t" bIns="0" lIns="0" spcFirstLastPara="1" rIns="0" wrap="square" tIns="0">
            <a:sp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Next level Access</a:t>
            </a:r>
            <a:endParaRPr/>
          </a:p>
        </p:txBody>
      </p:sp>
      <p:sp>
        <p:nvSpPr>
          <p:cNvPr id="1107" name="Google Shape;1107;p95"/>
          <p:cNvSpPr txBox="1"/>
          <p:nvPr/>
        </p:nvSpPr>
        <p:spPr>
          <a:xfrm>
            <a:off x="8211525" y="4013567"/>
            <a:ext cx="919797" cy="269304"/>
          </a:xfrm>
          <a:prstGeom prst="rect">
            <a:avLst/>
          </a:prstGeom>
          <a:noFill/>
          <a:ln>
            <a:noFill/>
          </a:ln>
        </p:spPr>
        <p:txBody>
          <a:bodyPr anchorCtr="0" anchor="t" bIns="0" lIns="0" spcFirstLastPara="1" rIns="0" wrap="square" tIns="0">
            <a:sp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Fill Arrival</a:t>
            </a:r>
            <a:endParaRPr/>
          </a:p>
        </p:txBody>
      </p:sp>
      <p:sp>
        <p:nvSpPr>
          <p:cNvPr id="1108" name="Google Shape;1108;p95"/>
          <p:cNvSpPr txBox="1"/>
          <p:nvPr/>
        </p:nvSpPr>
        <p:spPr>
          <a:xfrm>
            <a:off x="8144057" y="4865597"/>
            <a:ext cx="1054735" cy="269304"/>
          </a:xfrm>
          <a:prstGeom prst="rect">
            <a:avLst/>
          </a:prstGeom>
          <a:noFill/>
          <a:ln>
            <a:noFill/>
          </a:ln>
        </p:spPr>
        <p:txBody>
          <a:bodyPr anchorCtr="0" anchor="t" bIns="0" lIns="0" spcFirstLastPara="1" rIns="0" wrap="square" tIns="0">
            <a:sp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Data Written</a:t>
            </a:r>
            <a:endParaRPr/>
          </a:p>
        </p:txBody>
      </p:sp>
      <p:sp>
        <p:nvSpPr>
          <p:cNvPr id="1109" name="Google Shape;1109;p95"/>
          <p:cNvSpPr txBox="1"/>
          <p:nvPr/>
        </p:nvSpPr>
        <p:spPr>
          <a:xfrm>
            <a:off x="8081899" y="4612899"/>
            <a:ext cx="1534541" cy="269304"/>
          </a:xfrm>
          <a:prstGeom prst="rect">
            <a:avLst/>
          </a:prstGeom>
          <a:noFill/>
          <a:ln>
            <a:noFill/>
          </a:ln>
        </p:spPr>
        <p:txBody>
          <a:bodyPr anchorCtr="0" anchor="t" bIns="0" lIns="0" spcFirstLastPara="1" rIns="0" wrap="square" tIns="0">
            <a:sp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Replay Initiated</a:t>
            </a:r>
            <a:endParaRPr/>
          </a:p>
        </p:txBody>
      </p:sp>
      <p:sp>
        <p:nvSpPr>
          <p:cNvPr id="1110" name="Google Shape;1110;p95"/>
          <p:cNvSpPr txBox="1"/>
          <p:nvPr/>
        </p:nvSpPr>
        <p:spPr>
          <a:xfrm>
            <a:off x="8011954" y="5425559"/>
            <a:ext cx="1944846" cy="269304"/>
          </a:xfrm>
          <a:prstGeom prst="rect">
            <a:avLst/>
          </a:prstGeom>
          <a:noFill/>
          <a:ln>
            <a:noFill/>
          </a:ln>
        </p:spPr>
        <p:txBody>
          <a:bodyPr anchorCtr="0" anchor="t" bIns="0" lIns="0" spcFirstLastPara="1" rIns="0" wrap="square" tIns="0">
            <a:spAutoFit/>
          </a:bodyPr>
          <a:lstStyle/>
          <a:p>
            <a:pPr indent="0" lvl="0" marL="0" marR="0" rtl="0" algn="l">
              <a:lnSpc>
                <a:spcPct val="144027"/>
              </a:lnSpc>
              <a:spcBef>
                <a:spcPts val="0"/>
              </a:spcBef>
              <a:spcAft>
                <a:spcPts val="0"/>
              </a:spcAft>
              <a:buNone/>
            </a:pPr>
            <a:r>
              <a:rPr lang="en-US" sz="1599">
                <a:solidFill>
                  <a:srgbClr val="000000"/>
                </a:solidFill>
                <a:latin typeface="Times New Roman"/>
                <a:ea typeface="Times New Roman"/>
                <a:cs typeface="Times New Roman"/>
                <a:sym typeface="Times New Roman"/>
              </a:rPr>
              <a:t>Now Hits → Response</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96"/>
          <p:cNvSpPr/>
          <p:nvPr/>
        </p:nvSpPr>
        <p:spPr>
          <a:xfrm>
            <a:off x="452673" y="1236667"/>
            <a:ext cx="17612009" cy="57942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i="1" lang="en-US" sz="4800">
                <a:solidFill>
                  <a:schemeClr val="dk1"/>
                </a:solidFill>
                <a:latin typeface="Calibri"/>
                <a:ea typeface="Calibri"/>
                <a:cs typeface="Calibri"/>
                <a:sym typeface="Calibri"/>
              </a:rPr>
              <a:t>What is an LSU Slice?</a:t>
            </a:r>
            <a:endParaRPr/>
          </a:p>
        </p:txBody>
      </p:sp>
      <p:sp>
        <p:nvSpPr>
          <p:cNvPr id="1116" name="Google Shape;1116;p96"/>
          <p:cNvSpPr/>
          <p:nvPr/>
        </p:nvSpPr>
        <p:spPr>
          <a:xfrm>
            <a:off x="615636" y="1942233"/>
            <a:ext cx="8643042" cy="43456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1" lang="en-US" sz="3600">
                <a:solidFill>
                  <a:schemeClr val="dk1"/>
                </a:solidFill>
                <a:latin typeface="Calibri"/>
                <a:ea typeface="Calibri"/>
                <a:cs typeface="Calibri"/>
                <a:sym typeface="Calibri"/>
              </a:rPr>
              <a:t>Core Concept</a:t>
            </a:r>
            <a:endParaRPr i="1" sz="3600">
              <a:solidFill>
                <a:schemeClr val="dk1"/>
              </a:solidFill>
              <a:latin typeface="Calibri"/>
              <a:ea typeface="Calibri"/>
              <a:cs typeface="Calibri"/>
              <a:sym typeface="Calibri"/>
            </a:endParaRPr>
          </a:p>
        </p:txBody>
      </p:sp>
      <p:pic>
        <p:nvPicPr>
          <p:cNvPr id="1117" name="Google Shape;1117;p96"/>
          <p:cNvPicPr preferRelativeResize="0"/>
          <p:nvPr/>
        </p:nvPicPr>
        <p:blipFill rotWithShape="1">
          <a:blip r:embed="rId3">
            <a:alphaModFix/>
          </a:blip>
          <a:srcRect b="0" l="83" r="84" t="0"/>
          <a:stretch/>
        </p:blipFill>
        <p:spPr>
          <a:xfrm>
            <a:off x="1774479" y="2334550"/>
            <a:ext cx="8643042" cy="408348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97"/>
          <p:cNvSpPr/>
          <p:nvPr/>
        </p:nvSpPr>
        <p:spPr>
          <a:xfrm>
            <a:off x="452673" y="1236667"/>
            <a:ext cx="17612009" cy="57942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i="1" lang="en-US" sz="4800">
                <a:solidFill>
                  <a:schemeClr val="dk1"/>
                </a:solidFill>
                <a:latin typeface="Calibri"/>
                <a:ea typeface="Calibri"/>
                <a:cs typeface="Calibri"/>
                <a:sym typeface="Calibri"/>
              </a:rPr>
              <a:t>What is an LSU Slice?</a:t>
            </a:r>
            <a:endParaRPr/>
          </a:p>
        </p:txBody>
      </p:sp>
      <p:sp>
        <p:nvSpPr>
          <p:cNvPr id="1123" name="Google Shape;1123;p97"/>
          <p:cNvSpPr/>
          <p:nvPr/>
        </p:nvSpPr>
        <p:spPr>
          <a:xfrm>
            <a:off x="615636" y="1942233"/>
            <a:ext cx="8643042" cy="43456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1" lang="en-US" sz="2800">
                <a:solidFill>
                  <a:schemeClr val="dk1"/>
                </a:solidFill>
                <a:latin typeface="Calibri"/>
                <a:ea typeface="Calibri"/>
                <a:cs typeface="Calibri"/>
                <a:sym typeface="Calibri"/>
              </a:rPr>
              <a:t>Core Concept</a:t>
            </a:r>
            <a:endParaRPr i="1" sz="2800">
              <a:solidFill>
                <a:schemeClr val="dk1"/>
              </a:solidFill>
              <a:latin typeface="Calibri"/>
              <a:ea typeface="Calibri"/>
              <a:cs typeface="Calibri"/>
              <a:sym typeface="Calibri"/>
            </a:endParaRPr>
          </a:p>
        </p:txBody>
      </p:sp>
      <p:sp>
        <p:nvSpPr>
          <p:cNvPr id="1124" name="Google Shape;1124;p97"/>
          <p:cNvSpPr/>
          <p:nvPr/>
        </p:nvSpPr>
        <p:spPr>
          <a:xfrm>
            <a:off x="844990" y="2577371"/>
            <a:ext cx="10969501" cy="784634"/>
          </a:xfrm>
          <a:prstGeom prst="rect">
            <a:avLst/>
          </a:prstGeom>
          <a:noFill/>
          <a:ln>
            <a:noFill/>
          </a:ln>
        </p:spPr>
        <p:txBody>
          <a:bodyPr anchorCtr="0" anchor="ctr" bIns="0" lIns="0" spcFirstLastPara="1" rIns="0" wrap="square" tIns="0">
            <a:noAutofit/>
          </a:bodyPr>
          <a:lstStyle/>
          <a:p>
            <a:pPr indent="0" lvl="0" marL="0" marR="0" rtl="0" algn="just">
              <a:lnSpc>
                <a:spcPct val="140000"/>
              </a:lnSpc>
              <a:spcBef>
                <a:spcPts val="0"/>
              </a:spcBef>
              <a:spcAft>
                <a:spcPts val="0"/>
              </a:spcAft>
              <a:buNone/>
            </a:pPr>
            <a:r>
              <a:rPr lang="en-US" sz="1901">
                <a:solidFill>
                  <a:schemeClr val="dk1"/>
                </a:solidFill>
                <a:latin typeface="Calibri"/>
                <a:ea typeface="Calibri"/>
                <a:cs typeface="Calibri"/>
                <a:sym typeface="Calibri"/>
              </a:rPr>
              <a:t>The </a:t>
            </a:r>
            <a:r>
              <a:rPr b="1" lang="en-US" sz="1901">
                <a:solidFill>
                  <a:schemeClr val="dk1"/>
                </a:solidFill>
                <a:latin typeface="Calibri"/>
                <a:ea typeface="Calibri"/>
                <a:cs typeface="Calibri"/>
                <a:sym typeface="Calibri"/>
              </a:rPr>
              <a:t>LSU (Load-Store Unit) Slice</a:t>
            </a:r>
            <a:r>
              <a:rPr lang="en-US" sz="1901">
                <a:solidFill>
                  <a:schemeClr val="dk1"/>
                </a:solidFill>
                <a:latin typeface="Calibri"/>
                <a:ea typeface="Calibri"/>
                <a:cs typeface="Calibri"/>
                <a:sym typeface="Calibri"/>
              </a:rPr>
              <a:t> is a fundamental execution unit that serves as a parallel memory access processor in the Vortex GPGPU architecture.</a:t>
            </a:r>
            <a:endParaRPr sz="2400">
              <a:solidFill>
                <a:schemeClr val="dk1"/>
              </a:solidFill>
              <a:latin typeface="Calibri"/>
              <a:ea typeface="Calibri"/>
              <a:cs typeface="Calibri"/>
              <a:sym typeface="Calibri"/>
            </a:endParaRPr>
          </a:p>
        </p:txBody>
      </p:sp>
      <p:sp>
        <p:nvSpPr>
          <p:cNvPr id="1125" name="Google Shape;1125;p97"/>
          <p:cNvSpPr/>
          <p:nvPr/>
        </p:nvSpPr>
        <p:spPr>
          <a:xfrm>
            <a:off x="820849" y="3495996"/>
            <a:ext cx="10969500" cy="1182986"/>
          </a:xfrm>
          <a:prstGeom prst="rect">
            <a:avLst/>
          </a:prstGeom>
          <a:noFill/>
          <a:ln>
            <a:noFill/>
          </a:ln>
        </p:spPr>
        <p:txBody>
          <a:bodyPr anchorCtr="0" anchor="ctr" bIns="0" lIns="0" spcFirstLastPara="1" rIns="0" wrap="square" tIns="0">
            <a:noAutofit/>
          </a:bodyPr>
          <a:lstStyle/>
          <a:p>
            <a:pPr indent="0" lvl="0" marL="0" marR="0" rtl="0" algn="just">
              <a:lnSpc>
                <a:spcPct val="140000"/>
              </a:lnSpc>
              <a:spcBef>
                <a:spcPts val="0"/>
              </a:spcBef>
              <a:spcAft>
                <a:spcPts val="0"/>
              </a:spcAft>
              <a:buNone/>
            </a:pPr>
            <a:r>
              <a:rPr lang="en-US" sz="1901">
                <a:solidFill>
                  <a:schemeClr val="dk1"/>
                </a:solidFill>
                <a:latin typeface="Calibri"/>
                <a:ea typeface="Calibri"/>
                <a:cs typeface="Calibri"/>
                <a:sym typeface="Calibri"/>
              </a:rPr>
              <a:t>When multiple threads need to read from or write to memory simultaneously, the slice orchestrates these operations, ensuring each thread accesses the correct location with the proper data format. </a:t>
            </a:r>
            <a:endParaRPr sz="2400">
              <a:solidFill>
                <a:schemeClr val="dk1"/>
              </a:solidFill>
              <a:latin typeface="Calibri"/>
              <a:ea typeface="Calibri"/>
              <a:cs typeface="Calibri"/>
              <a:sym typeface="Calibri"/>
            </a:endParaRPr>
          </a:p>
        </p:txBody>
      </p:sp>
      <p:sp>
        <p:nvSpPr>
          <p:cNvPr id="1126" name="Google Shape;1126;p97"/>
          <p:cNvSpPr/>
          <p:nvPr/>
        </p:nvSpPr>
        <p:spPr>
          <a:xfrm>
            <a:off x="543210" y="5654967"/>
            <a:ext cx="72426" cy="682172"/>
          </a:xfrm>
          <a:custGeom>
            <a:rect b="b" l="l" r="r" t="t"/>
            <a:pathLst>
              <a:path extrusionOk="0" h="1062273" w="32190">
                <a:moveTo>
                  <a:pt x="0" y="0"/>
                </a:moveTo>
                <a:lnTo>
                  <a:pt x="32190" y="0"/>
                </a:lnTo>
                <a:lnTo>
                  <a:pt x="32190" y="1062273"/>
                </a:lnTo>
                <a:lnTo>
                  <a:pt x="0" y="1062273"/>
                </a:lnTo>
                <a:lnTo>
                  <a:pt x="0" y="0"/>
                </a:lnTo>
                <a:close/>
              </a:path>
            </a:pathLst>
          </a:custGeom>
          <a:solidFill>
            <a:srgbClr val="1B64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700">
              <a:solidFill>
                <a:schemeClr val="dk1"/>
              </a:solidFill>
              <a:latin typeface="Meddon"/>
              <a:ea typeface="Meddon"/>
              <a:cs typeface="Meddon"/>
              <a:sym typeface="Meddon"/>
            </a:endParaRPr>
          </a:p>
        </p:txBody>
      </p:sp>
      <p:sp>
        <p:nvSpPr>
          <p:cNvPr id="1127" name="Google Shape;1127;p97"/>
          <p:cNvSpPr/>
          <p:nvPr/>
        </p:nvSpPr>
        <p:spPr>
          <a:xfrm>
            <a:off x="615636" y="4682642"/>
            <a:ext cx="8268831" cy="3862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1" lang="en-US" sz="2800">
                <a:solidFill>
                  <a:schemeClr val="dk1"/>
                </a:solidFill>
                <a:latin typeface="Calibri"/>
                <a:ea typeface="Calibri"/>
                <a:cs typeface="Calibri"/>
                <a:sym typeface="Calibri"/>
              </a:rPr>
              <a:t>Architectural Role</a:t>
            </a:r>
            <a:endParaRPr/>
          </a:p>
        </p:txBody>
      </p:sp>
      <p:sp>
        <p:nvSpPr>
          <p:cNvPr id="1128" name="Google Shape;1128;p97"/>
          <p:cNvSpPr/>
          <p:nvPr/>
        </p:nvSpPr>
        <p:spPr>
          <a:xfrm>
            <a:off x="844990" y="5406925"/>
            <a:ext cx="10586522" cy="1062273"/>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900">
                <a:solidFill>
                  <a:schemeClr val="dk1"/>
                </a:solidFill>
                <a:latin typeface="Calibri"/>
                <a:ea typeface="Calibri"/>
                <a:cs typeface="Calibri"/>
                <a:sym typeface="Calibri"/>
              </a:rPr>
              <a:t>The slice acts as the critical bridge between the parallel compute pipeline and the memory system, translating high-level memory operations into low-level memory transactions.</a:t>
            </a:r>
            <a:endParaRPr sz="1900">
              <a:solidFill>
                <a:schemeClr val="dk1"/>
              </a:solidFill>
              <a:latin typeface="Calibri"/>
              <a:ea typeface="Calibri"/>
              <a:cs typeface="Calibri"/>
              <a:sym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98"/>
          <p:cNvSpPr/>
          <p:nvPr/>
        </p:nvSpPr>
        <p:spPr>
          <a:xfrm>
            <a:off x="452673" y="1236667"/>
            <a:ext cx="17612009" cy="57942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i="1" lang="en-US" sz="4800">
                <a:solidFill>
                  <a:schemeClr val="dk1"/>
                </a:solidFill>
                <a:latin typeface="Calibri"/>
                <a:ea typeface="Calibri"/>
                <a:cs typeface="Calibri"/>
                <a:sym typeface="Calibri"/>
              </a:rPr>
              <a:t>What is an LSU Slice?</a:t>
            </a:r>
            <a:endParaRPr/>
          </a:p>
        </p:txBody>
      </p:sp>
      <p:sp>
        <p:nvSpPr>
          <p:cNvPr id="1134" name="Google Shape;1134;p98"/>
          <p:cNvSpPr/>
          <p:nvPr/>
        </p:nvSpPr>
        <p:spPr>
          <a:xfrm>
            <a:off x="615636" y="1942233"/>
            <a:ext cx="8643042" cy="43456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1" lang="en-US" sz="3600">
                <a:solidFill>
                  <a:schemeClr val="dk1"/>
                </a:solidFill>
                <a:latin typeface="Calibri"/>
                <a:ea typeface="Calibri"/>
                <a:cs typeface="Calibri"/>
                <a:sym typeface="Calibri"/>
              </a:rPr>
              <a:t>Architectural Role </a:t>
            </a:r>
            <a:endParaRPr/>
          </a:p>
        </p:txBody>
      </p:sp>
      <p:pic>
        <p:nvPicPr>
          <p:cNvPr id="1135" name="Google Shape;1135;p98"/>
          <p:cNvPicPr preferRelativeResize="0"/>
          <p:nvPr/>
        </p:nvPicPr>
        <p:blipFill rotWithShape="1">
          <a:blip r:embed="rId3">
            <a:alphaModFix/>
          </a:blip>
          <a:srcRect b="0" l="172" r="172" t="0"/>
          <a:stretch/>
        </p:blipFill>
        <p:spPr>
          <a:xfrm>
            <a:off x="1161521" y="2583103"/>
            <a:ext cx="9868958" cy="379619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99"/>
          <p:cNvSpPr/>
          <p:nvPr/>
        </p:nvSpPr>
        <p:spPr>
          <a:xfrm>
            <a:off x="452673" y="1236667"/>
            <a:ext cx="17612009" cy="57942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i="1" lang="en-US" sz="4800">
                <a:solidFill>
                  <a:schemeClr val="dk1"/>
                </a:solidFill>
                <a:latin typeface="Calibri"/>
                <a:ea typeface="Calibri"/>
                <a:cs typeface="Calibri"/>
                <a:sym typeface="Calibri"/>
              </a:rPr>
              <a:t>LSU Slice Execution Responsibilities  </a:t>
            </a:r>
            <a:endParaRPr b="1" i="1" sz="4800">
              <a:solidFill>
                <a:schemeClr val="dk1"/>
              </a:solidFill>
              <a:latin typeface="Calibri"/>
              <a:ea typeface="Calibri"/>
              <a:cs typeface="Calibri"/>
              <a:sym typeface="Calibri"/>
            </a:endParaRPr>
          </a:p>
        </p:txBody>
      </p:sp>
      <p:sp>
        <p:nvSpPr>
          <p:cNvPr id="1141" name="Google Shape;1141;p99"/>
          <p:cNvSpPr/>
          <p:nvPr/>
        </p:nvSpPr>
        <p:spPr>
          <a:xfrm>
            <a:off x="777754" y="1909395"/>
            <a:ext cx="10801535" cy="4095750"/>
          </a:xfrm>
          <a:prstGeom prst="rect">
            <a:avLst/>
          </a:prstGeom>
          <a:noFill/>
          <a:ln>
            <a:noFill/>
          </a:ln>
        </p:spPr>
        <p:txBody>
          <a:bodyPr anchorCtr="0" anchor="ctr" bIns="0" lIns="0" spcFirstLastPara="1" rIns="0" wrap="square" tIns="0">
            <a:noAutofit/>
          </a:bodyPr>
          <a:lstStyle/>
          <a:p>
            <a:pPr indent="-457200" lvl="0" marL="457200" marR="0" rtl="0" algn="l">
              <a:lnSpc>
                <a:spcPct val="100000"/>
              </a:lnSpc>
              <a:spcBef>
                <a:spcPts val="0"/>
              </a:spcBef>
              <a:spcAft>
                <a:spcPts val="0"/>
              </a:spcAft>
              <a:buClr>
                <a:schemeClr val="dk1"/>
              </a:buClr>
              <a:buSzPts val="2800"/>
              <a:buFont typeface="Arial"/>
              <a:buChar char="•"/>
            </a:pPr>
            <a:r>
              <a:rPr i="1" lang="en-US" sz="2800">
                <a:solidFill>
                  <a:schemeClr val="dk1"/>
                </a:solidFill>
                <a:latin typeface="Calibri"/>
                <a:ea typeface="Calibri"/>
                <a:cs typeface="Calibri"/>
                <a:sym typeface="Calibri"/>
              </a:rPr>
              <a:t>Address Generation                     </a:t>
            </a:r>
            <a:endParaRPr i="1" sz="2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i="1" lang="en-US" sz="2800">
                <a:solidFill>
                  <a:schemeClr val="dk1"/>
                </a:solidFill>
                <a:latin typeface="Calibri"/>
                <a:ea typeface="Calibri"/>
                <a:cs typeface="Calibri"/>
                <a:sym typeface="Calibri"/>
              </a:rPr>
              <a:t>   </a:t>
            </a:r>
            <a:endParaRPr/>
          </a:p>
          <a:p>
            <a:pPr indent="-457200" lvl="0" marL="457200" marR="0" rtl="0" algn="l">
              <a:lnSpc>
                <a:spcPct val="100000"/>
              </a:lnSpc>
              <a:spcBef>
                <a:spcPts val="0"/>
              </a:spcBef>
              <a:spcAft>
                <a:spcPts val="0"/>
              </a:spcAft>
              <a:buClr>
                <a:schemeClr val="dk1"/>
              </a:buClr>
              <a:buSzPts val="2800"/>
              <a:buFont typeface="Arial"/>
              <a:buChar char="•"/>
            </a:pPr>
            <a:r>
              <a:rPr i="1" lang="en-US" sz="2800">
                <a:solidFill>
                  <a:schemeClr val="dk1"/>
                </a:solidFill>
                <a:latin typeface="Calibri"/>
                <a:ea typeface="Calibri"/>
                <a:cs typeface="Calibri"/>
                <a:sym typeface="Calibri"/>
              </a:rPr>
              <a:t>Memory Type Classification </a:t>
            </a:r>
            <a:endParaRPr/>
          </a:p>
          <a:p>
            <a:pPr indent="0" lvl="0" marL="0" marR="0" rtl="0" algn="l">
              <a:lnSpc>
                <a:spcPct val="100000"/>
              </a:lnSpc>
              <a:spcBef>
                <a:spcPts val="0"/>
              </a:spcBef>
              <a:spcAft>
                <a:spcPts val="0"/>
              </a:spcAft>
              <a:buNone/>
            </a:pPr>
            <a:r>
              <a:t/>
            </a:r>
            <a:endParaRPr i="1" sz="2800">
              <a:solidFill>
                <a:schemeClr val="dk1"/>
              </a:solidFill>
              <a:latin typeface="Calibri"/>
              <a:ea typeface="Calibri"/>
              <a:cs typeface="Calibri"/>
              <a:sym typeface="Calibri"/>
            </a:endParaRPr>
          </a:p>
          <a:p>
            <a:pPr indent="-457200" lvl="0" marL="457200" marR="0" rtl="0" algn="l">
              <a:lnSpc>
                <a:spcPct val="100000"/>
              </a:lnSpc>
              <a:spcBef>
                <a:spcPts val="0"/>
              </a:spcBef>
              <a:spcAft>
                <a:spcPts val="0"/>
              </a:spcAft>
              <a:buClr>
                <a:schemeClr val="dk1"/>
              </a:buClr>
              <a:buSzPts val="2800"/>
              <a:buFont typeface="Arial"/>
              <a:buChar char="•"/>
            </a:pPr>
            <a:r>
              <a:rPr i="1" lang="en-US" sz="2800">
                <a:solidFill>
                  <a:schemeClr val="dk1"/>
                </a:solidFill>
                <a:latin typeface="Calibri"/>
                <a:ea typeface="Calibri"/>
                <a:cs typeface="Calibri"/>
                <a:sym typeface="Calibri"/>
              </a:rPr>
              <a:t>Data Format Translation </a:t>
            </a:r>
            <a:endParaRPr/>
          </a:p>
          <a:p>
            <a:pPr indent="0" lvl="0" marL="0" marR="0" rtl="0" algn="l">
              <a:lnSpc>
                <a:spcPct val="100000"/>
              </a:lnSpc>
              <a:spcBef>
                <a:spcPts val="0"/>
              </a:spcBef>
              <a:spcAft>
                <a:spcPts val="0"/>
              </a:spcAft>
              <a:buNone/>
            </a:pPr>
            <a:r>
              <a:t/>
            </a:r>
            <a:endParaRPr i="1" sz="2800">
              <a:solidFill>
                <a:schemeClr val="dk1"/>
              </a:solidFill>
              <a:latin typeface="Calibri"/>
              <a:ea typeface="Calibri"/>
              <a:cs typeface="Calibri"/>
              <a:sym typeface="Calibri"/>
            </a:endParaRPr>
          </a:p>
          <a:p>
            <a:pPr indent="-457200" lvl="0" marL="457200" marR="0" rtl="0" algn="l">
              <a:lnSpc>
                <a:spcPct val="100000"/>
              </a:lnSpc>
              <a:spcBef>
                <a:spcPts val="0"/>
              </a:spcBef>
              <a:spcAft>
                <a:spcPts val="0"/>
              </a:spcAft>
              <a:buClr>
                <a:schemeClr val="dk1"/>
              </a:buClr>
              <a:buSzPts val="2800"/>
              <a:buFont typeface="Arial"/>
              <a:buChar char="•"/>
            </a:pPr>
            <a:r>
              <a:rPr i="1" lang="en-US" sz="2800">
                <a:solidFill>
                  <a:schemeClr val="dk1"/>
                </a:solidFill>
                <a:latin typeface="Calibri"/>
                <a:ea typeface="Calibri"/>
                <a:cs typeface="Calibri"/>
                <a:sym typeface="Calibri"/>
              </a:rPr>
              <a:t>Parallel Lane Management </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100"/>
          <p:cNvSpPr/>
          <p:nvPr/>
        </p:nvSpPr>
        <p:spPr>
          <a:xfrm>
            <a:off x="452673" y="1329973"/>
            <a:ext cx="17612009" cy="57942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i="1" lang="en-US" sz="4800">
                <a:solidFill>
                  <a:schemeClr val="dk1"/>
                </a:solidFill>
                <a:latin typeface="Calibri"/>
                <a:ea typeface="Calibri"/>
                <a:cs typeface="Calibri"/>
                <a:sym typeface="Calibri"/>
              </a:rPr>
              <a:t> Address Generation Mechanism </a:t>
            </a:r>
            <a:endParaRPr i="1" sz="4800">
              <a:solidFill>
                <a:schemeClr val="dk1"/>
              </a:solidFill>
              <a:latin typeface="Calibri"/>
              <a:ea typeface="Calibri"/>
              <a:cs typeface="Calibri"/>
              <a:sym typeface="Calibri"/>
            </a:endParaRPr>
          </a:p>
        </p:txBody>
      </p:sp>
      <p:sp>
        <p:nvSpPr>
          <p:cNvPr id="1147" name="Google Shape;1147;p100"/>
          <p:cNvSpPr txBox="1"/>
          <p:nvPr/>
        </p:nvSpPr>
        <p:spPr>
          <a:xfrm>
            <a:off x="314075" y="3268633"/>
            <a:ext cx="11884321" cy="1167371"/>
          </a:xfrm>
          <a:prstGeom prst="rect">
            <a:avLst/>
          </a:prstGeom>
          <a:noFill/>
          <a:ln>
            <a:noFill/>
          </a:ln>
        </p:spPr>
        <p:txBody>
          <a:bodyPr anchorCtr="0" anchor="t" bIns="45700" lIns="91425" spcFirstLastPara="1" rIns="91425" wrap="square" tIns="45700">
            <a:spAutoFit/>
          </a:bodyPr>
          <a:lstStyle/>
          <a:p>
            <a:pPr indent="0" lvl="0" marL="0" marR="0" rtl="0" algn="ctr">
              <a:lnSpc>
                <a:spcPct val="130000"/>
              </a:lnSpc>
              <a:spcBef>
                <a:spcPts val="0"/>
              </a:spcBef>
              <a:spcAft>
                <a:spcPts val="0"/>
              </a:spcAft>
              <a:buNone/>
            </a:pPr>
            <a:r>
              <a:rPr lang="en-US" sz="2800">
                <a:solidFill>
                  <a:schemeClr val="dk1"/>
                </a:solidFill>
                <a:latin typeface="Calibri"/>
                <a:ea typeface="Calibri"/>
                <a:cs typeface="Calibri"/>
                <a:sym typeface="Calibri"/>
              </a:rPr>
              <a:t>The slice takes </a:t>
            </a:r>
            <a:r>
              <a:rPr b="1" i="1" lang="en-US" sz="2800">
                <a:solidFill>
                  <a:schemeClr val="dk1"/>
                </a:solidFill>
                <a:latin typeface="Calibri"/>
                <a:ea typeface="Calibri"/>
                <a:cs typeface="Calibri"/>
                <a:sym typeface="Calibri"/>
              </a:rPr>
              <a:t>base addresses and offsets</a:t>
            </a:r>
            <a:r>
              <a:rPr i="1"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from instructions and computes the actual memory locations where data should be read or written.</a:t>
            </a:r>
            <a:endParaRPr sz="2800">
              <a:solidFill>
                <a:schemeClr val="dk1"/>
              </a:solidFill>
              <a:latin typeface="Calibri"/>
              <a:ea typeface="Calibri"/>
              <a:cs typeface="Calibri"/>
              <a:sym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101"/>
          <p:cNvSpPr/>
          <p:nvPr/>
        </p:nvSpPr>
        <p:spPr>
          <a:xfrm>
            <a:off x="452673" y="1329973"/>
            <a:ext cx="17612009" cy="57942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i="1" lang="en-US" sz="4800">
                <a:solidFill>
                  <a:schemeClr val="dk1"/>
                </a:solidFill>
                <a:latin typeface="Calibri"/>
                <a:ea typeface="Calibri"/>
                <a:cs typeface="Calibri"/>
                <a:sym typeface="Calibri"/>
              </a:rPr>
              <a:t> Address Generation Mechanism </a:t>
            </a:r>
            <a:endParaRPr i="1" sz="4800">
              <a:solidFill>
                <a:schemeClr val="dk1"/>
              </a:solidFill>
              <a:latin typeface="Calibri"/>
              <a:ea typeface="Calibri"/>
              <a:cs typeface="Calibri"/>
              <a:sym typeface="Calibri"/>
            </a:endParaRPr>
          </a:p>
        </p:txBody>
      </p:sp>
      <p:sp>
        <p:nvSpPr>
          <p:cNvPr id="1153" name="Google Shape;1153;p101"/>
          <p:cNvSpPr/>
          <p:nvPr/>
        </p:nvSpPr>
        <p:spPr>
          <a:xfrm>
            <a:off x="518470" y="2195662"/>
            <a:ext cx="11475532" cy="398747"/>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i="1" lang="en-US" sz="2415">
                <a:solidFill>
                  <a:schemeClr val="dk1"/>
                </a:solidFill>
                <a:latin typeface="Calibri"/>
                <a:ea typeface="Calibri"/>
                <a:cs typeface="Calibri"/>
                <a:sym typeface="Calibri"/>
              </a:rPr>
              <a:t>Parallel Address Calculation for Multiple Threads</a:t>
            </a:r>
            <a:endParaRPr i="1" sz="2400">
              <a:solidFill>
                <a:schemeClr val="dk1"/>
              </a:solidFill>
              <a:latin typeface="Calibri"/>
              <a:ea typeface="Calibri"/>
              <a:cs typeface="Calibri"/>
              <a:sym typeface="Calibri"/>
            </a:endParaRPr>
          </a:p>
        </p:txBody>
      </p:sp>
      <p:sp>
        <p:nvSpPr>
          <p:cNvPr id="1154" name="Google Shape;1154;p101"/>
          <p:cNvSpPr/>
          <p:nvPr/>
        </p:nvSpPr>
        <p:spPr>
          <a:xfrm>
            <a:off x="637921" y="3011021"/>
            <a:ext cx="11136748" cy="2230334"/>
          </a:xfrm>
          <a:custGeom>
            <a:rect b="b" l="l" r="r" t="t"/>
            <a:pathLst>
              <a:path extrusionOk="0" h="1668200" w="7572501">
                <a:moveTo>
                  <a:pt x="68163" y="0"/>
                </a:moveTo>
                <a:lnTo>
                  <a:pt x="7504339" y="0"/>
                </a:lnTo>
                <a:cubicBezTo>
                  <a:pt x="7541984" y="0"/>
                  <a:pt x="7572501" y="30517"/>
                  <a:pt x="7572501" y="68163"/>
                </a:cubicBezTo>
                <a:lnTo>
                  <a:pt x="7572501" y="1600037"/>
                </a:lnTo>
                <a:cubicBezTo>
                  <a:pt x="7572501" y="1637682"/>
                  <a:pt x="7541984" y="1668200"/>
                  <a:pt x="7504339" y="1668200"/>
                </a:cubicBezTo>
                <a:lnTo>
                  <a:pt x="68163" y="1668200"/>
                </a:lnTo>
                <a:cubicBezTo>
                  <a:pt x="30517" y="1668200"/>
                  <a:pt x="0" y="1637682"/>
                  <a:pt x="0" y="1600037"/>
                </a:cubicBezTo>
                <a:lnTo>
                  <a:pt x="0" y="68163"/>
                </a:lnTo>
                <a:cubicBezTo>
                  <a:pt x="0" y="30517"/>
                  <a:pt x="30517" y="0"/>
                  <a:pt x="68163" y="0"/>
                </a:cubicBezTo>
                <a:close/>
              </a:path>
            </a:pathLst>
          </a:custGeom>
          <a:solidFill>
            <a:srgbClr val="000000">
              <a:alpha val="0"/>
            </a:srgbClr>
          </a:solidFill>
          <a:ln cap="flat" cmpd="sng" w="10150">
            <a:solidFill>
              <a:srgbClr val="4A7C8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1155" name="Google Shape;1155;p101"/>
          <p:cNvSpPr/>
          <p:nvPr/>
        </p:nvSpPr>
        <p:spPr>
          <a:xfrm>
            <a:off x="873528" y="3131379"/>
            <a:ext cx="229001" cy="299061"/>
          </a:xfrm>
          <a:custGeom>
            <a:rect b="b" l="l" r="r" t="t"/>
            <a:pathLst>
              <a:path extrusionOk="0" h="204478" w="153358">
                <a:moveTo>
                  <a:pt x="25560" y="0"/>
                </a:moveTo>
                <a:cubicBezTo>
                  <a:pt x="11462" y="0"/>
                  <a:pt x="0" y="11462"/>
                  <a:pt x="0" y="25560"/>
                </a:cubicBezTo>
                <a:lnTo>
                  <a:pt x="0" y="178918"/>
                </a:lnTo>
                <a:cubicBezTo>
                  <a:pt x="0" y="193016"/>
                  <a:pt x="11462" y="204478"/>
                  <a:pt x="25560" y="204478"/>
                </a:cubicBezTo>
                <a:lnTo>
                  <a:pt x="127799" y="204478"/>
                </a:lnTo>
                <a:cubicBezTo>
                  <a:pt x="141897" y="204478"/>
                  <a:pt x="153358" y="193016"/>
                  <a:pt x="153358" y="178918"/>
                </a:cubicBezTo>
                <a:lnTo>
                  <a:pt x="153358" y="25560"/>
                </a:lnTo>
                <a:cubicBezTo>
                  <a:pt x="153358" y="11462"/>
                  <a:pt x="141897" y="0"/>
                  <a:pt x="127799" y="0"/>
                </a:cubicBezTo>
                <a:lnTo>
                  <a:pt x="25560" y="0"/>
                </a:lnTo>
                <a:close/>
                <a:moveTo>
                  <a:pt x="38340" y="25560"/>
                </a:moveTo>
                <a:lnTo>
                  <a:pt x="115019" y="25560"/>
                </a:lnTo>
                <a:cubicBezTo>
                  <a:pt x="122088" y="25560"/>
                  <a:pt x="127799" y="31271"/>
                  <a:pt x="127799" y="38340"/>
                </a:cubicBezTo>
                <a:lnTo>
                  <a:pt x="127799" y="51119"/>
                </a:lnTo>
                <a:cubicBezTo>
                  <a:pt x="127799" y="58188"/>
                  <a:pt x="122088" y="63899"/>
                  <a:pt x="115019" y="63899"/>
                </a:cubicBezTo>
                <a:lnTo>
                  <a:pt x="38340" y="63899"/>
                </a:lnTo>
                <a:cubicBezTo>
                  <a:pt x="31271" y="63899"/>
                  <a:pt x="25560" y="58188"/>
                  <a:pt x="25560" y="51119"/>
                </a:cubicBezTo>
                <a:lnTo>
                  <a:pt x="25560" y="38340"/>
                </a:lnTo>
                <a:cubicBezTo>
                  <a:pt x="25560" y="31271"/>
                  <a:pt x="31271" y="25560"/>
                  <a:pt x="38340" y="25560"/>
                </a:cubicBezTo>
                <a:close/>
                <a:moveTo>
                  <a:pt x="44730" y="92654"/>
                </a:moveTo>
                <a:cubicBezTo>
                  <a:pt x="44730" y="97944"/>
                  <a:pt x="40435" y="102239"/>
                  <a:pt x="35145" y="102239"/>
                </a:cubicBezTo>
                <a:cubicBezTo>
                  <a:pt x="29855" y="102239"/>
                  <a:pt x="25560" y="97944"/>
                  <a:pt x="25560" y="92654"/>
                </a:cubicBezTo>
                <a:cubicBezTo>
                  <a:pt x="25560" y="87364"/>
                  <a:pt x="29855" y="83069"/>
                  <a:pt x="35145" y="83069"/>
                </a:cubicBezTo>
                <a:cubicBezTo>
                  <a:pt x="40435" y="83069"/>
                  <a:pt x="44730" y="87364"/>
                  <a:pt x="44730" y="92654"/>
                </a:cubicBezTo>
                <a:close/>
                <a:moveTo>
                  <a:pt x="76679" y="102239"/>
                </a:moveTo>
                <a:cubicBezTo>
                  <a:pt x="71389" y="102239"/>
                  <a:pt x="67094" y="97944"/>
                  <a:pt x="67094" y="92654"/>
                </a:cubicBezTo>
                <a:cubicBezTo>
                  <a:pt x="67094" y="87364"/>
                  <a:pt x="71389" y="83069"/>
                  <a:pt x="76679" y="83069"/>
                </a:cubicBezTo>
                <a:cubicBezTo>
                  <a:pt x="81969" y="83069"/>
                  <a:pt x="86264" y="87364"/>
                  <a:pt x="86264" y="92654"/>
                </a:cubicBezTo>
                <a:cubicBezTo>
                  <a:pt x="86264" y="97944"/>
                  <a:pt x="81969" y="102239"/>
                  <a:pt x="76679" y="102239"/>
                </a:cubicBezTo>
                <a:close/>
                <a:moveTo>
                  <a:pt x="127799" y="92654"/>
                </a:moveTo>
                <a:cubicBezTo>
                  <a:pt x="127799" y="97944"/>
                  <a:pt x="123504" y="102239"/>
                  <a:pt x="118214" y="102239"/>
                </a:cubicBezTo>
                <a:cubicBezTo>
                  <a:pt x="112924" y="102239"/>
                  <a:pt x="108629" y="97944"/>
                  <a:pt x="108629" y="92654"/>
                </a:cubicBezTo>
                <a:cubicBezTo>
                  <a:pt x="108629" y="87364"/>
                  <a:pt x="112924" y="83069"/>
                  <a:pt x="118214" y="83069"/>
                </a:cubicBezTo>
                <a:cubicBezTo>
                  <a:pt x="123504" y="83069"/>
                  <a:pt x="127799" y="87364"/>
                  <a:pt x="127799" y="92654"/>
                </a:cubicBezTo>
                <a:close/>
                <a:moveTo>
                  <a:pt x="35145" y="140579"/>
                </a:moveTo>
                <a:cubicBezTo>
                  <a:pt x="29855" y="140579"/>
                  <a:pt x="25560" y="136284"/>
                  <a:pt x="25560" y="130994"/>
                </a:cubicBezTo>
                <a:cubicBezTo>
                  <a:pt x="25560" y="125704"/>
                  <a:pt x="29855" y="121409"/>
                  <a:pt x="35145" y="121409"/>
                </a:cubicBezTo>
                <a:cubicBezTo>
                  <a:pt x="40435" y="121409"/>
                  <a:pt x="44730" y="125704"/>
                  <a:pt x="44730" y="130994"/>
                </a:cubicBezTo>
                <a:cubicBezTo>
                  <a:pt x="44730" y="136284"/>
                  <a:pt x="40435" y="140579"/>
                  <a:pt x="35145" y="140579"/>
                </a:cubicBezTo>
                <a:close/>
                <a:moveTo>
                  <a:pt x="86264" y="130994"/>
                </a:moveTo>
                <a:cubicBezTo>
                  <a:pt x="86264" y="136284"/>
                  <a:pt x="81969" y="140579"/>
                  <a:pt x="76679" y="140579"/>
                </a:cubicBezTo>
                <a:cubicBezTo>
                  <a:pt x="71389" y="140579"/>
                  <a:pt x="67094" y="136284"/>
                  <a:pt x="67094" y="130994"/>
                </a:cubicBezTo>
                <a:cubicBezTo>
                  <a:pt x="67094" y="125704"/>
                  <a:pt x="71389" y="121409"/>
                  <a:pt x="76679" y="121409"/>
                </a:cubicBezTo>
                <a:cubicBezTo>
                  <a:pt x="81969" y="121409"/>
                  <a:pt x="86264" y="125704"/>
                  <a:pt x="86264" y="130994"/>
                </a:cubicBezTo>
                <a:close/>
                <a:moveTo>
                  <a:pt x="118214" y="140579"/>
                </a:moveTo>
                <a:cubicBezTo>
                  <a:pt x="112924" y="140579"/>
                  <a:pt x="108629" y="136284"/>
                  <a:pt x="108629" y="130994"/>
                </a:cubicBezTo>
                <a:cubicBezTo>
                  <a:pt x="108629" y="125704"/>
                  <a:pt x="112924" y="121409"/>
                  <a:pt x="118214" y="121409"/>
                </a:cubicBezTo>
                <a:cubicBezTo>
                  <a:pt x="123504" y="121409"/>
                  <a:pt x="127799" y="125704"/>
                  <a:pt x="127799" y="130994"/>
                </a:cubicBezTo>
                <a:cubicBezTo>
                  <a:pt x="127799" y="136284"/>
                  <a:pt x="123504" y="140579"/>
                  <a:pt x="118214" y="140579"/>
                </a:cubicBezTo>
                <a:close/>
                <a:moveTo>
                  <a:pt x="25560" y="169333"/>
                </a:moveTo>
                <a:cubicBezTo>
                  <a:pt x="25560" y="164022"/>
                  <a:pt x="29833" y="159748"/>
                  <a:pt x="35145" y="159748"/>
                </a:cubicBezTo>
                <a:lnTo>
                  <a:pt x="79874" y="159748"/>
                </a:lnTo>
                <a:cubicBezTo>
                  <a:pt x="85186" y="159748"/>
                  <a:pt x="89459" y="164022"/>
                  <a:pt x="89459" y="169333"/>
                </a:cubicBezTo>
                <a:cubicBezTo>
                  <a:pt x="89459" y="174645"/>
                  <a:pt x="85186" y="178918"/>
                  <a:pt x="79874" y="178918"/>
                </a:cubicBezTo>
                <a:lnTo>
                  <a:pt x="35145" y="178918"/>
                </a:lnTo>
                <a:cubicBezTo>
                  <a:pt x="29833" y="178918"/>
                  <a:pt x="25560" y="174645"/>
                  <a:pt x="25560" y="169333"/>
                </a:cubicBezTo>
                <a:close/>
                <a:moveTo>
                  <a:pt x="118214" y="159748"/>
                </a:moveTo>
                <a:cubicBezTo>
                  <a:pt x="123525" y="159748"/>
                  <a:pt x="127799" y="164022"/>
                  <a:pt x="127799" y="169333"/>
                </a:cubicBezTo>
                <a:cubicBezTo>
                  <a:pt x="127799" y="174645"/>
                  <a:pt x="123525" y="178918"/>
                  <a:pt x="118214" y="178918"/>
                </a:cubicBezTo>
                <a:cubicBezTo>
                  <a:pt x="112902" y="178918"/>
                  <a:pt x="108629" y="174645"/>
                  <a:pt x="108629" y="169333"/>
                </a:cubicBezTo>
                <a:cubicBezTo>
                  <a:pt x="108629" y="164022"/>
                  <a:pt x="112902" y="159748"/>
                  <a:pt x="118214" y="159748"/>
                </a:cubicBezTo>
                <a:close/>
              </a:path>
            </a:pathLst>
          </a:custGeom>
          <a:solidFill>
            <a:srgbClr val="4A7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1156" name="Google Shape;1156;p101"/>
          <p:cNvSpPr/>
          <p:nvPr/>
        </p:nvSpPr>
        <p:spPr>
          <a:xfrm>
            <a:off x="1333605" y="3105819"/>
            <a:ext cx="3269636" cy="34890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1" lang="en-US" sz="2012">
                <a:solidFill>
                  <a:schemeClr val="dk1"/>
                </a:solidFill>
                <a:latin typeface="Calibri"/>
                <a:ea typeface="Calibri"/>
                <a:cs typeface="Calibri"/>
                <a:sym typeface="Calibri"/>
              </a:rPr>
              <a:t>Address Generation Formula</a:t>
            </a:r>
            <a:endParaRPr b="1" i="1" sz="2400">
              <a:solidFill>
                <a:schemeClr val="dk1"/>
              </a:solidFill>
              <a:latin typeface="Calibri"/>
              <a:ea typeface="Calibri"/>
              <a:cs typeface="Calibri"/>
              <a:sym typeface="Calibri"/>
            </a:endParaRPr>
          </a:p>
        </p:txBody>
      </p:sp>
      <p:sp>
        <p:nvSpPr>
          <p:cNvPr id="1157" name="Google Shape;1157;p101"/>
          <p:cNvSpPr/>
          <p:nvPr/>
        </p:nvSpPr>
        <p:spPr>
          <a:xfrm>
            <a:off x="807074" y="3678358"/>
            <a:ext cx="10770717" cy="1365711"/>
          </a:xfrm>
          <a:custGeom>
            <a:rect b="b" l="l" r="r" t="t"/>
            <a:pathLst>
              <a:path extrusionOk="0" h="933783" w="7212961">
                <a:moveTo>
                  <a:pt x="68157" y="0"/>
                </a:moveTo>
                <a:lnTo>
                  <a:pt x="7144804" y="0"/>
                </a:lnTo>
                <a:cubicBezTo>
                  <a:pt x="7182446" y="0"/>
                  <a:pt x="7212961" y="30515"/>
                  <a:pt x="7212961" y="68157"/>
                </a:cubicBezTo>
                <a:lnTo>
                  <a:pt x="7212961" y="865626"/>
                </a:lnTo>
                <a:cubicBezTo>
                  <a:pt x="7212961" y="903268"/>
                  <a:pt x="7182446" y="933783"/>
                  <a:pt x="7144804" y="933783"/>
                </a:cubicBezTo>
                <a:lnTo>
                  <a:pt x="68157" y="933783"/>
                </a:lnTo>
                <a:cubicBezTo>
                  <a:pt x="30515" y="933783"/>
                  <a:pt x="0" y="903268"/>
                  <a:pt x="0" y="865626"/>
                </a:cubicBezTo>
                <a:lnTo>
                  <a:pt x="0" y="68157"/>
                </a:lnTo>
                <a:cubicBezTo>
                  <a:pt x="0" y="30515"/>
                  <a:pt x="30515" y="0"/>
                  <a:pt x="68157" y="0"/>
                </a:cubicBezTo>
                <a:close/>
              </a:path>
            </a:pathLst>
          </a:custGeom>
          <a:solidFill>
            <a:srgbClr val="1B64A8">
              <a:alpha val="0"/>
            </a:srgbClr>
          </a:solidFill>
          <a:ln cap="flat" cmpd="sng" w="2030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1158" name="Google Shape;1158;p101"/>
          <p:cNvSpPr/>
          <p:nvPr/>
        </p:nvSpPr>
        <p:spPr>
          <a:xfrm>
            <a:off x="452673" y="4103798"/>
            <a:ext cx="10979363" cy="498435"/>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lang="en-US" sz="3623">
                <a:solidFill>
                  <a:schemeClr val="dk1"/>
                </a:solidFill>
                <a:latin typeface="Calibri"/>
                <a:ea typeface="Calibri"/>
                <a:cs typeface="Calibri"/>
                <a:sym typeface="Calibri"/>
              </a:rPr>
              <a:t>Effective Address = Base + Offset</a:t>
            </a:r>
            <a:endParaRPr sz="2400">
              <a:solidFill>
                <a:schemeClr val="dk1"/>
              </a:solidFill>
              <a:latin typeface="Calibri"/>
              <a:ea typeface="Calibri"/>
              <a:cs typeface="Calibri"/>
              <a:sym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102"/>
          <p:cNvSpPr/>
          <p:nvPr/>
        </p:nvSpPr>
        <p:spPr>
          <a:xfrm>
            <a:off x="452673" y="1329973"/>
            <a:ext cx="17612009" cy="57942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i="1" lang="en-US" sz="4800">
                <a:solidFill>
                  <a:schemeClr val="dk1"/>
                </a:solidFill>
                <a:latin typeface="Calibri"/>
                <a:ea typeface="Calibri"/>
                <a:cs typeface="Calibri"/>
                <a:sym typeface="Calibri"/>
              </a:rPr>
              <a:t>Memory Type Classification </a:t>
            </a:r>
            <a:endParaRPr/>
          </a:p>
        </p:txBody>
      </p:sp>
      <p:sp>
        <p:nvSpPr>
          <p:cNvPr id="1164" name="Google Shape;1164;p102"/>
          <p:cNvSpPr/>
          <p:nvPr/>
        </p:nvSpPr>
        <p:spPr>
          <a:xfrm>
            <a:off x="1837558" y="2855982"/>
            <a:ext cx="3600848" cy="1295060"/>
          </a:xfrm>
          <a:custGeom>
            <a:rect b="b" l="l" r="r" t="t"/>
            <a:pathLst>
              <a:path extrusionOk="0" h="2705596" w="3518396">
                <a:moveTo>
                  <a:pt x="74729" y="0"/>
                </a:moveTo>
                <a:lnTo>
                  <a:pt x="3443668" y="0"/>
                </a:lnTo>
                <a:cubicBezTo>
                  <a:pt x="3484939" y="0"/>
                  <a:pt x="3518396" y="33457"/>
                  <a:pt x="3518396" y="74729"/>
                </a:cubicBezTo>
                <a:lnTo>
                  <a:pt x="3518396" y="2630868"/>
                </a:lnTo>
                <a:cubicBezTo>
                  <a:pt x="3518396" y="2672139"/>
                  <a:pt x="3484939" y="2705596"/>
                  <a:pt x="3443668" y="2705596"/>
                </a:cubicBezTo>
                <a:lnTo>
                  <a:pt x="74729" y="2705596"/>
                </a:lnTo>
                <a:cubicBezTo>
                  <a:pt x="33457" y="2705596"/>
                  <a:pt x="0" y="2672139"/>
                  <a:pt x="0" y="2630868"/>
                </a:cubicBezTo>
                <a:lnTo>
                  <a:pt x="0" y="74729"/>
                </a:lnTo>
                <a:cubicBezTo>
                  <a:pt x="0" y="33457"/>
                  <a:pt x="33457" y="0"/>
                  <a:pt x="74729" y="0"/>
                </a:cubicBezTo>
                <a:close/>
              </a:path>
            </a:pathLst>
          </a:custGeom>
          <a:solidFill>
            <a:srgbClr val="000000">
              <a:alpha val="0"/>
            </a:srgbClr>
          </a:solidFill>
          <a:ln cap="flat" cmpd="sng" w="2030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700">
              <a:solidFill>
                <a:schemeClr val="dk1"/>
              </a:solidFill>
              <a:latin typeface="Meddon"/>
              <a:ea typeface="Meddon"/>
              <a:cs typeface="Meddon"/>
              <a:sym typeface="Meddon"/>
            </a:endParaRPr>
          </a:p>
        </p:txBody>
      </p:sp>
      <p:sp>
        <p:nvSpPr>
          <p:cNvPr id="1165" name="Google Shape;1165;p102"/>
          <p:cNvSpPr/>
          <p:nvPr/>
        </p:nvSpPr>
        <p:spPr>
          <a:xfrm>
            <a:off x="2185099" y="3335149"/>
            <a:ext cx="420414" cy="437520"/>
          </a:xfrm>
          <a:custGeom>
            <a:rect b="b" l="l" r="r" t="t"/>
            <a:pathLst>
              <a:path extrusionOk="0" h="280276" w="280276">
                <a:moveTo>
                  <a:pt x="192635" y="153276"/>
                </a:moveTo>
                <a:lnTo>
                  <a:pt x="88134" y="153276"/>
                </a:lnTo>
                <a:cubicBezTo>
                  <a:pt x="89721" y="188584"/>
                  <a:pt x="97549" y="221100"/>
                  <a:pt x="108662" y="244913"/>
                </a:cubicBezTo>
                <a:cubicBezTo>
                  <a:pt x="114902" y="258325"/>
                  <a:pt x="121635" y="267795"/>
                  <a:pt x="127876" y="273597"/>
                </a:cubicBezTo>
                <a:cubicBezTo>
                  <a:pt x="134007" y="279345"/>
                  <a:pt x="138222" y="280276"/>
                  <a:pt x="140412" y="280276"/>
                </a:cubicBezTo>
                <a:cubicBezTo>
                  <a:pt x="142601" y="280276"/>
                  <a:pt x="146816" y="279345"/>
                  <a:pt x="152947" y="273597"/>
                </a:cubicBezTo>
                <a:cubicBezTo>
                  <a:pt x="159188" y="267795"/>
                  <a:pt x="165921" y="258270"/>
                  <a:pt x="172162" y="244913"/>
                </a:cubicBezTo>
                <a:cubicBezTo>
                  <a:pt x="183274" y="221100"/>
                  <a:pt x="191102" y="188584"/>
                  <a:pt x="192690" y="153276"/>
                </a:cubicBezTo>
                <a:close/>
                <a:moveTo>
                  <a:pt x="88079" y="127000"/>
                </a:moveTo>
                <a:lnTo>
                  <a:pt x="192580" y="127000"/>
                </a:lnTo>
                <a:cubicBezTo>
                  <a:pt x="191047" y="91692"/>
                  <a:pt x="183219" y="59175"/>
                  <a:pt x="172107" y="35363"/>
                </a:cubicBezTo>
                <a:cubicBezTo>
                  <a:pt x="165866" y="22006"/>
                  <a:pt x="159133" y="12481"/>
                  <a:pt x="152893" y="6678"/>
                </a:cubicBezTo>
                <a:cubicBezTo>
                  <a:pt x="146762" y="931"/>
                  <a:pt x="142547" y="0"/>
                  <a:pt x="140357" y="0"/>
                </a:cubicBezTo>
                <a:cubicBezTo>
                  <a:pt x="138167" y="0"/>
                  <a:pt x="133952" y="931"/>
                  <a:pt x="127821" y="6678"/>
                </a:cubicBezTo>
                <a:cubicBezTo>
                  <a:pt x="121581" y="12481"/>
                  <a:pt x="114847" y="22006"/>
                  <a:pt x="108607" y="35363"/>
                </a:cubicBezTo>
                <a:cubicBezTo>
                  <a:pt x="97494" y="59175"/>
                  <a:pt x="89666" y="91692"/>
                  <a:pt x="88079" y="127000"/>
                </a:cubicBezTo>
                <a:close/>
                <a:moveTo>
                  <a:pt x="61803" y="127000"/>
                </a:moveTo>
                <a:cubicBezTo>
                  <a:pt x="63719" y="80141"/>
                  <a:pt x="75817" y="36622"/>
                  <a:pt x="93498" y="8047"/>
                </a:cubicBezTo>
                <a:cubicBezTo>
                  <a:pt x="43081" y="25893"/>
                  <a:pt x="5967" y="71821"/>
                  <a:pt x="821" y="127000"/>
                </a:cubicBezTo>
                <a:lnTo>
                  <a:pt x="61803" y="127000"/>
                </a:lnTo>
                <a:close/>
                <a:moveTo>
                  <a:pt x="821" y="153276"/>
                </a:moveTo>
                <a:cubicBezTo>
                  <a:pt x="5967" y="208455"/>
                  <a:pt x="43081" y="254383"/>
                  <a:pt x="93498" y="272229"/>
                </a:cubicBezTo>
                <a:cubicBezTo>
                  <a:pt x="75817" y="243654"/>
                  <a:pt x="63719" y="200134"/>
                  <a:pt x="61803" y="153276"/>
                </a:cubicBezTo>
                <a:lnTo>
                  <a:pt x="821" y="153276"/>
                </a:lnTo>
                <a:close/>
                <a:moveTo>
                  <a:pt x="218911" y="153276"/>
                </a:moveTo>
                <a:cubicBezTo>
                  <a:pt x="216995" y="200134"/>
                  <a:pt x="204897" y="243654"/>
                  <a:pt x="187216" y="272229"/>
                </a:cubicBezTo>
                <a:cubicBezTo>
                  <a:pt x="237632" y="254328"/>
                  <a:pt x="274747" y="208455"/>
                  <a:pt x="279893" y="153276"/>
                </a:cubicBezTo>
                <a:lnTo>
                  <a:pt x="218911" y="153276"/>
                </a:lnTo>
                <a:close/>
                <a:moveTo>
                  <a:pt x="279893" y="127000"/>
                </a:moveTo>
                <a:cubicBezTo>
                  <a:pt x="274747" y="71821"/>
                  <a:pt x="237632" y="25893"/>
                  <a:pt x="187216" y="8047"/>
                </a:cubicBezTo>
                <a:cubicBezTo>
                  <a:pt x="204897" y="36622"/>
                  <a:pt x="216995" y="80141"/>
                  <a:pt x="218911" y="127000"/>
                </a:cubicBezTo>
                <a:lnTo>
                  <a:pt x="279893" y="127000"/>
                </a:lnTo>
                <a:close/>
              </a:path>
            </a:pathLst>
          </a:custGeom>
          <a:solidFill>
            <a:srgbClr val="4A7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700">
              <a:solidFill>
                <a:schemeClr val="dk1"/>
              </a:solidFill>
              <a:latin typeface="Meddon"/>
              <a:ea typeface="Meddon"/>
              <a:cs typeface="Meddon"/>
              <a:sym typeface="Meddon"/>
            </a:endParaRPr>
          </a:p>
        </p:txBody>
      </p:sp>
      <p:sp>
        <p:nvSpPr>
          <p:cNvPr id="1166" name="Google Shape;1166;p102"/>
          <p:cNvSpPr/>
          <p:nvPr/>
        </p:nvSpPr>
        <p:spPr>
          <a:xfrm>
            <a:off x="2822729" y="3182139"/>
            <a:ext cx="2256221" cy="4083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2207">
                <a:solidFill>
                  <a:schemeClr val="dk1"/>
                </a:solidFill>
                <a:latin typeface="Quattrocento Sans"/>
                <a:ea typeface="Quattrocento Sans"/>
                <a:cs typeface="Quattrocento Sans"/>
                <a:sym typeface="Quattrocento Sans"/>
              </a:rPr>
              <a:t>System Memory</a:t>
            </a:r>
            <a:endParaRPr sz="2400">
              <a:solidFill>
                <a:schemeClr val="dk1"/>
              </a:solidFill>
              <a:latin typeface="Meddon"/>
              <a:ea typeface="Meddon"/>
              <a:cs typeface="Meddon"/>
              <a:sym typeface="Meddon"/>
            </a:endParaRPr>
          </a:p>
        </p:txBody>
      </p:sp>
      <p:sp>
        <p:nvSpPr>
          <p:cNvPr id="1167" name="Google Shape;1167;p102"/>
          <p:cNvSpPr/>
          <p:nvPr/>
        </p:nvSpPr>
        <p:spPr>
          <a:xfrm>
            <a:off x="2822728" y="3576805"/>
            <a:ext cx="2228193" cy="350017"/>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766">
                <a:solidFill>
                  <a:schemeClr val="dk1"/>
                </a:solidFill>
                <a:latin typeface="Quattrocento Sans"/>
                <a:ea typeface="Quattrocento Sans"/>
                <a:cs typeface="Quattrocento Sans"/>
                <a:sym typeface="Quattrocento Sans"/>
              </a:rPr>
              <a:t>Global Address Space</a:t>
            </a:r>
            <a:endParaRPr sz="2400">
              <a:solidFill>
                <a:schemeClr val="dk1"/>
              </a:solidFill>
              <a:latin typeface="Meddon"/>
              <a:ea typeface="Meddon"/>
              <a:cs typeface="Meddon"/>
              <a:sym typeface="Meddon"/>
            </a:endParaRPr>
          </a:p>
        </p:txBody>
      </p:sp>
      <p:sp>
        <p:nvSpPr>
          <p:cNvPr id="1168" name="Google Shape;1168;p102"/>
          <p:cNvSpPr/>
          <p:nvPr/>
        </p:nvSpPr>
        <p:spPr>
          <a:xfrm>
            <a:off x="6753596" y="2855982"/>
            <a:ext cx="3516585" cy="1295060"/>
          </a:xfrm>
          <a:custGeom>
            <a:rect b="b" l="l" r="r" t="t"/>
            <a:pathLst>
              <a:path extrusionOk="0" h="2705596" w="3518396">
                <a:moveTo>
                  <a:pt x="74729" y="0"/>
                </a:moveTo>
                <a:lnTo>
                  <a:pt x="3443668" y="0"/>
                </a:lnTo>
                <a:cubicBezTo>
                  <a:pt x="3484939" y="0"/>
                  <a:pt x="3518396" y="33457"/>
                  <a:pt x="3518396" y="74729"/>
                </a:cubicBezTo>
                <a:lnTo>
                  <a:pt x="3518396" y="2630868"/>
                </a:lnTo>
                <a:cubicBezTo>
                  <a:pt x="3518396" y="2672139"/>
                  <a:pt x="3484939" y="2705596"/>
                  <a:pt x="3443668" y="2705596"/>
                </a:cubicBezTo>
                <a:lnTo>
                  <a:pt x="74729" y="2705596"/>
                </a:lnTo>
                <a:cubicBezTo>
                  <a:pt x="33457" y="2705596"/>
                  <a:pt x="0" y="2672139"/>
                  <a:pt x="0" y="2630868"/>
                </a:cubicBezTo>
                <a:lnTo>
                  <a:pt x="0" y="74729"/>
                </a:lnTo>
                <a:cubicBezTo>
                  <a:pt x="0" y="33457"/>
                  <a:pt x="33457" y="0"/>
                  <a:pt x="74729" y="0"/>
                </a:cubicBezTo>
                <a:close/>
              </a:path>
            </a:pathLst>
          </a:custGeom>
          <a:solidFill>
            <a:srgbClr val="000000">
              <a:alpha val="0"/>
            </a:srgbClr>
          </a:solidFill>
          <a:ln cap="flat" cmpd="sng" w="2030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700">
              <a:solidFill>
                <a:schemeClr val="dk1"/>
              </a:solidFill>
              <a:latin typeface="Meddon"/>
              <a:ea typeface="Meddon"/>
              <a:cs typeface="Meddon"/>
              <a:sym typeface="Meddon"/>
            </a:endParaRPr>
          </a:p>
        </p:txBody>
      </p:sp>
      <p:sp>
        <p:nvSpPr>
          <p:cNvPr id="1169" name="Google Shape;1169;p102"/>
          <p:cNvSpPr/>
          <p:nvPr/>
        </p:nvSpPr>
        <p:spPr>
          <a:xfrm>
            <a:off x="7101139" y="3301623"/>
            <a:ext cx="420414" cy="420414"/>
          </a:xfrm>
          <a:custGeom>
            <a:rect b="b" l="l" r="r" t="t"/>
            <a:pathLst>
              <a:path extrusionOk="0" h="280276" w="280276">
                <a:moveTo>
                  <a:pt x="127274" y="2847"/>
                </a:moveTo>
                <a:cubicBezTo>
                  <a:pt x="135430" y="-931"/>
                  <a:pt x="144846" y="-931"/>
                  <a:pt x="153002" y="2847"/>
                </a:cubicBezTo>
                <a:lnTo>
                  <a:pt x="272667" y="58135"/>
                </a:lnTo>
                <a:cubicBezTo>
                  <a:pt x="277320" y="60270"/>
                  <a:pt x="280276" y="64923"/>
                  <a:pt x="280276" y="70069"/>
                </a:cubicBezTo>
                <a:cubicBezTo>
                  <a:pt x="280276" y="75215"/>
                  <a:pt x="277320" y="79868"/>
                  <a:pt x="272667" y="82003"/>
                </a:cubicBezTo>
                <a:lnTo>
                  <a:pt x="153002" y="137291"/>
                </a:lnTo>
                <a:cubicBezTo>
                  <a:pt x="144846" y="141069"/>
                  <a:pt x="135430" y="141069"/>
                  <a:pt x="127274" y="137291"/>
                </a:cubicBezTo>
                <a:lnTo>
                  <a:pt x="7609" y="82003"/>
                </a:lnTo>
                <a:cubicBezTo>
                  <a:pt x="2956" y="79813"/>
                  <a:pt x="0" y="75160"/>
                  <a:pt x="0" y="70069"/>
                </a:cubicBezTo>
                <a:cubicBezTo>
                  <a:pt x="0" y="64978"/>
                  <a:pt x="2956" y="60270"/>
                  <a:pt x="7609" y="58135"/>
                </a:cubicBezTo>
                <a:lnTo>
                  <a:pt x="127274" y="2847"/>
                </a:lnTo>
                <a:close/>
                <a:moveTo>
                  <a:pt x="26331" y="119555"/>
                </a:moveTo>
                <a:lnTo>
                  <a:pt x="116271" y="161104"/>
                </a:lnTo>
                <a:cubicBezTo>
                  <a:pt x="131434" y="168111"/>
                  <a:pt x="148897" y="168111"/>
                  <a:pt x="164060" y="161104"/>
                </a:cubicBezTo>
                <a:lnTo>
                  <a:pt x="254000" y="119555"/>
                </a:lnTo>
                <a:lnTo>
                  <a:pt x="272667" y="128204"/>
                </a:lnTo>
                <a:cubicBezTo>
                  <a:pt x="277320" y="130339"/>
                  <a:pt x="280276" y="134992"/>
                  <a:pt x="280276" y="140138"/>
                </a:cubicBezTo>
                <a:cubicBezTo>
                  <a:pt x="280276" y="145284"/>
                  <a:pt x="277320" y="149937"/>
                  <a:pt x="272667" y="152072"/>
                </a:cubicBezTo>
                <a:lnTo>
                  <a:pt x="153002" y="207360"/>
                </a:lnTo>
                <a:cubicBezTo>
                  <a:pt x="144846" y="211138"/>
                  <a:pt x="135430" y="211138"/>
                  <a:pt x="127274" y="207360"/>
                </a:cubicBezTo>
                <a:lnTo>
                  <a:pt x="7609" y="152072"/>
                </a:lnTo>
                <a:cubicBezTo>
                  <a:pt x="2956" y="149882"/>
                  <a:pt x="0" y="145229"/>
                  <a:pt x="0" y="140138"/>
                </a:cubicBezTo>
                <a:cubicBezTo>
                  <a:pt x="0" y="135047"/>
                  <a:pt x="2956" y="130339"/>
                  <a:pt x="7609" y="128204"/>
                </a:cubicBezTo>
                <a:lnTo>
                  <a:pt x="26276" y="119555"/>
                </a:lnTo>
                <a:close/>
                <a:moveTo>
                  <a:pt x="7609" y="198273"/>
                </a:moveTo>
                <a:lnTo>
                  <a:pt x="26276" y="189624"/>
                </a:lnTo>
                <a:lnTo>
                  <a:pt x="116216" y="231173"/>
                </a:lnTo>
                <a:cubicBezTo>
                  <a:pt x="131379" y="238180"/>
                  <a:pt x="148842" y="238180"/>
                  <a:pt x="164005" y="231173"/>
                </a:cubicBezTo>
                <a:lnTo>
                  <a:pt x="253945" y="189624"/>
                </a:lnTo>
                <a:lnTo>
                  <a:pt x="272612" y="198273"/>
                </a:lnTo>
                <a:cubicBezTo>
                  <a:pt x="277265" y="200408"/>
                  <a:pt x="280221" y="205061"/>
                  <a:pt x="280221" y="210207"/>
                </a:cubicBezTo>
                <a:cubicBezTo>
                  <a:pt x="280221" y="215353"/>
                  <a:pt x="277265" y="220006"/>
                  <a:pt x="272612" y="222141"/>
                </a:cubicBezTo>
                <a:lnTo>
                  <a:pt x="152947" y="277429"/>
                </a:lnTo>
                <a:cubicBezTo>
                  <a:pt x="144791" y="281206"/>
                  <a:pt x="135375" y="281206"/>
                  <a:pt x="127219" y="277429"/>
                </a:cubicBezTo>
                <a:lnTo>
                  <a:pt x="7609" y="222141"/>
                </a:lnTo>
                <a:cubicBezTo>
                  <a:pt x="2956" y="219951"/>
                  <a:pt x="0" y="215298"/>
                  <a:pt x="0" y="210207"/>
                </a:cubicBezTo>
                <a:cubicBezTo>
                  <a:pt x="0" y="205116"/>
                  <a:pt x="2956" y="200408"/>
                  <a:pt x="7609" y="198273"/>
                </a:cubicBezTo>
                <a:close/>
              </a:path>
            </a:pathLst>
          </a:custGeom>
          <a:solidFill>
            <a:srgbClr val="6B7A8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700">
              <a:solidFill>
                <a:schemeClr val="dk1"/>
              </a:solidFill>
              <a:latin typeface="Meddon"/>
              <a:ea typeface="Meddon"/>
              <a:cs typeface="Meddon"/>
              <a:sym typeface="Meddon"/>
            </a:endParaRPr>
          </a:p>
        </p:txBody>
      </p:sp>
      <p:sp>
        <p:nvSpPr>
          <p:cNvPr id="1170" name="Google Shape;1170;p102"/>
          <p:cNvSpPr/>
          <p:nvPr/>
        </p:nvSpPr>
        <p:spPr>
          <a:xfrm>
            <a:off x="7738767" y="3147471"/>
            <a:ext cx="1877849" cy="39238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2207">
                <a:solidFill>
                  <a:schemeClr val="dk1"/>
                </a:solidFill>
                <a:latin typeface="Quattrocento Sans"/>
                <a:ea typeface="Quattrocento Sans"/>
                <a:cs typeface="Quattrocento Sans"/>
                <a:sym typeface="Quattrocento Sans"/>
              </a:rPr>
              <a:t>Local Memory</a:t>
            </a:r>
            <a:endParaRPr sz="2400">
              <a:solidFill>
                <a:schemeClr val="dk1"/>
              </a:solidFill>
              <a:latin typeface="Meddon"/>
              <a:ea typeface="Meddon"/>
              <a:cs typeface="Meddon"/>
              <a:sym typeface="Meddon"/>
            </a:endParaRPr>
          </a:p>
        </p:txBody>
      </p:sp>
      <p:sp>
        <p:nvSpPr>
          <p:cNvPr id="1171" name="Google Shape;1171;p102"/>
          <p:cNvSpPr/>
          <p:nvPr/>
        </p:nvSpPr>
        <p:spPr>
          <a:xfrm>
            <a:off x="7738766" y="3539858"/>
            <a:ext cx="1849821" cy="33633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766">
                <a:solidFill>
                  <a:schemeClr val="dk1"/>
                </a:solidFill>
                <a:latin typeface="Quattrocento Sans"/>
                <a:ea typeface="Quattrocento Sans"/>
                <a:cs typeface="Quattrocento Sans"/>
                <a:sym typeface="Quattrocento Sans"/>
              </a:rPr>
              <a:t>Shared &amp; Private</a:t>
            </a:r>
            <a:endParaRPr sz="2400">
              <a:solidFill>
                <a:schemeClr val="dk1"/>
              </a:solidFill>
              <a:latin typeface="Meddon"/>
              <a:ea typeface="Meddon"/>
              <a:cs typeface="Meddon"/>
              <a:sym typeface="Meddon"/>
            </a:endParaRPr>
          </a:p>
        </p:txBody>
      </p:sp>
      <p:sp>
        <p:nvSpPr>
          <p:cNvPr id="1172" name="Google Shape;1172;p102"/>
          <p:cNvSpPr txBox="1"/>
          <p:nvPr/>
        </p:nvSpPr>
        <p:spPr>
          <a:xfrm>
            <a:off x="123928" y="4777671"/>
            <a:ext cx="11839472" cy="533672"/>
          </a:xfrm>
          <a:prstGeom prst="rect">
            <a:avLst/>
          </a:prstGeom>
          <a:noFill/>
          <a:ln>
            <a:noFill/>
          </a:ln>
        </p:spPr>
        <p:txBody>
          <a:bodyPr anchorCtr="0" anchor="t" bIns="45700" lIns="91425" spcFirstLastPara="1" rIns="91425" wrap="square" tIns="45700">
            <a:spAutoFit/>
          </a:bodyPr>
          <a:lstStyle/>
          <a:p>
            <a:pPr indent="0" lvl="0" marL="0" marR="0" rtl="0" algn="ctr">
              <a:lnSpc>
                <a:spcPct val="130000"/>
              </a:lnSpc>
              <a:spcBef>
                <a:spcPts val="0"/>
              </a:spcBef>
              <a:spcAft>
                <a:spcPts val="0"/>
              </a:spcAft>
              <a:buNone/>
            </a:pPr>
            <a:r>
              <a:rPr b="1" i="1" lang="en-US" sz="2400">
                <a:solidFill>
                  <a:schemeClr val="dk1"/>
                </a:solidFill>
                <a:latin typeface="Calibri"/>
                <a:ea typeface="Calibri"/>
                <a:cs typeface="Calibri"/>
                <a:sym typeface="Calibri"/>
              </a:rPr>
              <a:t>different memory types access </a:t>
            </a:r>
            <a:r>
              <a:rPr lang="en-US" sz="2400">
                <a:solidFill>
                  <a:schemeClr val="dk1"/>
                </a:solidFill>
                <a:latin typeface="Calibri"/>
                <a:ea typeface="Calibri"/>
                <a:cs typeface="Calibri"/>
                <a:sym typeface="Calibri"/>
              </a:rPr>
              <a:t>while maintaining correctness and performance. </a:t>
            </a:r>
            <a:endParaRPr sz="2400">
              <a:solidFill>
                <a:schemeClr val="dk1"/>
              </a:solidFill>
              <a:latin typeface="Calibri"/>
              <a:ea typeface="Calibri"/>
              <a:cs typeface="Calibri"/>
              <a:sym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pic>
        <p:nvPicPr>
          <p:cNvPr id="1177" name="Google Shape;1177;p103"/>
          <p:cNvPicPr preferRelativeResize="0"/>
          <p:nvPr/>
        </p:nvPicPr>
        <p:blipFill rotWithShape="1">
          <a:blip r:embed="rId3">
            <a:alphaModFix/>
          </a:blip>
          <a:srcRect b="0" l="0" r="0" t="0"/>
          <a:stretch/>
        </p:blipFill>
        <p:spPr>
          <a:xfrm>
            <a:off x="232149" y="336523"/>
            <a:ext cx="11365561" cy="6326828"/>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pic>
        <p:nvPicPr>
          <p:cNvPr id="1182" name="Google Shape;1182;p104"/>
          <p:cNvPicPr preferRelativeResize="0"/>
          <p:nvPr/>
        </p:nvPicPr>
        <p:blipFill rotWithShape="1">
          <a:blip r:embed="rId3">
            <a:alphaModFix/>
          </a:blip>
          <a:srcRect b="-158" l="-352" r="20425" t="158"/>
          <a:stretch/>
        </p:blipFill>
        <p:spPr>
          <a:xfrm>
            <a:off x="907011" y="916552"/>
            <a:ext cx="8236989" cy="5745342"/>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105"/>
          <p:cNvSpPr txBox="1"/>
          <p:nvPr/>
        </p:nvSpPr>
        <p:spPr>
          <a:xfrm>
            <a:off x="1219200" y="2379663"/>
            <a:ext cx="9753600" cy="1049337"/>
          </a:xfrm>
          <a:prstGeom prst="rect">
            <a:avLst/>
          </a:prstGeom>
          <a:noFill/>
          <a:ln>
            <a:noFill/>
          </a:ln>
        </p:spPr>
        <p:txBody>
          <a:bodyPr anchorCtr="0" anchor="ctr" bIns="45700" lIns="91425" spcFirstLastPara="1" rIns="91425" wrap="square" tIns="45700">
            <a:noAutofit/>
          </a:bodyPr>
          <a:lstStyle/>
          <a:p>
            <a:pPr indent="0" lvl="0" marL="0" marR="0" rtl="0" algn="ctr">
              <a:lnSpc>
                <a:spcPct val="149000"/>
              </a:lnSpc>
              <a:spcBef>
                <a:spcPts val="0"/>
              </a:spcBef>
              <a:spcAft>
                <a:spcPts val="0"/>
              </a:spcAft>
              <a:buNone/>
            </a:pPr>
            <a:r>
              <a:rPr b="1" i="1" lang="en-US" sz="3600">
                <a:solidFill>
                  <a:srgbClr val="000000"/>
                </a:solidFill>
                <a:latin typeface="Arial"/>
                <a:ea typeface="Arial"/>
                <a:cs typeface="Arial"/>
                <a:sym typeface="Arial"/>
              </a:rPr>
              <a:t>Memory Coalescer and Memory Scheduler</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106"/>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i="0" lang="en-US" sz="3600">
                <a:latin typeface="Times New Roman"/>
                <a:ea typeface="Times New Roman"/>
                <a:cs typeface="Times New Roman"/>
                <a:sym typeface="Times New Roman"/>
              </a:rPr>
              <a:t>Memory Coalescer</a:t>
            </a:r>
            <a:endParaRPr/>
          </a:p>
        </p:txBody>
      </p:sp>
      <p:sp>
        <p:nvSpPr>
          <p:cNvPr id="1193" name="Google Shape;1193;p106"/>
          <p:cNvSpPr txBox="1"/>
          <p:nvPr>
            <p:ph idx="1" type="body"/>
          </p:nvPr>
        </p:nvSpPr>
        <p:spPr>
          <a:xfrm>
            <a:off x="644748" y="1423452"/>
            <a:ext cx="9432702" cy="87207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600"/>
              <a:buNone/>
            </a:pPr>
            <a:r>
              <a:rPr i="1" lang="en-US" sz="2600">
                <a:latin typeface="Calibri"/>
                <a:ea typeface="Calibri"/>
                <a:cs typeface="Calibri"/>
                <a:sym typeface="Calibri"/>
              </a:rPr>
              <a:t>The Problem?</a:t>
            </a:r>
            <a:endParaRPr/>
          </a:p>
          <a:p>
            <a:pPr indent="0" lvl="0" marL="0" rtl="0" algn="l">
              <a:spcBef>
                <a:spcPts val="0"/>
              </a:spcBef>
              <a:spcAft>
                <a:spcPts val="0"/>
              </a:spcAft>
              <a:buSzPts val="2400"/>
              <a:buNone/>
            </a:pPr>
            <a:r>
              <a:rPr b="0" lang="en-US" sz="2400">
                <a:solidFill>
                  <a:schemeClr val="dk1"/>
                </a:solidFill>
                <a:latin typeface="Times New Roman"/>
                <a:ea typeface="Times New Roman"/>
                <a:cs typeface="Times New Roman"/>
                <a:sym typeface="Times New Roman"/>
              </a:rPr>
              <a:t>Independent thread request cause redundant accesses and waste bandwidth.</a:t>
            </a:r>
            <a:endParaRPr/>
          </a:p>
        </p:txBody>
      </p:sp>
      <p:sp>
        <p:nvSpPr>
          <p:cNvPr id="1194" name="Google Shape;1194;p106"/>
          <p:cNvSpPr/>
          <p:nvPr/>
        </p:nvSpPr>
        <p:spPr>
          <a:xfrm>
            <a:off x="644748" y="2400491"/>
            <a:ext cx="8845549" cy="2301015"/>
          </a:xfrm>
          <a:prstGeom prst="rect">
            <a:avLst/>
          </a:prstGeom>
          <a:noFill/>
          <a:ln>
            <a:noFill/>
          </a:ln>
        </p:spPr>
        <p:txBody>
          <a:bodyPr anchorCtr="0" anchor="ctr" bIns="71975" lIns="71975" spcFirstLastPara="1" rIns="71975" wrap="square" tIns="71975">
            <a:noAutofit/>
          </a:bodyPr>
          <a:lstStyle/>
          <a:p>
            <a:pPr indent="0" lvl="0" marL="0" marR="0" rtl="0" algn="l">
              <a:lnSpc>
                <a:spcPct val="130000"/>
              </a:lnSpc>
              <a:spcBef>
                <a:spcPts val="0"/>
              </a:spcBef>
              <a:spcAft>
                <a:spcPts val="0"/>
              </a:spcAft>
              <a:buNone/>
            </a:pPr>
            <a:r>
              <a:rPr b="1" lang="en-US" sz="2400">
                <a:solidFill>
                  <a:schemeClr val="dk1"/>
                </a:solidFill>
                <a:latin typeface="Times New Roman"/>
                <a:ea typeface="Times New Roman"/>
                <a:cs typeface="Times New Roman"/>
                <a:sym typeface="Times New Roman"/>
              </a:rPr>
              <a:t>Consider a Scenario where 4 Threads Access Consecutive Words :</a:t>
            </a:r>
            <a:br>
              <a:rPr b="1" lang="en-US" sz="2400">
                <a:solidFill>
                  <a:schemeClr val="dk1"/>
                </a:solidFill>
                <a:latin typeface="Times New Roman"/>
                <a:ea typeface="Times New Roman"/>
                <a:cs typeface="Times New Roman"/>
                <a:sym typeface="Times New Roman"/>
              </a:rPr>
            </a:br>
            <a:r>
              <a:rPr lang="en-US" sz="2400">
                <a:solidFill>
                  <a:schemeClr val="dk1"/>
                </a:solidFill>
                <a:latin typeface="Times New Roman"/>
                <a:ea typeface="Times New Roman"/>
                <a:cs typeface="Times New Roman"/>
                <a:sym typeface="Times New Roman"/>
              </a:rPr>
              <a:t>Thread 0: Request word at 0x1000 → 32-bit transaction.</a:t>
            </a:r>
            <a:br>
              <a:rPr lang="en-US" sz="2400">
                <a:solidFill>
                  <a:schemeClr val="dk1"/>
                </a:solidFill>
                <a:latin typeface="Times New Roman"/>
                <a:ea typeface="Times New Roman"/>
                <a:cs typeface="Times New Roman"/>
                <a:sym typeface="Times New Roman"/>
              </a:rPr>
            </a:br>
            <a:r>
              <a:rPr lang="en-US" sz="2400">
                <a:solidFill>
                  <a:schemeClr val="dk1"/>
                </a:solidFill>
                <a:latin typeface="Times New Roman"/>
                <a:ea typeface="Times New Roman"/>
                <a:cs typeface="Times New Roman"/>
                <a:sym typeface="Times New Roman"/>
              </a:rPr>
              <a:t>Thread 1: Request word at 0x1004 → 32-bit transaction.</a:t>
            </a:r>
            <a:br>
              <a:rPr lang="en-US" sz="2400">
                <a:solidFill>
                  <a:schemeClr val="dk1"/>
                </a:solidFill>
                <a:latin typeface="Times New Roman"/>
                <a:ea typeface="Times New Roman"/>
                <a:cs typeface="Times New Roman"/>
                <a:sym typeface="Times New Roman"/>
              </a:rPr>
            </a:br>
            <a:r>
              <a:rPr lang="en-US" sz="2400">
                <a:solidFill>
                  <a:schemeClr val="dk1"/>
                </a:solidFill>
                <a:latin typeface="Times New Roman"/>
                <a:ea typeface="Times New Roman"/>
                <a:cs typeface="Times New Roman"/>
                <a:sym typeface="Times New Roman"/>
              </a:rPr>
              <a:t>Thread 2: Request word at 0x1008 → 32-bit transaction.</a:t>
            </a:r>
            <a:br>
              <a:rPr lang="en-US" sz="2400">
                <a:solidFill>
                  <a:schemeClr val="dk1"/>
                </a:solidFill>
                <a:latin typeface="Times New Roman"/>
                <a:ea typeface="Times New Roman"/>
                <a:cs typeface="Times New Roman"/>
                <a:sym typeface="Times New Roman"/>
              </a:rPr>
            </a:br>
            <a:r>
              <a:rPr lang="en-US" sz="2400">
                <a:solidFill>
                  <a:schemeClr val="dk1"/>
                </a:solidFill>
                <a:latin typeface="Times New Roman"/>
                <a:ea typeface="Times New Roman"/>
                <a:cs typeface="Times New Roman"/>
                <a:sym typeface="Times New Roman"/>
              </a:rPr>
              <a:t>Thread 3: Request word at 0x100C → 32-bit transaction.</a:t>
            </a:r>
            <a:endParaRPr sz="2800">
              <a:solidFill>
                <a:schemeClr val="dk1"/>
              </a:solidFill>
              <a:latin typeface="Meddon"/>
              <a:ea typeface="Meddon"/>
              <a:cs typeface="Meddon"/>
              <a:sym typeface="Meddon"/>
            </a:endParaRPr>
          </a:p>
        </p:txBody>
      </p:sp>
      <p:sp>
        <p:nvSpPr>
          <p:cNvPr id="1195" name="Google Shape;1195;p106"/>
          <p:cNvSpPr/>
          <p:nvPr/>
        </p:nvSpPr>
        <p:spPr>
          <a:xfrm>
            <a:off x="3393091" y="5314591"/>
            <a:ext cx="5405813" cy="991326"/>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i="1" lang="en-US" sz="2000">
                <a:solidFill>
                  <a:srgbClr val="0B5F9F"/>
                </a:solidFill>
                <a:latin typeface="Times New Roman"/>
                <a:ea typeface="Times New Roman"/>
                <a:cs typeface="Times New Roman"/>
                <a:sym typeface="Times New Roman"/>
              </a:rPr>
              <a:t>4 Separate Transactions:</a:t>
            </a:r>
            <a:br>
              <a:rPr b="1" i="1" lang="en-US" sz="2000">
                <a:solidFill>
                  <a:srgbClr val="0B5F9F"/>
                </a:solidFill>
                <a:latin typeface="Times New Roman"/>
                <a:ea typeface="Times New Roman"/>
                <a:cs typeface="Times New Roman"/>
                <a:sym typeface="Times New Roman"/>
              </a:rPr>
            </a:br>
            <a:r>
              <a:rPr b="1" i="1" lang="en-US" sz="2000">
                <a:solidFill>
                  <a:srgbClr val="0B5F9F"/>
                </a:solidFill>
                <a:latin typeface="Times New Roman"/>
                <a:ea typeface="Times New Roman"/>
                <a:cs typeface="Times New Roman"/>
                <a:sym typeface="Times New Roman"/>
              </a:rPr>
              <a:t>Total: 128 bits transferred, 4× overhead</a:t>
            </a:r>
            <a:r>
              <a:rPr lang="en-US" sz="2000">
                <a:solidFill>
                  <a:srgbClr val="0B5F9F"/>
                </a:solidFill>
                <a:latin typeface="Times New Roman"/>
                <a:ea typeface="Times New Roman"/>
                <a:cs typeface="Times New Roman"/>
                <a:sym typeface="Times New Roman"/>
              </a:rPr>
              <a:t>.</a:t>
            </a:r>
            <a:endParaRPr sz="2000">
              <a:solidFill>
                <a:srgbClr val="0B5F9F"/>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107"/>
          <p:cNvSpPr txBox="1"/>
          <p:nvPr>
            <p:ph idx="1" type="body"/>
          </p:nvPr>
        </p:nvSpPr>
        <p:spPr>
          <a:xfrm>
            <a:off x="644748" y="1423452"/>
            <a:ext cx="9432702" cy="872074"/>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2600"/>
              <a:buNone/>
            </a:pPr>
            <a:r>
              <a:rPr i="1" lang="en-US" sz="2600">
                <a:latin typeface="Calibri"/>
                <a:ea typeface="Calibri"/>
                <a:cs typeface="Calibri"/>
                <a:sym typeface="Calibri"/>
              </a:rPr>
              <a:t>Coalescing Solves it!</a:t>
            </a:r>
            <a:endParaRPr/>
          </a:p>
          <a:p>
            <a:pPr indent="0" lvl="0" marL="0" rtl="0" algn="l">
              <a:lnSpc>
                <a:spcPct val="150000"/>
              </a:lnSpc>
              <a:spcBef>
                <a:spcPts val="0"/>
              </a:spcBef>
              <a:spcAft>
                <a:spcPts val="0"/>
              </a:spcAft>
              <a:buSzPts val="2400"/>
              <a:buNone/>
            </a:pPr>
            <a:r>
              <a:rPr b="0" lang="en-US" sz="2400">
                <a:solidFill>
                  <a:schemeClr val="dk1"/>
                </a:solidFill>
                <a:latin typeface="Times New Roman"/>
                <a:ea typeface="Times New Roman"/>
                <a:cs typeface="Times New Roman"/>
                <a:sym typeface="Times New Roman"/>
              </a:rPr>
              <a:t>Coalescer detects requests targeting near cashe locations and merges them.</a:t>
            </a:r>
            <a:endParaRPr/>
          </a:p>
        </p:txBody>
      </p:sp>
      <p:sp>
        <p:nvSpPr>
          <p:cNvPr id="1201" name="Google Shape;1201;p107"/>
          <p:cNvSpPr/>
          <p:nvPr/>
        </p:nvSpPr>
        <p:spPr>
          <a:xfrm>
            <a:off x="644748" y="2828926"/>
            <a:ext cx="6565676" cy="1340233"/>
          </a:xfrm>
          <a:prstGeom prst="rect">
            <a:avLst/>
          </a:prstGeom>
          <a:noFill/>
          <a:ln>
            <a:noFill/>
          </a:ln>
        </p:spPr>
        <p:txBody>
          <a:bodyPr anchorCtr="0" anchor="ctr" bIns="71975" lIns="71975" spcFirstLastPara="1" rIns="71975" wrap="square" tIns="71975">
            <a:noAutofit/>
          </a:bodyPr>
          <a:lstStyle/>
          <a:p>
            <a:pPr indent="0" lvl="0" marL="0" marR="0" rtl="0" algn="l">
              <a:lnSpc>
                <a:spcPct val="130000"/>
              </a:lnSpc>
              <a:spcBef>
                <a:spcPts val="0"/>
              </a:spcBef>
              <a:spcAft>
                <a:spcPts val="0"/>
              </a:spcAft>
              <a:buNone/>
            </a:pPr>
            <a:r>
              <a:rPr b="1" lang="en-US" sz="2400">
                <a:solidFill>
                  <a:schemeClr val="dk1"/>
                </a:solidFill>
                <a:latin typeface="Times New Roman"/>
                <a:ea typeface="Times New Roman"/>
                <a:cs typeface="Times New Roman"/>
                <a:sym typeface="Times New Roman"/>
              </a:rPr>
              <a:t>Same Scenario but after coalescing :</a:t>
            </a:r>
            <a:endParaRPr/>
          </a:p>
          <a:p>
            <a:pPr indent="0" lvl="0" marL="0" marR="0" rtl="0" algn="l">
              <a:lnSpc>
                <a:spcPct val="130000"/>
              </a:lnSpc>
              <a:spcBef>
                <a:spcPts val="0"/>
              </a:spcBef>
              <a:spcAft>
                <a:spcPts val="0"/>
              </a:spcAft>
              <a:buNone/>
            </a:pPr>
            <a:r>
              <a:rPr lang="en-US" sz="2400">
                <a:solidFill>
                  <a:schemeClr val="dk1"/>
                </a:solidFill>
                <a:latin typeface="Times New Roman"/>
                <a:ea typeface="Times New Roman"/>
                <a:cs typeface="Times New Roman"/>
                <a:sym typeface="Times New Roman"/>
              </a:rPr>
              <a:t>Coalesced Request: 128 bits (4 words) at 0x1000.</a:t>
            </a:r>
            <a:br>
              <a:rPr lang="en-US" sz="2400">
                <a:solidFill>
                  <a:schemeClr val="dk1"/>
                </a:solidFill>
                <a:latin typeface="Times New Roman"/>
                <a:ea typeface="Times New Roman"/>
                <a:cs typeface="Times New Roman"/>
                <a:sym typeface="Times New Roman"/>
              </a:rPr>
            </a:br>
            <a:r>
              <a:rPr lang="en-US" sz="2400">
                <a:solidFill>
                  <a:schemeClr val="dk1"/>
                </a:solidFill>
                <a:latin typeface="Times New Roman"/>
                <a:ea typeface="Times New Roman"/>
                <a:cs typeface="Times New Roman"/>
                <a:sym typeface="Times New Roman"/>
              </a:rPr>
              <a:t>Byte-enables: ‘b1111 (all threads are active).</a:t>
            </a:r>
            <a:endParaRPr sz="2800">
              <a:solidFill>
                <a:schemeClr val="dk1"/>
              </a:solidFill>
              <a:latin typeface="Meddon"/>
              <a:ea typeface="Meddon"/>
              <a:cs typeface="Meddon"/>
              <a:sym typeface="Meddon"/>
            </a:endParaRPr>
          </a:p>
        </p:txBody>
      </p:sp>
      <p:sp>
        <p:nvSpPr>
          <p:cNvPr id="1202" name="Google Shape;1202;p107"/>
          <p:cNvSpPr/>
          <p:nvPr/>
        </p:nvSpPr>
        <p:spPr>
          <a:xfrm>
            <a:off x="3393092" y="5430321"/>
            <a:ext cx="5405813" cy="991326"/>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i="1" lang="en-US" sz="2000">
                <a:solidFill>
                  <a:srgbClr val="0B5F9F"/>
                </a:solidFill>
                <a:latin typeface="Times New Roman"/>
                <a:ea typeface="Times New Roman"/>
                <a:cs typeface="Times New Roman"/>
                <a:sym typeface="Times New Roman"/>
              </a:rPr>
              <a:t>1 Combined Transaction:</a:t>
            </a:r>
            <a:br>
              <a:rPr b="1" i="1" lang="en-US" sz="2000">
                <a:solidFill>
                  <a:srgbClr val="0B5F9F"/>
                </a:solidFill>
                <a:latin typeface="Times New Roman"/>
                <a:ea typeface="Times New Roman"/>
                <a:cs typeface="Times New Roman"/>
                <a:sym typeface="Times New Roman"/>
              </a:rPr>
            </a:br>
            <a:r>
              <a:rPr b="1" i="1" lang="en-US" sz="2000">
                <a:solidFill>
                  <a:srgbClr val="0B5F9F"/>
                </a:solidFill>
                <a:latin typeface="Times New Roman"/>
                <a:ea typeface="Times New Roman"/>
                <a:cs typeface="Times New Roman"/>
                <a:sym typeface="Times New Roman"/>
              </a:rPr>
              <a:t>Total: 128 bits transferred, 1× overhead.</a:t>
            </a:r>
            <a:endParaRPr b="1" i="1" sz="2000">
              <a:solidFill>
                <a:srgbClr val="0B5F9F"/>
              </a:solidFill>
              <a:latin typeface="Times New Roman"/>
              <a:ea typeface="Times New Roman"/>
              <a:cs typeface="Times New Roman"/>
              <a:sym typeface="Times New Roman"/>
            </a:endParaRPr>
          </a:p>
          <a:p>
            <a:pPr indent="0" lvl="0" marL="0" marR="0" rtl="0" algn="ctr">
              <a:lnSpc>
                <a:spcPct val="110000"/>
              </a:lnSpc>
              <a:spcBef>
                <a:spcPts val="0"/>
              </a:spcBef>
              <a:spcAft>
                <a:spcPts val="0"/>
              </a:spcAft>
              <a:buNone/>
            </a:pPr>
            <a:r>
              <a:t/>
            </a:r>
            <a:endParaRPr sz="2400">
              <a:solidFill>
                <a:schemeClr val="lt1"/>
              </a:solidFill>
              <a:latin typeface="Meddon"/>
              <a:ea typeface="Meddon"/>
              <a:cs typeface="Meddon"/>
              <a:sym typeface="Meddon"/>
            </a:endParaRPr>
          </a:p>
        </p:txBody>
      </p:sp>
      <p:sp>
        <p:nvSpPr>
          <p:cNvPr id="1203" name="Google Shape;1203;p107"/>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i="0" lang="en-US" sz="3600">
                <a:latin typeface="Times New Roman"/>
                <a:ea typeface="Times New Roman"/>
                <a:cs typeface="Times New Roman"/>
                <a:sym typeface="Times New Roman"/>
              </a:rPr>
              <a:t>Coalescer saves the day</a:t>
            </a:r>
            <a:endParaRPr i="0" sz="3600">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108"/>
          <p:cNvSpPr txBox="1"/>
          <p:nvPr>
            <p:ph idx="1" type="body"/>
          </p:nvPr>
        </p:nvSpPr>
        <p:spPr>
          <a:xfrm>
            <a:off x="644748" y="1423452"/>
            <a:ext cx="11547252" cy="872074"/>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2600"/>
              <a:buNone/>
            </a:pPr>
            <a:r>
              <a:rPr i="1" lang="en-US" sz="2600">
                <a:latin typeface="Calibri"/>
                <a:ea typeface="Calibri"/>
                <a:cs typeface="Calibri"/>
                <a:sym typeface="Calibri"/>
              </a:rPr>
              <a:t>Performance Impact:</a:t>
            </a:r>
            <a:endParaRPr/>
          </a:p>
          <a:p>
            <a:pPr indent="0" lvl="0" marL="0" rtl="0" algn="l">
              <a:lnSpc>
                <a:spcPct val="150000"/>
              </a:lnSpc>
              <a:spcBef>
                <a:spcPts val="0"/>
              </a:spcBef>
              <a:spcAft>
                <a:spcPts val="0"/>
              </a:spcAft>
              <a:buSzPts val="2400"/>
              <a:buNone/>
            </a:pPr>
            <a:r>
              <a:rPr b="0" lang="en-US" sz="2400">
                <a:solidFill>
                  <a:schemeClr val="dk1"/>
                </a:solidFill>
                <a:latin typeface="Times New Roman"/>
                <a:ea typeface="Times New Roman"/>
                <a:cs typeface="Times New Roman"/>
                <a:sym typeface="Times New Roman"/>
              </a:rPr>
              <a:t>Coalescer significantly reduces memory bandwidth consumption and improves performance.</a:t>
            </a:r>
            <a:endParaRPr b="0" sz="2400">
              <a:solidFill>
                <a:schemeClr val="dk1"/>
              </a:solidFill>
              <a:latin typeface="Times New Roman"/>
              <a:ea typeface="Times New Roman"/>
              <a:cs typeface="Times New Roman"/>
              <a:sym typeface="Times New Roman"/>
            </a:endParaRPr>
          </a:p>
        </p:txBody>
      </p:sp>
      <p:sp>
        <p:nvSpPr>
          <p:cNvPr id="1209" name="Google Shape;1209;p108"/>
          <p:cNvSpPr/>
          <p:nvPr/>
        </p:nvSpPr>
        <p:spPr>
          <a:xfrm>
            <a:off x="8079204" y="3406389"/>
            <a:ext cx="3736558" cy="127038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1" lang="en-US" sz="2000">
                <a:solidFill>
                  <a:srgbClr val="0B5F9F"/>
                </a:solidFill>
                <a:latin typeface="Quattrocento Sans"/>
                <a:ea typeface="Quattrocento Sans"/>
                <a:cs typeface="Quattrocento Sans"/>
                <a:sym typeface="Quattrocento Sans"/>
              </a:rPr>
              <a:t>• 4× fewer transactions.</a:t>
            </a:r>
            <a:endParaRPr/>
          </a:p>
          <a:p>
            <a:pPr indent="0" lvl="0" marL="0" marR="0" rtl="0" algn="l">
              <a:lnSpc>
                <a:spcPct val="130000"/>
              </a:lnSpc>
              <a:spcBef>
                <a:spcPts val="0"/>
              </a:spcBef>
              <a:spcAft>
                <a:spcPts val="0"/>
              </a:spcAft>
              <a:buNone/>
            </a:pPr>
            <a:r>
              <a:rPr b="1" i="1" lang="en-US" sz="2000">
                <a:solidFill>
                  <a:srgbClr val="0B5F9F"/>
                </a:solidFill>
                <a:latin typeface="Quattrocento Sans"/>
                <a:ea typeface="Quattrocento Sans"/>
                <a:cs typeface="Quattrocento Sans"/>
                <a:sym typeface="Quattrocento Sans"/>
              </a:rPr>
              <a:t>• 4× less memory controller load.</a:t>
            </a:r>
            <a:endParaRPr b="1" i="1" sz="2000">
              <a:solidFill>
                <a:srgbClr val="0B5F9F"/>
              </a:solidFill>
              <a:latin typeface="Meddon"/>
              <a:ea typeface="Meddon"/>
              <a:cs typeface="Meddon"/>
              <a:sym typeface="Meddon"/>
            </a:endParaRPr>
          </a:p>
          <a:p>
            <a:pPr indent="0" lvl="0" marL="0" marR="0" rtl="0" algn="l">
              <a:lnSpc>
                <a:spcPct val="130000"/>
              </a:lnSpc>
              <a:spcBef>
                <a:spcPts val="0"/>
              </a:spcBef>
              <a:spcAft>
                <a:spcPts val="0"/>
              </a:spcAft>
              <a:buNone/>
            </a:pPr>
            <a:r>
              <a:rPr b="1" i="1" lang="en-US" sz="2000">
                <a:solidFill>
                  <a:srgbClr val="0B5F9F"/>
                </a:solidFill>
                <a:latin typeface="Quattrocento Sans"/>
                <a:ea typeface="Quattrocento Sans"/>
                <a:cs typeface="Quattrocento Sans"/>
                <a:sym typeface="Quattrocento Sans"/>
              </a:rPr>
              <a:t>• Better cache line utilization.</a:t>
            </a:r>
            <a:endParaRPr b="1" i="1" sz="2000">
              <a:solidFill>
                <a:srgbClr val="0B5F9F"/>
              </a:solidFill>
              <a:latin typeface="Meddon"/>
              <a:ea typeface="Meddon"/>
              <a:cs typeface="Meddon"/>
              <a:sym typeface="Meddon"/>
            </a:endParaRPr>
          </a:p>
        </p:txBody>
      </p:sp>
      <p:sp>
        <p:nvSpPr>
          <p:cNvPr id="1210" name="Google Shape;1210;p108"/>
          <p:cNvSpPr/>
          <p:nvPr/>
        </p:nvSpPr>
        <p:spPr>
          <a:xfrm>
            <a:off x="644748" y="2295526"/>
            <a:ext cx="6565676" cy="1340233"/>
          </a:xfrm>
          <a:prstGeom prst="rect">
            <a:avLst/>
          </a:prstGeom>
          <a:noFill/>
          <a:ln>
            <a:noFill/>
          </a:ln>
        </p:spPr>
        <p:txBody>
          <a:bodyPr anchorCtr="0" anchor="ctr" bIns="71975" lIns="71975" spcFirstLastPara="1" rIns="71975" wrap="square" tIns="71975">
            <a:noAutofit/>
          </a:bodyPr>
          <a:lstStyle/>
          <a:p>
            <a:pPr indent="0" lvl="0" marL="0" marR="0" rtl="0" algn="l">
              <a:lnSpc>
                <a:spcPct val="130000"/>
              </a:lnSpc>
              <a:spcBef>
                <a:spcPts val="0"/>
              </a:spcBef>
              <a:spcAft>
                <a:spcPts val="0"/>
              </a:spcAft>
              <a:buNone/>
            </a:pPr>
            <a:r>
              <a:t/>
            </a:r>
            <a:endParaRPr sz="2800">
              <a:solidFill>
                <a:schemeClr val="dk1"/>
              </a:solidFill>
              <a:latin typeface="Meddon"/>
              <a:ea typeface="Meddon"/>
              <a:cs typeface="Meddon"/>
              <a:sym typeface="Meddon"/>
            </a:endParaRPr>
          </a:p>
        </p:txBody>
      </p:sp>
      <p:pic>
        <p:nvPicPr>
          <p:cNvPr descr="A diagram of a seeding process&#10;&#10;Description automatically generated" id="1211" name="Google Shape;1211;p108"/>
          <p:cNvPicPr preferRelativeResize="0"/>
          <p:nvPr/>
        </p:nvPicPr>
        <p:blipFill rotWithShape="1">
          <a:blip r:embed="rId3">
            <a:alphaModFix/>
          </a:blip>
          <a:srcRect b="5088" l="0" r="0" t="15580"/>
          <a:stretch/>
        </p:blipFill>
        <p:spPr>
          <a:xfrm>
            <a:off x="743951" y="2845528"/>
            <a:ext cx="6853238" cy="2392109"/>
          </a:xfrm>
          <a:prstGeom prst="rect">
            <a:avLst/>
          </a:prstGeom>
          <a:noFill/>
          <a:ln>
            <a:noFill/>
          </a:ln>
        </p:spPr>
      </p:pic>
      <p:sp>
        <p:nvSpPr>
          <p:cNvPr id="1212" name="Google Shape;1212;p108"/>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i="0" lang="en-US" sz="3600">
                <a:latin typeface="Times New Roman"/>
                <a:ea typeface="Times New Roman"/>
                <a:cs typeface="Times New Roman"/>
                <a:sym typeface="Times New Roman"/>
              </a:rPr>
              <a:t>Performance Optimization</a:t>
            </a:r>
            <a:endParaRPr i="0" sz="3600">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109"/>
          <p:cNvSpPr txBox="1"/>
          <p:nvPr>
            <p:ph idx="1" type="body"/>
          </p:nvPr>
        </p:nvSpPr>
        <p:spPr>
          <a:xfrm>
            <a:off x="644749" y="1423452"/>
            <a:ext cx="8051576" cy="424224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600"/>
              <a:buNone/>
            </a:pPr>
            <a:r>
              <a:rPr i="1" lang="en-US" sz="2600">
                <a:latin typeface="Times New Roman"/>
                <a:ea typeface="Times New Roman"/>
                <a:cs typeface="Times New Roman"/>
                <a:sym typeface="Times New Roman"/>
              </a:rPr>
              <a:t>How It Works :</a:t>
            </a:r>
            <a:endParaRPr/>
          </a:p>
          <a:p>
            <a:pPr indent="0" lvl="0" marL="0" rtl="0" algn="l">
              <a:spcBef>
                <a:spcPts val="0"/>
              </a:spcBef>
              <a:spcAft>
                <a:spcPts val="0"/>
              </a:spcAft>
              <a:buSzPts val="2400"/>
              <a:buNone/>
            </a:pPr>
            <a:r>
              <a:rPr b="0" lang="en-US" sz="2400">
                <a:solidFill>
                  <a:schemeClr val="dk1"/>
                </a:solidFill>
                <a:latin typeface="Times New Roman"/>
                <a:ea typeface="Times New Roman"/>
                <a:cs typeface="Times New Roman"/>
                <a:sym typeface="Times New Roman"/>
              </a:rPr>
              <a:t>The coalescer operates by:</a:t>
            </a:r>
            <a:endParaRPr/>
          </a:p>
          <a:p>
            <a:pPr indent="-342900" lvl="0" marL="342900" rtl="0" algn="l">
              <a:spcBef>
                <a:spcPts val="480"/>
              </a:spcBef>
              <a:spcAft>
                <a:spcPts val="0"/>
              </a:spcAft>
              <a:buSzPts val="2400"/>
              <a:buChar char="•"/>
            </a:pPr>
            <a:r>
              <a:rPr b="0" lang="en-US" sz="2400">
                <a:solidFill>
                  <a:schemeClr val="dk1"/>
                </a:solidFill>
                <a:latin typeface="Times New Roman"/>
                <a:ea typeface="Times New Roman"/>
                <a:cs typeface="Times New Roman"/>
                <a:sym typeface="Times New Roman"/>
              </a:rPr>
              <a:t>Collects requests from multiple LSU lanes.</a:t>
            </a:r>
            <a:endParaRPr/>
          </a:p>
          <a:p>
            <a:pPr indent="0" lvl="0" marL="0" rtl="0" algn="l">
              <a:spcBef>
                <a:spcPts val="480"/>
              </a:spcBef>
              <a:spcAft>
                <a:spcPts val="0"/>
              </a:spcAft>
              <a:buSzPts val="2400"/>
              <a:buNone/>
            </a:pPr>
            <a:r>
              <a:t/>
            </a:r>
            <a:endParaRPr b="0" sz="2400">
              <a:solidFill>
                <a:schemeClr val="dk1"/>
              </a:solidFill>
              <a:latin typeface="Times New Roman"/>
              <a:ea typeface="Times New Roman"/>
              <a:cs typeface="Times New Roman"/>
              <a:sym typeface="Times New Roman"/>
            </a:endParaRPr>
          </a:p>
          <a:p>
            <a:pPr indent="-342900" lvl="0" marL="342900" rtl="0" algn="l">
              <a:spcBef>
                <a:spcPts val="480"/>
              </a:spcBef>
              <a:spcAft>
                <a:spcPts val="0"/>
              </a:spcAft>
              <a:buSzPts val="2400"/>
              <a:buChar char="•"/>
            </a:pPr>
            <a:r>
              <a:rPr b="0" lang="en-US" sz="2400">
                <a:solidFill>
                  <a:schemeClr val="dk1"/>
                </a:solidFill>
                <a:latin typeface="Times New Roman"/>
                <a:ea typeface="Times New Roman"/>
                <a:cs typeface="Times New Roman"/>
                <a:sym typeface="Times New Roman"/>
              </a:rPr>
              <a:t>Groups requests targeting the same cache line.</a:t>
            </a:r>
            <a:endParaRPr/>
          </a:p>
          <a:p>
            <a:pPr indent="-190500" lvl="0" marL="342900" rtl="0" algn="l">
              <a:spcBef>
                <a:spcPts val="480"/>
              </a:spcBef>
              <a:spcAft>
                <a:spcPts val="0"/>
              </a:spcAft>
              <a:buSzPts val="2400"/>
              <a:buNone/>
            </a:pPr>
            <a:r>
              <a:t/>
            </a:r>
            <a:endParaRPr b="0" sz="2400">
              <a:solidFill>
                <a:schemeClr val="dk1"/>
              </a:solidFill>
              <a:latin typeface="Times New Roman"/>
              <a:ea typeface="Times New Roman"/>
              <a:cs typeface="Times New Roman"/>
              <a:sym typeface="Times New Roman"/>
            </a:endParaRPr>
          </a:p>
          <a:p>
            <a:pPr indent="-342900" lvl="0" marL="342900" rtl="0" algn="l">
              <a:spcBef>
                <a:spcPts val="480"/>
              </a:spcBef>
              <a:spcAft>
                <a:spcPts val="0"/>
              </a:spcAft>
              <a:buSzPts val="2400"/>
              <a:buChar char="•"/>
            </a:pPr>
            <a:r>
              <a:rPr b="0" lang="en-US" sz="2400">
                <a:solidFill>
                  <a:schemeClr val="dk1"/>
                </a:solidFill>
                <a:latin typeface="Times New Roman"/>
                <a:ea typeface="Times New Roman"/>
                <a:cs typeface="Times New Roman"/>
                <a:sym typeface="Times New Roman"/>
              </a:rPr>
              <a:t>Combines matching requests into fewer, larger transactions.</a:t>
            </a:r>
            <a:endParaRPr/>
          </a:p>
          <a:p>
            <a:pPr indent="-190500" lvl="0" marL="342900" rtl="0" algn="l">
              <a:spcBef>
                <a:spcPts val="480"/>
              </a:spcBef>
              <a:spcAft>
                <a:spcPts val="0"/>
              </a:spcAft>
              <a:buSzPts val="2400"/>
              <a:buNone/>
            </a:pPr>
            <a:r>
              <a:t/>
            </a:r>
            <a:endParaRPr b="0" sz="2400">
              <a:solidFill>
                <a:schemeClr val="dk1"/>
              </a:solidFill>
              <a:latin typeface="Times New Roman"/>
              <a:ea typeface="Times New Roman"/>
              <a:cs typeface="Times New Roman"/>
              <a:sym typeface="Times New Roman"/>
            </a:endParaRPr>
          </a:p>
          <a:p>
            <a:pPr indent="-342900" lvl="0" marL="342900" rtl="0" algn="l">
              <a:spcBef>
                <a:spcPts val="480"/>
              </a:spcBef>
              <a:spcAft>
                <a:spcPts val="0"/>
              </a:spcAft>
              <a:buSzPts val="2400"/>
              <a:buFont typeface="Arial"/>
              <a:buChar char="•"/>
            </a:pPr>
            <a:r>
              <a:rPr b="0" lang="en-US" sz="2400">
                <a:solidFill>
                  <a:schemeClr val="dk1"/>
                </a:solidFill>
                <a:latin typeface="Times New Roman"/>
                <a:ea typeface="Times New Roman"/>
                <a:cs typeface="Times New Roman"/>
                <a:sym typeface="Times New Roman"/>
              </a:rPr>
              <a:t>Reconstructs per-thread responses using an index buffer.</a:t>
            </a:r>
            <a:endParaRPr/>
          </a:p>
          <a:p>
            <a:pPr indent="0" lvl="0" marL="0" rtl="0" algn="l">
              <a:spcBef>
                <a:spcPts val="0"/>
              </a:spcBef>
              <a:spcAft>
                <a:spcPts val="0"/>
              </a:spcAft>
              <a:buSzPts val="2400"/>
              <a:buNone/>
            </a:pPr>
            <a:r>
              <a:t/>
            </a:r>
            <a:endParaRPr b="0" sz="24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2400"/>
              <a:buNone/>
            </a:pPr>
            <a:r>
              <a:t/>
            </a:r>
            <a:endParaRPr b="0" sz="2400">
              <a:solidFill>
                <a:schemeClr val="dk1"/>
              </a:solidFill>
              <a:latin typeface="Times New Roman"/>
              <a:ea typeface="Times New Roman"/>
              <a:cs typeface="Times New Roman"/>
              <a:sym typeface="Times New Roman"/>
            </a:endParaRPr>
          </a:p>
        </p:txBody>
      </p:sp>
      <p:sp>
        <p:nvSpPr>
          <p:cNvPr id="1218" name="Google Shape;1218;p109"/>
          <p:cNvSpPr/>
          <p:nvPr/>
        </p:nvSpPr>
        <p:spPr>
          <a:xfrm>
            <a:off x="644748" y="2295526"/>
            <a:ext cx="6565676" cy="1340233"/>
          </a:xfrm>
          <a:prstGeom prst="rect">
            <a:avLst/>
          </a:prstGeom>
          <a:noFill/>
          <a:ln>
            <a:noFill/>
          </a:ln>
        </p:spPr>
        <p:txBody>
          <a:bodyPr anchorCtr="0" anchor="ctr" bIns="71975" lIns="71975" spcFirstLastPara="1" rIns="71975" wrap="square" tIns="71975">
            <a:noAutofit/>
          </a:bodyPr>
          <a:lstStyle/>
          <a:p>
            <a:pPr indent="0" lvl="0" marL="0" marR="0" rtl="0" algn="l">
              <a:lnSpc>
                <a:spcPct val="130000"/>
              </a:lnSpc>
              <a:spcBef>
                <a:spcPts val="0"/>
              </a:spcBef>
              <a:spcAft>
                <a:spcPts val="0"/>
              </a:spcAft>
              <a:buNone/>
            </a:pPr>
            <a:r>
              <a:t/>
            </a:r>
            <a:endParaRPr sz="2800">
              <a:solidFill>
                <a:schemeClr val="dk1"/>
              </a:solidFill>
              <a:latin typeface="Meddon"/>
              <a:ea typeface="Meddon"/>
              <a:cs typeface="Meddon"/>
              <a:sym typeface="Meddon"/>
            </a:endParaRPr>
          </a:p>
        </p:txBody>
      </p:sp>
      <p:pic>
        <p:nvPicPr>
          <p:cNvPr descr="A screenshot of a computer&#10;&#10;Description automatically generated" id="1219" name="Google Shape;1219;p109"/>
          <p:cNvPicPr preferRelativeResize="0"/>
          <p:nvPr/>
        </p:nvPicPr>
        <p:blipFill rotWithShape="1">
          <a:blip r:embed="rId3">
            <a:alphaModFix/>
          </a:blip>
          <a:srcRect b="0" l="0" r="0" t="0"/>
          <a:stretch/>
        </p:blipFill>
        <p:spPr>
          <a:xfrm>
            <a:off x="7581899" y="1099893"/>
            <a:ext cx="4336827" cy="2314189"/>
          </a:xfrm>
          <a:prstGeom prst="rect">
            <a:avLst/>
          </a:prstGeom>
          <a:noFill/>
          <a:ln>
            <a:noFill/>
          </a:ln>
        </p:spPr>
      </p:pic>
      <p:sp>
        <p:nvSpPr>
          <p:cNvPr id="1220" name="Google Shape;1220;p109"/>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i="0" lang="en-US" sz="3600">
                <a:latin typeface="Times New Roman"/>
                <a:ea typeface="Times New Roman"/>
                <a:cs typeface="Times New Roman"/>
                <a:sym typeface="Times New Roman"/>
              </a:rPr>
              <a:t>Operation</a:t>
            </a:r>
            <a:endParaRPr i="0" sz="3600">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110"/>
          <p:cNvSpPr txBox="1"/>
          <p:nvPr>
            <p:ph idx="1" type="body"/>
          </p:nvPr>
        </p:nvSpPr>
        <p:spPr>
          <a:xfrm>
            <a:off x="644749" y="1423453"/>
            <a:ext cx="9686367" cy="87207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600"/>
              <a:buNone/>
            </a:pPr>
            <a:r>
              <a:rPr i="1" lang="en-US" sz="2600"/>
              <a:t>Combining Byte-Enables, Preserving IDs, and Packing Data</a:t>
            </a:r>
            <a:endParaRPr/>
          </a:p>
          <a:p>
            <a:pPr indent="0" lvl="0" marL="0" rtl="0" algn="l">
              <a:spcBef>
                <a:spcPts val="0"/>
              </a:spcBef>
              <a:spcAft>
                <a:spcPts val="0"/>
              </a:spcAft>
              <a:buSzPts val="2400"/>
              <a:buNone/>
            </a:pPr>
            <a:r>
              <a:rPr b="0" lang="en-US" sz="2400">
                <a:solidFill>
                  <a:schemeClr val="dk1"/>
                </a:solidFill>
                <a:latin typeface="Times New Roman"/>
                <a:ea typeface="Times New Roman"/>
                <a:cs typeface="Times New Roman"/>
                <a:sym typeface="Times New Roman"/>
              </a:rPr>
              <a:t>The core merging logic used inside the memory coalescer follows these steps:</a:t>
            </a:r>
            <a:endParaRPr sz="2600">
              <a:latin typeface="Times New Roman"/>
              <a:ea typeface="Times New Roman"/>
              <a:cs typeface="Times New Roman"/>
              <a:sym typeface="Times New Roman"/>
            </a:endParaRPr>
          </a:p>
        </p:txBody>
      </p:sp>
      <p:sp>
        <p:nvSpPr>
          <p:cNvPr id="1226" name="Google Shape;1226;p110"/>
          <p:cNvSpPr/>
          <p:nvPr/>
        </p:nvSpPr>
        <p:spPr>
          <a:xfrm>
            <a:off x="644748" y="2295526"/>
            <a:ext cx="6565676" cy="1340233"/>
          </a:xfrm>
          <a:prstGeom prst="rect">
            <a:avLst/>
          </a:prstGeom>
          <a:noFill/>
          <a:ln>
            <a:noFill/>
          </a:ln>
        </p:spPr>
        <p:txBody>
          <a:bodyPr anchorCtr="0" anchor="ctr" bIns="71975" lIns="71975" spcFirstLastPara="1" rIns="71975" wrap="square" tIns="71975">
            <a:noAutofit/>
          </a:bodyPr>
          <a:lstStyle/>
          <a:p>
            <a:pPr indent="0" lvl="0" marL="0" marR="0" rtl="0" algn="l">
              <a:lnSpc>
                <a:spcPct val="130000"/>
              </a:lnSpc>
              <a:spcBef>
                <a:spcPts val="0"/>
              </a:spcBef>
              <a:spcAft>
                <a:spcPts val="0"/>
              </a:spcAft>
              <a:buNone/>
            </a:pPr>
            <a:r>
              <a:t/>
            </a:r>
            <a:endParaRPr sz="2800">
              <a:solidFill>
                <a:schemeClr val="dk1"/>
              </a:solidFill>
              <a:latin typeface="Meddon"/>
              <a:ea typeface="Meddon"/>
              <a:cs typeface="Meddon"/>
              <a:sym typeface="Meddon"/>
            </a:endParaRPr>
          </a:p>
        </p:txBody>
      </p:sp>
      <p:sp>
        <p:nvSpPr>
          <p:cNvPr id="1227" name="Google Shape;1227;p110"/>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i="0" lang="en-US" sz="3600">
                <a:latin typeface="Times New Roman"/>
                <a:ea typeface="Times New Roman"/>
                <a:cs typeface="Times New Roman"/>
                <a:sym typeface="Times New Roman"/>
              </a:rPr>
              <a:t>Merging Logic</a:t>
            </a:r>
            <a:endParaRPr i="0" sz="3600">
              <a:latin typeface="Times New Roman"/>
              <a:ea typeface="Times New Roman"/>
              <a:cs typeface="Times New Roman"/>
              <a:sym typeface="Times New Roman"/>
            </a:endParaRPr>
          </a:p>
        </p:txBody>
      </p:sp>
      <p:sp>
        <p:nvSpPr>
          <p:cNvPr id="1228" name="Google Shape;1228;p110"/>
          <p:cNvSpPr txBox="1"/>
          <p:nvPr/>
        </p:nvSpPr>
        <p:spPr>
          <a:xfrm>
            <a:off x="644747" y="2432763"/>
            <a:ext cx="8274664" cy="96333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400"/>
              <a:buFont typeface="Arial"/>
              <a:buNone/>
            </a:pPr>
            <a:r>
              <a:rPr b="1" i="1" lang="en-US" sz="2400">
                <a:solidFill>
                  <a:srgbClr val="0B5F9F"/>
                </a:solidFill>
                <a:latin typeface="Times New Roman"/>
                <a:ea typeface="Times New Roman"/>
                <a:cs typeface="Times New Roman"/>
                <a:sym typeface="Times New Roman"/>
              </a:rPr>
              <a:t>OR Operation :</a:t>
            </a:r>
            <a:endParaRPr/>
          </a:p>
          <a:p>
            <a:pPr indent="0" lvl="0" marL="0" marR="0" rtl="0" algn="l">
              <a:spcBef>
                <a:spcPts val="480"/>
              </a:spcBef>
              <a:spcAft>
                <a:spcPts val="0"/>
              </a:spcAft>
              <a:buClr>
                <a:srgbClr val="5D5D5E"/>
              </a:buClr>
              <a:buSzPts val="2400"/>
              <a:buFont typeface="Arial"/>
              <a:buNone/>
            </a:pPr>
            <a:r>
              <a:rPr b="0" lang="en-US" sz="2400">
                <a:solidFill>
                  <a:schemeClr val="dk1"/>
                </a:solidFill>
                <a:latin typeface="Times New Roman"/>
                <a:ea typeface="Times New Roman"/>
                <a:cs typeface="Times New Roman"/>
                <a:sym typeface="Times New Roman"/>
              </a:rPr>
              <a:t>Byte-enable masks are OR ’ed to form one merged access mask.</a:t>
            </a:r>
            <a:endParaRPr/>
          </a:p>
        </p:txBody>
      </p:sp>
      <p:sp>
        <p:nvSpPr>
          <p:cNvPr id="1229" name="Google Shape;1229;p110"/>
          <p:cNvSpPr txBox="1"/>
          <p:nvPr/>
        </p:nvSpPr>
        <p:spPr>
          <a:xfrm>
            <a:off x="644747" y="3635759"/>
            <a:ext cx="7985906" cy="87207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400"/>
              <a:buFont typeface="Arial"/>
              <a:buNone/>
            </a:pPr>
            <a:r>
              <a:rPr b="1" i="1" lang="en-US" sz="2400">
                <a:solidFill>
                  <a:srgbClr val="0B5F9F"/>
                </a:solidFill>
                <a:latin typeface="Times New Roman"/>
                <a:ea typeface="Times New Roman"/>
                <a:cs typeface="Times New Roman"/>
                <a:sym typeface="Times New Roman"/>
              </a:rPr>
              <a:t>Identity Preservation :</a:t>
            </a:r>
            <a:endParaRPr/>
          </a:p>
          <a:p>
            <a:pPr indent="0" lvl="0" marL="0" marR="0" rtl="0" algn="l">
              <a:spcBef>
                <a:spcPts val="480"/>
              </a:spcBef>
              <a:spcAft>
                <a:spcPts val="0"/>
              </a:spcAft>
              <a:buClr>
                <a:srgbClr val="5D5D5E"/>
              </a:buClr>
              <a:buSzPts val="2400"/>
              <a:buFont typeface="Arial"/>
              <a:buNone/>
            </a:pPr>
            <a:r>
              <a:rPr b="0" lang="en-US" sz="2400">
                <a:solidFill>
                  <a:schemeClr val="dk1"/>
                </a:solidFill>
                <a:latin typeface="Times New Roman"/>
                <a:ea typeface="Times New Roman"/>
                <a:cs typeface="Times New Roman"/>
                <a:sym typeface="Times New Roman"/>
              </a:rPr>
              <a:t>Lane/ID mapping is saved to reconstruct per-thread responses.</a:t>
            </a:r>
            <a:endParaRPr/>
          </a:p>
        </p:txBody>
      </p:sp>
      <p:sp>
        <p:nvSpPr>
          <p:cNvPr id="1230" name="Google Shape;1230;p110"/>
          <p:cNvSpPr txBox="1"/>
          <p:nvPr/>
        </p:nvSpPr>
        <p:spPr>
          <a:xfrm>
            <a:off x="644747" y="4925008"/>
            <a:ext cx="8884264" cy="87207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400"/>
              <a:buFont typeface="Arial"/>
              <a:buNone/>
            </a:pPr>
            <a:r>
              <a:rPr b="1" i="1" lang="en-US" sz="2400">
                <a:solidFill>
                  <a:srgbClr val="0B5F9F"/>
                </a:solidFill>
                <a:latin typeface="Times New Roman"/>
                <a:ea typeface="Times New Roman"/>
                <a:cs typeface="Times New Roman"/>
                <a:sym typeface="Times New Roman"/>
              </a:rPr>
              <a:t>Data Combination :</a:t>
            </a:r>
            <a:endParaRPr/>
          </a:p>
          <a:p>
            <a:pPr indent="0" lvl="0" marL="0" marR="0" rtl="0" algn="l">
              <a:spcBef>
                <a:spcPts val="480"/>
              </a:spcBef>
              <a:spcAft>
                <a:spcPts val="0"/>
              </a:spcAft>
              <a:buClr>
                <a:srgbClr val="5D5D5E"/>
              </a:buClr>
              <a:buSzPts val="2400"/>
              <a:buFont typeface="Arial"/>
              <a:buNone/>
            </a:pPr>
            <a:r>
              <a:rPr b="0" lang="en-US" sz="2400">
                <a:solidFill>
                  <a:schemeClr val="dk1"/>
                </a:solidFill>
                <a:latin typeface="Times New Roman"/>
                <a:ea typeface="Times New Roman"/>
                <a:cs typeface="Times New Roman"/>
                <a:sym typeface="Times New Roman"/>
              </a:rPr>
              <a:t>Store data is packed by byte offset (loads only need response splitting).</a:t>
            </a:r>
            <a:endParaRPr/>
          </a:p>
        </p:txBody>
      </p:sp>
      <p:pic>
        <p:nvPicPr>
          <p:cNvPr descr="A close-up of a puzzle&#10;&#10;Description automatically generated" id="1231" name="Google Shape;1231;p110"/>
          <p:cNvPicPr preferRelativeResize="0"/>
          <p:nvPr/>
        </p:nvPicPr>
        <p:blipFill rotWithShape="1">
          <a:blip r:embed="rId3">
            <a:alphaModFix/>
          </a:blip>
          <a:srcRect b="0" l="0" r="0" t="0"/>
          <a:stretch/>
        </p:blipFill>
        <p:spPr>
          <a:xfrm>
            <a:off x="9041732" y="2275473"/>
            <a:ext cx="2578768" cy="2578768"/>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111"/>
          <p:cNvSpPr txBox="1"/>
          <p:nvPr>
            <p:ph idx="1" type="body"/>
          </p:nvPr>
        </p:nvSpPr>
        <p:spPr>
          <a:xfrm>
            <a:off x="644749" y="1423452"/>
            <a:ext cx="11338704" cy="11632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600"/>
              <a:buNone/>
            </a:pPr>
            <a:r>
              <a:rPr i="1" lang="en-US" sz="2600">
                <a:latin typeface="Times New Roman"/>
                <a:ea typeface="Times New Roman"/>
                <a:cs typeface="Times New Roman"/>
                <a:sym typeface="Times New Roman"/>
              </a:rPr>
              <a:t>Preserving Byte-Level Precision: </a:t>
            </a:r>
            <a:endParaRPr/>
          </a:p>
          <a:p>
            <a:pPr indent="0" lvl="0" marL="0" rtl="0" algn="l">
              <a:spcBef>
                <a:spcPts val="0"/>
              </a:spcBef>
              <a:spcAft>
                <a:spcPts val="0"/>
              </a:spcAft>
              <a:buSzPts val="2400"/>
              <a:buNone/>
            </a:pPr>
            <a:r>
              <a:rPr b="0" lang="en-US" sz="2400">
                <a:solidFill>
                  <a:schemeClr val="dk1"/>
                </a:solidFill>
                <a:latin typeface="Times New Roman"/>
                <a:ea typeface="Times New Roman"/>
                <a:cs typeface="Times New Roman"/>
                <a:sym typeface="Times New Roman"/>
              </a:rPr>
              <a:t>Byte-enable masks track and return the exact bytes each thread needs within a shared cache line</a:t>
            </a:r>
            <a:r>
              <a:rPr lang="en-US" sz="2400">
                <a:solidFill>
                  <a:schemeClr val="dk1"/>
                </a:solidFill>
                <a:latin typeface="Times New Roman"/>
                <a:ea typeface="Times New Roman"/>
                <a:cs typeface="Times New Roman"/>
                <a:sym typeface="Times New Roman"/>
              </a:rPr>
              <a:t>.</a:t>
            </a:r>
            <a:endParaRPr sz="2400"/>
          </a:p>
          <a:p>
            <a:pPr indent="0" lvl="0" marL="0" rtl="0" algn="l">
              <a:spcBef>
                <a:spcPts val="0"/>
              </a:spcBef>
              <a:spcAft>
                <a:spcPts val="0"/>
              </a:spcAft>
              <a:buSzPts val="2600"/>
              <a:buNone/>
            </a:pPr>
            <a:r>
              <a:t/>
            </a:r>
            <a:endParaRPr sz="2600">
              <a:latin typeface="Times New Roman"/>
              <a:ea typeface="Times New Roman"/>
              <a:cs typeface="Times New Roman"/>
              <a:sym typeface="Times New Roman"/>
            </a:endParaRPr>
          </a:p>
        </p:txBody>
      </p:sp>
      <p:sp>
        <p:nvSpPr>
          <p:cNvPr id="1237" name="Google Shape;1237;p111"/>
          <p:cNvSpPr/>
          <p:nvPr/>
        </p:nvSpPr>
        <p:spPr>
          <a:xfrm>
            <a:off x="644748" y="2295526"/>
            <a:ext cx="6565676" cy="1340233"/>
          </a:xfrm>
          <a:prstGeom prst="rect">
            <a:avLst/>
          </a:prstGeom>
          <a:noFill/>
          <a:ln>
            <a:noFill/>
          </a:ln>
        </p:spPr>
        <p:txBody>
          <a:bodyPr anchorCtr="0" anchor="ctr" bIns="71975" lIns="71975" spcFirstLastPara="1" rIns="71975" wrap="square" tIns="71975">
            <a:noAutofit/>
          </a:bodyPr>
          <a:lstStyle/>
          <a:p>
            <a:pPr indent="0" lvl="0" marL="0" marR="0" rtl="0" algn="l">
              <a:lnSpc>
                <a:spcPct val="130000"/>
              </a:lnSpc>
              <a:spcBef>
                <a:spcPts val="0"/>
              </a:spcBef>
              <a:spcAft>
                <a:spcPts val="0"/>
              </a:spcAft>
              <a:buNone/>
            </a:pPr>
            <a:r>
              <a:t/>
            </a:r>
            <a:endParaRPr sz="2800">
              <a:solidFill>
                <a:schemeClr val="dk1"/>
              </a:solidFill>
              <a:latin typeface="Meddon"/>
              <a:ea typeface="Meddon"/>
              <a:cs typeface="Meddon"/>
              <a:sym typeface="Meddon"/>
            </a:endParaRPr>
          </a:p>
        </p:txBody>
      </p:sp>
      <p:sp>
        <p:nvSpPr>
          <p:cNvPr id="1238" name="Google Shape;1238;p111"/>
          <p:cNvSpPr txBox="1"/>
          <p:nvPr/>
        </p:nvSpPr>
        <p:spPr>
          <a:xfrm>
            <a:off x="644746" y="2600750"/>
            <a:ext cx="10956702" cy="141993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400"/>
              <a:buFont typeface="Arial"/>
              <a:buNone/>
            </a:pPr>
            <a:r>
              <a:rPr b="0" lang="en-US" sz="2400">
                <a:solidFill>
                  <a:schemeClr val="dk1"/>
                </a:solidFill>
                <a:latin typeface="Times New Roman"/>
                <a:ea typeface="Times New Roman"/>
                <a:cs typeface="Times New Roman"/>
                <a:sym typeface="Times New Roman"/>
              </a:rPr>
              <a:t>Example: Partial word accesses.</a:t>
            </a:r>
            <a:endParaRPr/>
          </a:p>
          <a:p>
            <a:pPr indent="0" lvl="0" marL="0" marR="0" rtl="0" algn="l">
              <a:spcBef>
                <a:spcPts val="0"/>
              </a:spcBef>
              <a:spcAft>
                <a:spcPts val="0"/>
              </a:spcAft>
              <a:buClr>
                <a:srgbClr val="5D5D5E"/>
              </a:buClr>
              <a:buSzPts val="2400"/>
              <a:buFont typeface="Arial"/>
              <a:buNone/>
            </a:pPr>
            <a:r>
              <a:rPr b="0" lang="en-US" sz="2400">
                <a:solidFill>
                  <a:schemeClr val="dk1"/>
                </a:solidFill>
                <a:latin typeface="Times New Roman"/>
                <a:ea typeface="Times New Roman"/>
                <a:cs typeface="Times New Roman"/>
                <a:sym typeface="Times New Roman"/>
              </a:rPr>
              <a:t>Cashe line: 128 bits (16 bytes) at 0x10000</a:t>
            </a:r>
            <a:endParaRPr/>
          </a:p>
          <a:p>
            <a:pPr indent="0" lvl="0" marL="0" marR="0" rtl="0" algn="l">
              <a:spcBef>
                <a:spcPts val="0"/>
              </a:spcBef>
              <a:spcAft>
                <a:spcPts val="0"/>
              </a:spcAft>
              <a:buClr>
                <a:srgbClr val="5D5D5E"/>
              </a:buClr>
              <a:buSzPts val="2400"/>
              <a:buFont typeface="Arial"/>
              <a:buNone/>
            </a:pPr>
            <a:r>
              <a:t/>
            </a:r>
            <a:endParaRPr b="0" sz="2400">
              <a:solidFill>
                <a:schemeClr val="dk1"/>
              </a:solidFill>
              <a:latin typeface="Times New Roman"/>
              <a:ea typeface="Times New Roman"/>
              <a:cs typeface="Times New Roman"/>
              <a:sym typeface="Times New Roman"/>
            </a:endParaRPr>
          </a:p>
        </p:txBody>
      </p:sp>
      <p:sp>
        <p:nvSpPr>
          <p:cNvPr id="1239" name="Google Shape;1239;p111"/>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i="0" lang="en-US" sz="3600">
                <a:latin typeface="Times New Roman"/>
                <a:ea typeface="Times New Roman"/>
                <a:cs typeface="Times New Roman"/>
                <a:sym typeface="Times New Roman"/>
              </a:rPr>
              <a:t>Byte Level Merging With Enable Masks : </a:t>
            </a:r>
            <a:endParaRPr i="0" sz="3600">
              <a:latin typeface="Times New Roman"/>
              <a:ea typeface="Times New Roman"/>
              <a:cs typeface="Times New Roman"/>
              <a:sym typeface="Times New Roman"/>
            </a:endParaRPr>
          </a:p>
        </p:txBody>
      </p:sp>
      <p:graphicFrame>
        <p:nvGraphicFramePr>
          <p:cNvPr id="1240" name="Google Shape;1240;p111"/>
          <p:cNvGraphicFramePr/>
          <p:nvPr/>
        </p:nvGraphicFramePr>
        <p:xfrm>
          <a:off x="2032000" y="3464428"/>
          <a:ext cx="3000000" cy="3000000"/>
        </p:xfrm>
        <a:graphic>
          <a:graphicData uri="http://schemas.openxmlformats.org/drawingml/2006/table">
            <a:tbl>
              <a:tblPr bandRow="1" firstRow="1">
                <a:noFill/>
                <a:tableStyleId>{B165ED7C-3BE8-4FF2-9917-FA1191AF0817}</a:tableStyleId>
              </a:tblPr>
              <a:tblGrid>
                <a:gridCol w="1016000"/>
                <a:gridCol w="1016000"/>
                <a:gridCol w="1016000"/>
                <a:gridCol w="1016000"/>
                <a:gridCol w="1016000"/>
                <a:gridCol w="1016000"/>
                <a:gridCol w="1016000"/>
                <a:gridCol w="1016000"/>
              </a:tblGrid>
              <a:tr h="370850">
                <a:tc>
                  <a:txBody>
                    <a:bodyPr/>
                    <a:lstStyle/>
                    <a:p>
                      <a:pPr indent="0" lvl="0" marL="0" marR="0" rtl="0" algn="ctr">
                        <a:spcBef>
                          <a:spcPts val="0"/>
                        </a:spcBef>
                        <a:spcAft>
                          <a:spcPts val="0"/>
                        </a:spcAft>
                        <a:buNone/>
                      </a:pPr>
                      <a:r>
                        <a:rPr b="1" lang="en-US" sz="1800" u="none" cap="none" strike="noStrike"/>
                        <a:t>B0</a:t>
                      </a:r>
                      <a:endParaRPr/>
                    </a:p>
                  </a:txBody>
                  <a:tcPr marT="45725" marB="45725" marR="91450" marL="91450"/>
                </a:tc>
                <a:tc>
                  <a:txBody>
                    <a:bodyPr/>
                    <a:lstStyle/>
                    <a:p>
                      <a:pPr indent="0" lvl="0" marL="0" marR="0" rtl="0" algn="ctr">
                        <a:spcBef>
                          <a:spcPts val="0"/>
                        </a:spcBef>
                        <a:spcAft>
                          <a:spcPts val="0"/>
                        </a:spcAft>
                        <a:buNone/>
                      </a:pPr>
                      <a:r>
                        <a:rPr b="1" lang="en-US" sz="1800" u="none" cap="none" strike="noStrike"/>
                        <a:t>B1</a:t>
                      </a:r>
                      <a:endParaRPr/>
                    </a:p>
                  </a:txBody>
                  <a:tcPr marT="45725" marB="45725" marR="91450" marL="91450"/>
                </a:tc>
                <a:tc>
                  <a:txBody>
                    <a:bodyPr/>
                    <a:lstStyle/>
                    <a:p>
                      <a:pPr indent="0" lvl="0" marL="0" marR="0" rtl="0" algn="ctr">
                        <a:spcBef>
                          <a:spcPts val="0"/>
                        </a:spcBef>
                        <a:spcAft>
                          <a:spcPts val="0"/>
                        </a:spcAft>
                        <a:buNone/>
                      </a:pPr>
                      <a:r>
                        <a:rPr b="1" lang="en-US" sz="1800" u="none" cap="none" strike="noStrike"/>
                        <a:t>B2</a:t>
                      </a:r>
                      <a:endParaRPr/>
                    </a:p>
                  </a:txBody>
                  <a:tcPr marT="45725" marB="45725" marR="91450" marL="91450"/>
                </a:tc>
                <a:tc>
                  <a:txBody>
                    <a:bodyPr/>
                    <a:lstStyle/>
                    <a:p>
                      <a:pPr indent="0" lvl="0" marL="0" marR="0" rtl="0" algn="ctr">
                        <a:spcBef>
                          <a:spcPts val="0"/>
                        </a:spcBef>
                        <a:spcAft>
                          <a:spcPts val="0"/>
                        </a:spcAft>
                        <a:buNone/>
                      </a:pPr>
                      <a:r>
                        <a:rPr b="1" lang="en-US" sz="1800" u="none" cap="none" strike="noStrike"/>
                        <a:t>B3</a:t>
                      </a:r>
                      <a:endParaRPr/>
                    </a:p>
                  </a:txBody>
                  <a:tcPr marT="45725" marB="45725" marR="91450" marL="91450"/>
                </a:tc>
                <a:tc>
                  <a:txBody>
                    <a:bodyPr/>
                    <a:lstStyle/>
                    <a:p>
                      <a:pPr indent="0" lvl="0" marL="0" marR="0" rtl="0" algn="ctr">
                        <a:spcBef>
                          <a:spcPts val="0"/>
                        </a:spcBef>
                        <a:spcAft>
                          <a:spcPts val="0"/>
                        </a:spcAft>
                        <a:buNone/>
                      </a:pPr>
                      <a:r>
                        <a:rPr b="1" lang="en-US" sz="1800" u="none" cap="none" strike="noStrike"/>
                        <a:t>B4</a:t>
                      </a:r>
                      <a:endParaRPr/>
                    </a:p>
                  </a:txBody>
                  <a:tcPr marT="45725" marB="45725" marR="91450" marL="91450"/>
                </a:tc>
                <a:tc>
                  <a:txBody>
                    <a:bodyPr/>
                    <a:lstStyle/>
                    <a:p>
                      <a:pPr indent="0" lvl="0" marL="0" marR="0" rtl="0" algn="ctr">
                        <a:spcBef>
                          <a:spcPts val="0"/>
                        </a:spcBef>
                        <a:spcAft>
                          <a:spcPts val="0"/>
                        </a:spcAft>
                        <a:buNone/>
                      </a:pPr>
                      <a:r>
                        <a:rPr b="1" lang="en-US" sz="1800" u="none" cap="none" strike="noStrike"/>
                        <a:t>B5</a:t>
                      </a:r>
                      <a:endParaRPr/>
                    </a:p>
                  </a:txBody>
                  <a:tcPr marT="45725" marB="45725" marR="91450" marL="91450"/>
                </a:tc>
                <a:tc>
                  <a:txBody>
                    <a:bodyPr/>
                    <a:lstStyle/>
                    <a:p>
                      <a:pPr indent="0" lvl="0" marL="0" marR="0" rtl="0" algn="ctr">
                        <a:spcBef>
                          <a:spcPts val="0"/>
                        </a:spcBef>
                        <a:spcAft>
                          <a:spcPts val="0"/>
                        </a:spcAft>
                        <a:buNone/>
                      </a:pPr>
                      <a:r>
                        <a:rPr b="1" lang="en-US" sz="1800" u="none" cap="none" strike="noStrike"/>
                        <a:t>B6</a:t>
                      </a:r>
                      <a:endParaRPr/>
                    </a:p>
                  </a:txBody>
                  <a:tcPr marT="45725" marB="45725" marR="91450" marL="91450"/>
                </a:tc>
                <a:tc>
                  <a:txBody>
                    <a:bodyPr/>
                    <a:lstStyle/>
                    <a:p>
                      <a:pPr indent="0" lvl="0" marL="0" marR="0" rtl="0" algn="ctr">
                        <a:spcBef>
                          <a:spcPts val="0"/>
                        </a:spcBef>
                        <a:spcAft>
                          <a:spcPts val="0"/>
                        </a:spcAft>
                        <a:buNone/>
                      </a:pPr>
                      <a:r>
                        <a:rPr b="1" lang="en-US" sz="1800" u="none" cap="none" strike="noStrike"/>
                        <a:t>B7</a:t>
                      </a:r>
                      <a:endParaRPr/>
                    </a:p>
                  </a:txBody>
                  <a:tcPr marT="45725" marB="45725" marR="91450" marL="91450"/>
                </a:tc>
              </a:tr>
            </a:tbl>
          </a:graphicData>
        </a:graphic>
      </p:graphicFrame>
      <p:sp>
        <p:nvSpPr>
          <p:cNvPr id="1241" name="Google Shape;1241;p111"/>
          <p:cNvSpPr txBox="1"/>
          <p:nvPr/>
        </p:nvSpPr>
        <p:spPr>
          <a:xfrm>
            <a:off x="644746" y="3847015"/>
            <a:ext cx="1825736" cy="15673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400"/>
              <a:buFont typeface="Arial"/>
              <a:buNone/>
            </a:pPr>
            <a:r>
              <a:rPr b="0" lang="en-US" sz="2400">
                <a:solidFill>
                  <a:srgbClr val="0B5F9F"/>
                </a:solidFill>
                <a:latin typeface="Times New Roman"/>
                <a:ea typeface="Times New Roman"/>
                <a:cs typeface="Times New Roman"/>
                <a:sym typeface="Times New Roman"/>
              </a:rPr>
              <a:t>Thread 0:</a:t>
            </a:r>
            <a:endParaRPr/>
          </a:p>
          <a:p>
            <a:pPr indent="0" lvl="0" marL="0" marR="0" rtl="0" algn="l">
              <a:spcBef>
                <a:spcPts val="0"/>
              </a:spcBef>
              <a:spcAft>
                <a:spcPts val="0"/>
              </a:spcAft>
              <a:buClr>
                <a:srgbClr val="5D5D5E"/>
              </a:buClr>
              <a:buSzPts val="2400"/>
              <a:buFont typeface="Arial"/>
              <a:buNone/>
            </a:pPr>
            <a:r>
              <a:rPr b="0" lang="en-US" sz="2400">
                <a:solidFill>
                  <a:schemeClr val="dk1"/>
                </a:solidFill>
                <a:latin typeface="Times New Roman"/>
                <a:ea typeface="Times New Roman"/>
                <a:cs typeface="Times New Roman"/>
                <a:sym typeface="Times New Roman"/>
              </a:rPr>
              <a:t>Bytes 0-2</a:t>
            </a:r>
            <a:endParaRPr/>
          </a:p>
          <a:p>
            <a:pPr indent="0" lvl="0" marL="0" marR="0" rtl="0" algn="l">
              <a:spcBef>
                <a:spcPts val="0"/>
              </a:spcBef>
              <a:spcAft>
                <a:spcPts val="0"/>
              </a:spcAft>
              <a:buClr>
                <a:srgbClr val="5D5D5E"/>
              </a:buClr>
              <a:buSzPts val="2400"/>
              <a:buFont typeface="Arial"/>
              <a:buNone/>
            </a:pPr>
            <a:r>
              <a:rPr b="0" lang="en-US" sz="2400">
                <a:solidFill>
                  <a:srgbClr val="0070C0"/>
                </a:solidFill>
                <a:latin typeface="Times New Roman"/>
                <a:ea typeface="Times New Roman"/>
                <a:cs typeface="Times New Roman"/>
                <a:sym typeface="Times New Roman"/>
              </a:rPr>
              <a:t>Enable</a:t>
            </a:r>
            <a:r>
              <a:rPr b="0" lang="en-US" sz="2400">
                <a:solidFill>
                  <a:schemeClr val="dk1"/>
                </a:solidFill>
                <a:latin typeface="Times New Roman"/>
                <a:ea typeface="Times New Roman"/>
                <a:cs typeface="Times New Roman"/>
                <a:sym typeface="Times New Roman"/>
              </a:rPr>
              <a:t> </a:t>
            </a:r>
            <a:r>
              <a:rPr b="0" lang="en-US" sz="2400">
                <a:solidFill>
                  <a:srgbClr val="0070C0"/>
                </a:solidFill>
                <a:latin typeface="Times New Roman"/>
                <a:ea typeface="Times New Roman"/>
                <a:cs typeface="Times New Roman"/>
                <a:sym typeface="Times New Roman"/>
              </a:rPr>
              <a:t>:</a:t>
            </a:r>
            <a:endParaRPr/>
          </a:p>
          <a:p>
            <a:pPr indent="0" lvl="0" marL="0" marR="0" rtl="0" algn="l">
              <a:spcBef>
                <a:spcPts val="0"/>
              </a:spcBef>
              <a:spcAft>
                <a:spcPts val="0"/>
              </a:spcAft>
              <a:buClr>
                <a:srgbClr val="5D5D5E"/>
              </a:buClr>
              <a:buSzPts val="2400"/>
              <a:buFont typeface="Arial"/>
              <a:buNone/>
            </a:pPr>
            <a:r>
              <a:rPr b="0" lang="en-US" sz="2400">
                <a:solidFill>
                  <a:schemeClr val="dk1"/>
                </a:solidFill>
                <a:latin typeface="Times New Roman"/>
                <a:ea typeface="Times New Roman"/>
                <a:cs typeface="Times New Roman"/>
                <a:sym typeface="Times New Roman"/>
              </a:rPr>
              <a:t>’b00000111</a:t>
            </a:r>
            <a:endParaRPr/>
          </a:p>
        </p:txBody>
      </p:sp>
      <p:sp>
        <p:nvSpPr>
          <p:cNvPr id="1242" name="Google Shape;1242;p111"/>
          <p:cNvSpPr txBox="1"/>
          <p:nvPr/>
        </p:nvSpPr>
        <p:spPr>
          <a:xfrm>
            <a:off x="4751526" y="3847015"/>
            <a:ext cx="1825736" cy="15673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400"/>
              <a:buFont typeface="Arial"/>
              <a:buNone/>
            </a:pPr>
            <a:r>
              <a:rPr b="0" lang="en-US" sz="2400">
                <a:solidFill>
                  <a:srgbClr val="0B5F9F"/>
                </a:solidFill>
                <a:latin typeface="Times New Roman"/>
                <a:ea typeface="Times New Roman"/>
                <a:cs typeface="Times New Roman"/>
                <a:sym typeface="Times New Roman"/>
              </a:rPr>
              <a:t>Thread 1:</a:t>
            </a:r>
            <a:endParaRPr/>
          </a:p>
          <a:p>
            <a:pPr indent="0" lvl="0" marL="0" marR="0" rtl="0" algn="l">
              <a:spcBef>
                <a:spcPts val="0"/>
              </a:spcBef>
              <a:spcAft>
                <a:spcPts val="0"/>
              </a:spcAft>
              <a:buClr>
                <a:srgbClr val="5D5D5E"/>
              </a:buClr>
              <a:buSzPts val="2400"/>
              <a:buFont typeface="Arial"/>
              <a:buNone/>
            </a:pPr>
            <a:r>
              <a:rPr b="0" lang="en-US" sz="2400">
                <a:solidFill>
                  <a:schemeClr val="dk1"/>
                </a:solidFill>
                <a:latin typeface="Times New Roman"/>
                <a:ea typeface="Times New Roman"/>
                <a:cs typeface="Times New Roman"/>
                <a:sym typeface="Times New Roman"/>
              </a:rPr>
              <a:t>Bytes 3-4</a:t>
            </a:r>
            <a:endParaRPr/>
          </a:p>
          <a:p>
            <a:pPr indent="0" lvl="0" marL="0" marR="0" rtl="0" algn="l">
              <a:spcBef>
                <a:spcPts val="0"/>
              </a:spcBef>
              <a:spcAft>
                <a:spcPts val="0"/>
              </a:spcAft>
              <a:buClr>
                <a:srgbClr val="5D5D5E"/>
              </a:buClr>
              <a:buSzPts val="2400"/>
              <a:buFont typeface="Arial"/>
              <a:buNone/>
            </a:pPr>
            <a:r>
              <a:rPr b="0" lang="en-US" sz="2400">
                <a:solidFill>
                  <a:srgbClr val="0B5F9F"/>
                </a:solidFill>
                <a:latin typeface="Times New Roman"/>
                <a:ea typeface="Times New Roman"/>
                <a:cs typeface="Times New Roman"/>
                <a:sym typeface="Times New Roman"/>
              </a:rPr>
              <a:t>Enable :</a:t>
            </a:r>
            <a:endParaRPr/>
          </a:p>
          <a:p>
            <a:pPr indent="0" lvl="0" marL="0" marR="0" rtl="0" algn="l">
              <a:spcBef>
                <a:spcPts val="0"/>
              </a:spcBef>
              <a:spcAft>
                <a:spcPts val="0"/>
              </a:spcAft>
              <a:buClr>
                <a:srgbClr val="5D5D5E"/>
              </a:buClr>
              <a:buSzPts val="2400"/>
              <a:buFont typeface="Arial"/>
              <a:buNone/>
            </a:pPr>
            <a:r>
              <a:rPr b="0" lang="en-US" sz="2400">
                <a:solidFill>
                  <a:schemeClr val="dk1"/>
                </a:solidFill>
                <a:latin typeface="Times New Roman"/>
                <a:ea typeface="Times New Roman"/>
                <a:cs typeface="Times New Roman"/>
                <a:sym typeface="Times New Roman"/>
              </a:rPr>
              <a:t>’b00011000</a:t>
            </a:r>
            <a:endParaRPr/>
          </a:p>
        </p:txBody>
      </p:sp>
      <p:sp>
        <p:nvSpPr>
          <p:cNvPr id="1243" name="Google Shape;1243;p111"/>
          <p:cNvSpPr txBox="1"/>
          <p:nvPr/>
        </p:nvSpPr>
        <p:spPr>
          <a:xfrm>
            <a:off x="8858306" y="3867150"/>
            <a:ext cx="1825736" cy="15673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400"/>
              <a:buFont typeface="Arial"/>
              <a:buNone/>
            </a:pPr>
            <a:r>
              <a:rPr b="0" lang="en-US" sz="2400">
                <a:solidFill>
                  <a:srgbClr val="0B5F9F"/>
                </a:solidFill>
                <a:latin typeface="Times New Roman"/>
                <a:ea typeface="Times New Roman"/>
                <a:cs typeface="Times New Roman"/>
                <a:sym typeface="Times New Roman"/>
              </a:rPr>
              <a:t>Thread 2:</a:t>
            </a:r>
            <a:endParaRPr/>
          </a:p>
          <a:p>
            <a:pPr indent="0" lvl="0" marL="0" marR="0" rtl="0" algn="l">
              <a:spcBef>
                <a:spcPts val="0"/>
              </a:spcBef>
              <a:spcAft>
                <a:spcPts val="0"/>
              </a:spcAft>
              <a:buClr>
                <a:srgbClr val="5D5D5E"/>
              </a:buClr>
              <a:buSzPts val="2400"/>
              <a:buFont typeface="Arial"/>
              <a:buNone/>
            </a:pPr>
            <a:r>
              <a:rPr b="0" lang="en-US" sz="2400">
                <a:solidFill>
                  <a:schemeClr val="dk1"/>
                </a:solidFill>
                <a:latin typeface="Times New Roman"/>
                <a:ea typeface="Times New Roman"/>
                <a:cs typeface="Times New Roman"/>
                <a:sym typeface="Times New Roman"/>
              </a:rPr>
              <a:t>Bytes 5-6</a:t>
            </a:r>
            <a:endParaRPr/>
          </a:p>
          <a:p>
            <a:pPr indent="0" lvl="0" marL="0" marR="0" rtl="0" algn="l">
              <a:spcBef>
                <a:spcPts val="0"/>
              </a:spcBef>
              <a:spcAft>
                <a:spcPts val="0"/>
              </a:spcAft>
              <a:buClr>
                <a:srgbClr val="5D5D5E"/>
              </a:buClr>
              <a:buSzPts val="2400"/>
              <a:buFont typeface="Arial"/>
              <a:buNone/>
            </a:pPr>
            <a:r>
              <a:rPr b="0" lang="en-US" sz="2400">
                <a:solidFill>
                  <a:srgbClr val="0B5F9F"/>
                </a:solidFill>
                <a:latin typeface="Times New Roman"/>
                <a:ea typeface="Times New Roman"/>
                <a:cs typeface="Times New Roman"/>
                <a:sym typeface="Times New Roman"/>
              </a:rPr>
              <a:t>Enable :</a:t>
            </a:r>
            <a:endParaRPr/>
          </a:p>
          <a:p>
            <a:pPr indent="0" lvl="0" marL="0" marR="0" rtl="0" algn="l">
              <a:spcBef>
                <a:spcPts val="0"/>
              </a:spcBef>
              <a:spcAft>
                <a:spcPts val="0"/>
              </a:spcAft>
              <a:buClr>
                <a:srgbClr val="5D5D5E"/>
              </a:buClr>
              <a:buSzPts val="2400"/>
              <a:buFont typeface="Arial"/>
              <a:buNone/>
            </a:pPr>
            <a:r>
              <a:rPr b="0" lang="en-US" sz="2400">
                <a:solidFill>
                  <a:schemeClr val="dk1"/>
                </a:solidFill>
                <a:latin typeface="Times New Roman"/>
                <a:ea typeface="Times New Roman"/>
                <a:cs typeface="Times New Roman"/>
                <a:sym typeface="Times New Roman"/>
              </a:rPr>
              <a:t>’b01100000</a:t>
            </a:r>
            <a:endParaRPr/>
          </a:p>
        </p:txBody>
      </p:sp>
      <p:sp>
        <p:nvSpPr>
          <p:cNvPr id="1244" name="Google Shape;1244;p111"/>
          <p:cNvSpPr txBox="1"/>
          <p:nvPr/>
        </p:nvSpPr>
        <p:spPr>
          <a:xfrm>
            <a:off x="644746" y="5522982"/>
            <a:ext cx="9060729" cy="89747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600"/>
              <a:buFont typeface="Arial"/>
              <a:buNone/>
            </a:pPr>
            <a:r>
              <a:rPr b="1" lang="en-US" sz="2600">
                <a:solidFill>
                  <a:srgbClr val="0B5F9F"/>
                </a:solidFill>
                <a:latin typeface="Times New Roman"/>
                <a:ea typeface="Times New Roman"/>
                <a:cs typeface="Times New Roman"/>
                <a:sym typeface="Times New Roman"/>
              </a:rPr>
              <a:t>Combined Enable ’b01111111 (Bytes 0-6)</a:t>
            </a:r>
            <a:endParaRPr/>
          </a:p>
          <a:p>
            <a:pPr indent="0" lvl="0" marL="0" marR="0" rtl="0" algn="l">
              <a:spcBef>
                <a:spcPts val="0"/>
              </a:spcBef>
              <a:spcAft>
                <a:spcPts val="0"/>
              </a:spcAft>
              <a:buClr>
                <a:srgbClr val="5D5D5E"/>
              </a:buClr>
              <a:buSzPts val="2400"/>
              <a:buFont typeface="Arial"/>
              <a:buNone/>
            </a:pPr>
            <a:r>
              <a:rPr b="0" lang="en-US" sz="2400">
                <a:solidFill>
                  <a:schemeClr val="dk1"/>
                </a:solidFill>
                <a:latin typeface="Times New Roman"/>
                <a:ea typeface="Times New Roman"/>
                <a:cs typeface="Times New Roman"/>
                <a:sym typeface="Times New Roman"/>
              </a:rPr>
              <a:t>All 3 requests are combined into 1 transaction with precise byte tracking</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112"/>
          <p:cNvSpPr txBox="1"/>
          <p:nvPr>
            <p:ph idx="1" type="body"/>
          </p:nvPr>
        </p:nvSpPr>
        <p:spPr>
          <a:xfrm>
            <a:off x="644749" y="1423453"/>
            <a:ext cx="9686367" cy="87207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600"/>
              <a:buNone/>
            </a:pPr>
            <a:r>
              <a:rPr i="1" lang="en-US" sz="2600"/>
              <a:t>What happens when not all the requests can merge ?</a:t>
            </a:r>
            <a:endParaRPr/>
          </a:p>
          <a:p>
            <a:pPr indent="0" lvl="0" marL="0" rtl="0" algn="l">
              <a:spcBef>
                <a:spcPts val="0"/>
              </a:spcBef>
              <a:spcAft>
                <a:spcPts val="0"/>
              </a:spcAft>
              <a:buSzPts val="2400"/>
              <a:buNone/>
            </a:pPr>
            <a:r>
              <a:rPr b="0" lang="en-US" sz="2400">
                <a:solidFill>
                  <a:schemeClr val="dk1"/>
                </a:solidFill>
                <a:latin typeface="Times New Roman"/>
                <a:ea typeface="Times New Roman"/>
                <a:cs typeface="Times New Roman"/>
                <a:sym typeface="Times New Roman"/>
              </a:rPr>
              <a:t>Not necessarily that all incoming requests target nearby addresses:</a:t>
            </a:r>
            <a:endParaRPr sz="2600">
              <a:latin typeface="Times New Roman"/>
              <a:ea typeface="Times New Roman"/>
              <a:cs typeface="Times New Roman"/>
              <a:sym typeface="Times New Roman"/>
            </a:endParaRPr>
          </a:p>
        </p:txBody>
      </p:sp>
      <p:sp>
        <p:nvSpPr>
          <p:cNvPr id="1250" name="Google Shape;1250;p112"/>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i="0" lang="en-US" sz="3600">
                <a:latin typeface="Times New Roman"/>
                <a:ea typeface="Times New Roman"/>
                <a:cs typeface="Times New Roman"/>
                <a:sym typeface="Times New Roman"/>
              </a:rPr>
              <a:t>Multi-Batch Handling Flow</a:t>
            </a:r>
            <a:endParaRPr i="0" sz="3600">
              <a:latin typeface="Times New Roman"/>
              <a:ea typeface="Times New Roman"/>
              <a:cs typeface="Times New Roman"/>
              <a:sym typeface="Times New Roman"/>
            </a:endParaRPr>
          </a:p>
        </p:txBody>
      </p:sp>
      <p:sp>
        <p:nvSpPr>
          <p:cNvPr id="1251" name="Google Shape;1251;p112"/>
          <p:cNvSpPr txBox="1"/>
          <p:nvPr/>
        </p:nvSpPr>
        <p:spPr>
          <a:xfrm>
            <a:off x="644748" y="2345144"/>
            <a:ext cx="10103463" cy="87207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600"/>
              <a:buFont typeface="Arial"/>
              <a:buNone/>
            </a:pPr>
            <a:r>
              <a:rPr b="1" i="1" lang="en-US" sz="2600">
                <a:solidFill>
                  <a:srgbClr val="0B5F9F"/>
                </a:solidFill>
                <a:latin typeface="Calibri"/>
                <a:ea typeface="Calibri"/>
                <a:cs typeface="Calibri"/>
                <a:sym typeface="Calibri"/>
              </a:rPr>
              <a:t>Initial Request Pool:</a:t>
            </a:r>
            <a:endParaRPr/>
          </a:p>
          <a:p>
            <a:pPr indent="0" lvl="0" marL="0" marR="0" rtl="0" algn="l">
              <a:lnSpc>
                <a:spcPct val="130000"/>
              </a:lnSpc>
              <a:spcBef>
                <a:spcPts val="0"/>
              </a:spcBef>
              <a:spcAft>
                <a:spcPts val="0"/>
              </a:spcAft>
              <a:buClr>
                <a:schemeClr val="dk1"/>
              </a:buClr>
              <a:buSzPts val="2400"/>
              <a:buFont typeface="Arial"/>
              <a:buNone/>
            </a:pPr>
            <a:r>
              <a:rPr b="0" lang="en-US" sz="2400">
                <a:solidFill>
                  <a:schemeClr val="dk1"/>
                </a:solidFill>
                <a:latin typeface="Times New Roman"/>
                <a:ea typeface="Times New Roman"/>
                <a:cs typeface="Times New Roman"/>
                <a:sym typeface="Times New Roman"/>
              </a:rPr>
              <a:t>Multiple memory requests arrive from LSU slice targeting different cache lines.</a:t>
            </a:r>
            <a:endParaRPr/>
          </a:p>
        </p:txBody>
      </p:sp>
      <p:sp>
        <p:nvSpPr>
          <p:cNvPr id="1252" name="Google Shape;1252;p112"/>
          <p:cNvSpPr/>
          <p:nvPr/>
        </p:nvSpPr>
        <p:spPr>
          <a:xfrm>
            <a:off x="644747" y="3253832"/>
            <a:ext cx="4601021" cy="456804"/>
          </a:xfrm>
          <a:custGeom>
            <a:rect b="b" l="l" r="r" t="t"/>
            <a:pathLst>
              <a:path extrusionOk="0" h="2705596" w="3518396">
                <a:moveTo>
                  <a:pt x="74729" y="0"/>
                </a:moveTo>
                <a:lnTo>
                  <a:pt x="3443668" y="0"/>
                </a:lnTo>
                <a:cubicBezTo>
                  <a:pt x="3484939" y="0"/>
                  <a:pt x="3518396" y="33457"/>
                  <a:pt x="3518396" y="74729"/>
                </a:cubicBezTo>
                <a:lnTo>
                  <a:pt x="3518396" y="2630868"/>
                </a:lnTo>
                <a:cubicBezTo>
                  <a:pt x="3518396" y="2672139"/>
                  <a:pt x="3484939" y="2705596"/>
                  <a:pt x="3443668" y="2705596"/>
                </a:cubicBezTo>
                <a:lnTo>
                  <a:pt x="74729" y="2705596"/>
                </a:lnTo>
                <a:cubicBezTo>
                  <a:pt x="33457" y="2705596"/>
                  <a:pt x="0" y="2672139"/>
                  <a:pt x="0" y="2630868"/>
                </a:cubicBezTo>
                <a:lnTo>
                  <a:pt x="0" y="74729"/>
                </a:lnTo>
                <a:cubicBezTo>
                  <a:pt x="0" y="33457"/>
                  <a:pt x="33457" y="0"/>
                  <a:pt x="74729" y="0"/>
                </a:cubicBezTo>
                <a:close/>
              </a:path>
            </a:pathLst>
          </a:custGeom>
          <a:solidFill>
            <a:srgbClr val="000000">
              <a:alpha val="0"/>
            </a:srgbClr>
          </a:solidFill>
          <a:ln cap="flat" cmpd="sng" w="2030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Req A-D : Line 0x1000</a:t>
            </a:r>
            <a:endParaRPr/>
          </a:p>
        </p:txBody>
      </p:sp>
      <p:sp>
        <p:nvSpPr>
          <p:cNvPr id="1253" name="Google Shape;1253;p112"/>
          <p:cNvSpPr/>
          <p:nvPr/>
        </p:nvSpPr>
        <p:spPr>
          <a:xfrm>
            <a:off x="5986770" y="3266835"/>
            <a:ext cx="4344346" cy="456804"/>
          </a:xfrm>
          <a:custGeom>
            <a:rect b="b" l="l" r="r" t="t"/>
            <a:pathLst>
              <a:path extrusionOk="0" h="2705596" w="3518396">
                <a:moveTo>
                  <a:pt x="74729" y="0"/>
                </a:moveTo>
                <a:lnTo>
                  <a:pt x="3443668" y="0"/>
                </a:lnTo>
                <a:cubicBezTo>
                  <a:pt x="3484939" y="0"/>
                  <a:pt x="3518396" y="33457"/>
                  <a:pt x="3518396" y="74729"/>
                </a:cubicBezTo>
                <a:lnTo>
                  <a:pt x="3518396" y="2630868"/>
                </a:lnTo>
                <a:cubicBezTo>
                  <a:pt x="3518396" y="2672139"/>
                  <a:pt x="3484939" y="2705596"/>
                  <a:pt x="3443668" y="2705596"/>
                </a:cubicBezTo>
                <a:lnTo>
                  <a:pt x="74729" y="2705596"/>
                </a:lnTo>
                <a:cubicBezTo>
                  <a:pt x="33457" y="2705596"/>
                  <a:pt x="0" y="2672139"/>
                  <a:pt x="0" y="2630868"/>
                </a:cubicBezTo>
                <a:lnTo>
                  <a:pt x="0" y="74729"/>
                </a:lnTo>
                <a:cubicBezTo>
                  <a:pt x="0" y="33457"/>
                  <a:pt x="33457" y="0"/>
                  <a:pt x="74729" y="0"/>
                </a:cubicBezTo>
                <a:close/>
              </a:path>
            </a:pathLst>
          </a:custGeom>
          <a:solidFill>
            <a:srgbClr val="000000">
              <a:alpha val="0"/>
            </a:srgbClr>
          </a:solidFill>
          <a:ln cap="flat" cmpd="sng" w="2030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Req E-G : Line 0x2000</a:t>
            </a:r>
            <a:endParaRPr/>
          </a:p>
        </p:txBody>
      </p:sp>
      <p:sp>
        <p:nvSpPr>
          <p:cNvPr id="1254" name="Google Shape;1254;p112"/>
          <p:cNvSpPr txBox="1"/>
          <p:nvPr/>
        </p:nvSpPr>
        <p:spPr>
          <a:xfrm>
            <a:off x="606173" y="3740010"/>
            <a:ext cx="10103463" cy="87207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600"/>
              <a:buFont typeface="Arial"/>
              <a:buNone/>
            </a:pPr>
            <a:r>
              <a:rPr b="1" i="1" lang="en-US" sz="2600">
                <a:solidFill>
                  <a:srgbClr val="0B5F9F"/>
                </a:solidFill>
                <a:latin typeface="Calibri"/>
                <a:ea typeface="Calibri"/>
                <a:cs typeface="Calibri"/>
                <a:sym typeface="Calibri"/>
              </a:rPr>
              <a:t>Batch Information:</a:t>
            </a:r>
            <a:endParaRPr/>
          </a:p>
          <a:p>
            <a:pPr indent="0" lvl="0" marL="0" marR="0" rtl="0" algn="l">
              <a:lnSpc>
                <a:spcPct val="130000"/>
              </a:lnSpc>
              <a:spcBef>
                <a:spcPts val="0"/>
              </a:spcBef>
              <a:spcAft>
                <a:spcPts val="0"/>
              </a:spcAft>
              <a:buClr>
                <a:schemeClr val="dk1"/>
              </a:buClr>
              <a:buSzPts val="2400"/>
              <a:buFont typeface="Arial"/>
              <a:buNone/>
            </a:pPr>
            <a:r>
              <a:rPr b="0" lang="en-US" sz="2400">
                <a:solidFill>
                  <a:schemeClr val="dk1"/>
                </a:solidFill>
                <a:latin typeface="Times New Roman"/>
                <a:ea typeface="Times New Roman"/>
                <a:cs typeface="Times New Roman"/>
                <a:sym typeface="Times New Roman"/>
              </a:rPr>
              <a:t>Coalescer groups requests by cache line, creates multiple batches.</a:t>
            </a:r>
            <a:endParaRPr/>
          </a:p>
        </p:txBody>
      </p:sp>
      <p:sp>
        <p:nvSpPr>
          <p:cNvPr id="1255" name="Google Shape;1255;p112"/>
          <p:cNvSpPr/>
          <p:nvPr/>
        </p:nvSpPr>
        <p:spPr>
          <a:xfrm>
            <a:off x="644747" y="4698315"/>
            <a:ext cx="4601021" cy="456804"/>
          </a:xfrm>
          <a:custGeom>
            <a:rect b="b" l="l" r="r" t="t"/>
            <a:pathLst>
              <a:path extrusionOk="0" h="2705596" w="3518396">
                <a:moveTo>
                  <a:pt x="74729" y="0"/>
                </a:moveTo>
                <a:lnTo>
                  <a:pt x="3443668" y="0"/>
                </a:lnTo>
                <a:cubicBezTo>
                  <a:pt x="3484939" y="0"/>
                  <a:pt x="3518396" y="33457"/>
                  <a:pt x="3518396" y="74729"/>
                </a:cubicBezTo>
                <a:lnTo>
                  <a:pt x="3518396" y="2630868"/>
                </a:lnTo>
                <a:cubicBezTo>
                  <a:pt x="3518396" y="2672139"/>
                  <a:pt x="3484939" y="2705596"/>
                  <a:pt x="3443668" y="2705596"/>
                </a:cubicBezTo>
                <a:lnTo>
                  <a:pt x="74729" y="2705596"/>
                </a:lnTo>
                <a:cubicBezTo>
                  <a:pt x="33457" y="2705596"/>
                  <a:pt x="0" y="2672139"/>
                  <a:pt x="0" y="2630868"/>
                </a:cubicBezTo>
                <a:lnTo>
                  <a:pt x="0" y="74729"/>
                </a:lnTo>
                <a:cubicBezTo>
                  <a:pt x="0" y="33457"/>
                  <a:pt x="33457" y="0"/>
                  <a:pt x="74729" y="0"/>
                </a:cubicBezTo>
                <a:close/>
              </a:path>
            </a:pathLst>
          </a:custGeom>
          <a:solidFill>
            <a:srgbClr val="000000">
              <a:alpha val="0"/>
            </a:srgbClr>
          </a:solidFill>
          <a:ln cap="flat" cmpd="sng" w="2030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Batch 1: Req A-D</a:t>
            </a:r>
            <a:endParaRPr/>
          </a:p>
        </p:txBody>
      </p:sp>
      <p:sp>
        <p:nvSpPr>
          <p:cNvPr id="1256" name="Google Shape;1256;p112"/>
          <p:cNvSpPr/>
          <p:nvPr/>
        </p:nvSpPr>
        <p:spPr>
          <a:xfrm>
            <a:off x="5986770" y="4678072"/>
            <a:ext cx="4344346" cy="456804"/>
          </a:xfrm>
          <a:custGeom>
            <a:rect b="b" l="l" r="r" t="t"/>
            <a:pathLst>
              <a:path extrusionOk="0" h="2705596" w="3518396">
                <a:moveTo>
                  <a:pt x="74729" y="0"/>
                </a:moveTo>
                <a:lnTo>
                  <a:pt x="3443668" y="0"/>
                </a:lnTo>
                <a:cubicBezTo>
                  <a:pt x="3484939" y="0"/>
                  <a:pt x="3518396" y="33457"/>
                  <a:pt x="3518396" y="74729"/>
                </a:cubicBezTo>
                <a:lnTo>
                  <a:pt x="3518396" y="2630868"/>
                </a:lnTo>
                <a:cubicBezTo>
                  <a:pt x="3518396" y="2672139"/>
                  <a:pt x="3484939" y="2705596"/>
                  <a:pt x="3443668" y="2705596"/>
                </a:cubicBezTo>
                <a:lnTo>
                  <a:pt x="74729" y="2705596"/>
                </a:lnTo>
                <a:cubicBezTo>
                  <a:pt x="33457" y="2705596"/>
                  <a:pt x="0" y="2672139"/>
                  <a:pt x="0" y="2630868"/>
                </a:cubicBezTo>
                <a:lnTo>
                  <a:pt x="0" y="74729"/>
                </a:lnTo>
                <a:cubicBezTo>
                  <a:pt x="0" y="33457"/>
                  <a:pt x="33457" y="0"/>
                  <a:pt x="74729" y="0"/>
                </a:cubicBezTo>
                <a:close/>
              </a:path>
            </a:pathLst>
          </a:custGeom>
          <a:solidFill>
            <a:srgbClr val="000000">
              <a:alpha val="0"/>
            </a:srgbClr>
          </a:solidFill>
          <a:ln cap="flat" cmpd="sng" w="2030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Batch 2: Req E-G</a:t>
            </a:r>
            <a:endParaRPr/>
          </a:p>
        </p:txBody>
      </p:sp>
      <p:sp>
        <p:nvSpPr>
          <p:cNvPr id="1257" name="Google Shape;1257;p112"/>
          <p:cNvSpPr txBox="1"/>
          <p:nvPr/>
        </p:nvSpPr>
        <p:spPr>
          <a:xfrm>
            <a:off x="524431" y="5162952"/>
            <a:ext cx="10103463" cy="87207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600"/>
              <a:buFont typeface="Arial"/>
              <a:buNone/>
            </a:pPr>
            <a:r>
              <a:rPr b="1" i="1" lang="en-US" sz="2600">
                <a:solidFill>
                  <a:srgbClr val="0B5F9F"/>
                </a:solidFill>
                <a:latin typeface="Calibri"/>
                <a:ea typeface="Calibri"/>
                <a:cs typeface="Calibri"/>
                <a:sym typeface="Calibri"/>
              </a:rPr>
              <a:t>Sequential Processing:</a:t>
            </a:r>
            <a:endParaRPr/>
          </a:p>
          <a:p>
            <a:pPr indent="0" lvl="0" marL="0" marR="0" rtl="0" algn="l">
              <a:lnSpc>
                <a:spcPct val="130000"/>
              </a:lnSpc>
              <a:spcBef>
                <a:spcPts val="0"/>
              </a:spcBef>
              <a:spcAft>
                <a:spcPts val="0"/>
              </a:spcAft>
              <a:buClr>
                <a:schemeClr val="dk1"/>
              </a:buClr>
              <a:buSzPts val="2400"/>
              <a:buFont typeface="Arial"/>
              <a:buNone/>
            </a:pPr>
            <a:r>
              <a:rPr b="0" lang="en-US" sz="2400">
                <a:solidFill>
                  <a:schemeClr val="dk1"/>
                </a:solidFill>
                <a:latin typeface="Times New Roman"/>
                <a:ea typeface="Times New Roman"/>
                <a:cs typeface="Times New Roman"/>
                <a:sym typeface="Times New Roman"/>
              </a:rPr>
              <a:t>Batches sent sequentially to memory system with tracking.</a:t>
            </a:r>
            <a:endParaRPr/>
          </a:p>
        </p:txBody>
      </p:sp>
      <p:sp>
        <p:nvSpPr>
          <p:cNvPr id="1258" name="Google Shape;1258;p112"/>
          <p:cNvSpPr/>
          <p:nvPr/>
        </p:nvSpPr>
        <p:spPr>
          <a:xfrm>
            <a:off x="606173" y="6129090"/>
            <a:ext cx="4601021" cy="456804"/>
          </a:xfrm>
          <a:custGeom>
            <a:rect b="b" l="l" r="r" t="t"/>
            <a:pathLst>
              <a:path extrusionOk="0" h="2705596" w="3518396">
                <a:moveTo>
                  <a:pt x="74729" y="0"/>
                </a:moveTo>
                <a:lnTo>
                  <a:pt x="3443668" y="0"/>
                </a:lnTo>
                <a:cubicBezTo>
                  <a:pt x="3484939" y="0"/>
                  <a:pt x="3518396" y="33457"/>
                  <a:pt x="3518396" y="74729"/>
                </a:cubicBezTo>
                <a:lnTo>
                  <a:pt x="3518396" y="2630868"/>
                </a:lnTo>
                <a:cubicBezTo>
                  <a:pt x="3518396" y="2672139"/>
                  <a:pt x="3484939" y="2705596"/>
                  <a:pt x="3443668" y="2705596"/>
                </a:cubicBezTo>
                <a:lnTo>
                  <a:pt x="74729" y="2705596"/>
                </a:lnTo>
                <a:cubicBezTo>
                  <a:pt x="33457" y="2705596"/>
                  <a:pt x="0" y="2672139"/>
                  <a:pt x="0" y="2630868"/>
                </a:cubicBezTo>
                <a:lnTo>
                  <a:pt x="0" y="74729"/>
                </a:lnTo>
                <a:cubicBezTo>
                  <a:pt x="0" y="33457"/>
                  <a:pt x="33457" y="0"/>
                  <a:pt x="74729" y="0"/>
                </a:cubicBezTo>
                <a:close/>
              </a:path>
            </a:pathLst>
          </a:custGeom>
          <a:solidFill>
            <a:srgbClr val="000000">
              <a:alpha val="0"/>
            </a:srgbClr>
          </a:solidFill>
          <a:ln cap="flat" cmpd="sng" w="2030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Send Batch 1</a:t>
            </a:r>
            <a:endParaRPr/>
          </a:p>
        </p:txBody>
      </p:sp>
      <p:sp>
        <p:nvSpPr>
          <p:cNvPr id="1259" name="Google Shape;1259;p112"/>
          <p:cNvSpPr/>
          <p:nvPr/>
        </p:nvSpPr>
        <p:spPr>
          <a:xfrm>
            <a:off x="5986770" y="6168596"/>
            <a:ext cx="4344346" cy="456804"/>
          </a:xfrm>
          <a:custGeom>
            <a:rect b="b" l="l" r="r" t="t"/>
            <a:pathLst>
              <a:path extrusionOk="0" h="2705596" w="3518396">
                <a:moveTo>
                  <a:pt x="74729" y="0"/>
                </a:moveTo>
                <a:lnTo>
                  <a:pt x="3443668" y="0"/>
                </a:lnTo>
                <a:cubicBezTo>
                  <a:pt x="3484939" y="0"/>
                  <a:pt x="3518396" y="33457"/>
                  <a:pt x="3518396" y="74729"/>
                </a:cubicBezTo>
                <a:lnTo>
                  <a:pt x="3518396" y="2630868"/>
                </a:lnTo>
                <a:cubicBezTo>
                  <a:pt x="3518396" y="2672139"/>
                  <a:pt x="3484939" y="2705596"/>
                  <a:pt x="3443668" y="2705596"/>
                </a:cubicBezTo>
                <a:lnTo>
                  <a:pt x="74729" y="2705596"/>
                </a:lnTo>
                <a:cubicBezTo>
                  <a:pt x="33457" y="2705596"/>
                  <a:pt x="0" y="2672139"/>
                  <a:pt x="0" y="2630868"/>
                </a:cubicBezTo>
                <a:lnTo>
                  <a:pt x="0" y="74729"/>
                </a:lnTo>
                <a:cubicBezTo>
                  <a:pt x="0" y="33457"/>
                  <a:pt x="33457" y="0"/>
                  <a:pt x="74729" y="0"/>
                </a:cubicBezTo>
                <a:close/>
              </a:path>
            </a:pathLst>
          </a:custGeom>
          <a:solidFill>
            <a:srgbClr val="000000">
              <a:alpha val="0"/>
            </a:srgbClr>
          </a:solidFill>
          <a:ln cap="flat" cmpd="sng" w="2030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Send Batch 2</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113"/>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i="0" lang="en-US" sz="3600">
                <a:latin typeface="Times New Roman"/>
                <a:ea typeface="Times New Roman"/>
                <a:cs typeface="Times New Roman"/>
                <a:sym typeface="Times New Roman"/>
              </a:rPr>
              <a:t>Memory Scheduling System</a:t>
            </a:r>
            <a:endParaRPr/>
          </a:p>
        </p:txBody>
      </p:sp>
      <p:sp>
        <p:nvSpPr>
          <p:cNvPr id="1265" name="Google Shape;1265;p113"/>
          <p:cNvSpPr txBox="1"/>
          <p:nvPr>
            <p:ph idx="1" type="body"/>
          </p:nvPr>
        </p:nvSpPr>
        <p:spPr>
          <a:xfrm>
            <a:off x="644747" y="1487620"/>
            <a:ext cx="11547253" cy="123109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600"/>
              <a:buNone/>
            </a:pPr>
            <a:r>
              <a:rPr i="1" lang="en-US" sz="2600">
                <a:latin typeface="Calibri"/>
                <a:ea typeface="Calibri"/>
                <a:cs typeface="Calibri"/>
                <a:sym typeface="Calibri"/>
              </a:rPr>
              <a:t>Post-Coalescing Optimization:</a:t>
            </a:r>
            <a:endParaRPr/>
          </a:p>
          <a:p>
            <a:pPr indent="0" lvl="0" marL="0" rtl="0" algn="l">
              <a:spcBef>
                <a:spcPts val="0"/>
              </a:spcBef>
              <a:spcAft>
                <a:spcPts val="0"/>
              </a:spcAft>
              <a:buSzPts val="2400"/>
              <a:buNone/>
            </a:pPr>
            <a:r>
              <a:rPr b="0" lang="en-US" sz="2400">
                <a:solidFill>
                  <a:srgbClr val="000000"/>
                </a:solidFill>
                <a:latin typeface="Times New Roman"/>
                <a:ea typeface="Times New Roman"/>
                <a:cs typeface="Times New Roman"/>
                <a:sym typeface="Times New Roman"/>
              </a:rPr>
              <a:t>After coalescing, multiple memory transactions still arrive in parallel and must be organized to avoid stalls and congestion.</a:t>
            </a:r>
            <a:endParaRPr b="0" sz="2400">
              <a:solidFill>
                <a:srgbClr val="000000"/>
              </a:solidFill>
              <a:latin typeface="Times New Roman"/>
              <a:ea typeface="Times New Roman"/>
              <a:cs typeface="Times New Roman"/>
              <a:sym typeface="Times New Roman"/>
            </a:endParaRPr>
          </a:p>
        </p:txBody>
      </p:sp>
      <p:sp>
        <p:nvSpPr>
          <p:cNvPr id="1266" name="Google Shape;1266;p113"/>
          <p:cNvSpPr/>
          <p:nvPr/>
        </p:nvSpPr>
        <p:spPr>
          <a:xfrm>
            <a:off x="644747" y="3290496"/>
            <a:ext cx="11434958" cy="912955"/>
          </a:xfrm>
          <a:prstGeom prst="rect">
            <a:avLst/>
          </a:prstGeom>
          <a:noFill/>
          <a:ln>
            <a:noFill/>
          </a:ln>
        </p:spPr>
        <p:txBody>
          <a:bodyPr anchorCtr="0" anchor="ctr" bIns="71975" lIns="71975" spcFirstLastPara="1" rIns="71975" wrap="square" tIns="71975">
            <a:noAutofit/>
          </a:bodyPr>
          <a:lstStyle/>
          <a:p>
            <a:pPr indent="0" lvl="0" marL="0" marR="0" rtl="0" algn="l">
              <a:lnSpc>
                <a:spcPct val="130000"/>
              </a:lnSpc>
              <a:spcBef>
                <a:spcPts val="0"/>
              </a:spcBef>
              <a:spcAft>
                <a:spcPts val="0"/>
              </a:spcAft>
              <a:buClr>
                <a:srgbClr val="0B5F9F"/>
              </a:buClr>
              <a:buSzPts val="2600"/>
              <a:buFont typeface="Calibri"/>
              <a:buNone/>
            </a:pPr>
            <a:r>
              <a:rPr b="1" i="1" lang="en-US" sz="2600">
                <a:solidFill>
                  <a:srgbClr val="0B5F9F"/>
                </a:solidFill>
                <a:latin typeface="Calibri"/>
                <a:ea typeface="Calibri"/>
                <a:cs typeface="Calibri"/>
                <a:sym typeface="Calibri"/>
              </a:rPr>
              <a:t>What is the need for the Scheduling ? </a:t>
            </a:r>
            <a:endParaRPr/>
          </a:p>
          <a:p>
            <a:pPr indent="0" lvl="0" marL="0" marR="0" rtl="0" algn="l">
              <a:spcBef>
                <a:spcPts val="0"/>
              </a:spcBef>
              <a:spcAft>
                <a:spcPts val="0"/>
              </a:spcAft>
              <a:buNone/>
            </a:pPr>
            <a:r>
              <a:rPr lang="en-US" sz="2400">
                <a:solidFill>
                  <a:srgbClr val="000000"/>
                </a:solidFill>
                <a:latin typeface="Times New Roman"/>
                <a:ea typeface="Times New Roman"/>
                <a:cs typeface="Times New Roman"/>
                <a:sym typeface="Times New Roman"/>
              </a:rPr>
              <a:t>Scheduling is needed to manage competing requests for limited memory ports, preventing queue buildup and backpressure, and avoiding stalls and poor throughput.</a:t>
            </a:r>
            <a:endParaRPr/>
          </a:p>
          <a:p>
            <a:pPr indent="0" lvl="0" marL="0" marR="0" rtl="0" algn="l">
              <a:lnSpc>
                <a:spcPct val="130000"/>
              </a:lnSpc>
              <a:spcBef>
                <a:spcPts val="0"/>
              </a:spcBef>
              <a:spcAft>
                <a:spcPts val="0"/>
              </a:spcAft>
              <a:buClr>
                <a:srgbClr val="000000"/>
              </a:buClr>
              <a:buSzPts val="2400"/>
              <a:buFont typeface="Times New Roman"/>
              <a:buNone/>
            </a:pPr>
            <a:r>
              <a:rPr lang="en-US" sz="2400">
                <a:solidFill>
                  <a:srgbClr val="000000"/>
                </a:solidFill>
                <a:latin typeface="Times New Roman"/>
                <a:ea typeface="Times New Roman"/>
                <a:cs typeface="Times New Roman"/>
                <a:sym typeface="Times New Roman"/>
              </a:rPr>
              <a:t> </a:t>
            </a:r>
            <a:endParaRPr/>
          </a:p>
        </p:txBody>
      </p:sp>
      <p:sp>
        <p:nvSpPr>
          <p:cNvPr id="1267" name="Google Shape;1267;p113"/>
          <p:cNvSpPr/>
          <p:nvPr/>
        </p:nvSpPr>
        <p:spPr>
          <a:xfrm>
            <a:off x="5003801" y="4507830"/>
            <a:ext cx="2002200" cy="1219201"/>
          </a:xfrm>
          <a:custGeom>
            <a:rect b="b" l="l" r="r" t="t"/>
            <a:pathLst>
              <a:path extrusionOk="0" h="2705596" w="3518396">
                <a:moveTo>
                  <a:pt x="74729" y="0"/>
                </a:moveTo>
                <a:lnTo>
                  <a:pt x="3443668" y="0"/>
                </a:lnTo>
                <a:cubicBezTo>
                  <a:pt x="3484939" y="0"/>
                  <a:pt x="3518396" y="33457"/>
                  <a:pt x="3518396" y="74729"/>
                </a:cubicBezTo>
                <a:lnTo>
                  <a:pt x="3518396" y="2630868"/>
                </a:lnTo>
                <a:cubicBezTo>
                  <a:pt x="3518396" y="2672139"/>
                  <a:pt x="3484939" y="2705596"/>
                  <a:pt x="3443668" y="2705596"/>
                </a:cubicBezTo>
                <a:lnTo>
                  <a:pt x="74729" y="2705596"/>
                </a:lnTo>
                <a:cubicBezTo>
                  <a:pt x="33457" y="2705596"/>
                  <a:pt x="0" y="2672139"/>
                  <a:pt x="0" y="2630868"/>
                </a:cubicBezTo>
                <a:lnTo>
                  <a:pt x="0" y="74729"/>
                </a:lnTo>
                <a:cubicBezTo>
                  <a:pt x="0" y="33457"/>
                  <a:pt x="33457" y="0"/>
                  <a:pt x="74729" y="0"/>
                </a:cubicBezTo>
                <a:close/>
              </a:path>
            </a:pathLst>
          </a:custGeom>
          <a:solidFill>
            <a:srgbClr val="1B64A8"/>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Scheduler</a:t>
            </a:r>
            <a:endParaRPr/>
          </a:p>
        </p:txBody>
      </p:sp>
      <p:sp>
        <p:nvSpPr>
          <p:cNvPr id="1268" name="Google Shape;1268;p113"/>
          <p:cNvSpPr/>
          <p:nvPr/>
        </p:nvSpPr>
        <p:spPr>
          <a:xfrm>
            <a:off x="739529" y="4507829"/>
            <a:ext cx="2002200" cy="1219201"/>
          </a:xfrm>
          <a:custGeom>
            <a:rect b="b" l="l" r="r" t="t"/>
            <a:pathLst>
              <a:path extrusionOk="0" h="2705596" w="3518396">
                <a:moveTo>
                  <a:pt x="74729" y="0"/>
                </a:moveTo>
                <a:lnTo>
                  <a:pt x="3443668" y="0"/>
                </a:lnTo>
                <a:cubicBezTo>
                  <a:pt x="3484939" y="0"/>
                  <a:pt x="3518396" y="33457"/>
                  <a:pt x="3518396" y="74729"/>
                </a:cubicBezTo>
                <a:lnTo>
                  <a:pt x="3518396" y="2630868"/>
                </a:lnTo>
                <a:cubicBezTo>
                  <a:pt x="3518396" y="2672139"/>
                  <a:pt x="3484939" y="2705596"/>
                  <a:pt x="3443668" y="2705596"/>
                </a:cubicBezTo>
                <a:lnTo>
                  <a:pt x="74729" y="2705596"/>
                </a:lnTo>
                <a:cubicBezTo>
                  <a:pt x="33457" y="2705596"/>
                  <a:pt x="0" y="2672139"/>
                  <a:pt x="0" y="2630868"/>
                </a:cubicBezTo>
                <a:lnTo>
                  <a:pt x="0" y="74729"/>
                </a:lnTo>
                <a:cubicBezTo>
                  <a:pt x="0" y="33457"/>
                  <a:pt x="33457" y="0"/>
                  <a:pt x="74729" y="0"/>
                </a:cubicBezTo>
                <a:close/>
              </a:path>
            </a:pathLst>
          </a:custGeom>
          <a:solidFill>
            <a:srgbClr val="1B64A8"/>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Coalescer</a:t>
            </a:r>
            <a:endParaRPr/>
          </a:p>
        </p:txBody>
      </p:sp>
      <p:sp>
        <p:nvSpPr>
          <p:cNvPr id="1269" name="Google Shape;1269;p113"/>
          <p:cNvSpPr/>
          <p:nvPr/>
        </p:nvSpPr>
        <p:spPr>
          <a:xfrm>
            <a:off x="9097846" y="4507828"/>
            <a:ext cx="2002200" cy="1219201"/>
          </a:xfrm>
          <a:custGeom>
            <a:rect b="b" l="l" r="r" t="t"/>
            <a:pathLst>
              <a:path extrusionOk="0" h="2705596" w="3518396">
                <a:moveTo>
                  <a:pt x="74729" y="0"/>
                </a:moveTo>
                <a:lnTo>
                  <a:pt x="3443668" y="0"/>
                </a:lnTo>
                <a:cubicBezTo>
                  <a:pt x="3484939" y="0"/>
                  <a:pt x="3518396" y="33457"/>
                  <a:pt x="3518396" y="74729"/>
                </a:cubicBezTo>
                <a:lnTo>
                  <a:pt x="3518396" y="2630868"/>
                </a:lnTo>
                <a:cubicBezTo>
                  <a:pt x="3518396" y="2672139"/>
                  <a:pt x="3484939" y="2705596"/>
                  <a:pt x="3443668" y="2705596"/>
                </a:cubicBezTo>
                <a:lnTo>
                  <a:pt x="74729" y="2705596"/>
                </a:lnTo>
                <a:cubicBezTo>
                  <a:pt x="33457" y="2705596"/>
                  <a:pt x="0" y="2672139"/>
                  <a:pt x="0" y="2630868"/>
                </a:cubicBezTo>
                <a:lnTo>
                  <a:pt x="0" y="74729"/>
                </a:lnTo>
                <a:cubicBezTo>
                  <a:pt x="0" y="33457"/>
                  <a:pt x="33457" y="0"/>
                  <a:pt x="74729" y="0"/>
                </a:cubicBezTo>
                <a:close/>
              </a:path>
            </a:pathLst>
          </a:custGeom>
          <a:solidFill>
            <a:srgbClr val="1B64A8"/>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Memory</a:t>
            </a:r>
            <a:endParaRPr/>
          </a:p>
        </p:txBody>
      </p:sp>
      <p:cxnSp>
        <p:nvCxnSpPr>
          <p:cNvPr id="1270" name="Google Shape;1270;p113"/>
          <p:cNvCxnSpPr/>
          <p:nvPr/>
        </p:nvCxnSpPr>
        <p:spPr>
          <a:xfrm>
            <a:off x="3095625" y="5117428"/>
            <a:ext cx="1638300" cy="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901"/>
              </a:srgbClr>
            </a:outerShdw>
          </a:effectLst>
        </p:spPr>
      </p:cxnSp>
      <p:cxnSp>
        <p:nvCxnSpPr>
          <p:cNvPr id="1271" name="Google Shape;1271;p113"/>
          <p:cNvCxnSpPr/>
          <p:nvPr/>
        </p:nvCxnSpPr>
        <p:spPr>
          <a:xfrm>
            <a:off x="7239000" y="5117428"/>
            <a:ext cx="1638300" cy="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901"/>
              </a:srgbClr>
            </a:outerShdw>
          </a:effectLst>
        </p:spPr>
      </p:cxn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114"/>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i="0" lang="en-US" sz="3600">
                <a:latin typeface="Times New Roman"/>
                <a:ea typeface="Times New Roman"/>
                <a:cs typeface="Times New Roman"/>
                <a:sym typeface="Times New Roman"/>
              </a:rPr>
              <a:t>The Need for Scheduling</a:t>
            </a:r>
            <a:endParaRPr/>
          </a:p>
        </p:txBody>
      </p:sp>
      <p:sp>
        <p:nvSpPr>
          <p:cNvPr id="1277" name="Google Shape;1277;p114"/>
          <p:cNvSpPr txBox="1"/>
          <p:nvPr>
            <p:ph idx="1" type="body"/>
          </p:nvPr>
        </p:nvSpPr>
        <p:spPr>
          <a:xfrm>
            <a:off x="644747" y="1487621"/>
            <a:ext cx="11547253" cy="912956"/>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B5F9F"/>
              </a:buClr>
              <a:buSzPts val="2600"/>
              <a:buFont typeface="Calibri"/>
              <a:buNone/>
            </a:pPr>
            <a:r>
              <a:rPr i="1" lang="en-US" sz="2600">
                <a:latin typeface="Calibri"/>
                <a:ea typeface="Calibri"/>
                <a:cs typeface="Calibri"/>
                <a:sym typeface="Calibri"/>
              </a:rPr>
              <a:t>Why is it a problem ?</a:t>
            </a:r>
            <a:endParaRPr/>
          </a:p>
          <a:p>
            <a:pPr indent="0" lvl="0" marL="0" marR="0" rtl="0" algn="l">
              <a:lnSpc>
                <a:spcPct val="110000"/>
              </a:lnSpc>
              <a:spcBef>
                <a:spcPts val="0"/>
              </a:spcBef>
              <a:spcAft>
                <a:spcPts val="0"/>
              </a:spcAft>
              <a:buClr>
                <a:schemeClr val="dk1"/>
              </a:buClr>
              <a:buSzPts val="2400"/>
              <a:buFont typeface="Times New Roman"/>
              <a:buNone/>
            </a:pPr>
            <a:r>
              <a:rPr b="0" lang="en-US" sz="2400">
                <a:solidFill>
                  <a:schemeClr val="dk1"/>
                </a:solidFill>
                <a:latin typeface="Times New Roman"/>
                <a:ea typeface="Times New Roman"/>
                <a:cs typeface="Times New Roman"/>
                <a:sym typeface="Times New Roman"/>
              </a:rPr>
              <a:t>Consider the case where the requests arrive as a burst:</a:t>
            </a:r>
            <a:endParaRPr/>
          </a:p>
        </p:txBody>
      </p:sp>
      <p:sp>
        <p:nvSpPr>
          <p:cNvPr id="1278" name="Google Shape;1278;p114"/>
          <p:cNvSpPr/>
          <p:nvPr/>
        </p:nvSpPr>
        <p:spPr>
          <a:xfrm>
            <a:off x="1892635" y="2579235"/>
            <a:ext cx="3093064" cy="1880376"/>
          </a:xfrm>
          <a:prstGeom prst="rect">
            <a:avLst/>
          </a:prstGeom>
          <a:noFill/>
          <a:ln>
            <a:noFill/>
          </a:ln>
        </p:spPr>
        <p:txBody>
          <a:bodyPr anchorCtr="0" anchor="ctr" bIns="71975" lIns="71975" spcFirstLastPara="1" rIns="71975" wrap="square" tIns="71975">
            <a:noAutofit/>
          </a:bodyPr>
          <a:lstStyle/>
          <a:p>
            <a:pPr indent="0" lvl="0" marL="0" marR="0" rtl="0" algn="l">
              <a:lnSpc>
                <a:spcPct val="130000"/>
              </a:lnSpc>
              <a:spcBef>
                <a:spcPts val="0"/>
              </a:spcBef>
              <a:spcAft>
                <a:spcPts val="0"/>
              </a:spcAft>
              <a:buNone/>
            </a:pPr>
            <a:r>
              <a:rPr lang="en-US" sz="2400">
                <a:solidFill>
                  <a:schemeClr val="dk1"/>
                </a:solidFill>
                <a:latin typeface="Times New Roman"/>
                <a:ea typeface="Times New Roman"/>
                <a:cs typeface="Times New Roman"/>
                <a:sym typeface="Times New Roman"/>
              </a:rPr>
              <a:t>Req A 🡪 Line 0x1000</a:t>
            </a:r>
            <a:br>
              <a:rPr lang="en-US" sz="2400">
                <a:solidFill>
                  <a:schemeClr val="dk1"/>
                </a:solidFill>
                <a:latin typeface="Times New Roman"/>
                <a:ea typeface="Times New Roman"/>
                <a:cs typeface="Times New Roman"/>
                <a:sym typeface="Times New Roman"/>
              </a:rPr>
            </a:br>
            <a:r>
              <a:rPr lang="en-US" sz="2400">
                <a:solidFill>
                  <a:schemeClr val="dk1"/>
                </a:solidFill>
                <a:latin typeface="Times New Roman"/>
                <a:ea typeface="Times New Roman"/>
                <a:cs typeface="Times New Roman"/>
                <a:sym typeface="Times New Roman"/>
              </a:rPr>
              <a:t>Req B 🡪 Line 0x2000</a:t>
            </a:r>
            <a:br>
              <a:rPr lang="en-US" sz="2400">
                <a:solidFill>
                  <a:schemeClr val="dk1"/>
                </a:solidFill>
                <a:latin typeface="Times New Roman"/>
                <a:ea typeface="Times New Roman"/>
                <a:cs typeface="Times New Roman"/>
                <a:sym typeface="Times New Roman"/>
              </a:rPr>
            </a:br>
            <a:r>
              <a:rPr lang="en-US" sz="2400">
                <a:solidFill>
                  <a:schemeClr val="dk1"/>
                </a:solidFill>
                <a:latin typeface="Times New Roman"/>
                <a:ea typeface="Times New Roman"/>
                <a:cs typeface="Times New Roman"/>
                <a:sym typeface="Times New Roman"/>
              </a:rPr>
              <a:t>Req C 🡪 Line 0x3000</a:t>
            </a:r>
            <a:br>
              <a:rPr lang="en-US" sz="2400">
                <a:solidFill>
                  <a:schemeClr val="dk1"/>
                </a:solidFill>
                <a:latin typeface="Times New Roman"/>
                <a:ea typeface="Times New Roman"/>
                <a:cs typeface="Times New Roman"/>
                <a:sym typeface="Times New Roman"/>
              </a:rPr>
            </a:br>
            <a:r>
              <a:rPr lang="en-US" sz="2400">
                <a:solidFill>
                  <a:schemeClr val="dk1"/>
                </a:solidFill>
                <a:latin typeface="Times New Roman"/>
                <a:ea typeface="Times New Roman"/>
                <a:cs typeface="Times New Roman"/>
                <a:sym typeface="Times New Roman"/>
              </a:rPr>
              <a:t>Req D 🡪 Line 0x1000</a:t>
            </a:r>
            <a:endParaRPr sz="2400">
              <a:solidFill>
                <a:schemeClr val="dk1"/>
              </a:solidFill>
              <a:latin typeface="Times New Roman"/>
              <a:ea typeface="Times New Roman"/>
              <a:cs typeface="Times New Roman"/>
              <a:sym typeface="Times New Roman"/>
            </a:endParaRPr>
          </a:p>
        </p:txBody>
      </p:sp>
      <p:sp>
        <p:nvSpPr>
          <p:cNvPr id="1279" name="Google Shape;1279;p114"/>
          <p:cNvSpPr txBox="1"/>
          <p:nvPr/>
        </p:nvSpPr>
        <p:spPr>
          <a:xfrm>
            <a:off x="644746" y="4666809"/>
            <a:ext cx="10953696" cy="1284812"/>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B5F9F"/>
              </a:buClr>
              <a:buSzPts val="2600"/>
              <a:buFont typeface="Arial"/>
              <a:buNone/>
            </a:pPr>
            <a:r>
              <a:rPr b="1" i="1" lang="en-US" sz="2600">
                <a:solidFill>
                  <a:srgbClr val="0B5F9F"/>
                </a:solidFill>
                <a:latin typeface="Calibri"/>
                <a:ea typeface="Calibri"/>
                <a:cs typeface="Calibri"/>
                <a:sym typeface="Calibri"/>
              </a:rPr>
              <a:t>Without scheduling :</a:t>
            </a:r>
            <a:endParaRPr/>
          </a:p>
          <a:p>
            <a:pPr indent="0" lvl="0" marL="0" marR="0" rtl="0" algn="l">
              <a:lnSpc>
                <a:spcPct val="110000"/>
              </a:lnSpc>
              <a:spcBef>
                <a:spcPts val="0"/>
              </a:spcBef>
              <a:spcAft>
                <a:spcPts val="0"/>
              </a:spcAft>
              <a:buClr>
                <a:schemeClr val="dk1"/>
              </a:buClr>
              <a:buSzPts val="2400"/>
              <a:buFont typeface="Arial"/>
              <a:buNone/>
            </a:pPr>
            <a:r>
              <a:rPr b="0" lang="en-US" sz="2400">
                <a:solidFill>
                  <a:schemeClr val="dk1"/>
                </a:solidFill>
                <a:latin typeface="Times New Roman"/>
                <a:ea typeface="Times New Roman"/>
                <a:cs typeface="Times New Roman"/>
                <a:sym typeface="Times New Roman"/>
              </a:rPr>
              <a:t>Requests may serialize this will cause pipeline stalls as requests will wait even when resources exist.</a:t>
            </a:r>
            <a:endParaRPr/>
          </a:p>
        </p:txBody>
      </p:sp>
      <p:pic>
        <p:nvPicPr>
          <p:cNvPr descr="A diagram of a bottle&#10;&#10;Description automatically generated" id="1280" name="Google Shape;1280;p114"/>
          <p:cNvPicPr preferRelativeResize="0"/>
          <p:nvPr/>
        </p:nvPicPr>
        <p:blipFill rotWithShape="1">
          <a:blip r:embed="rId3">
            <a:alphaModFix/>
          </a:blip>
          <a:srcRect b="26315" l="8488" r="7051" t="48187"/>
          <a:stretch/>
        </p:blipFill>
        <p:spPr>
          <a:xfrm>
            <a:off x="6605951" y="3145493"/>
            <a:ext cx="3240505" cy="859404"/>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115"/>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i="0" lang="en-US" sz="3600">
                <a:latin typeface="Times New Roman"/>
                <a:ea typeface="Times New Roman"/>
                <a:cs typeface="Times New Roman"/>
                <a:sym typeface="Times New Roman"/>
              </a:rPr>
              <a:t>Scheduling Solution</a:t>
            </a:r>
            <a:endParaRPr/>
          </a:p>
        </p:txBody>
      </p:sp>
      <p:sp>
        <p:nvSpPr>
          <p:cNvPr id="1286" name="Google Shape;1286;p115"/>
          <p:cNvSpPr txBox="1"/>
          <p:nvPr>
            <p:ph idx="1" type="body"/>
          </p:nvPr>
        </p:nvSpPr>
        <p:spPr>
          <a:xfrm>
            <a:off x="644747" y="1487621"/>
            <a:ext cx="11547253" cy="912956"/>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B5F9F"/>
              </a:buClr>
              <a:buSzPts val="2600"/>
              <a:buFont typeface="Calibri"/>
              <a:buNone/>
            </a:pPr>
            <a:r>
              <a:rPr i="1" lang="en-US" sz="2600">
                <a:latin typeface="Calibri"/>
                <a:ea typeface="Calibri"/>
                <a:cs typeface="Calibri"/>
                <a:sym typeface="Calibri"/>
              </a:rPr>
              <a:t>Scheduling Solves It!</a:t>
            </a:r>
            <a:br>
              <a:rPr lang="en-US" sz="2400"/>
            </a:br>
            <a:r>
              <a:rPr b="0" lang="en-US" sz="2400">
                <a:solidFill>
                  <a:schemeClr val="dk1"/>
                </a:solidFill>
                <a:latin typeface="Times New Roman"/>
                <a:ea typeface="Times New Roman"/>
                <a:cs typeface="Times New Roman"/>
                <a:sym typeface="Times New Roman"/>
              </a:rPr>
              <a:t>Scheduler queues requests and dispatches them based on resource availability.</a:t>
            </a:r>
            <a:endParaRPr/>
          </a:p>
        </p:txBody>
      </p:sp>
      <p:sp>
        <p:nvSpPr>
          <p:cNvPr id="1287" name="Google Shape;1287;p115"/>
          <p:cNvSpPr/>
          <p:nvPr/>
        </p:nvSpPr>
        <p:spPr>
          <a:xfrm>
            <a:off x="644746" y="2579235"/>
            <a:ext cx="5579591" cy="3195923"/>
          </a:xfrm>
          <a:prstGeom prst="rect">
            <a:avLst/>
          </a:prstGeom>
          <a:noFill/>
          <a:ln>
            <a:noFill/>
          </a:ln>
        </p:spPr>
        <p:txBody>
          <a:bodyPr anchorCtr="0" anchor="ctr" bIns="71975" lIns="71975" spcFirstLastPara="1" rIns="71975" wrap="square" tIns="71975">
            <a:noAutofit/>
          </a:bodyPr>
          <a:lstStyle/>
          <a:p>
            <a:pPr indent="0" lvl="0" marL="0" marR="0" rtl="0" algn="l">
              <a:spcBef>
                <a:spcPts val="0"/>
              </a:spcBef>
              <a:spcAft>
                <a:spcPts val="0"/>
              </a:spcAft>
              <a:buNone/>
            </a:pPr>
            <a:r>
              <a:rPr b="1" i="1" lang="en-US" sz="2600">
                <a:solidFill>
                  <a:srgbClr val="0B5F9F"/>
                </a:solidFill>
                <a:latin typeface="Calibri"/>
                <a:ea typeface="Calibri"/>
                <a:cs typeface="Calibri"/>
                <a:sym typeface="Calibri"/>
              </a:rPr>
              <a:t>Request Queueing:</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Buffers pending requests to avoid stalls.</a:t>
            </a:r>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i="1" lang="en-US" sz="2600">
                <a:solidFill>
                  <a:srgbClr val="0B5F9F"/>
                </a:solidFill>
                <a:latin typeface="Calibri"/>
                <a:ea typeface="Calibri"/>
                <a:cs typeface="Calibri"/>
                <a:sym typeface="Calibri"/>
              </a:rPr>
              <a:t>Issue Selection:</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Selects next ready transaction to issue.</a:t>
            </a:r>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i="1" lang="en-US" sz="2600">
                <a:solidFill>
                  <a:srgbClr val="0B5F9F"/>
                </a:solidFill>
                <a:latin typeface="Calibri"/>
                <a:ea typeface="Calibri"/>
                <a:cs typeface="Calibri"/>
                <a:sym typeface="Calibri"/>
              </a:rPr>
              <a:t>Channel Distribution:</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Balances requests across memory channels.</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116"/>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600"/>
              <a:buFont typeface="Times New Roman"/>
              <a:buNone/>
            </a:pPr>
            <a:r>
              <a:rPr i="0" lang="en-US" sz="3600">
                <a:latin typeface="Times New Roman"/>
                <a:ea typeface="Times New Roman"/>
                <a:cs typeface="Times New Roman"/>
                <a:sym typeface="Times New Roman"/>
              </a:rPr>
              <a:t>Operation</a:t>
            </a:r>
            <a:endParaRPr/>
          </a:p>
        </p:txBody>
      </p:sp>
      <p:sp>
        <p:nvSpPr>
          <p:cNvPr id="1293" name="Google Shape;1293;p116"/>
          <p:cNvSpPr txBox="1"/>
          <p:nvPr>
            <p:ph idx="1" type="body"/>
          </p:nvPr>
        </p:nvSpPr>
        <p:spPr>
          <a:xfrm>
            <a:off x="644747" y="1487621"/>
            <a:ext cx="11547253" cy="1319747"/>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B5F9F"/>
              </a:buClr>
              <a:buSzPts val="2600"/>
              <a:buFont typeface="Calibri"/>
              <a:buNone/>
            </a:pPr>
            <a:r>
              <a:rPr i="1" lang="en-US" sz="2600">
                <a:latin typeface="Calibri"/>
                <a:ea typeface="Calibri"/>
                <a:cs typeface="Calibri"/>
                <a:sym typeface="Calibri"/>
              </a:rPr>
              <a:t>Multi-Channel Distribution:</a:t>
            </a:r>
            <a:endParaRPr/>
          </a:p>
          <a:p>
            <a:pPr indent="0" lvl="0" marL="0" rtl="0" algn="l">
              <a:spcBef>
                <a:spcPts val="480"/>
              </a:spcBef>
              <a:spcAft>
                <a:spcPts val="0"/>
              </a:spcAft>
              <a:buSzPts val="2400"/>
              <a:buNone/>
            </a:pPr>
            <a:r>
              <a:rPr b="0" lang="en-US" sz="2400">
                <a:solidFill>
                  <a:srgbClr val="000000"/>
                </a:solidFill>
                <a:latin typeface="Times New Roman"/>
                <a:ea typeface="Times New Roman"/>
                <a:cs typeface="Times New Roman"/>
                <a:sym typeface="Times New Roman"/>
              </a:rPr>
              <a:t>Distributes requests across parallel channels and batches excess requests to maximize throughput.</a:t>
            </a:r>
            <a:endParaRPr/>
          </a:p>
        </p:txBody>
      </p:sp>
      <p:sp>
        <p:nvSpPr>
          <p:cNvPr id="1294" name="Google Shape;1294;p116"/>
          <p:cNvSpPr/>
          <p:nvPr/>
        </p:nvSpPr>
        <p:spPr>
          <a:xfrm>
            <a:off x="3320415" y="2914309"/>
            <a:ext cx="5551170" cy="3598545"/>
          </a:xfrm>
          <a:custGeom>
            <a:rect b="b" l="l" r="r" t="t"/>
            <a:pathLst>
              <a:path extrusionOk="0" h="3598545" w="5551170">
                <a:moveTo>
                  <a:pt x="76217" y="0"/>
                </a:moveTo>
                <a:lnTo>
                  <a:pt x="5474953" y="0"/>
                </a:lnTo>
                <a:cubicBezTo>
                  <a:pt x="5517046" y="0"/>
                  <a:pt x="5551170" y="34124"/>
                  <a:pt x="5551170" y="76217"/>
                </a:cubicBezTo>
                <a:lnTo>
                  <a:pt x="5551170" y="3522328"/>
                </a:lnTo>
                <a:cubicBezTo>
                  <a:pt x="5551170" y="3564421"/>
                  <a:pt x="5517046" y="3598545"/>
                  <a:pt x="5474953" y="3598545"/>
                </a:cubicBezTo>
                <a:lnTo>
                  <a:pt x="76217" y="3598545"/>
                </a:lnTo>
                <a:cubicBezTo>
                  <a:pt x="34124" y="3598545"/>
                  <a:pt x="0" y="3564421"/>
                  <a:pt x="0" y="3522328"/>
                </a:cubicBezTo>
                <a:lnTo>
                  <a:pt x="0" y="76217"/>
                </a:lnTo>
                <a:cubicBezTo>
                  <a:pt x="0" y="34152"/>
                  <a:pt x="34152" y="0"/>
                  <a:pt x="76217" y="0"/>
                </a:cubicBezTo>
                <a:close/>
              </a:path>
            </a:pathLst>
          </a:custGeom>
          <a:solidFill>
            <a:schemeClr val="lt1"/>
          </a:solidFill>
          <a:ln cap="flat" cmpd="sng" w="254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295" name="Google Shape;1295;p116"/>
          <p:cNvSpPr/>
          <p:nvPr/>
        </p:nvSpPr>
        <p:spPr>
          <a:xfrm>
            <a:off x="3471863" y="3090760"/>
            <a:ext cx="5248275" cy="2667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0B5F9F"/>
              </a:buClr>
              <a:buSzPts val="1600"/>
              <a:buFont typeface="Calibri"/>
              <a:buNone/>
            </a:pPr>
            <a:r>
              <a:rPr b="1" i="1" lang="en-US" sz="1600">
                <a:solidFill>
                  <a:srgbClr val="0B5F9F"/>
                </a:solidFill>
                <a:latin typeface="Calibri"/>
                <a:ea typeface="Calibri"/>
                <a:cs typeface="Calibri"/>
                <a:sym typeface="Calibri"/>
              </a:rPr>
              <a:t>4-Channel Memory System</a:t>
            </a:r>
            <a:endParaRPr/>
          </a:p>
        </p:txBody>
      </p:sp>
      <p:sp>
        <p:nvSpPr>
          <p:cNvPr id="1296" name="Google Shape;1296;p116"/>
          <p:cNvSpPr/>
          <p:nvPr/>
        </p:nvSpPr>
        <p:spPr>
          <a:xfrm>
            <a:off x="3522346" y="3517480"/>
            <a:ext cx="5149215" cy="1072515"/>
          </a:xfrm>
          <a:custGeom>
            <a:rect b="b" l="l" r="r" t="t"/>
            <a:pathLst>
              <a:path extrusionOk="0" h="1072515" w="5149215">
                <a:moveTo>
                  <a:pt x="38096" y="0"/>
                </a:moveTo>
                <a:lnTo>
                  <a:pt x="5111119" y="0"/>
                </a:lnTo>
                <a:cubicBezTo>
                  <a:pt x="5132159" y="0"/>
                  <a:pt x="5149215" y="17056"/>
                  <a:pt x="5149215" y="38096"/>
                </a:cubicBezTo>
                <a:lnTo>
                  <a:pt x="5149215" y="1034419"/>
                </a:lnTo>
                <a:cubicBezTo>
                  <a:pt x="5149215" y="1055459"/>
                  <a:pt x="5132159" y="1072515"/>
                  <a:pt x="5111119" y="1072515"/>
                </a:cubicBezTo>
                <a:lnTo>
                  <a:pt x="38096" y="1072515"/>
                </a:lnTo>
                <a:cubicBezTo>
                  <a:pt x="17056" y="1072515"/>
                  <a:pt x="0" y="1055459"/>
                  <a:pt x="0" y="1034419"/>
                </a:cubicBezTo>
                <a:lnTo>
                  <a:pt x="0" y="38096"/>
                </a:lnTo>
                <a:cubicBezTo>
                  <a:pt x="0" y="17070"/>
                  <a:pt x="17070" y="0"/>
                  <a:pt x="38096" y="0"/>
                </a:cubicBezTo>
                <a:close/>
              </a:path>
            </a:pathLst>
          </a:custGeom>
          <a:solidFill>
            <a:srgbClr val="0B5F9F">
              <a:alpha val="0"/>
            </a:srgbClr>
          </a:solidFill>
          <a:ln cap="flat" cmpd="sng" w="2030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297" name="Google Shape;1297;p116"/>
          <p:cNvSpPr/>
          <p:nvPr/>
        </p:nvSpPr>
        <p:spPr>
          <a:xfrm>
            <a:off x="3644266" y="3639396"/>
            <a:ext cx="1838959" cy="20955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1" lang="en-US" sz="1600">
                <a:solidFill>
                  <a:srgbClr val="0B5F9F"/>
                </a:solidFill>
                <a:latin typeface="Calibri"/>
                <a:ea typeface="Calibri"/>
                <a:cs typeface="Calibri"/>
                <a:sym typeface="Calibri"/>
              </a:rPr>
              <a:t>Coalesced Requests</a:t>
            </a:r>
            <a:endParaRPr/>
          </a:p>
        </p:txBody>
      </p:sp>
      <p:sp>
        <p:nvSpPr>
          <p:cNvPr id="1298" name="Google Shape;1298;p116"/>
          <p:cNvSpPr/>
          <p:nvPr/>
        </p:nvSpPr>
        <p:spPr>
          <a:xfrm>
            <a:off x="7950400" y="3658446"/>
            <a:ext cx="666750" cy="190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5F9F"/>
              </a:buClr>
              <a:buSzPts val="1050"/>
              <a:buFont typeface="Quattrocento Sans"/>
              <a:buNone/>
            </a:pPr>
            <a:r>
              <a:rPr b="0" i="0" lang="en-US" sz="1050" u="none" cap="none" strike="noStrike">
                <a:solidFill>
                  <a:srgbClr val="0B5F9F"/>
                </a:solidFill>
                <a:latin typeface="Quattrocento Sans"/>
                <a:ea typeface="Quattrocento Sans"/>
                <a:cs typeface="Quattrocento Sans"/>
                <a:sym typeface="Quattrocento Sans"/>
              </a:rPr>
              <a:t>8 requests</a:t>
            </a:r>
            <a:endParaRPr b="0" i="0" sz="1600" u="none" cap="none" strike="noStrike">
              <a:solidFill>
                <a:srgbClr val="0B5F9F"/>
              </a:solidFill>
              <a:latin typeface="Calibri"/>
              <a:ea typeface="Calibri"/>
              <a:cs typeface="Calibri"/>
              <a:sym typeface="Calibri"/>
            </a:endParaRPr>
          </a:p>
        </p:txBody>
      </p:sp>
      <p:sp>
        <p:nvSpPr>
          <p:cNvPr id="1299" name="Google Shape;1299;p116"/>
          <p:cNvSpPr/>
          <p:nvPr/>
        </p:nvSpPr>
        <p:spPr>
          <a:xfrm>
            <a:off x="3648076" y="3948006"/>
            <a:ext cx="1188720" cy="236220"/>
          </a:xfrm>
          <a:custGeom>
            <a:rect b="b" l="l" r="r" t="t"/>
            <a:pathLst>
              <a:path extrusionOk="0" h="236220" w="1188720">
                <a:moveTo>
                  <a:pt x="38100" y="0"/>
                </a:moveTo>
                <a:lnTo>
                  <a:pt x="1150620" y="0"/>
                </a:lnTo>
                <a:cubicBezTo>
                  <a:pt x="1171662" y="0"/>
                  <a:pt x="1188720" y="17058"/>
                  <a:pt x="1188720" y="38100"/>
                </a:cubicBezTo>
                <a:lnTo>
                  <a:pt x="1188720" y="198120"/>
                </a:lnTo>
                <a:cubicBezTo>
                  <a:pt x="1188720" y="219162"/>
                  <a:pt x="1171662" y="236220"/>
                  <a:pt x="1150620" y="236220"/>
                </a:cubicBezTo>
                <a:lnTo>
                  <a:pt x="38100" y="236220"/>
                </a:lnTo>
                <a:cubicBezTo>
                  <a:pt x="17072" y="236220"/>
                  <a:pt x="0" y="219148"/>
                  <a:pt x="0" y="198120"/>
                </a:cubicBezTo>
                <a:lnTo>
                  <a:pt x="0" y="38100"/>
                </a:lnTo>
                <a:cubicBezTo>
                  <a:pt x="0" y="17058"/>
                  <a:pt x="17058" y="0"/>
                  <a:pt x="38100" y="0"/>
                </a:cubicBezTo>
                <a:close/>
              </a:path>
            </a:pathLst>
          </a:custGeom>
          <a:solidFill>
            <a:srgbClr val="1B64A8">
              <a:alpha val="0"/>
            </a:srgbClr>
          </a:solidFill>
          <a:ln cap="flat" cmpd="sng" w="1015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B5F9F"/>
              </a:solidFill>
              <a:latin typeface="Calibri"/>
              <a:ea typeface="Calibri"/>
              <a:cs typeface="Calibri"/>
              <a:sym typeface="Calibri"/>
            </a:endParaRPr>
          </a:p>
        </p:txBody>
      </p:sp>
      <p:sp>
        <p:nvSpPr>
          <p:cNvPr id="1300" name="Google Shape;1300;p116"/>
          <p:cNvSpPr/>
          <p:nvPr/>
        </p:nvSpPr>
        <p:spPr>
          <a:xfrm>
            <a:off x="3615691" y="3944196"/>
            <a:ext cx="1238250" cy="228600"/>
          </a:xfrm>
          <a:prstGeom prst="rect">
            <a:avLst/>
          </a:prstGeom>
          <a:noFill/>
          <a:ln>
            <a:noFill/>
          </a:ln>
        </p:spPr>
        <p:txBody>
          <a:bodyPr anchorCtr="0" anchor="ctr" bIns="38100" lIns="38100" spcFirstLastPara="1" rIns="38100" wrap="square" tIns="38100">
            <a:noAutofit/>
          </a:bodyPr>
          <a:lstStyle/>
          <a:p>
            <a:pPr indent="0" lvl="0" marL="0" marR="0" rtl="0" algn="ctr">
              <a:lnSpc>
                <a:spcPct val="110000"/>
              </a:lnSpc>
              <a:spcBef>
                <a:spcPts val="0"/>
              </a:spcBef>
              <a:spcAft>
                <a:spcPts val="0"/>
              </a:spcAft>
              <a:buClr>
                <a:srgbClr val="0B5F9F"/>
              </a:buClr>
              <a:buSzPts val="900"/>
              <a:buFont typeface="Quattrocento Sans"/>
              <a:buNone/>
            </a:pPr>
            <a:r>
              <a:rPr b="0" i="0" lang="en-US" sz="900" u="none" cap="none" strike="noStrike">
                <a:solidFill>
                  <a:srgbClr val="0B5F9F"/>
                </a:solidFill>
                <a:latin typeface="Quattrocento Sans"/>
                <a:ea typeface="Quattrocento Sans"/>
                <a:cs typeface="Quattrocento Sans"/>
                <a:sym typeface="Quattrocento Sans"/>
              </a:rPr>
              <a:t>Req 0</a:t>
            </a:r>
            <a:endParaRPr b="0" i="0" sz="1600" u="none" cap="none" strike="noStrike">
              <a:solidFill>
                <a:srgbClr val="0B5F9F"/>
              </a:solidFill>
              <a:latin typeface="Calibri"/>
              <a:ea typeface="Calibri"/>
              <a:cs typeface="Calibri"/>
              <a:sym typeface="Calibri"/>
            </a:endParaRPr>
          </a:p>
        </p:txBody>
      </p:sp>
      <p:sp>
        <p:nvSpPr>
          <p:cNvPr id="1301" name="Google Shape;1301;p116"/>
          <p:cNvSpPr/>
          <p:nvPr/>
        </p:nvSpPr>
        <p:spPr>
          <a:xfrm>
            <a:off x="4884421" y="3948006"/>
            <a:ext cx="1188720" cy="236220"/>
          </a:xfrm>
          <a:custGeom>
            <a:rect b="b" l="l" r="r" t="t"/>
            <a:pathLst>
              <a:path extrusionOk="0" h="236220" w="1188720">
                <a:moveTo>
                  <a:pt x="38100" y="0"/>
                </a:moveTo>
                <a:lnTo>
                  <a:pt x="1150620" y="0"/>
                </a:lnTo>
                <a:cubicBezTo>
                  <a:pt x="1171662" y="0"/>
                  <a:pt x="1188720" y="17058"/>
                  <a:pt x="1188720" y="38100"/>
                </a:cubicBezTo>
                <a:lnTo>
                  <a:pt x="1188720" y="198120"/>
                </a:lnTo>
                <a:cubicBezTo>
                  <a:pt x="1188720" y="219162"/>
                  <a:pt x="1171662" y="236220"/>
                  <a:pt x="1150620" y="236220"/>
                </a:cubicBezTo>
                <a:lnTo>
                  <a:pt x="38100" y="236220"/>
                </a:lnTo>
                <a:cubicBezTo>
                  <a:pt x="17072" y="236220"/>
                  <a:pt x="0" y="219148"/>
                  <a:pt x="0" y="198120"/>
                </a:cubicBezTo>
                <a:lnTo>
                  <a:pt x="0" y="38100"/>
                </a:lnTo>
                <a:cubicBezTo>
                  <a:pt x="0" y="17058"/>
                  <a:pt x="17058" y="0"/>
                  <a:pt x="38100" y="0"/>
                </a:cubicBezTo>
                <a:close/>
              </a:path>
            </a:pathLst>
          </a:custGeom>
          <a:solidFill>
            <a:srgbClr val="000000">
              <a:alpha val="0"/>
            </a:srgbClr>
          </a:solidFill>
          <a:ln cap="flat" cmpd="sng" w="1015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B5F9F"/>
              </a:solidFill>
              <a:latin typeface="Calibri"/>
              <a:ea typeface="Calibri"/>
              <a:cs typeface="Calibri"/>
              <a:sym typeface="Calibri"/>
            </a:endParaRPr>
          </a:p>
        </p:txBody>
      </p:sp>
      <p:sp>
        <p:nvSpPr>
          <p:cNvPr id="1302" name="Google Shape;1302;p116"/>
          <p:cNvSpPr/>
          <p:nvPr/>
        </p:nvSpPr>
        <p:spPr>
          <a:xfrm>
            <a:off x="4852036" y="3944196"/>
            <a:ext cx="1238250" cy="228600"/>
          </a:xfrm>
          <a:prstGeom prst="rect">
            <a:avLst/>
          </a:prstGeom>
          <a:noFill/>
          <a:ln>
            <a:noFill/>
          </a:ln>
        </p:spPr>
        <p:txBody>
          <a:bodyPr anchorCtr="0" anchor="ctr" bIns="38100" lIns="38100" spcFirstLastPara="1" rIns="38100" wrap="square" tIns="38100">
            <a:noAutofit/>
          </a:bodyPr>
          <a:lstStyle/>
          <a:p>
            <a:pPr indent="0" lvl="0" marL="0" marR="0" rtl="0" algn="ctr">
              <a:lnSpc>
                <a:spcPct val="110000"/>
              </a:lnSpc>
              <a:spcBef>
                <a:spcPts val="0"/>
              </a:spcBef>
              <a:spcAft>
                <a:spcPts val="0"/>
              </a:spcAft>
              <a:buClr>
                <a:srgbClr val="0B5F9F"/>
              </a:buClr>
              <a:buSzPts val="900"/>
              <a:buFont typeface="Quattrocento Sans"/>
              <a:buNone/>
            </a:pPr>
            <a:r>
              <a:rPr b="0" i="0" lang="en-US" sz="900" u="none" cap="none" strike="noStrike">
                <a:solidFill>
                  <a:srgbClr val="0B5F9F"/>
                </a:solidFill>
                <a:latin typeface="Quattrocento Sans"/>
                <a:ea typeface="Quattrocento Sans"/>
                <a:cs typeface="Quattrocento Sans"/>
                <a:sym typeface="Quattrocento Sans"/>
              </a:rPr>
              <a:t>Req 1</a:t>
            </a:r>
            <a:endParaRPr b="0" i="0" sz="1600" u="none" cap="none" strike="noStrike">
              <a:solidFill>
                <a:srgbClr val="0B5F9F"/>
              </a:solidFill>
              <a:latin typeface="Calibri"/>
              <a:ea typeface="Calibri"/>
              <a:cs typeface="Calibri"/>
              <a:sym typeface="Calibri"/>
            </a:endParaRPr>
          </a:p>
        </p:txBody>
      </p:sp>
      <p:sp>
        <p:nvSpPr>
          <p:cNvPr id="1303" name="Google Shape;1303;p116"/>
          <p:cNvSpPr/>
          <p:nvPr/>
        </p:nvSpPr>
        <p:spPr>
          <a:xfrm>
            <a:off x="6120766" y="3948006"/>
            <a:ext cx="1188720" cy="236220"/>
          </a:xfrm>
          <a:custGeom>
            <a:rect b="b" l="l" r="r" t="t"/>
            <a:pathLst>
              <a:path extrusionOk="0" h="236220" w="1188720">
                <a:moveTo>
                  <a:pt x="38100" y="0"/>
                </a:moveTo>
                <a:lnTo>
                  <a:pt x="1150620" y="0"/>
                </a:lnTo>
                <a:cubicBezTo>
                  <a:pt x="1171662" y="0"/>
                  <a:pt x="1188720" y="17058"/>
                  <a:pt x="1188720" y="38100"/>
                </a:cubicBezTo>
                <a:lnTo>
                  <a:pt x="1188720" y="198120"/>
                </a:lnTo>
                <a:cubicBezTo>
                  <a:pt x="1188720" y="219162"/>
                  <a:pt x="1171662" y="236220"/>
                  <a:pt x="1150620" y="236220"/>
                </a:cubicBezTo>
                <a:lnTo>
                  <a:pt x="38100" y="236220"/>
                </a:lnTo>
                <a:cubicBezTo>
                  <a:pt x="17072" y="236220"/>
                  <a:pt x="0" y="219148"/>
                  <a:pt x="0" y="198120"/>
                </a:cubicBezTo>
                <a:lnTo>
                  <a:pt x="0" y="38100"/>
                </a:lnTo>
                <a:cubicBezTo>
                  <a:pt x="0" y="17058"/>
                  <a:pt x="17058" y="0"/>
                  <a:pt x="38100" y="0"/>
                </a:cubicBezTo>
                <a:close/>
              </a:path>
            </a:pathLst>
          </a:custGeom>
          <a:solidFill>
            <a:srgbClr val="000000">
              <a:alpha val="0"/>
            </a:srgbClr>
          </a:solidFill>
          <a:ln cap="flat" cmpd="sng" w="1015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B5F9F"/>
              </a:solidFill>
              <a:latin typeface="Calibri"/>
              <a:ea typeface="Calibri"/>
              <a:cs typeface="Calibri"/>
              <a:sym typeface="Calibri"/>
            </a:endParaRPr>
          </a:p>
        </p:txBody>
      </p:sp>
      <p:sp>
        <p:nvSpPr>
          <p:cNvPr id="1304" name="Google Shape;1304;p116"/>
          <p:cNvSpPr/>
          <p:nvPr/>
        </p:nvSpPr>
        <p:spPr>
          <a:xfrm>
            <a:off x="6088381" y="3944196"/>
            <a:ext cx="1238250" cy="228600"/>
          </a:xfrm>
          <a:prstGeom prst="rect">
            <a:avLst/>
          </a:prstGeom>
          <a:noFill/>
          <a:ln>
            <a:noFill/>
          </a:ln>
        </p:spPr>
        <p:txBody>
          <a:bodyPr anchorCtr="0" anchor="ctr" bIns="38100" lIns="38100" spcFirstLastPara="1" rIns="38100" wrap="square" tIns="38100">
            <a:noAutofit/>
          </a:bodyPr>
          <a:lstStyle/>
          <a:p>
            <a:pPr indent="0" lvl="0" marL="0" marR="0" rtl="0" algn="ctr">
              <a:lnSpc>
                <a:spcPct val="110000"/>
              </a:lnSpc>
              <a:spcBef>
                <a:spcPts val="0"/>
              </a:spcBef>
              <a:spcAft>
                <a:spcPts val="0"/>
              </a:spcAft>
              <a:buClr>
                <a:srgbClr val="0B5F9F"/>
              </a:buClr>
              <a:buSzPts val="900"/>
              <a:buFont typeface="Quattrocento Sans"/>
              <a:buNone/>
            </a:pPr>
            <a:r>
              <a:rPr b="0" i="0" lang="en-US" sz="900" u="none" cap="none" strike="noStrike">
                <a:solidFill>
                  <a:srgbClr val="0B5F9F"/>
                </a:solidFill>
                <a:latin typeface="Quattrocento Sans"/>
                <a:ea typeface="Quattrocento Sans"/>
                <a:cs typeface="Quattrocento Sans"/>
                <a:sym typeface="Quattrocento Sans"/>
              </a:rPr>
              <a:t>Req 2</a:t>
            </a:r>
            <a:endParaRPr b="0" i="0" sz="1600" u="none" cap="none" strike="noStrike">
              <a:solidFill>
                <a:srgbClr val="0B5F9F"/>
              </a:solidFill>
              <a:latin typeface="Calibri"/>
              <a:ea typeface="Calibri"/>
              <a:cs typeface="Calibri"/>
              <a:sym typeface="Calibri"/>
            </a:endParaRPr>
          </a:p>
        </p:txBody>
      </p:sp>
      <p:sp>
        <p:nvSpPr>
          <p:cNvPr id="1305" name="Google Shape;1305;p116"/>
          <p:cNvSpPr/>
          <p:nvPr/>
        </p:nvSpPr>
        <p:spPr>
          <a:xfrm>
            <a:off x="7357111" y="3948006"/>
            <a:ext cx="1188720" cy="236220"/>
          </a:xfrm>
          <a:custGeom>
            <a:rect b="b" l="l" r="r" t="t"/>
            <a:pathLst>
              <a:path extrusionOk="0" h="236220" w="1188720">
                <a:moveTo>
                  <a:pt x="38100" y="0"/>
                </a:moveTo>
                <a:lnTo>
                  <a:pt x="1150620" y="0"/>
                </a:lnTo>
                <a:cubicBezTo>
                  <a:pt x="1171662" y="0"/>
                  <a:pt x="1188720" y="17058"/>
                  <a:pt x="1188720" y="38100"/>
                </a:cubicBezTo>
                <a:lnTo>
                  <a:pt x="1188720" y="198120"/>
                </a:lnTo>
                <a:cubicBezTo>
                  <a:pt x="1188720" y="219162"/>
                  <a:pt x="1171662" y="236220"/>
                  <a:pt x="1150620" y="236220"/>
                </a:cubicBezTo>
                <a:lnTo>
                  <a:pt x="38100" y="236220"/>
                </a:lnTo>
                <a:cubicBezTo>
                  <a:pt x="17072" y="236220"/>
                  <a:pt x="0" y="219148"/>
                  <a:pt x="0" y="198120"/>
                </a:cubicBezTo>
                <a:lnTo>
                  <a:pt x="0" y="38100"/>
                </a:lnTo>
                <a:cubicBezTo>
                  <a:pt x="0" y="17058"/>
                  <a:pt x="17058" y="0"/>
                  <a:pt x="38100" y="0"/>
                </a:cubicBezTo>
                <a:close/>
              </a:path>
            </a:pathLst>
          </a:custGeom>
          <a:solidFill>
            <a:srgbClr val="000000">
              <a:alpha val="0"/>
            </a:srgbClr>
          </a:solidFill>
          <a:ln cap="flat" cmpd="sng" w="1015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B5F9F"/>
              </a:solidFill>
              <a:latin typeface="Calibri"/>
              <a:ea typeface="Calibri"/>
              <a:cs typeface="Calibri"/>
              <a:sym typeface="Calibri"/>
            </a:endParaRPr>
          </a:p>
        </p:txBody>
      </p:sp>
      <p:sp>
        <p:nvSpPr>
          <p:cNvPr id="1306" name="Google Shape;1306;p116"/>
          <p:cNvSpPr/>
          <p:nvPr/>
        </p:nvSpPr>
        <p:spPr>
          <a:xfrm>
            <a:off x="7324726" y="3944196"/>
            <a:ext cx="1238250" cy="228600"/>
          </a:xfrm>
          <a:prstGeom prst="rect">
            <a:avLst/>
          </a:prstGeom>
          <a:noFill/>
          <a:ln>
            <a:noFill/>
          </a:ln>
        </p:spPr>
        <p:txBody>
          <a:bodyPr anchorCtr="0" anchor="ctr" bIns="38100" lIns="38100" spcFirstLastPara="1" rIns="38100" wrap="square" tIns="38100">
            <a:noAutofit/>
          </a:bodyPr>
          <a:lstStyle/>
          <a:p>
            <a:pPr indent="0" lvl="0" marL="0" marR="0" rtl="0" algn="ctr">
              <a:lnSpc>
                <a:spcPct val="110000"/>
              </a:lnSpc>
              <a:spcBef>
                <a:spcPts val="0"/>
              </a:spcBef>
              <a:spcAft>
                <a:spcPts val="0"/>
              </a:spcAft>
              <a:buClr>
                <a:srgbClr val="0B5F9F"/>
              </a:buClr>
              <a:buSzPts val="900"/>
              <a:buFont typeface="Quattrocento Sans"/>
              <a:buNone/>
            </a:pPr>
            <a:r>
              <a:rPr b="0" i="0" lang="en-US" sz="900" u="none" cap="none" strike="noStrike">
                <a:solidFill>
                  <a:srgbClr val="0B5F9F"/>
                </a:solidFill>
                <a:latin typeface="Quattrocento Sans"/>
                <a:ea typeface="Quattrocento Sans"/>
                <a:cs typeface="Quattrocento Sans"/>
                <a:sym typeface="Quattrocento Sans"/>
              </a:rPr>
              <a:t>Req 3</a:t>
            </a:r>
            <a:endParaRPr b="0" i="0" sz="1600" u="none" cap="none" strike="noStrike">
              <a:solidFill>
                <a:srgbClr val="0B5F9F"/>
              </a:solidFill>
              <a:latin typeface="Calibri"/>
              <a:ea typeface="Calibri"/>
              <a:cs typeface="Calibri"/>
              <a:sym typeface="Calibri"/>
            </a:endParaRPr>
          </a:p>
        </p:txBody>
      </p:sp>
      <p:sp>
        <p:nvSpPr>
          <p:cNvPr id="1307" name="Google Shape;1307;p116"/>
          <p:cNvSpPr/>
          <p:nvPr/>
        </p:nvSpPr>
        <p:spPr>
          <a:xfrm>
            <a:off x="3648076" y="4229831"/>
            <a:ext cx="1188720" cy="236220"/>
          </a:xfrm>
          <a:custGeom>
            <a:rect b="b" l="l" r="r" t="t"/>
            <a:pathLst>
              <a:path extrusionOk="0" h="236220" w="1188720">
                <a:moveTo>
                  <a:pt x="38100" y="0"/>
                </a:moveTo>
                <a:lnTo>
                  <a:pt x="1150620" y="0"/>
                </a:lnTo>
                <a:cubicBezTo>
                  <a:pt x="1171662" y="0"/>
                  <a:pt x="1188720" y="17058"/>
                  <a:pt x="1188720" y="38100"/>
                </a:cubicBezTo>
                <a:lnTo>
                  <a:pt x="1188720" y="198120"/>
                </a:lnTo>
                <a:cubicBezTo>
                  <a:pt x="1188720" y="219162"/>
                  <a:pt x="1171662" y="236220"/>
                  <a:pt x="1150620" y="236220"/>
                </a:cubicBezTo>
                <a:lnTo>
                  <a:pt x="38100" y="236220"/>
                </a:lnTo>
                <a:cubicBezTo>
                  <a:pt x="17072" y="236220"/>
                  <a:pt x="0" y="219148"/>
                  <a:pt x="0" y="198120"/>
                </a:cubicBezTo>
                <a:lnTo>
                  <a:pt x="0" y="38100"/>
                </a:lnTo>
                <a:cubicBezTo>
                  <a:pt x="0" y="17058"/>
                  <a:pt x="17058" y="0"/>
                  <a:pt x="38100" y="0"/>
                </a:cubicBezTo>
                <a:close/>
              </a:path>
            </a:pathLst>
          </a:custGeom>
          <a:solidFill>
            <a:srgbClr val="000000">
              <a:alpha val="0"/>
            </a:srgbClr>
          </a:solidFill>
          <a:ln cap="flat" cmpd="sng" w="1015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B5F9F"/>
              </a:solidFill>
              <a:latin typeface="Calibri"/>
              <a:ea typeface="Calibri"/>
              <a:cs typeface="Calibri"/>
              <a:sym typeface="Calibri"/>
            </a:endParaRPr>
          </a:p>
        </p:txBody>
      </p:sp>
      <p:sp>
        <p:nvSpPr>
          <p:cNvPr id="1308" name="Google Shape;1308;p116"/>
          <p:cNvSpPr/>
          <p:nvPr/>
        </p:nvSpPr>
        <p:spPr>
          <a:xfrm>
            <a:off x="3615691" y="4226021"/>
            <a:ext cx="1238250" cy="228600"/>
          </a:xfrm>
          <a:prstGeom prst="rect">
            <a:avLst/>
          </a:prstGeom>
          <a:noFill/>
          <a:ln>
            <a:noFill/>
          </a:ln>
        </p:spPr>
        <p:txBody>
          <a:bodyPr anchorCtr="0" anchor="ctr" bIns="38100" lIns="38100" spcFirstLastPara="1" rIns="38100" wrap="square" tIns="38100">
            <a:noAutofit/>
          </a:bodyPr>
          <a:lstStyle/>
          <a:p>
            <a:pPr indent="0" lvl="0" marL="0" marR="0" rtl="0" algn="ctr">
              <a:lnSpc>
                <a:spcPct val="110000"/>
              </a:lnSpc>
              <a:spcBef>
                <a:spcPts val="0"/>
              </a:spcBef>
              <a:spcAft>
                <a:spcPts val="0"/>
              </a:spcAft>
              <a:buClr>
                <a:srgbClr val="0B5F9F"/>
              </a:buClr>
              <a:buSzPts val="900"/>
              <a:buFont typeface="Quattrocento Sans"/>
              <a:buNone/>
            </a:pPr>
            <a:r>
              <a:rPr b="0" i="0" lang="en-US" sz="900" u="none" cap="none" strike="noStrike">
                <a:solidFill>
                  <a:srgbClr val="0B5F9F"/>
                </a:solidFill>
                <a:latin typeface="Quattrocento Sans"/>
                <a:ea typeface="Quattrocento Sans"/>
                <a:cs typeface="Quattrocento Sans"/>
                <a:sym typeface="Quattrocento Sans"/>
              </a:rPr>
              <a:t>Req 4</a:t>
            </a:r>
            <a:endParaRPr b="0" i="0" sz="1600" u="none" cap="none" strike="noStrike">
              <a:solidFill>
                <a:srgbClr val="0B5F9F"/>
              </a:solidFill>
              <a:latin typeface="Calibri"/>
              <a:ea typeface="Calibri"/>
              <a:cs typeface="Calibri"/>
              <a:sym typeface="Calibri"/>
            </a:endParaRPr>
          </a:p>
        </p:txBody>
      </p:sp>
      <p:sp>
        <p:nvSpPr>
          <p:cNvPr id="1309" name="Google Shape;1309;p116"/>
          <p:cNvSpPr/>
          <p:nvPr/>
        </p:nvSpPr>
        <p:spPr>
          <a:xfrm>
            <a:off x="4884421" y="4229831"/>
            <a:ext cx="1188720" cy="236220"/>
          </a:xfrm>
          <a:custGeom>
            <a:rect b="b" l="l" r="r" t="t"/>
            <a:pathLst>
              <a:path extrusionOk="0" h="236220" w="1188720">
                <a:moveTo>
                  <a:pt x="38100" y="0"/>
                </a:moveTo>
                <a:lnTo>
                  <a:pt x="1150620" y="0"/>
                </a:lnTo>
                <a:cubicBezTo>
                  <a:pt x="1171662" y="0"/>
                  <a:pt x="1188720" y="17058"/>
                  <a:pt x="1188720" y="38100"/>
                </a:cubicBezTo>
                <a:lnTo>
                  <a:pt x="1188720" y="198120"/>
                </a:lnTo>
                <a:cubicBezTo>
                  <a:pt x="1188720" y="219162"/>
                  <a:pt x="1171662" y="236220"/>
                  <a:pt x="1150620" y="236220"/>
                </a:cubicBezTo>
                <a:lnTo>
                  <a:pt x="38100" y="236220"/>
                </a:lnTo>
                <a:cubicBezTo>
                  <a:pt x="17072" y="236220"/>
                  <a:pt x="0" y="219148"/>
                  <a:pt x="0" y="198120"/>
                </a:cubicBezTo>
                <a:lnTo>
                  <a:pt x="0" y="38100"/>
                </a:lnTo>
                <a:cubicBezTo>
                  <a:pt x="0" y="17058"/>
                  <a:pt x="17058" y="0"/>
                  <a:pt x="38100" y="0"/>
                </a:cubicBezTo>
                <a:close/>
              </a:path>
            </a:pathLst>
          </a:custGeom>
          <a:solidFill>
            <a:srgbClr val="000000">
              <a:alpha val="0"/>
            </a:srgbClr>
          </a:solidFill>
          <a:ln cap="flat" cmpd="sng" w="1015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B5F9F"/>
              </a:solidFill>
              <a:latin typeface="Calibri"/>
              <a:ea typeface="Calibri"/>
              <a:cs typeface="Calibri"/>
              <a:sym typeface="Calibri"/>
            </a:endParaRPr>
          </a:p>
        </p:txBody>
      </p:sp>
      <p:sp>
        <p:nvSpPr>
          <p:cNvPr id="1310" name="Google Shape;1310;p116"/>
          <p:cNvSpPr/>
          <p:nvPr/>
        </p:nvSpPr>
        <p:spPr>
          <a:xfrm>
            <a:off x="4852036" y="4226021"/>
            <a:ext cx="1238250" cy="228600"/>
          </a:xfrm>
          <a:prstGeom prst="rect">
            <a:avLst/>
          </a:prstGeom>
          <a:noFill/>
          <a:ln>
            <a:noFill/>
          </a:ln>
        </p:spPr>
        <p:txBody>
          <a:bodyPr anchorCtr="0" anchor="ctr" bIns="38100" lIns="38100" spcFirstLastPara="1" rIns="38100" wrap="square" tIns="38100">
            <a:noAutofit/>
          </a:bodyPr>
          <a:lstStyle/>
          <a:p>
            <a:pPr indent="0" lvl="0" marL="0" marR="0" rtl="0" algn="ctr">
              <a:lnSpc>
                <a:spcPct val="110000"/>
              </a:lnSpc>
              <a:spcBef>
                <a:spcPts val="0"/>
              </a:spcBef>
              <a:spcAft>
                <a:spcPts val="0"/>
              </a:spcAft>
              <a:buClr>
                <a:srgbClr val="0B5F9F"/>
              </a:buClr>
              <a:buSzPts val="900"/>
              <a:buFont typeface="Quattrocento Sans"/>
              <a:buNone/>
            </a:pPr>
            <a:r>
              <a:rPr b="0" i="0" lang="en-US" sz="900" u="none" cap="none" strike="noStrike">
                <a:solidFill>
                  <a:srgbClr val="0B5F9F"/>
                </a:solidFill>
                <a:latin typeface="Quattrocento Sans"/>
                <a:ea typeface="Quattrocento Sans"/>
                <a:cs typeface="Quattrocento Sans"/>
                <a:sym typeface="Quattrocento Sans"/>
              </a:rPr>
              <a:t>Req 5</a:t>
            </a:r>
            <a:endParaRPr b="0" i="0" sz="1600" u="none" cap="none" strike="noStrike">
              <a:solidFill>
                <a:srgbClr val="0B5F9F"/>
              </a:solidFill>
              <a:latin typeface="Calibri"/>
              <a:ea typeface="Calibri"/>
              <a:cs typeface="Calibri"/>
              <a:sym typeface="Calibri"/>
            </a:endParaRPr>
          </a:p>
        </p:txBody>
      </p:sp>
      <p:sp>
        <p:nvSpPr>
          <p:cNvPr id="1311" name="Google Shape;1311;p116"/>
          <p:cNvSpPr/>
          <p:nvPr/>
        </p:nvSpPr>
        <p:spPr>
          <a:xfrm>
            <a:off x="6120766" y="4229831"/>
            <a:ext cx="1188720" cy="236220"/>
          </a:xfrm>
          <a:custGeom>
            <a:rect b="b" l="l" r="r" t="t"/>
            <a:pathLst>
              <a:path extrusionOk="0" h="236220" w="1188720">
                <a:moveTo>
                  <a:pt x="38100" y="0"/>
                </a:moveTo>
                <a:lnTo>
                  <a:pt x="1150620" y="0"/>
                </a:lnTo>
                <a:cubicBezTo>
                  <a:pt x="1171662" y="0"/>
                  <a:pt x="1188720" y="17058"/>
                  <a:pt x="1188720" y="38100"/>
                </a:cubicBezTo>
                <a:lnTo>
                  <a:pt x="1188720" y="198120"/>
                </a:lnTo>
                <a:cubicBezTo>
                  <a:pt x="1188720" y="219162"/>
                  <a:pt x="1171662" y="236220"/>
                  <a:pt x="1150620" y="236220"/>
                </a:cubicBezTo>
                <a:lnTo>
                  <a:pt x="38100" y="236220"/>
                </a:lnTo>
                <a:cubicBezTo>
                  <a:pt x="17072" y="236220"/>
                  <a:pt x="0" y="219148"/>
                  <a:pt x="0" y="198120"/>
                </a:cubicBezTo>
                <a:lnTo>
                  <a:pt x="0" y="38100"/>
                </a:lnTo>
                <a:cubicBezTo>
                  <a:pt x="0" y="17058"/>
                  <a:pt x="17058" y="0"/>
                  <a:pt x="38100" y="0"/>
                </a:cubicBezTo>
                <a:close/>
              </a:path>
            </a:pathLst>
          </a:custGeom>
          <a:solidFill>
            <a:srgbClr val="000000">
              <a:alpha val="0"/>
            </a:srgbClr>
          </a:solidFill>
          <a:ln cap="flat" cmpd="sng" w="1015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B5F9F"/>
              </a:solidFill>
              <a:latin typeface="Calibri"/>
              <a:ea typeface="Calibri"/>
              <a:cs typeface="Calibri"/>
              <a:sym typeface="Calibri"/>
            </a:endParaRPr>
          </a:p>
        </p:txBody>
      </p:sp>
      <p:sp>
        <p:nvSpPr>
          <p:cNvPr id="1312" name="Google Shape;1312;p116"/>
          <p:cNvSpPr/>
          <p:nvPr/>
        </p:nvSpPr>
        <p:spPr>
          <a:xfrm>
            <a:off x="6088381" y="4226021"/>
            <a:ext cx="1238250" cy="228600"/>
          </a:xfrm>
          <a:prstGeom prst="rect">
            <a:avLst/>
          </a:prstGeom>
          <a:noFill/>
          <a:ln>
            <a:noFill/>
          </a:ln>
        </p:spPr>
        <p:txBody>
          <a:bodyPr anchorCtr="0" anchor="ctr" bIns="38100" lIns="38100" spcFirstLastPara="1" rIns="38100" wrap="square" tIns="38100">
            <a:noAutofit/>
          </a:bodyPr>
          <a:lstStyle/>
          <a:p>
            <a:pPr indent="0" lvl="0" marL="0" marR="0" rtl="0" algn="ctr">
              <a:lnSpc>
                <a:spcPct val="110000"/>
              </a:lnSpc>
              <a:spcBef>
                <a:spcPts val="0"/>
              </a:spcBef>
              <a:spcAft>
                <a:spcPts val="0"/>
              </a:spcAft>
              <a:buClr>
                <a:srgbClr val="0B5F9F"/>
              </a:buClr>
              <a:buSzPts val="900"/>
              <a:buFont typeface="Quattrocento Sans"/>
              <a:buNone/>
            </a:pPr>
            <a:r>
              <a:rPr b="0" i="0" lang="en-US" sz="900" u="none" cap="none" strike="noStrike">
                <a:solidFill>
                  <a:srgbClr val="0B5F9F"/>
                </a:solidFill>
                <a:latin typeface="Quattrocento Sans"/>
                <a:ea typeface="Quattrocento Sans"/>
                <a:cs typeface="Quattrocento Sans"/>
                <a:sym typeface="Quattrocento Sans"/>
              </a:rPr>
              <a:t>Req 6</a:t>
            </a:r>
            <a:endParaRPr b="0" i="0" sz="1600" u="none" cap="none" strike="noStrike">
              <a:solidFill>
                <a:srgbClr val="0B5F9F"/>
              </a:solidFill>
              <a:latin typeface="Calibri"/>
              <a:ea typeface="Calibri"/>
              <a:cs typeface="Calibri"/>
              <a:sym typeface="Calibri"/>
            </a:endParaRPr>
          </a:p>
        </p:txBody>
      </p:sp>
      <p:sp>
        <p:nvSpPr>
          <p:cNvPr id="1313" name="Google Shape;1313;p116"/>
          <p:cNvSpPr/>
          <p:nvPr/>
        </p:nvSpPr>
        <p:spPr>
          <a:xfrm>
            <a:off x="7357111" y="4229831"/>
            <a:ext cx="1188720" cy="236220"/>
          </a:xfrm>
          <a:custGeom>
            <a:rect b="b" l="l" r="r" t="t"/>
            <a:pathLst>
              <a:path extrusionOk="0" h="236220" w="1188720">
                <a:moveTo>
                  <a:pt x="38100" y="0"/>
                </a:moveTo>
                <a:lnTo>
                  <a:pt x="1150620" y="0"/>
                </a:lnTo>
                <a:cubicBezTo>
                  <a:pt x="1171662" y="0"/>
                  <a:pt x="1188720" y="17058"/>
                  <a:pt x="1188720" y="38100"/>
                </a:cubicBezTo>
                <a:lnTo>
                  <a:pt x="1188720" y="198120"/>
                </a:lnTo>
                <a:cubicBezTo>
                  <a:pt x="1188720" y="219162"/>
                  <a:pt x="1171662" y="236220"/>
                  <a:pt x="1150620" y="236220"/>
                </a:cubicBezTo>
                <a:lnTo>
                  <a:pt x="38100" y="236220"/>
                </a:lnTo>
                <a:cubicBezTo>
                  <a:pt x="17072" y="236220"/>
                  <a:pt x="0" y="219148"/>
                  <a:pt x="0" y="198120"/>
                </a:cubicBezTo>
                <a:lnTo>
                  <a:pt x="0" y="38100"/>
                </a:lnTo>
                <a:cubicBezTo>
                  <a:pt x="0" y="17058"/>
                  <a:pt x="17058" y="0"/>
                  <a:pt x="38100" y="0"/>
                </a:cubicBezTo>
                <a:close/>
              </a:path>
            </a:pathLst>
          </a:custGeom>
          <a:solidFill>
            <a:srgbClr val="000000">
              <a:alpha val="0"/>
            </a:srgbClr>
          </a:solidFill>
          <a:ln cap="flat" cmpd="sng" w="1015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B5F9F"/>
              </a:solidFill>
              <a:latin typeface="Calibri"/>
              <a:ea typeface="Calibri"/>
              <a:cs typeface="Calibri"/>
              <a:sym typeface="Calibri"/>
            </a:endParaRPr>
          </a:p>
        </p:txBody>
      </p:sp>
      <p:sp>
        <p:nvSpPr>
          <p:cNvPr id="1314" name="Google Shape;1314;p116"/>
          <p:cNvSpPr/>
          <p:nvPr/>
        </p:nvSpPr>
        <p:spPr>
          <a:xfrm>
            <a:off x="7324726" y="4226021"/>
            <a:ext cx="1238250" cy="228600"/>
          </a:xfrm>
          <a:prstGeom prst="rect">
            <a:avLst/>
          </a:prstGeom>
          <a:noFill/>
          <a:ln>
            <a:noFill/>
          </a:ln>
        </p:spPr>
        <p:txBody>
          <a:bodyPr anchorCtr="0" anchor="ctr" bIns="38100" lIns="38100" spcFirstLastPara="1" rIns="38100" wrap="square" tIns="38100">
            <a:noAutofit/>
          </a:bodyPr>
          <a:lstStyle/>
          <a:p>
            <a:pPr indent="0" lvl="0" marL="0" marR="0" rtl="0" algn="ctr">
              <a:lnSpc>
                <a:spcPct val="110000"/>
              </a:lnSpc>
              <a:spcBef>
                <a:spcPts val="0"/>
              </a:spcBef>
              <a:spcAft>
                <a:spcPts val="0"/>
              </a:spcAft>
              <a:buClr>
                <a:srgbClr val="0B5F9F"/>
              </a:buClr>
              <a:buSzPts val="900"/>
              <a:buFont typeface="Quattrocento Sans"/>
              <a:buNone/>
            </a:pPr>
            <a:r>
              <a:rPr b="0" i="0" lang="en-US" sz="900" u="none" cap="none" strike="noStrike">
                <a:solidFill>
                  <a:srgbClr val="0B5F9F"/>
                </a:solidFill>
                <a:latin typeface="Quattrocento Sans"/>
                <a:ea typeface="Quattrocento Sans"/>
                <a:cs typeface="Quattrocento Sans"/>
                <a:sym typeface="Quattrocento Sans"/>
              </a:rPr>
              <a:t>Req 7</a:t>
            </a:r>
            <a:endParaRPr b="0" i="0" sz="1600" u="none" cap="none" strike="noStrike">
              <a:solidFill>
                <a:srgbClr val="0B5F9F"/>
              </a:solidFill>
              <a:latin typeface="Calibri"/>
              <a:ea typeface="Calibri"/>
              <a:cs typeface="Calibri"/>
              <a:sym typeface="Calibri"/>
            </a:endParaRPr>
          </a:p>
        </p:txBody>
      </p:sp>
      <p:sp>
        <p:nvSpPr>
          <p:cNvPr id="1315" name="Google Shape;1315;p116"/>
          <p:cNvSpPr/>
          <p:nvPr/>
        </p:nvSpPr>
        <p:spPr>
          <a:xfrm>
            <a:off x="6026469" y="4713582"/>
            <a:ext cx="142875" cy="190500"/>
          </a:xfrm>
          <a:custGeom>
            <a:rect b="b" l="l" r="r" t="t"/>
            <a:pathLst>
              <a:path extrusionOk="0" h="190500" w="142875">
                <a:moveTo>
                  <a:pt x="63029" y="187003"/>
                </a:moveTo>
                <a:cubicBezTo>
                  <a:pt x="67680" y="191653"/>
                  <a:pt x="75233" y="191653"/>
                  <a:pt x="79883" y="187003"/>
                </a:cubicBezTo>
                <a:lnTo>
                  <a:pt x="139415" y="127471"/>
                </a:lnTo>
                <a:cubicBezTo>
                  <a:pt x="144066" y="122820"/>
                  <a:pt x="144066" y="115267"/>
                  <a:pt x="139415" y="110617"/>
                </a:cubicBezTo>
                <a:cubicBezTo>
                  <a:pt x="134764" y="105966"/>
                  <a:pt x="127211" y="105966"/>
                  <a:pt x="122560" y="110617"/>
                </a:cubicBezTo>
                <a:lnTo>
                  <a:pt x="83344" y="149833"/>
                </a:lnTo>
                <a:lnTo>
                  <a:pt x="83344" y="11906"/>
                </a:lnTo>
                <a:cubicBezTo>
                  <a:pt x="83344" y="5321"/>
                  <a:pt x="78023" y="0"/>
                  <a:pt x="71438" y="0"/>
                </a:cubicBezTo>
                <a:cubicBezTo>
                  <a:pt x="64852" y="0"/>
                  <a:pt x="59531" y="5321"/>
                  <a:pt x="59531" y="11906"/>
                </a:cubicBezTo>
                <a:lnTo>
                  <a:pt x="59531" y="149833"/>
                </a:lnTo>
                <a:lnTo>
                  <a:pt x="20315" y="110617"/>
                </a:lnTo>
                <a:cubicBezTo>
                  <a:pt x="15664" y="105966"/>
                  <a:pt x="8111" y="105966"/>
                  <a:pt x="3460" y="110617"/>
                </a:cubicBezTo>
                <a:cubicBezTo>
                  <a:pt x="-1191" y="115267"/>
                  <a:pt x="-1191" y="122820"/>
                  <a:pt x="3460" y="127471"/>
                </a:cubicBezTo>
                <a:lnTo>
                  <a:pt x="62992" y="187003"/>
                </a:lnTo>
                <a:close/>
              </a:path>
            </a:pathLst>
          </a:custGeom>
          <a:solidFill>
            <a:srgbClr val="0B5F9F"/>
          </a:solidFill>
          <a:ln cap="flat" cmpd="sng" w="9525">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16" name="Google Shape;1316;p116"/>
          <p:cNvSpPr/>
          <p:nvPr/>
        </p:nvSpPr>
        <p:spPr>
          <a:xfrm>
            <a:off x="3522346" y="5026002"/>
            <a:ext cx="1215390" cy="1263015"/>
          </a:xfrm>
          <a:custGeom>
            <a:rect b="b" l="l" r="r" t="t"/>
            <a:pathLst>
              <a:path extrusionOk="0" h="1263015" w="1215390">
                <a:moveTo>
                  <a:pt x="38102" y="0"/>
                </a:moveTo>
                <a:lnTo>
                  <a:pt x="1177288" y="0"/>
                </a:lnTo>
                <a:cubicBezTo>
                  <a:pt x="1198331" y="0"/>
                  <a:pt x="1215390" y="17059"/>
                  <a:pt x="1215390" y="38102"/>
                </a:cubicBezTo>
                <a:lnTo>
                  <a:pt x="1215390" y="1224913"/>
                </a:lnTo>
                <a:cubicBezTo>
                  <a:pt x="1215390" y="1245956"/>
                  <a:pt x="1198331" y="1263015"/>
                  <a:pt x="1177288" y="1263015"/>
                </a:cubicBezTo>
                <a:lnTo>
                  <a:pt x="38102" y="1263015"/>
                </a:lnTo>
                <a:cubicBezTo>
                  <a:pt x="17059" y="1263015"/>
                  <a:pt x="0" y="1245956"/>
                  <a:pt x="0" y="1224913"/>
                </a:cubicBezTo>
                <a:lnTo>
                  <a:pt x="0" y="38102"/>
                </a:lnTo>
                <a:cubicBezTo>
                  <a:pt x="0" y="17073"/>
                  <a:pt x="17073" y="0"/>
                  <a:pt x="38102" y="0"/>
                </a:cubicBezTo>
                <a:close/>
              </a:path>
            </a:pathLst>
          </a:custGeom>
          <a:solidFill>
            <a:srgbClr val="000000">
              <a:alpha val="0"/>
            </a:srgbClr>
          </a:solidFill>
          <a:ln cap="flat" cmpd="sng" w="2030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17" name="Google Shape;1317;p116"/>
          <p:cNvSpPr/>
          <p:nvPr/>
        </p:nvSpPr>
        <p:spPr>
          <a:xfrm>
            <a:off x="3606166" y="5147918"/>
            <a:ext cx="1047750" cy="2286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0B5F9F"/>
              </a:buClr>
              <a:buSzPts val="1200"/>
              <a:buFont typeface="Quattrocento Sans"/>
              <a:buNone/>
            </a:pPr>
            <a:r>
              <a:rPr b="1" i="0" lang="en-US" sz="1200" u="none" cap="none" strike="noStrike">
                <a:solidFill>
                  <a:srgbClr val="0B5F9F"/>
                </a:solidFill>
                <a:latin typeface="Quattrocento Sans"/>
                <a:ea typeface="Quattrocento Sans"/>
                <a:cs typeface="Quattrocento Sans"/>
                <a:sym typeface="Quattrocento Sans"/>
              </a:rPr>
              <a:t>Channel 0</a:t>
            </a:r>
            <a:endParaRPr b="0" i="0" sz="1600" u="none" cap="none" strike="noStrike">
              <a:solidFill>
                <a:srgbClr val="0B5F9F"/>
              </a:solidFill>
              <a:latin typeface="Calibri"/>
              <a:ea typeface="Calibri"/>
              <a:cs typeface="Calibri"/>
              <a:sym typeface="Calibri"/>
            </a:endParaRPr>
          </a:p>
        </p:txBody>
      </p:sp>
      <p:sp>
        <p:nvSpPr>
          <p:cNvPr id="1318" name="Google Shape;1318;p116"/>
          <p:cNvSpPr/>
          <p:nvPr/>
        </p:nvSpPr>
        <p:spPr>
          <a:xfrm>
            <a:off x="3610929" y="5376518"/>
            <a:ext cx="1038225" cy="190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B5F9F"/>
              </a:buClr>
              <a:buSzPts val="1050"/>
              <a:buFont typeface="Quattrocento Sans"/>
              <a:buNone/>
            </a:pPr>
            <a:r>
              <a:rPr b="0" i="0" lang="en-US" sz="1050" u="none" cap="none" strike="noStrike">
                <a:solidFill>
                  <a:srgbClr val="0B5F9F"/>
                </a:solidFill>
                <a:latin typeface="Quattrocento Sans"/>
                <a:ea typeface="Quattrocento Sans"/>
                <a:cs typeface="Quattrocento Sans"/>
                <a:sym typeface="Quattrocento Sans"/>
              </a:rPr>
              <a:t>Active</a:t>
            </a:r>
            <a:endParaRPr b="0" i="0" sz="1600" u="none" cap="none" strike="noStrike">
              <a:solidFill>
                <a:srgbClr val="0B5F9F"/>
              </a:solidFill>
              <a:latin typeface="Calibri"/>
              <a:ea typeface="Calibri"/>
              <a:cs typeface="Calibri"/>
              <a:sym typeface="Calibri"/>
            </a:endParaRPr>
          </a:p>
        </p:txBody>
      </p:sp>
      <p:sp>
        <p:nvSpPr>
          <p:cNvPr id="1319" name="Google Shape;1319;p116"/>
          <p:cNvSpPr/>
          <p:nvPr/>
        </p:nvSpPr>
        <p:spPr>
          <a:xfrm>
            <a:off x="3648076" y="5647028"/>
            <a:ext cx="969645" cy="236220"/>
          </a:xfrm>
          <a:custGeom>
            <a:rect b="b" l="l" r="r" t="t"/>
            <a:pathLst>
              <a:path extrusionOk="0" h="236220" w="969645">
                <a:moveTo>
                  <a:pt x="38100" y="0"/>
                </a:moveTo>
                <a:lnTo>
                  <a:pt x="931545" y="0"/>
                </a:lnTo>
                <a:cubicBezTo>
                  <a:pt x="952587" y="0"/>
                  <a:pt x="969645" y="17058"/>
                  <a:pt x="969645" y="38100"/>
                </a:cubicBezTo>
                <a:lnTo>
                  <a:pt x="969645" y="198120"/>
                </a:lnTo>
                <a:cubicBezTo>
                  <a:pt x="969645" y="219162"/>
                  <a:pt x="952587" y="236220"/>
                  <a:pt x="931545" y="236220"/>
                </a:cubicBezTo>
                <a:lnTo>
                  <a:pt x="38100" y="236220"/>
                </a:lnTo>
                <a:cubicBezTo>
                  <a:pt x="17072" y="236220"/>
                  <a:pt x="0" y="219148"/>
                  <a:pt x="0" y="198120"/>
                </a:cubicBezTo>
                <a:lnTo>
                  <a:pt x="0" y="38100"/>
                </a:lnTo>
                <a:cubicBezTo>
                  <a:pt x="0" y="17058"/>
                  <a:pt x="17058" y="0"/>
                  <a:pt x="38100" y="0"/>
                </a:cubicBezTo>
                <a:close/>
              </a:path>
            </a:pathLst>
          </a:custGeom>
          <a:solidFill>
            <a:srgbClr val="000000">
              <a:alpha val="0"/>
            </a:srgbClr>
          </a:solidFill>
          <a:ln cap="flat" cmpd="sng" w="1015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20" name="Google Shape;1320;p116"/>
          <p:cNvSpPr/>
          <p:nvPr/>
        </p:nvSpPr>
        <p:spPr>
          <a:xfrm>
            <a:off x="3615691" y="5643218"/>
            <a:ext cx="1019175" cy="228600"/>
          </a:xfrm>
          <a:prstGeom prst="rect">
            <a:avLst/>
          </a:prstGeom>
          <a:noFill/>
          <a:ln>
            <a:noFill/>
          </a:ln>
        </p:spPr>
        <p:txBody>
          <a:bodyPr anchorCtr="0" anchor="ctr" bIns="38100" lIns="38100" spcFirstLastPara="1" rIns="38100" wrap="square" tIns="38100">
            <a:noAutofit/>
          </a:bodyPr>
          <a:lstStyle/>
          <a:p>
            <a:pPr indent="0" lvl="0" marL="0" marR="0" rtl="0" algn="ctr">
              <a:lnSpc>
                <a:spcPct val="110000"/>
              </a:lnSpc>
              <a:spcBef>
                <a:spcPts val="0"/>
              </a:spcBef>
              <a:spcAft>
                <a:spcPts val="0"/>
              </a:spcAft>
              <a:buClr>
                <a:srgbClr val="0B5F9F"/>
              </a:buClr>
              <a:buSzPts val="900"/>
              <a:buFont typeface="Quattrocento Sans"/>
              <a:buNone/>
            </a:pPr>
            <a:r>
              <a:rPr b="0" i="0" lang="en-US" sz="900" u="none" cap="none" strike="noStrike">
                <a:solidFill>
                  <a:srgbClr val="0B5F9F"/>
                </a:solidFill>
                <a:latin typeface="Quattrocento Sans"/>
                <a:ea typeface="Quattrocento Sans"/>
                <a:cs typeface="Quattrocento Sans"/>
                <a:sym typeface="Quattrocento Sans"/>
              </a:rPr>
              <a:t>Cycle 0: Req 0</a:t>
            </a:r>
            <a:endParaRPr b="0" i="0" sz="1600" u="none" cap="none" strike="noStrike">
              <a:solidFill>
                <a:srgbClr val="0B5F9F"/>
              </a:solidFill>
              <a:latin typeface="Calibri"/>
              <a:ea typeface="Calibri"/>
              <a:cs typeface="Calibri"/>
              <a:sym typeface="Calibri"/>
            </a:endParaRPr>
          </a:p>
        </p:txBody>
      </p:sp>
      <p:sp>
        <p:nvSpPr>
          <p:cNvPr id="1321" name="Google Shape;1321;p116"/>
          <p:cNvSpPr/>
          <p:nvPr/>
        </p:nvSpPr>
        <p:spPr>
          <a:xfrm>
            <a:off x="3648076" y="5928853"/>
            <a:ext cx="969645" cy="236220"/>
          </a:xfrm>
          <a:custGeom>
            <a:rect b="b" l="l" r="r" t="t"/>
            <a:pathLst>
              <a:path extrusionOk="0" h="236220" w="969645">
                <a:moveTo>
                  <a:pt x="38100" y="0"/>
                </a:moveTo>
                <a:lnTo>
                  <a:pt x="931545" y="0"/>
                </a:lnTo>
                <a:cubicBezTo>
                  <a:pt x="952587" y="0"/>
                  <a:pt x="969645" y="17058"/>
                  <a:pt x="969645" y="38100"/>
                </a:cubicBezTo>
                <a:lnTo>
                  <a:pt x="969645" y="198120"/>
                </a:lnTo>
                <a:cubicBezTo>
                  <a:pt x="969645" y="219162"/>
                  <a:pt x="952587" y="236220"/>
                  <a:pt x="931545" y="236220"/>
                </a:cubicBezTo>
                <a:lnTo>
                  <a:pt x="38100" y="236220"/>
                </a:lnTo>
                <a:cubicBezTo>
                  <a:pt x="17072" y="236220"/>
                  <a:pt x="0" y="219148"/>
                  <a:pt x="0" y="198120"/>
                </a:cubicBezTo>
                <a:lnTo>
                  <a:pt x="0" y="38100"/>
                </a:lnTo>
                <a:cubicBezTo>
                  <a:pt x="0" y="17058"/>
                  <a:pt x="17058" y="0"/>
                  <a:pt x="38100" y="0"/>
                </a:cubicBezTo>
                <a:close/>
              </a:path>
            </a:pathLst>
          </a:custGeom>
          <a:solidFill>
            <a:srgbClr val="000000">
              <a:alpha val="0"/>
            </a:srgbClr>
          </a:solidFill>
          <a:ln cap="flat" cmpd="sng" w="1015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22" name="Google Shape;1322;p116"/>
          <p:cNvSpPr/>
          <p:nvPr/>
        </p:nvSpPr>
        <p:spPr>
          <a:xfrm>
            <a:off x="3615691" y="5925043"/>
            <a:ext cx="1019175" cy="228600"/>
          </a:xfrm>
          <a:prstGeom prst="rect">
            <a:avLst/>
          </a:prstGeom>
          <a:noFill/>
          <a:ln>
            <a:noFill/>
          </a:ln>
        </p:spPr>
        <p:txBody>
          <a:bodyPr anchorCtr="0" anchor="ctr" bIns="38100" lIns="38100" spcFirstLastPara="1" rIns="38100" wrap="square" tIns="38100">
            <a:noAutofit/>
          </a:bodyPr>
          <a:lstStyle/>
          <a:p>
            <a:pPr indent="0" lvl="0" marL="0" marR="0" rtl="0" algn="ctr">
              <a:lnSpc>
                <a:spcPct val="110000"/>
              </a:lnSpc>
              <a:spcBef>
                <a:spcPts val="0"/>
              </a:spcBef>
              <a:spcAft>
                <a:spcPts val="0"/>
              </a:spcAft>
              <a:buClr>
                <a:srgbClr val="0B5F9F"/>
              </a:buClr>
              <a:buSzPts val="900"/>
              <a:buFont typeface="Quattrocento Sans"/>
              <a:buNone/>
            </a:pPr>
            <a:r>
              <a:rPr b="0" i="0" lang="en-US" sz="900" u="none" cap="none" strike="noStrike">
                <a:solidFill>
                  <a:srgbClr val="0B5F9F"/>
                </a:solidFill>
                <a:latin typeface="Quattrocento Sans"/>
                <a:ea typeface="Quattrocento Sans"/>
                <a:cs typeface="Quattrocento Sans"/>
                <a:sym typeface="Quattrocento Sans"/>
              </a:rPr>
              <a:t>Cycle 1: Req 4</a:t>
            </a:r>
            <a:endParaRPr b="0" i="0" sz="1600" u="none" cap="none" strike="noStrike">
              <a:solidFill>
                <a:srgbClr val="0B5F9F"/>
              </a:solidFill>
              <a:latin typeface="Calibri"/>
              <a:ea typeface="Calibri"/>
              <a:cs typeface="Calibri"/>
              <a:sym typeface="Calibri"/>
            </a:endParaRPr>
          </a:p>
        </p:txBody>
      </p:sp>
      <p:sp>
        <p:nvSpPr>
          <p:cNvPr id="1323" name="Google Shape;1323;p116"/>
          <p:cNvSpPr/>
          <p:nvPr/>
        </p:nvSpPr>
        <p:spPr>
          <a:xfrm>
            <a:off x="4832986" y="5026002"/>
            <a:ext cx="1215390" cy="1263015"/>
          </a:xfrm>
          <a:custGeom>
            <a:rect b="b" l="l" r="r" t="t"/>
            <a:pathLst>
              <a:path extrusionOk="0" h="1263015" w="1215390">
                <a:moveTo>
                  <a:pt x="38102" y="0"/>
                </a:moveTo>
                <a:lnTo>
                  <a:pt x="1177288" y="0"/>
                </a:lnTo>
                <a:cubicBezTo>
                  <a:pt x="1198331" y="0"/>
                  <a:pt x="1215390" y="17059"/>
                  <a:pt x="1215390" y="38102"/>
                </a:cubicBezTo>
                <a:lnTo>
                  <a:pt x="1215390" y="1224913"/>
                </a:lnTo>
                <a:cubicBezTo>
                  <a:pt x="1215390" y="1245956"/>
                  <a:pt x="1198331" y="1263015"/>
                  <a:pt x="1177288" y="1263015"/>
                </a:cubicBezTo>
                <a:lnTo>
                  <a:pt x="38102" y="1263015"/>
                </a:lnTo>
                <a:cubicBezTo>
                  <a:pt x="17059" y="1263015"/>
                  <a:pt x="0" y="1245956"/>
                  <a:pt x="0" y="1224913"/>
                </a:cubicBezTo>
                <a:lnTo>
                  <a:pt x="0" y="38102"/>
                </a:lnTo>
                <a:cubicBezTo>
                  <a:pt x="0" y="17073"/>
                  <a:pt x="17073" y="0"/>
                  <a:pt x="38102" y="0"/>
                </a:cubicBezTo>
                <a:close/>
              </a:path>
            </a:pathLst>
          </a:custGeom>
          <a:solidFill>
            <a:srgbClr val="000000">
              <a:alpha val="0"/>
            </a:srgbClr>
          </a:solidFill>
          <a:ln cap="flat" cmpd="sng" w="2030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24" name="Google Shape;1324;p116"/>
          <p:cNvSpPr/>
          <p:nvPr/>
        </p:nvSpPr>
        <p:spPr>
          <a:xfrm>
            <a:off x="4916806" y="5147918"/>
            <a:ext cx="1047750" cy="2286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0B5F9F"/>
              </a:buClr>
              <a:buSzPts val="1200"/>
              <a:buFont typeface="Quattrocento Sans"/>
              <a:buNone/>
            </a:pPr>
            <a:r>
              <a:rPr b="1" i="0" lang="en-US" sz="1200" u="none" cap="none" strike="noStrike">
                <a:solidFill>
                  <a:srgbClr val="0B5F9F"/>
                </a:solidFill>
                <a:latin typeface="Quattrocento Sans"/>
                <a:ea typeface="Quattrocento Sans"/>
                <a:cs typeface="Quattrocento Sans"/>
                <a:sym typeface="Quattrocento Sans"/>
              </a:rPr>
              <a:t>Channel 1</a:t>
            </a:r>
            <a:endParaRPr b="0" i="0" sz="1600" u="none" cap="none" strike="noStrike">
              <a:solidFill>
                <a:srgbClr val="0B5F9F"/>
              </a:solidFill>
              <a:latin typeface="Calibri"/>
              <a:ea typeface="Calibri"/>
              <a:cs typeface="Calibri"/>
              <a:sym typeface="Calibri"/>
            </a:endParaRPr>
          </a:p>
        </p:txBody>
      </p:sp>
      <p:sp>
        <p:nvSpPr>
          <p:cNvPr id="1325" name="Google Shape;1325;p116"/>
          <p:cNvSpPr/>
          <p:nvPr/>
        </p:nvSpPr>
        <p:spPr>
          <a:xfrm>
            <a:off x="4921568" y="5376518"/>
            <a:ext cx="1038225" cy="190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B5F9F"/>
              </a:buClr>
              <a:buSzPts val="1050"/>
              <a:buFont typeface="Quattrocento Sans"/>
              <a:buNone/>
            </a:pPr>
            <a:r>
              <a:rPr b="0" i="0" lang="en-US" sz="1050" u="none" cap="none" strike="noStrike">
                <a:solidFill>
                  <a:srgbClr val="0B5F9F"/>
                </a:solidFill>
                <a:latin typeface="Quattrocento Sans"/>
                <a:ea typeface="Quattrocento Sans"/>
                <a:cs typeface="Quattrocento Sans"/>
                <a:sym typeface="Quattrocento Sans"/>
              </a:rPr>
              <a:t>Active</a:t>
            </a:r>
            <a:endParaRPr b="0" i="0" sz="1600" u="none" cap="none" strike="noStrike">
              <a:solidFill>
                <a:srgbClr val="0B5F9F"/>
              </a:solidFill>
              <a:latin typeface="Calibri"/>
              <a:ea typeface="Calibri"/>
              <a:cs typeface="Calibri"/>
              <a:sym typeface="Calibri"/>
            </a:endParaRPr>
          </a:p>
        </p:txBody>
      </p:sp>
      <p:sp>
        <p:nvSpPr>
          <p:cNvPr id="1326" name="Google Shape;1326;p116"/>
          <p:cNvSpPr/>
          <p:nvPr/>
        </p:nvSpPr>
        <p:spPr>
          <a:xfrm>
            <a:off x="4958716" y="5647028"/>
            <a:ext cx="969645" cy="236220"/>
          </a:xfrm>
          <a:custGeom>
            <a:rect b="b" l="l" r="r" t="t"/>
            <a:pathLst>
              <a:path extrusionOk="0" h="236220" w="969645">
                <a:moveTo>
                  <a:pt x="38100" y="0"/>
                </a:moveTo>
                <a:lnTo>
                  <a:pt x="931545" y="0"/>
                </a:lnTo>
                <a:cubicBezTo>
                  <a:pt x="952587" y="0"/>
                  <a:pt x="969645" y="17058"/>
                  <a:pt x="969645" y="38100"/>
                </a:cubicBezTo>
                <a:lnTo>
                  <a:pt x="969645" y="198120"/>
                </a:lnTo>
                <a:cubicBezTo>
                  <a:pt x="969645" y="219162"/>
                  <a:pt x="952587" y="236220"/>
                  <a:pt x="931545" y="236220"/>
                </a:cubicBezTo>
                <a:lnTo>
                  <a:pt x="38100" y="236220"/>
                </a:lnTo>
                <a:cubicBezTo>
                  <a:pt x="17072" y="236220"/>
                  <a:pt x="0" y="219148"/>
                  <a:pt x="0" y="198120"/>
                </a:cubicBezTo>
                <a:lnTo>
                  <a:pt x="0" y="38100"/>
                </a:lnTo>
                <a:cubicBezTo>
                  <a:pt x="0" y="17058"/>
                  <a:pt x="17058" y="0"/>
                  <a:pt x="38100" y="0"/>
                </a:cubicBezTo>
                <a:close/>
              </a:path>
            </a:pathLst>
          </a:custGeom>
          <a:solidFill>
            <a:srgbClr val="000000">
              <a:alpha val="0"/>
            </a:srgbClr>
          </a:solidFill>
          <a:ln cap="flat" cmpd="sng" w="1015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27" name="Google Shape;1327;p116"/>
          <p:cNvSpPr/>
          <p:nvPr/>
        </p:nvSpPr>
        <p:spPr>
          <a:xfrm>
            <a:off x="4926331" y="5643218"/>
            <a:ext cx="1019175" cy="228600"/>
          </a:xfrm>
          <a:prstGeom prst="rect">
            <a:avLst/>
          </a:prstGeom>
          <a:noFill/>
          <a:ln>
            <a:noFill/>
          </a:ln>
        </p:spPr>
        <p:txBody>
          <a:bodyPr anchorCtr="0" anchor="ctr" bIns="38100" lIns="38100" spcFirstLastPara="1" rIns="38100" wrap="square" tIns="38100">
            <a:noAutofit/>
          </a:bodyPr>
          <a:lstStyle/>
          <a:p>
            <a:pPr indent="0" lvl="0" marL="0" marR="0" rtl="0" algn="ctr">
              <a:lnSpc>
                <a:spcPct val="110000"/>
              </a:lnSpc>
              <a:spcBef>
                <a:spcPts val="0"/>
              </a:spcBef>
              <a:spcAft>
                <a:spcPts val="0"/>
              </a:spcAft>
              <a:buClr>
                <a:srgbClr val="0B5F9F"/>
              </a:buClr>
              <a:buSzPts val="900"/>
              <a:buFont typeface="Quattrocento Sans"/>
              <a:buNone/>
            </a:pPr>
            <a:r>
              <a:rPr b="0" i="0" lang="en-US" sz="900" u="none" cap="none" strike="noStrike">
                <a:solidFill>
                  <a:srgbClr val="0B5F9F"/>
                </a:solidFill>
                <a:latin typeface="Quattrocento Sans"/>
                <a:ea typeface="Quattrocento Sans"/>
                <a:cs typeface="Quattrocento Sans"/>
                <a:sym typeface="Quattrocento Sans"/>
              </a:rPr>
              <a:t>Cycle 0: Req 1</a:t>
            </a:r>
            <a:endParaRPr b="0" i="0" sz="1600" u="none" cap="none" strike="noStrike">
              <a:solidFill>
                <a:srgbClr val="0B5F9F"/>
              </a:solidFill>
              <a:latin typeface="Calibri"/>
              <a:ea typeface="Calibri"/>
              <a:cs typeface="Calibri"/>
              <a:sym typeface="Calibri"/>
            </a:endParaRPr>
          </a:p>
        </p:txBody>
      </p:sp>
      <p:sp>
        <p:nvSpPr>
          <p:cNvPr id="1328" name="Google Shape;1328;p116"/>
          <p:cNvSpPr/>
          <p:nvPr/>
        </p:nvSpPr>
        <p:spPr>
          <a:xfrm>
            <a:off x="4958716" y="5928853"/>
            <a:ext cx="969645" cy="236220"/>
          </a:xfrm>
          <a:custGeom>
            <a:rect b="b" l="l" r="r" t="t"/>
            <a:pathLst>
              <a:path extrusionOk="0" h="236220" w="969645">
                <a:moveTo>
                  <a:pt x="38100" y="0"/>
                </a:moveTo>
                <a:lnTo>
                  <a:pt x="931545" y="0"/>
                </a:lnTo>
                <a:cubicBezTo>
                  <a:pt x="952587" y="0"/>
                  <a:pt x="969645" y="17058"/>
                  <a:pt x="969645" y="38100"/>
                </a:cubicBezTo>
                <a:lnTo>
                  <a:pt x="969645" y="198120"/>
                </a:lnTo>
                <a:cubicBezTo>
                  <a:pt x="969645" y="219162"/>
                  <a:pt x="952587" y="236220"/>
                  <a:pt x="931545" y="236220"/>
                </a:cubicBezTo>
                <a:lnTo>
                  <a:pt x="38100" y="236220"/>
                </a:lnTo>
                <a:cubicBezTo>
                  <a:pt x="17072" y="236220"/>
                  <a:pt x="0" y="219148"/>
                  <a:pt x="0" y="198120"/>
                </a:cubicBezTo>
                <a:lnTo>
                  <a:pt x="0" y="38100"/>
                </a:lnTo>
                <a:cubicBezTo>
                  <a:pt x="0" y="17058"/>
                  <a:pt x="17058" y="0"/>
                  <a:pt x="38100" y="0"/>
                </a:cubicBezTo>
                <a:close/>
              </a:path>
            </a:pathLst>
          </a:custGeom>
          <a:solidFill>
            <a:srgbClr val="000000">
              <a:alpha val="0"/>
            </a:srgbClr>
          </a:solidFill>
          <a:ln cap="flat" cmpd="sng" w="1015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29" name="Google Shape;1329;p116"/>
          <p:cNvSpPr/>
          <p:nvPr/>
        </p:nvSpPr>
        <p:spPr>
          <a:xfrm>
            <a:off x="4926331" y="5925043"/>
            <a:ext cx="1019175" cy="228600"/>
          </a:xfrm>
          <a:prstGeom prst="rect">
            <a:avLst/>
          </a:prstGeom>
          <a:noFill/>
          <a:ln>
            <a:noFill/>
          </a:ln>
        </p:spPr>
        <p:txBody>
          <a:bodyPr anchorCtr="0" anchor="ctr" bIns="38100" lIns="38100" spcFirstLastPara="1" rIns="38100" wrap="square" tIns="38100">
            <a:noAutofit/>
          </a:bodyPr>
          <a:lstStyle/>
          <a:p>
            <a:pPr indent="0" lvl="0" marL="0" marR="0" rtl="0" algn="ctr">
              <a:lnSpc>
                <a:spcPct val="110000"/>
              </a:lnSpc>
              <a:spcBef>
                <a:spcPts val="0"/>
              </a:spcBef>
              <a:spcAft>
                <a:spcPts val="0"/>
              </a:spcAft>
              <a:buClr>
                <a:srgbClr val="0B5F9F"/>
              </a:buClr>
              <a:buSzPts val="900"/>
              <a:buFont typeface="Quattrocento Sans"/>
              <a:buNone/>
            </a:pPr>
            <a:r>
              <a:rPr b="0" i="0" lang="en-US" sz="900" u="none" cap="none" strike="noStrike">
                <a:solidFill>
                  <a:srgbClr val="0B5F9F"/>
                </a:solidFill>
                <a:latin typeface="Quattrocento Sans"/>
                <a:ea typeface="Quattrocento Sans"/>
                <a:cs typeface="Quattrocento Sans"/>
                <a:sym typeface="Quattrocento Sans"/>
              </a:rPr>
              <a:t>Cycle 1: Req 5</a:t>
            </a:r>
            <a:endParaRPr b="0" i="0" sz="1600" u="none" cap="none" strike="noStrike">
              <a:solidFill>
                <a:srgbClr val="0B5F9F"/>
              </a:solidFill>
              <a:latin typeface="Calibri"/>
              <a:ea typeface="Calibri"/>
              <a:cs typeface="Calibri"/>
              <a:sym typeface="Calibri"/>
            </a:endParaRPr>
          </a:p>
        </p:txBody>
      </p:sp>
      <p:sp>
        <p:nvSpPr>
          <p:cNvPr id="1330" name="Google Shape;1330;p116"/>
          <p:cNvSpPr/>
          <p:nvPr/>
        </p:nvSpPr>
        <p:spPr>
          <a:xfrm>
            <a:off x="6143626" y="5026002"/>
            <a:ext cx="1215390" cy="1263015"/>
          </a:xfrm>
          <a:custGeom>
            <a:rect b="b" l="l" r="r" t="t"/>
            <a:pathLst>
              <a:path extrusionOk="0" h="1263015" w="1215390">
                <a:moveTo>
                  <a:pt x="38102" y="0"/>
                </a:moveTo>
                <a:lnTo>
                  <a:pt x="1177288" y="0"/>
                </a:lnTo>
                <a:cubicBezTo>
                  <a:pt x="1198331" y="0"/>
                  <a:pt x="1215390" y="17059"/>
                  <a:pt x="1215390" y="38102"/>
                </a:cubicBezTo>
                <a:lnTo>
                  <a:pt x="1215390" y="1224913"/>
                </a:lnTo>
                <a:cubicBezTo>
                  <a:pt x="1215390" y="1245956"/>
                  <a:pt x="1198331" y="1263015"/>
                  <a:pt x="1177288" y="1263015"/>
                </a:cubicBezTo>
                <a:lnTo>
                  <a:pt x="38102" y="1263015"/>
                </a:lnTo>
                <a:cubicBezTo>
                  <a:pt x="17059" y="1263015"/>
                  <a:pt x="0" y="1245956"/>
                  <a:pt x="0" y="1224913"/>
                </a:cubicBezTo>
                <a:lnTo>
                  <a:pt x="0" y="38102"/>
                </a:lnTo>
                <a:cubicBezTo>
                  <a:pt x="0" y="17073"/>
                  <a:pt x="17073" y="0"/>
                  <a:pt x="38102" y="0"/>
                </a:cubicBezTo>
                <a:close/>
              </a:path>
            </a:pathLst>
          </a:custGeom>
          <a:solidFill>
            <a:srgbClr val="000000">
              <a:alpha val="0"/>
            </a:srgbClr>
          </a:solidFill>
          <a:ln cap="flat" cmpd="sng" w="2030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31" name="Google Shape;1331;p116"/>
          <p:cNvSpPr/>
          <p:nvPr/>
        </p:nvSpPr>
        <p:spPr>
          <a:xfrm>
            <a:off x="6227446" y="5147918"/>
            <a:ext cx="1047750" cy="2286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0B5F9F"/>
              </a:buClr>
              <a:buSzPts val="1200"/>
              <a:buFont typeface="Quattrocento Sans"/>
              <a:buNone/>
            </a:pPr>
            <a:r>
              <a:rPr b="1" i="0" lang="en-US" sz="1200" u="none" cap="none" strike="noStrike">
                <a:solidFill>
                  <a:srgbClr val="0B5F9F"/>
                </a:solidFill>
                <a:latin typeface="Quattrocento Sans"/>
                <a:ea typeface="Quattrocento Sans"/>
                <a:cs typeface="Quattrocento Sans"/>
                <a:sym typeface="Quattrocento Sans"/>
              </a:rPr>
              <a:t>Channel 2</a:t>
            </a:r>
            <a:endParaRPr b="0" i="0" sz="1600" u="none" cap="none" strike="noStrike">
              <a:solidFill>
                <a:srgbClr val="0B5F9F"/>
              </a:solidFill>
              <a:latin typeface="Calibri"/>
              <a:ea typeface="Calibri"/>
              <a:cs typeface="Calibri"/>
              <a:sym typeface="Calibri"/>
            </a:endParaRPr>
          </a:p>
        </p:txBody>
      </p:sp>
      <p:sp>
        <p:nvSpPr>
          <p:cNvPr id="1332" name="Google Shape;1332;p116"/>
          <p:cNvSpPr/>
          <p:nvPr/>
        </p:nvSpPr>
        <p:spPr>
          <a:xfrm>
            <a:off x="6232209" y="5376518"/>
            <a:ext cx="1038225" cy="190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B5F9F"/>
              </a:buClr>
              <a:buSzPts val="1050"/>
              <a:buFont typeface="Quattrocento Sans"/>
              <a:buNone/>
            </a:pPr>
            <a:r>
              <a:rPr b="0" i="0" lang="en-US" sz="1050" u="none" cap="none" strike="noStrike">
                <a:solidFill>
                  <a:srgbClr val="0B5F9F"/>
                </a:solidFill>
                <a:latin typeface="Quattrocento Sans"/>
                <a:ea typeface="Quattrocento Sans"/>
                <a:cs typeface="Quattrocento Sans"/>
                <a:sym typeface="Quattrocento Sans"/>
              </a:rPr>
              <a:t>Active</a:t>
            </a:r>
            <a:endParaRPr b="0" i="0" sz="1600" u="none" cap="none" strike="noStrike">
              <a:solidFill>
                <a:srgbClr val="0B5F9F"/>
              </a:solidFill>
              <a:latin typeface="Calibri"/>
              <a:ea typeface="Calibri"/>
              <a:cs typeface="Calibri"/>
              <a:sym typeface="Calibri"/>
            </a:endParaRPr>
          </a:p>
        </p:txBody>
      </p:sp>
      <p:sp>
        <p:nvSpPr>
          <p:cNvPr id="1333" name="Google Shape;1333;p116"/>
          <p:cNvSpPr/>
          <p:nvPr/>
        </p:nvSpPr>
        <p:spPr>
          <a:xfrm>
            <a:off x="6269356" y="5647028"/>
            <a:ext cx="969645" cy="236220"/>
          </a:xfrm>
          <a:custGeom>
            <a:rect b="b" l="l" r="r" t="t"/>
            <a:pathLst>
              <a:path extrusionOk="0" h="236220" w="969645">
                <a:moveTo>
                  <a:pt x="38100" y="0"/>
                </a:moveTo>
                <a:lnTo>
                  <a:pt x="931545" y="0"/>
                </a:lnTo>
                <a:cubicBezTo>
                  <a:pt x="952587" y="0"/>
                  <a:pt x="969645" y="17058"/>
                  <a:pt x="969645" y="38100"/>
                </a:cubicBezTo>
                <a:lnTo>
                  <a:pt x="969645" y="198120"/>
                </a:lnTo>
                <a:cubicBezTo>
                  <a:pt x="969645" y="219162"/>
                  <a:pt x="952587" y="236220"/>
                  <a:pt x="931545" y="236220"/>
                </a:cubicBezTo>
                <a:lnTo>
                  <a:pt x="38100" y="236220"/>
                </a:lnTo>
                <a:cubicBezTo>
                  <a:pt x="17072" y="236220"/>
                  <a:pt x="0" y="219148"/>
                  <a:pt x="0" y="198120"/>
                </a:cubicBezTo>
                <a:lnTo>
                  <a:pt x="0" y="38100"/>
                </a:lnTo>
                <a:cubicBezTo>
                  <a:pt x="0" y="17058"/>
                  <a:pt x="17058" y="0"/>
                  <a:pt x="38100" y="0"/>
                </a:cubicBezTo>
                <a:close/>
              </a:path>
            </a:pathLst>
          </a:custGeom>
          <a:solidFill>
            <a:srgbClr val="000000">
              <a:alpha val="0"/>
            </a:srgbClr>
          </a:solidFill>
          <a:ln cap="flat" cmpd="sng" w="1015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34" name="Google Shape;1334;p116"/>
          <p:cNvSpPr/>
          <p:nvPr/>
        </p:nvSpPr>
        <p:spPr>
          <a:xfrm>
            <a:off x="6236971" y="5643218"/>
            <a:ext cx="1019175" cy="228600"/>
          </a:xfrm>
          <a:prstGeom prst="rect">
            <a:avLst/>
          </a:prstGeom>
          <a:noFill/>
          <a:ln>
            <a:noFill/>
          </a:ln>
        </p:spPr>
        <p:txBody>
          <a:bodyPr anchorCtr="0" anchor="ctr" bIns="38100" lIns="38100" spcFirstLastPara="1" rIns="38100" wrap="square" tIns="38100">
            <a:noAutofit/>
          </a:bodyPr>
          <a:lstStyle/>
          <a:p>
            <a:pPr indent="0" lvl="0" marL="0" marR="0" rtl="0" algn="ctr">
              <a:lnSpc>
                <a:spcPct val="110000"/>
              </a:lnSpc>
              <a:spcBef>
                <a:spcPts val="0"/>
              </a:spcBef>
              <a:spcAft>
                <a:spcPts val="0"/>
              </a:spcAft>
              <a:buClr>
                <a:srgbClr val="0B5F9F"/>
              </a:buClr>
              <a:buSzPts val="900"/>
              <a:buFont typeface="Quattrocento Sans"/>
              <a:buNone/>
            </a:pPr>
            <a:r>
              <a:rPr b="0" i="0" lang="en-US" sz="900" u="none" cap="none" strike="noStrike">
                <a:solidFill>
                  <a:srgbClr val="0B5F9F"/>
                </a:solidFill>
                <a:latin typeface="Quattrocento Sans"/>
                <a:ea typeface="Quattrocento Sans"/>
                <a:cs typeface="Quattrocento Sans"/>
                <a:sym typeface="Quattrocento Sans"/>
              </a:rPr>
              <a:t>Cycle 0: Req 2</a:t>
            </a:r>
            <a:endParaRPr b="0" i="0" sz="1600" u="none" cap="none" strike="noStrike">
              <a:solidFill>
                <a:srgbClr val="0B5F9F"/>
              </a:solidFill>
              <a:latin typeface="Calibri"/>
              <a:ea typeface="Calibri"/>
              <a:cs typeface="Calibri"/>
              <a:sym typeface="Calibri"/>
            </a:endParaRPr>
          </a:p>
        </p:txBody>
      </p:sp>
      <p:sp>
        <p:nvSpPr>
          <p:cNvPr id="1335" name="Google Shape;1335;p116"/>
          <p:cNvSpPr/>
          <p:nvPr/>
        </p:nvSpPr>
        <p:spPr>
          <a:xfrm>
            <a:off x="6269356" y="5928853"/>
            <a:ext cx="969645" cy="236220"/>
          </a:xfrm>
          <a:custGeom>
            <a:rect b="b" l="l" r="r" t="t"/>
            <a:pathLst>
              <a:path extrusionOk="0" h="236220" w="969645">
                <a:moveTo>
                  <a:pt x="38100" y="0"/>
                </a:moveTo>
                <a:lnTo>
                  <a:pt x="931545" y="0"/>
                </a:lnTo>
                <a:cubicBezTo>
                  <a:pt x="952587" y="0"/>
                  <a:pt x="969645" y="17058"/>
                  <a:pt x="969645" y="38100"/>
                </a:cubicBezTo>
                <a:lnTo>
                  <a:pt x="969645" y="198120"/>
                </a:lnTo>
                <a:cubicBezTo>
                  <a:pt x="969645" y="219162"/>
                  <a:pt x="952587" y="236220"/>
                  <a:pt x="931545" y="236220"/>
                </a:cubicBezTo>
                <a:lnTo>
                  <a:pt x="38100" y="236220"/>
                </a:lnTo>
                <a:cubicBezTo>
                  <a:pt x="17072" y="236220"/>
                  <a:pt x="0" y="219148"/>
                  <a:pt x="0" y="198120"/>
                </a:cubicBezTo>
                <a:lnTo>
                  <a:pt x="0" y="38100"/>
                </a:lnTo>
                <a:cubicBezTo>
                  <a:pt x="0" y="17058"/>
                  <a:pt x="17058" y="0"/>
                  <a:pt x="38100" y="0"/>
                </a:cubicBezTo>
                <a:close/>
              </a:path>
            </a:pathLst>
          </a:custGeom>
          <a:solidFill>
            <a:srgbClr val="000000">
              <a:alpha val="0"/>
            </a:srgbClr>
          </a:solidFill>
          <a:ln cap="flat" cmpd="sng" w="1015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36" name="Google Shape;1336;p116"/>
          <p:cNvSpPr/>
          <p:nvPr/>
        </p:nvSpPr>
        <p:spPr>
          <a:xfrm>
            <a:off x="6236971" y="5925043"/>
            <a:ext cx="1019175" cy="228600"/>
          </a:xfrm>
          <a:prstGeom prst="rect">
            <a:avLst/>
          </a:prstGeom>
          <a:noFill/>
          <a:ln>
            <a:noFill/>
          </a:ln>
        </p:spPr>
        <p:txBody>
          <a:bodyPr anchorCtr="0" anchor="ctr" bIns="38100" lIns="38100" spcFirstLastPara="1" rIns="38100" wrap="square" tIns="38100">
            <a:noAutofit/>
          </a:bodyPr>
          <a:lstStyle/>
          <a:p>
            <a:pPr indent="0" lvl="0" marL="0" marR="0" rtl="0" algn="ctr">
              <a:lnSpc>
                <a:spcPct val="110000"/>
              </a:lnSpc>
              <a:spcBef>
                <a:spcPts val="0"/>
              </a:spcBef>
              <a:spcAft>
                <a:spcPts val="0"/>
              </a:spcAft>
              <a:buClr>
                <a:srgbClr val="0B5F9F"/>
              </a:buClr>
              <a:buSzPts val="900"/>
              <a:buFont typeface="Quattrocento Sans"/>
              <a:buNone/>
            </a:pPr>
            <a:r>
              <a:rPr b="0" i="0" lang="en-US" sz="900" u="none" cap="none" strike="noStrike">
                <a:solidFill>
                  <a:srgbClr val="0B5F9F"/>
                </a:solidFill>
                <a:latin typeface="Quattrocento Sans"/>
                <a:ea typeface="Quattrocento Sans"/>
                <a:cs typeface="Quattrocento Sans"/>
                <a:sym typeface="Quattrocento Sans"/>
              </a:rPr>
              <a:t>Cycle 1: Req 6</a:t>
            </a:r>
            <a:endParaRPr b="0" i="0" sz="1600" u="none" cap="none" strike="noStrike">
              <a:solidFill>
                <a:srgbClr val="0B5F9F"/>
              </a:solidFill>
              <a:latin typeface="Calibri"/>
              <a:ea typeface="Calibri"/>
              <a:cs typeface="Calibri"/>
              <a:sym typeface="Calibri"/>
            </a:endParaRPr>
          </a:p>
        </p:txBody>
      </p:sp>
      <p:sp>
        <p:nvSpPr>
          <p:cNvPr id="1337" name="Google Shape;1337;p116"/>
          <p:cNvSpPr/>
          <p:nvPr/>
        </p:nvSpPr>
        <p:spPr>
          <a:xfrm>
            <a:off x="7454266" y="5026002"/>
            <a:ext cx="1215390" cy="1263015"/>
          </a:xfrm>
          <a:custGeom>
            <a:rect b="b" l="l" r="r" t="t"/>
            <a:pathLst>
              <a:path extrusionOk="0" h="1263015" w="1215390">
                <a:moveTo>
                  <a:pt x="38102" y="0"/>
                </a:moveTo>
                <a:lnTo>
                  <a:pt x="1177288" y="0"/>
                </a:lnTo>
                <a:cubicBezTo>
                  <a:pt x="1198331" y="0"/>
                  <a:pt x="1215390" y="17059"/>
                  <a:pt x="1215390" y="38102"/>
                </a:cubicBezTo>
                <a:lnTo>
                  <a:pt x="1215390" y="1224913"/>
                </a:lnTo>
                <a:cubicBezTo>
                  <a:pt x="1215390" y="1245956"/>
                  <a:pt x="1198331" y="1263015"/>
                  <a:pt x="1177288" y="1263015"/>
                </a:cubicBezTo>
                <a:lnTo>
                  <a:pt x="38102" y="1263015"/>
                </a:lnTo>
                <a:cubicBezTo>
                  <a:pt x="17059" y="1263015"/>
                  <a:pt x="0" y="1245956"/>
                  <a:pt x="0" y="1224913"/>
                </a:cubicBezTo>
                <a:lnTo>
                  <a:pt x="0" y="38102"/>
                </a:lnTo>
                <a:cubicBezTo>
                  <a:pt x="0" y="17073"/>
                  <a:pt x="17073" y="0"/>
                  <a:pt x="38102" y="0"/>
                </a:cubicBezTo>
                <a:close/>
              </a:path>
            </a:pathLst>
          </a:custGeom>
          <a:solidFill>
            <a:srgbClr val="000000">
              <a:alpha val="0"/>
            </a:srgbClr>
          </a:solidFill>
          <a:ln cap="flat" cmpd="sng" w="2030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38" name="Google Shape;1338;p116"/>
          <p:cNvSpPr/>
          <p:nvPr/>
        </p:nvSpPr>
        <p:spPr>
          <a:xfrm>
            <a:off x="7538087" y="5147918"/>
            <a:ext cx="1047750" cy="2286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0B5F9F"/>
              </a:buClr>
              <a:buSzPts val="1200"/>
              <a:buFont typeface="Quattrocento Sans"/>
              <a:buNone/>
            </a:pPr>
            <a:r>
              <a:rPr b="1" i="0" lang="en-US" sz="1200" u="none" cap="none" strike="noStrike">
                <a:solidFill>
                  <a:srgbClr val="0B5F9F"/>
                </a:solidFill>
                <a:latin typeface="Quattrocento Sans"/>
                <a:ea typeface="Quattrocento Sans"/>
                <a:cs typeface="Quattrocento Sans"/>
                <a:sym typeface="Quattrocento Sans"/>
              </a:rPr>
              <a:t>Channel 3</a:t>
            </a:r>
            <a:endParaRPr b="0" i="0" sz="1600" u="none" cap="none" strike="noStrike">
              <a:solidFill>
                <a:srgbClr val="0B5F9F"/>
              </a:solidFill>
              <a:latin typeface="Calibri"/>
              <a:ea typeface="Calibri"/>
              <a:cs typeface="Calibri"/>
              <a:sym typeface="Calibri"/>
            </a:endParaRPr>
          </a:p>
        </p:txBody>
      </p:sp>
      <p:sp>
        <p:nvSpPr>
          <p:cNvPr id="1339" name="Google Shape;1339;p116"/>
          <p:cNvSpPr/>
          <p:nvPr/>
        </p:nvSpPr>
        <p:spPr>
          <a:xfrm>
            <a:off x="7542849" y="5376518"/>
            <a:ext cx="1038225" cy="190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B5F9F"/>
              </a:buClr>
              <a:buSzPts val="1050"/>
              <a:buFont typeface="Quattrocento Sans"/>
              <a:buNone/>
            </a:pPr>
            <a:r>
              <a:rPr b="0" i="0" lang="en-US" sz="1050" u="none" cap="none" strike="noStrike">
                <a:solidFill>
                  <a:srgbClr val="0B5F9F"/>
                </a:solidFill>
                <a:latin typeface="Quattrocento Sans"/>
                <a:ea typeface="Quattrocento Sans"/>
                <a:cs typeface="Quattrocento Sans"/>
                <a:sym typeface="Quattrocento Sans"/>
              </a:rPr>
              <a:t>Active</a:t>
            </a:r>
            <a:endParaRPr b="0" i="0" sz="1600" u="none" cap="none" strike="noStrike">
              <a:solidFill>
                <a:srgbClr val="0B5F9F"/>
              </a:solidFill>
              <a:latin typeface="Calibri"/>
              <a:ea typeface="Calibri"/>
              <a:cs typeface="Calibri"/>
              <a:sym typeface="Calibri"/>
            </a:endParaRPr>
          </a:p>
        </p:txBody>
      </p:sp>
      <p:sp>
        <p:nvSpPr>
          <p:cNvPr id="1340" name="Google Shape;1340;p116"/>
          <p:cNvSpPr/>
          <p:nvPr/>
        </p:nvSpPr>
        <p:spPr>
          <a:xfrm>
            <a:off x="7579997" y="5647028"/>
            <a:ext cx="969645" cy="236220"/>
          </a:xfrm>
          <a:custGeom>
            <a:rect b="b" l="l" r="r" t="t"/>
            <a:pathLst>
              <a:path extrusionOk="0" h="236220" w="969645">
                <a:moveTo>
                  <a:pt x="38100" y="0"/>
                </a:moveTo>
                <a:lnTo>
                  <a:pt x="931545" y="0"/>
                </a:lnTo>
                <a:cubicBezTo>
                  <a:pt x="952587" y="0"/>
                  <a:pt x="969645" y="17058"/>
                  <a:pt x="969645" y="38100"/>
                </a:cubicBezTo>
                <a:lnTo>
                  <a:pt x="969645" y="198120"/>
                </a:lnTo>
                <a:cubicBezTo>
                  <a:pt x="969645" y="219162"/>
                  <a:pt x="952587" y="236220"/>
                  <a:pt x="931545" y="236220"/>
                </a:cubicBezTo>
                <a:lnTo>
                  <a:pt x="38100" y="236220"/>
                </a:lnTo>
                <a:cubicBezTo>
                  <a:pt x="17072" y="236220"/>
                  <a:pt x="0" y="219148"/>
                  <a:pt x="0" y="198120"/>
                </a:cubicBezTo>
                <a:lnTo>
                  <a:pt x="0" y="38100"/>
                </a:lnTo>
                <a:cubicBezTo>
                  <a:pt x="0" y="17058"/>
                  <a:pt x="17058" y="0"/>
                  <a:pt x="38100" y="0"/>
                </a:cubicBezTo>
                <a:close/>
              </a:path>
            </a:pathLst>
          </a:custGeom>
          <a:solidFill>
            <a:schemeClr val="lt1">
              <a:alpha val="0"/>
            </a:schemeClr>
          </a:solidFill>
          <a:ln cap="flat" cmpd="sng" w="1015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41" name="Google Shape;1341;p116"/>
          <p:cNvSpPr/>
          <p:nvPr/>
        </p:nvSpPr>
        <p:spPr>
          <a:xfrm>
            <a:off x="7547612" y="5643218"/>
            <a:ext cx="1019175" cy="228600"/>
          </a:xfrm>
          <a:prstGeom prst="rect">
            <a:avLst/>
          </a:prstGeom>
          <a:noFill/>
          <a:ln>
            <a:noFill/>
          </a:ln>
        </p:spPr>
        <p:txBody>
          <a:bodyPr anchorCtr="0" anchor="ctr" bIns="38100" lIns="38100" spcFirstLastPara="1" rIns="38100" wrap="square" tIns="38100">
            <a:noAutofit/>
          </a:bodyPr>
          <a:lstStyle/>
          <a:p>
            <a:pPr indent="0" lvl="0" marL="0" marR="0" rtl="0" algn="ctr">
              <a:lnSpc>
                <a:spcPct val="110000"/>
              </a:lnSpc>
              <a:spcBef>
                <a:spcPts val="0"/>
              </a:spcBef>
              <a:spcAft>
                <a:spcPts val="0"/>
              </a:spcAft>
              <a:buClr>
                <a:srgbClr val="0B5F9F"/>
              </a:buClr>
              <a:buSzPts val="900"/>
              <a:buFont typeface="Quattrocento Sans"/>
              <a:buNone/>
            </a:pPr>
            <a:r>
              <a:rPr b="0" i="0" lang="en-US" sz="900" u="none" cap="none" strike="noStrike">
                <a:solidFill>
                  <a:srgbClr val="0B5F9F"/>
                </a:solidFill>
                <a:latin typeface="Quattrocento Sans"/>
                <a:ea typeface="Quattrocento Sans"/>
                <a:cs typeface="Quattrocento Sans"/>
                <a:sym typeface="Quattrocento Sans"/>
              </a:rPr>
              <a:t>Cycle 0: Req 3</a:t>
            </a:r>
            <a:endParaRPr b="0" i="0" sz="1600" u="none" cap="none" strike="noStrike">
              <a:solidFill>
                <a:srgbClr val="0B5F9F"/>
              </a:solidFill>
              <a:latin typeface="Calibri"/>
              <a:ea typeface="Calibri"/>
              <a:cs typeface="Calibri"/>
              <a:sym typeface="Calibri"/>
            </a:endParaRPr>
          </a:p>
        </p:txBody>
      </p:sp>
      <p:sp>
        <p:nvSpPr>
          <p:cNvPr id="1342" name="Google Shape;1342;p116"/>
          <p:cNvSpPr/>
          <p:nvPr/>
        </p:nvSpPr>
        <p:spPr>
          <a:xfrm>
            <a:off x="7579997" y="5928853"/>
            <a:ext cx="969645" cy="236220"/>
          </a:xfrm>
          <a:custGeom>
            <a:rect b="b" l="l" r="r" t="t"/>
            <a:pathLst>
              <a:path extrusionOk="0" h="236220" w="969645">
                <a:moveTo>
                  <a:pt x="38100" y="0"/>
                </a:moveTo>
                <a:lnTo>
                  <a:pt x="931545" y="0"/>
                </a:lnTo>
                <a:cubicBezTo>
                  <a:pt x="952587" y="0"/>
                  <a:pt x="969645" y="17058"/>
                  <a:pt x="969645" y="38100"/>
                </a:cubicBezTo>
                <a:lnTo>
                  <a:pt x="969645" y="198120"/>
                </a:lnTo>
                <a:cubicBezTo>
                  <a:pt x="969645" y="219162"/>
                  <a:pt x="952587" y="236220"/>
                  <a:pt x="931545" y="236220"/>
                </a:cubicBezTo>
                <a:lnTo>
                  <a:pt x="38100" y="236220"/>
                </a:lnTo>
                <a:cubicBezTo>
                  <a:pt x="17072" y="236220"/>
                  <a:pt x="0" y="219148"/>
                  <a:pt x="0" y="198120"/>
                </a:cubicBezTo>
                <a:lnTo>
                  <a:pt x="0" y="38100"/>
                </a:lnTo>
                <a:cubicBezTo>
                  <a:pt x="0" y="17058"/>
                  <a:pt x="17058" y="0"/>
                  <a:pt x="38100" y="0"/>
                </a:cubicBezTo>
                <a:close/>
              </a:path>
            </a:pathLst>
          </a:custGeom>
          <a:solidFill>
            <a:schemeClr val="lt1">
              <a:alpha val="0"/>
            </a:schemeClr>
          </a:solidFill>
          <a:ln cap="flat" cmpd="sng" w="1015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43" name="Google Shape;1343;p116"/>
          <p:cNvSpPr/>
          <p:nvPr/>
        </p:nvSpPr>
        <p:spPr>
          <a:xfrm>
            <a:off x="7547612" y="5925043"/>
            <a:ext cx="1019175" cy="228600"/>
          </a:xfrm>
          <a:prstGeom prst="rect">
            <a:avLst/>
          </a:prstGeom>
          <a:noFill/>
          <a:ln>
            <a:noFill/>
          </a:ln>
        </p:spPr>
        <p:txBody>
          <a:bodyPr anchorCtr="0" anchor="ctr" bIns="38100" lIns="38100" spcFirstLastPara="1" rIns="38100" wrap="square" tIns="38100">
            <a:noAutofit/>
          </a:bodyPr>
          <a:lstStyle/>
          <a:p>
            <a:pPr indent="0" lvl="0" marL="0" marR="0" rtl="0" algn="ctr">
              <a:lnSpc>
                <a:spcPct val="110000"/>
              </a:lnSpc>
              <a:spcBef>
                <a:spcPts val="0"/>
              </a:spcBef>
              <a:spcAft>
                <a:spcPts val="0"/>
              </a:spcAft>
              <a:buClr>
                <a:srgbClr val="0B5F9F"/>
              </a:buClr>
              <a:buSzPts val="900"/>
              <a:buFont typeface="Quattrocento Sans"/>
              <a:buNone/>
            </a:pPr>
            <a:r>
              <a:rPr b="0" i="0" lang="en-US" sz="900" u="none" cap="none" strike="noStrike">
                <a:solidFill>
                  <a:srgbClr val="0B5F9F"/>
                </a:solidFill>
                <a:latin typeface="Quattrocento Sans"/>
                <a:ea typeface="Quattrocento Sans"/>
                <a:cs typeface="Quattrocento Sans"/>
                <a:sym typeface="Quattrocento Sans"/>
              </a:rPr>
              <a:t>Cycle 1: Req 7</a:t>
            </a:r>
            <a:endParaRPr b="0" i="0" sz="1600" u="none" cap="none" strike="noStrike">
              <a:solidFill>
                <a:srgbClr val="0B5F9F"/>
              </a:solidFill>
              <a:latin typeface="Calibri"/>
              <a:ea typeface="Calibri"/>
              <a:cs typeface="Calibri"/>
              <a:sym typeface="Calibri"/>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p117"/>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600"/>
              <a:buFont typeface="Times New Roman"/>
              <a:buNone/>
            </a:pPr>
            <a:r>
              <a:rPr i="0" lang="en-US" sz="3600">
                <a:latin typeface="Times New Roman"/>
                <a:ea typeface="Times New Roman"/>
                <a:cs typeface="Times New Roman"/>
                <a:sym typeface="Times New Roman"/>
              </a:rPr>
              <a:t>Performance Optimization</a:t>
            </a:r>
            <a:endParaRPr/>
          </a:p>
        </p:txBody>
      </p:sp>
      <p:sp>
        <p:nvSpPr>
          <p:cNvPr id="1349" name="Google Shape;1349;p117"/>
          <p:cNvSpPr txBox="1"/>
          <p:nvPr>
            <p:ph idx="1" type="body"/>
          </p:nvPr>
        </p:nvSpPr>
        <p:spPr>
          <a:xfrm>
            <a:off x="644747" y="1487621"/>
            <a:ext cx="11547253" cy="912956"/>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B5F9F"/>
              </a:buClr>
              <a:buSzPts val="2600"/>
              <a:buFont typeface="Calibri"/>
              <a:buNone/>
            </a:pPr>
            <a:r>
              <a:rPr i="1" lang="en-US" sz="2600">
                <a:latin typeface="Calibri"/>
                <a:ea typeface="Calibri"/>
                <a:cs typeface="Calibri"/>
                <a:sym typeface="Calibri"/>
              </a:rPr>
              <a:t>Performance Impact:</a:t>
            </a:r>
            <a:endParaRPr/>
          </a:p>
          <a:p>
            <a:pPr indent="0" lvl="0" marL="0" rtl="0" algn="l">
              <a:spcBef>
                <a:spcPts val="480"/>
              </a:spcBef>
              <a:spcAft>
                <a:spcPts val="0"/>
              </a:spcAft>
              <a:buSzPts val="2400"/>
              <a:buNone/>
            </a:pPr>
            <a:r>
              <a:rPr b="0" lang="en-US" sz="2400">
                <a:solidFill>
                  <a:schemeClr val="dk1"/>
                </a:solidFill>
                <a:latin typeface="Times New Roman"/>
                <a:ea typeface="Times New Roman"/>
                <a:cs typeface="Times New Roman"/>
                <a:sym typeface="Times New Roman"/>
              </a:rPr>
              <a:t>Scheduler improves memory throughput and reduces pipeline blocking</a:t>
            </a:r>
            <a:r>
              <a:rPr lang="en-US" sz="2000"/>
              <a:t>.</a:t>
            </a:r>
            <a:endParaRPr/>
          </a:p>
        </p:txBody>
      </p:sp>
      <p:sp>
        <p:nvSpPr>
          <p:cNvPr id="1350" name="Google Shape;1350;p117"/>
          <p:cNvSpPr/>
          <p:nvPr/>
        </p:nvSpPr>
        <p:spPr>
          <a:xfrm>
            <a:off x="644748" y="2295526"/>
            <a:ext cx="6565676" cy="1340233"/>
          </a:xfrm>
          <a:prstGeom prst="rect">
            <a:avLst/>
          </a:prstGeom>
          <a:noFill/>
          <a:ln>
            <a:noFill/>
          </a:ln>
        </p:spPr>
        <p:txBody>
          <a:bodyPr anchorCtr="0" anchor="ctr" bIns="71975" lIns="71975" spcFirstLastPara="1" rIns="71975" wrap="square" tIns="71975">
            <a:noAutofit/>
          </a:bodyPr>
          <a:lstStyle/>
          <a:p>
            <a:pPr indent="0" lvl="0" marL="0" marR="0" rtl="0" algn="l">
              <a:lnSpc>
                <a:spcPct val="130000"/>
              </a:lnSpc>
              <a:spcBef>
                <a:spcPts val="0"/>
              </a:spcBef>
              <a:spcAft>
                <a:spcPts val="0"/>
              </a:spcAft>
              <a:buNone/>
            </a:pPr>
            <a:r>
              <a:t/>
            </a:r>
            <a:endParaRPr sz="2800">
              <a:solidFill>
                <a:schemeClr val="dk1"/>
              </a:solidFill>
              <a:latin typeface="Meddon"/>
              <a:ea typeface="Meddon"/>
              <a:cs typeface="Meddon"/>
              <a:sym typeface="Meddon"/>
            </a:endParaRPr>
          </a:p>
        </p:txBody>
      </p:sp>
      <p:sp>
        <p:nvSpPr>
          <p:cNvPr id="1351" name="Google Shape;1351;p117"/>
          <p:cNvSpPr txBox="1"/>
          <p:nvPr/>
        </p:nvSpPr>
        <p:spPr>
          <a:xfrm>
            <a:off x="6418373" y="3349345"/>
            <a:ext cx="4424558" cy="1796396"/>
          </a:xfrm>
          <a:prstGeom prst="rect">
            <a:avLst/>
          </a:prstGeom>
          <a:noFill/>
          <a:ln>
            <a:noFill/>
          </a:ln>
        </p:spPr>
        <p:txBody>
          <a:bodyPr anchorCtr="0" anchor="t" bIns="45700" lIns="91425" spcFirstLastPara="1" rIns="91425" wrap="square" tIns="45700">
            <a:noAutofit/>
          </a:bodyPr>
          <a:lstStyle/>
          <a:p>
            <a:pPr indent="-342900" lvl="0" marL="342900" marR="0" rtl="0" algn="l">
              <a:lnSpc>
                <a:spcPct val="130000"/>
              </a:lnSpc>
              <a:spcBef>
                <a:spcPts val="0"/>
              </a:spcBef>
              <a:spcAft>
                <a:spcPts val="0"/>
              </a:spcAft>
              <a:buClr>
                <a:srgbClr val="5D5D5E"/>
              </a:buClr>
              <a:buSzPts val="2000"/>
              <a:buFont typeface="Arial"/>
              <a:buChar char="•"/>
            </a:pPr>
            <a:r>
              <a:rPr b="1" i="1" lang="en-US" sz="2000">
                <a:solidFill>
                  <a:srgbClr val="0B5F9F"/>
                </a:solidFill>
                <a:latin typeface="Quattrocento Sans"/>
                <a:ea typeface="Quattrocento Sans"/>
                <a:cs typeface="Quattrocento Sans"/>
                <a:sym typeface="Quattrocento Sans"/>
              </a:rPr>
              <a:t>Higher memory-level parallelism.</a:t>
            </a:r>
            <a:endParaRPr/>
          </a:p>
          <a:p>
            <a:pPr indent="-342900" lvl="0" marL="342900" marR="0" rtl="0" algn="l">
              <a:lnSpc>
                <a:spcPct val="130000"/>
              </a:lnSpc>
              <a:spcBef>
                <a:spcPts val="0"/>
              </a:spcBef>
              <a:spcAft>
                <a:spcPts val="0"/>
              </a:spcAft>
              <a:buClr>
                <a:srgbClr val="5D5D5E"/>
              </a:buClr>
              <a:buSzPts val="2000"/>
              <a:buFont typeface="Arial"/>
              <a:buChar char="•"/>
            </a:pPr>
            <a:r>
              <a:rPr b="1" i="1" lang="en-US" sz="2000">
                <a:solidFill>
                  <a:srgbClr val="0B5F9F"/>
                </a:solidFill>
                <a:latin typeface="Quattrocento Sans"/>
                <a:ea typeface="Quattrocento Sans"/>
                <a:cs typeface="Quattrocento Sans"/>
                <a:sym typeface="Quattrocento Sans"/>
              </a:rPr>
              <a:t>Reduced queue stalls.</a:t>
            </a:r>
            <a:endParaRPr/>
          </a:p>
          <a:p>
            <a:pPr indent="-342900" lvl="0" marL="342900" marR="0" rtl="0" algn="l">
              <a:lnSpc>
                <a:spcPct val="130000"/>
              </a:lnSpc>
              <a:spcBef>
                <a:spcPts val="0"/>
              </a:spcBef>
              <a:spcAft>
                <a:spcPts val="0"/>
              </a:spcAft>
              <a:buClr>
                <a:srgbClr val="5D5D5E"/>
              </a:buClr>
              <a:buSzPts val="2000"/>
              <a:buFont typeface="Arial"/>
              <a:buChar char="•"/>
            </a:pPr>
            <a:r>
              <a:rPr b="1" i="1" lang="en-US" sz="2000">
                <a:solidFill>
                  <a:srgbClr val="0B5F9F"/>
                </a:solidFill>
                <a:latin typeface="Quattrocento Sans"/>
                <a:ea typeface="Quattrocento Sans"/>
                <a:cs typeface="Quattrocento Sans"/>
                <a:sym typeface="Quattrocento Sans"/>
              </a:rPr>
              <a:t>Better channel utilization.</a:t>
            </a:r>
            <a:endParaRPr/>
          </a:p>
          <a:p>
            <a:pPr indent="-342900" lvl="0" marL="342900" marR="0" rtl="0" algn="l">
              <a:lnSpc>
                <a:spcPct val="130000"/>
              </a:lnSpc>
              <a:spcBef>
                <a:spcPts val="0"/>
              </a:spcBef>
              <a:spcAft>
                <a:spcPts val="0"/>
              </a:spcAft>
              <a:buClr>
                <a:srgbClr val="5D5D5E"/>
              </a:buClr>
              <a:buSzPts val="2000"/>
              <a:buFont typeface="Arial"/>
              <a:buChar char="•"/>
            </a:pPr>
            <a:r>
              <a:rPr b="1" i="1" lang="en-US" sz="2000">
                <a:solidFill>
                  <a:srgbClr val="0B5F9F"/>
                </a:solidFill>
                <a:latin typeface="Quattrocento Sans"/>
                <a:ea typeface="Quattrocento Sans"/>
                <a:cs typeface="Quattrocento Sans"/>
                <a:sym typeface="Quattrocento Sans"/>
              </a:rPr>
              <a:t>Improved overall throughput.</a:t>
            </a:r>
            <a:endParaRPr/>
          </a:p>
        </p:txBody>
      </p:sp>
      <p:pic>
        <p:nvPicPr>
          <p:cNvPr descr="A traffic light with arrows pointing to the top&#10;&#10;Description automatically generated" id="1352" name="Google Shape;1352;p117"/>
          <p:cNvPicPr preferRelativeResize="0"/>
          <p:nvPr/>
        </p:nvPicPr>
        <p:blipFill rotWithShape="1">
          <a:blip r:embed="rId3">
            <a:alphaModFix/>
          </a:blip>
          <a:srcRect b="0" l="0" r="0" t="0"/>
          <a:stretch/>
        </p:blipFill>
        <p:spPr>
          <a:xfrm>
            <a:off x="2062406" y="2743228"/>
            <a:ext cx="2938309" cy="2960825"/>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sp>
        <p:nvSpPr>
          <p:cNvPr id="1357" name="Google Shape;1357;p118"/>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600"/>
              <a:buFont typeface="Times New Roman"/>
              <a:buNone/>
            </a:pPr>
            <a:r>
              <a:rPr i="0" lang="en-US" sz="3600">
                <a:latin typeface="Times New Roman"/>
                <a:ea typeface="Times New Roman"/>
                <a:cs typeface="Times New Roman"/>
                <a:sym typeface="Times New Roman"/>
              </a:rPr>
              <a:t>The Index Buffer Mechanism</a:t>
            </a:r>
            <a:endParaRPr/>
          </a:p>
        </p:txBody>
      </p:sp>
      <p:sp>
        <p:nvSpPr>
          <p:cNvPr id="1358" name="Google Shape;1358;p118"/>
          <p:cNvSpPr txBox="1"/>
          <p:nvPr>
            <p:ph idx="1" type="body"/>
          </p:nvPr>
        </p:nvSpPr>
        <p:spPr>
          <a:xfrm>
            <a:off x="644747" y="1487621"/>
            <a:ext cx="1994281" cy="42220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600"/>
              <a:buNone/>
            </a:pPr>
            <a:r>
              <a:rPr i="1" lang="en-US" sz="2600">
                <a:latin typeface="Calibri"/>
                <a:ea typeface="Calibri"/>
                <a:cs typeface="Calibri"/>
                <a:sym typeface="Calibri"/>
              </a:rPr>
              <a:t>Index Buffer:</a:t>
            </a:r>
            <a:endParaRPr/>
          </a:p>
          <a:p>
            <a:pPr indent="0" lvl="0" marL="0" rtl="0" algn="l">
              <a:spcBef>
                <a:spcPts val="520"/>
              </a:spcBef>
              <a:spcAft>
                <a:spcPts val="0"/>
              </a:spcAft>
              <a:buSzPts val="2600"/>
              <a:buNone/>
            </a:pPr>
            <a:br>
              <a:rPr i="1" lang="en-US" sz="2600">
                <a:latin typeface="Calibri"/>
                <a:ea typeface="Calibri"/>
                <a:cs typeface="Calibri"/>
                <a:sym typeface="Calibri"/>
              </a:rPr>
            </a:br>
            <a:endParaRPr i="1" sz="2600">
              <a:latin typeface="Calibri"/>
              <a:ea typeface="Calibri"/>
              <a:cs typeface="Calibri"/>
              <a:sym typeface="Calibri"/>
            </a:endParaRPr>
          </a:p>
        </p:txBody>
      </p:sp>
      <p:sp>
        <p:nvSpPr>
          <p:cNvPr id="1359" name="Google Shape;1359;p118"/>
          <p:cNvSpPr/>
          <p:nvPr/>
        </p:nvSpPr>
        <p:spPr>
          <a:xfrm>
            <a:off x="644748" y="2295526"/>
            <a:ext cx="6565676" cy="1340233"/>
          </a:xfrm>
          <a:prstGeom prst="rect">
            <a:avLst/>
          </a:prstGeom>
          <a:noFill/>
          <a:ln>
            <a:noFill/>
          </a:ln>
        </p:spPr>
        <p:txBody>
          <a:bodyPr anchorCtr="0" anchor="ctr" bIns="71975" lIns="71975" spcFirstLastPara="1" rIns="71975" wrap="square" tIns="71975">
            <a:noAutofit/>
          </a:bodyPr>
          <a:lstStyle/>
          <a:p>
            <a:pPr indent="0" lvl="0" marL="0" marR="0" rtl="0" algn="l">
              <a:lnSpc>
                <a:spcPct val="130000"/>
              </a:lnSpc>
              <a:spcBef>
                <a:spcPts val="0"/>
              </a:spcBef>
              <a:spcAft>
                <a:spcPts val="0"/>
              </a:spcAft>
              <a:buNone/>
            </a:pPr>
            <a:r>
              <a:t/>
            </a:r>
            <a:endParaRPr sz="2800">
              <a:solidFill>
                <a:schemeClr val="dk1"/>
              </a:solidFill>
              <a:latin typeface="Meddon"/>
              <a:ea typeface="Meddon"/>
              <a:cs typeface="Meddon"/>
              <a:sym typeface="Meddon"/>
            </a:endParaRPr>
          </a:p>
        </p:txBody>
      </p:sp>
      <p:sp>
        <p:nvSpPr>
          <p:cNvPr id="1360" name="Google Shape;1360;p118"/>
          <p:cNvSpPr txBox="1"/>
          <p:nvPr/>
        </p:nvSpPr>
        <p:spPr>
          <a:xfrm>
            <a:off x="644745" y="1871025"/>
            <a:ext cx="7746901" cy="95369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600"/>
              <a:buFont typeface="Arial"/>
              <a:buNone/>
            </a:pPr>
            <a:r>
              <a:rPr b="1" i="1" lang="en-US" sz="2600">
                <a:solidFill>
                  <a:srgbClr val="0B5F9F"/>
                </a:solidFill>
                <a:latin typeface="Calibri"/>
                <a:ea typeface="Calibri"/>
                <a:cs typeface="Calibri"/>
                <a:sym typeface="Calibri"/>
              </a:rPr>
              <a:t>Purpose:</a:t>
            </a:r>
            <a:endParaRPr/>
          </a:p>
          <a:p>
            <a:pPr indent="0" lvl="0" marL="0" marR="0" rtl="0" algn="l">
              <a:spcBef>
                <a:spcPts val="480"/>
              </a:spcBef>
              <a:spcAft>
                <a:spcPts val="0"/>
              </a:spcAft>
              <a:buClr>
                <a:srgbClr val="5D5D5E"/>
              </a:buClr>
              <a:buSzPts val="2400"/>
              <a:buFont typeface="Arial"/>
              <a:buNone/>
            </a:pPr>
            <a:r>
              <a:rPr b="0" lang="en-US" sz="2400">
                <a:solidFill>
                  <a:schemeClr val="dk1"/>
                </a:solidFill>
                <a:latin typeface="Times New Roman"/>
                <a:ea typeface="Times New Roman"/>
                <a:cs typeface="Times New Roman"/>
                <a:sym typeface="Times New Roman"/>
              </a:rPr>
              <a:t>Stores metadata to reconstruct each in-flight memory request.</a:t>
            </a:r>
            <a:endParaRPr/>
          </a:p>
        </p:txBody>
      </p:sp>
      <p:sp>
        <p:nvSpPr>
          <p:cNvPr id="1361" name="Google Shape;1361;p118"/>
          <p:cNvSpPr txBox="1"/>
          <p:nvPr/>
        </p:nvSpPr>
        <p:spPr>
          <a:xfrm>
            <a:off x="644745" y="2717355"/>
            <a:ext cx="7920521" cy="134023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600"/>
              <a:buFont typeface="Arial"/>
              <a:buNone/>
            </a:pPr>
            <a:r>
              <a:rPr b="1" i="1" lang="en-US" sz="2600">
                <a:solidFill>
                  <a:srgbClr val="0B5F9F"/>
                </a:solidFill>
                <a:latin typeface="Calibri"/>
                <a:ea typeface="Calibri"/>
                <a:cs typeface="Calibri"/>
                <a:sym typeface="Calibri"/>
              </a:rPr>
              <a:t>What it Tracks:</a:t>
            </a:r>
            <a:endParaRPr/>
          </a:p>
          <a:p>
            <a:pPr indent="0" lvl="0" marL="0" marR="0" rtl="0" algn="l">
              <a:spcBef>
                <a:spcPts val="480"/>
              </a:spcBef>
              <a:spcAft>
                <a:spcPts val="0"/>
              </a:spcAft>
              <a:buClr>
                <a:srgbClr val="5D5D5E"/>
              </a:buClr>
              <a:buSzPts val="2400"/>
              <a:buFont typeface="Arial"/>
              <a:buNone/>
            </a:pPr>
            <a:r>
              <a:rPr b="0" lang="en-US" sz="2400">
                <a:solidFill>
                  <a:schemeClr val="dk1"/>
                </a:solidFill>
                <a:latin typeface="Times New Roman"/>
                <a:ea typeface="Times New Roman"/>
                <a:cs typeface="Times New Roman"/>
                <a:sym typeface="Times New Roman"/>
              </a:rPr>
              <a:t>Thread/format info + byte offsets/masks + completion status.</a:t>
            </a:r>
            <a:endParaRPr/>
          </a:p>
          <a:p>
            <a:pPr indent="0" lvl="0" marL="0" marR="0" rtl="0" algn="l">
              <a:lnSpc>
                <a:spcPct val="130000"/>
              </a:lnSpc>
              <a:spcBef>
                <a:spcPts val="0"/>
              </a:spcBef>
              <a:spcAft>
                <a:spcPts val="0"/>
              </a:spcAft>
              <a:buClr>
                <a:srgbClr val="0B5F9F"/>
              </a:buClr>
              <a:buSzPts val="2400"/>
              <a:buFont typeface="Arial"/>
              <a:buNone/>
            </a:pPr>
            <a:r>
              <a:t/>
            </a:r>
            <a:endParaRPr b="0" sz="2400">
              <a:solidFill>
                <a:schemeClr val="dk1"/>
              </a:solidFill>
              <a:latin typeface="Times New Roman"/>
              <a:ea typeface="Times New Roman"/>
              <a:cs typeface="Times New Roman"/>
              <a:sym typeface="Times New Roman"/>
            </a:endParaRPr>
          </a:p>
        </p:txBody>
      </p:sp>
      <p:sp>
        <p:nvSpPr>
          <p:cNvPr id="1362" name="Google Shape;1362;p118"/>
          <p:cNvSpPr txBox="1"/>
          <p:nvPr/>
        </p:nvSpPr>
        <p:spPr>
          <a:xfrm>
            <a:off x="644746" y="3689641"/>
            <a:ext cx="8915944" cy="87207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600"/>
              <a:buFont typeface="Arial"/>
              <a:buNone/>
            </a:pPr>
            <a:r>
              <a:rPr b="1" i="1" lang="en-US" sz="2600">
                <a:solidFill>
                  <a:srgbClr val="0B5F9F"/>
                </a:solidFill>
                <a:latin typeface="Calibri"/>
                <a:ea typeface="Calibri"/>
                <a:cs typeface="Calibri"/>
                <a:sym typeface="Calibri"/>
              </a:rPr>
              <a:t>Why Needed?</a:t>
            </a:r>
            <a:endParaRPr/>
          </a:p>
          <a:p>
            <a:pPr indent="0" lvl="0" marL="0" marR="0" rtl="0" algn="l">
              <a:spcBef>
                <a:spcPts val="480"/>
              </a:spcBef>
              <a:spcAft>
                <a:spcPts val="0"/>
              </a:spcAft>
              <a:buClr>
                <a:srgbClr val="5D5D5E"/>
              </a:buClr>
              <a:buSzPts val="2400"/>
              <a:buFont typeface="Arial"/>
              <a:buNone/>
            </a:pPr>
            <a:r>
              <a:rPr b="0" lang="en-US" sz="2400">
                <a:solidFill>
                  <a:schemeClr val="dk1"/>
                </a:solidFill>
                <a:latin typeface="Times New Roman"/>
                <a:ea typeface="Times New Roman"/>
                <a:cs typeface="Times New Roman"/>
                <a:sym typeface="Times New Roman"/>
              </a:rPr>
              <a:t>Handles long latency, out-of-order returns, and multi-threaded requests.</a:t>
            </a:r>
            <a:endParaRPr/>
          </a:p>
        </p:txBody>
      </p:sp>
      <p:sp>
        <p:nvSpPr>
          <p:cNvPr id="1363" name="Google Shape;1363;p118"/>
          <p:cNvSpPr/>
          <p:nvPr/>
        </p:nvSpPr>
        <p:spPr>
          <a:xfrm>
            <a:off x="7923959" y="5318450"/>
            <a:ext cx="1636731" cy="492502"/>
          </a:xfrm>
          <a:custGeom>
            <a:rect b="b" l="l" r="r" t="t"/>
            <a:pathLst>
              <a:path extrusionOk="0" h="996950" w="5640387">
                <a:moveTo>
                  <a:pt x="63496" y="0"/>
                </a:moveTo>
                <a:lnTo>
                  <a:pt x="5576892" y="0"/>
                </a:lnTo>
                <a:cubicBezTo>
                  <a:pt x="5611959" y="0"/>
                  <a:pt x="5640387" y="28428"/>
                  <a:pt x="5640387" y="63496"/>
                </a:cubicBezTo>
                <a:lnTo>
                  <a:pt x="5640387" y="933454"/>
                </a:lnTo>
                <a:cubicBezTo>
                  <a:pt x="5640387" y="968522"/>
                  <a:pt x="5611959" y="996950"/>
                  <a:pt x="5576892" y="996950"/>
                </a:cubicBezTo>
                <a:lnTo>
                  <a:pt x="63496" y="996950"/>
                </a:lnTo>
                <a:cubicBezTo>
                  <a:pt x="28428" y="996950"/>
                  <a:pt x="0" y="968522"/>
                  <a:pt x="0" y="933454"/>
                </a:cubicBezTo>
                <a:lnTo>
                  <a:pt x="0" y="63496"/>
                </a:lnTo>
                <a:cubicBezTo>
                  <a:pt x="0" y="28451"/>
                  <a:pt x="28451" y="0"/>
                  <a:pt x="63496" y="0"/>
                </a:cubicBezTo>
                <a:close/>
              </a:path>
            </a:pathLst>
          </a:custGeom>
          <a:solidFill>
            <a:srgbClr val="000000">
              <a:alpha val="0"/>
            </a:srgbClr>
          </a:solidFill>
          <a:ln cap="flat" cmpd="sng" w="2030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64" name="Google Shape;1364;p118"/>
          <p:cNvSpPr/>
          <p:nvPr/>
        </p:nvSpPr>
        <p:spPr>
          <a:xfrm>
            <a:off x="4268042" y="5359249"/>
            <a:ext cx="1584891" cy="449120"/>
          </a:xfrm>
          <a:custGeom>
            <a:rect b="b" l="l" r="r" t="t"/>
            <a:pathLst>
              <a:path extrusionOk="0" h="996950" w="5640387">
                <a:moveTo>
                  <a:pt x="63496" y="0"/>
                </a:moveTo>
                <a:lnTo>
                  <a:pt x="5576892" y="0"/>
                </a:lnTo>
                <a:cubicBezTo>
                  <a:pt x="5611959" y="0"/>
                  <a:pt x="5640387" y="28428"/>
                  <a:pt x="5640387" y="63496"/>
                </a:cubicBezTo>
                <a:lnTo>
                  <a:pt x="5640387" y="933454"/>
                </a:lnTo>
                <a:cubicBezTo>
                  <a:pt x="5640387" y="968522"/>
                  <a:pt x="5611959" y="996950"/>
                  <a:pt x="5576892" y="996950"/>
                </a:cubicBezTo>
                <a:lnTo>
                  <a:pt x="63496" y="996950"/>
                </a:lnTo>
                <a:cubicBezTo>
                  <a:pt x="28428" y="996950"/>
                  <a:pt x="0" y="968522"/>
                  <a:pt x="0" y="933454"/>
                </a:cubicBezTo>
                <a:lnTo>
                  <a:pt x="0" y="63496"/>
                </a:lnTo>
                <a:cubicBezTo>
                  <a:pt x="0" y="28451"/>
                  <a:pt x="28451" y="0"/>
                  <a:pt x="63496" y="0"/>
                </a:cubicBezTo>
                <a:close/>
              </a:path>
            </a:pathLst>
          </a:custGeom>
          <a:solidFill>
            <a:srgbClr val="000000">
              <a:alpha val="0"/>
            </a:srgbClr>
          </a:solidFill>
          <a:ln cap="flat" cmpd="sng" w="2030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sp>
        <p:nvSpPr>
          <p:cNvPr id="1365" name="Google Shape;1365;p118"/>
          <p:cNvSpPr txBox="1"/>
          <p:nvPr/>
        </p:nvSpPr>
        <p:spPr>
          <a:xfrm>
            <a:off x="644745" y="4749137"/>
            <a:ext cx="4175803" cy="56147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600"/>
              <a:buFont typeface="Arial"/>
              <a:buNone/>
            </a:pPr>
            <a:r>
              <a:rPr b="1" i="1" lang="en-US" sz="2600">
                <a:solidFill>
                  <a:srgbClr val="0B5F9F"/>
                </a:solidFill>
                <a:latin typeface="Calibri"/>
                <a:ea typeface="Calibri"/>
                <a:cs typeface="Calibri"/>
                <a:sym typeface="Calibri"/>
              </a:rPr>
              <a:t>Index buffer Operation:</a:t>
            </a:r>
            <a:endParaRPr b="0" sz="2400">
              <a:solidFill>
                <a:schemeClr val="dk1"/>
              </a:solidFill>
              <a:latin typeface="Times New Roman"/>
              <a:ea typeface="Times New Roman"/>
              <a:cs typeface="Times New Roman"/>
              <a:sym typeface="Times New Roman"/>
            </a:endParaRPr>
          </a:p>
        </p:txBody>
      </p:sp>
      <p:sp>
        <p:nvSpPr>
          <p:cNvPr id="1366" name="Google Shape;1366;p118"/>
          <p:cNvSpPr/>
          <p:nvPr/>
        </p:nvSpPr>
        <p:spPr>
          <a:xfrm>
            <a:off x="680920" y="5363624"/>
            <a:ext cx="1588707" cy="449120"/>
          </a:xfrm>
          <a:custGeom>
            <a:rect b="b" l="l" r="r" t="t"/>
            <a:pathLst>
              <a:path extrusionOk="0" h="996950" w="5640387">
                <a:moveTo>
                  <a:pt x="63496" y="0"/>
                </a:moveTo>
                <a:lnTo>
                  <a:pt x="5576892" y="0"/>
                </a:lnTo>
                <a:cubicBezTo>
                  <a:pt x="5611959" y="0"/>
                  <a:pt x="5640387" y="28428"/>
                  <a:pt x="5640387" y="63496"/>
                </a:cubicBezTo>
                <a:lnTo>
                  <a:pt x="5640387" y="933454"/>
                </a:lnTo>
                <a:cubicBezTo>
                  <a:pt x="5640387" y="968522"/>
                  <a:pt x="5611959" y="996950"/>
                  <a:pt x="5576892" y="996950"/>
                </a:cubicBezTo>
                <a:lnTo>
                  <a:pt x="63496" y="996950"/>
                </a:lnTo>
                <a:cubicBezTo>
                  <a:pt x="28428" y="996950"/>
                  <a:pt x="0" y="968522"/>
                  <a:pt x="0" y="933454"/>
                </a:cubicBezTo>
                <a:lnTo>
                  <a:pt x="0" y="63496"/>
                </a:lnTo>
                <a:cubicBezTo>
                  <a:pt x="0" y="28451"/>
                  <a:pt x="28451" y="0"/>
                  <a:pt x="63496" y="0"/>
                </a:cubicBezTo>
                <a:close/>
              </a:path>
            </a:pathLst>
          </a:custGeom>
          <a:solidFill>
            <a:srgbClr val="000000">
              <a:alpha val="0"/>
            </a:srgbClr>
          </a:solidFill>
          <a:ln cap="flat" cmpd="sng" w="20300">
            <a:solidFill>
              <a:srgbClr val="0B5F9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67" name="Google Shape;1367;p118"/>
          <p:cNvSpPr/>
          <p:nvPr/>
        </p:nvSpPr>
        <p:spPr>
          <a:xfrm>
            <a:off x="742074" y="5445550"/>
            <a:ext cx="254000" cy="254000"/>
          </a:xfrm>
          <a:custGeom>
            <a:rect b="b" l="l" r="r" t="t"/>
            <a:pathLst>
              <a:path extrusionOk="0" h="254000" w="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0B5F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68" name="Google Shape;1368;p118"/>
          <p:cNvSpPr/>
          <p:nvPr/>
        </p:nvSpPr>
        <p:spPr>
          <a:xfrm>
            <a:off x="710324" y="5433236"/>
            <a:ext cx="317500" cy="2540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FFFFFF"/>
              </a:buClr>
              <a:buSzPts val="1000"/>
              <a:buFont typeface="Quattrocento Sans"/>
              <a:buNone/>
            </a:pPr>
            <a:r>
              <a:rPr b="1" i="0" lang="en-US" sz="1000" u="none" cap="none" strike="noStrike">
                <a:solidFill>
                  <a:srgbClr val="FFFFFF"/>
                </a:solidFill>
                <a:latin typeface="Quattrocento Sans"/>
                <a:ea typeface="Quattrocento Sans"/>
                <a:cs typeface="Quattrocento Sans"/>
                <a:sym typeface="Quattrocento Sans"/>
              </a:rPr>
              <a:t>1</a:t>
            </a:r>
            <a:endParaRPr b="0" i="0" sz="1600" u="none" cap="none" strike="noStrike">
              <a:solidFill>
                <a:srgbClr val="000000"/>
              </a:solidFill>
              <a:latin typeface="Calibri"/>
              <a:ea typeface="Calibri"/>
              <a:cs typeface="Calibri"/>
              <a:sym typeface="Calibri"/>
            </a:endParaRPr>
          </a:p>
        </p:txBody>
      </p:sp>
      <p:sp>
        <p:nvSpPr>
          <p:cNvPr id="1369" name="Google Shape;1369;p118"/>
          <p:cNvSpPr/>
          <p:nvPr/>
        </p:nvSpPr>
        <p:spPr>
          <a:xfrm>
            <a:off x="1134854" y="5431714"/>
            <a:ext cx="1057147" cy="28099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B5F9F"/>
              </a:buClr>
              <a:buSzPts val="1400"/>
              <a:buFont typeface="Calibri"/>
              <a:buNone/>
            </a:pPr>
            <a:r>
              <a:rPr b="1" i="1" lang="en-US" sz="1400">
                <a:solidFill>
                  <a:srgbClr val="0B5F9F"/>
                </a:solidFill>
                <a:latin typeface="Calibri"/>
                <a:ea typeface="Calibri"/>
                <a:cs typeface="Calibri"/>
                <a:sym typeface="Calibri"/>
              </a:rPr>
              <a:t>Request Issue</a:t>
            </a:r>
            <a:endParaRPr/>
          </a:p>
        </p:txBody>
      </p:sp>
      <p:sp>
        <p:nvSpPr>
          <p:cNvPr id="1370" name="Google Shape;1370;p118"/>
          <p:cNvSpPr/>
          <p:nvPr/>
        </p:nvSpPr>
        <p:spPr>
          <a:xfrm>
            <a:off x="4312003" y="5482002"/>
            <a:ext cx="254000" cy="254000"/>
          </a:xfrm>
          <a:custGeom>
            <a:rect b="b" l="l" r="r" t="t"/>
            <a:pathLst>
              <a:path extrusionOk="0" h="254000" w="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0B5F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71" name="Google Shape;1371;p118"/>
          <p:cNvSpPr/>
          <p:nvPr/>
        </p:nvSpPr>
        <p:spPr>
          <a:xfrm>
            <a:off x="4280253" y="5466235"/>
            <a:ext cx="317500" cy="2540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FFFFFF"/>
              </a:buClr>
              <a:buSzPts val="1000"/>
              <a:buFont typeface="Quattrocento Sans"/>
              <a:buNone/>
            </a:pPr>
            <a:r>
              <a:rPr b="1" i="0" lang="en-US" sz="1000" u="none" cap="none" strike="noStrike">
                <a:solidFill>
                  <a:srgbClr val="FFFFFF"/>
                </a:solidFill>
                <a:latin typeface="Quattrocento Sans"/>
                <a:ea typeface="Quattrocento Sans"/>
                <a:cs typeface="Quattrocento Sans"/>
                <a:sym typeface="Quattrocento Sans"/>
              </a:rPr>
              <a:t>2</a:t>
            </a:r>
            <a:endParaRPr b="0" i="0" sz="1600" u="none" cap="none" strike="noStrike">
              <a:solidFill>
                <a:srgbClr val="000000"/>
              </a:solidFill>
              <a:latin typeface="Calibri"/>
              <a:ea typeface="Calibri"/>
              <a:cs typeface="Calibri"/>
              <a:sym typeface="Calibri"/>
            </a:endParaRPr>
          </a:p>
        </p:txBody>
      </p:sp>
      <p:sp>
        <p:nvSpPr>
          <p:cNvPr id="1372" name="Google Shape;1372;p118"/>
          <p:cNvSpPr/>
          <p:nvPr/>
        </p:nvSpPr>
        <p:spPr>
          <a:xfrm>
            <a:off x="4595904" y="5471190"/>
            <a:ext cx="1257030" cy="264811"/>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B5F9F"/>
              </a:buClr>
              <a:buSzPts val="1400"/>
              <a:buFont typeface="Calibri"/>
              <a:buNone/>
            </a:pPr>
            <a:r>
              <a:rPr b="1" i="1" lang="en-US" sz="1400">
                <a:solidFill>
                  <a:srgbClr val="0B5F9F"/>
                </a:solidFill>
                <a:latin typeface="Calibri"/>
                <a:ea typeface="Calibri"/>
                <a:cs typeface="Calibri"/>
                <a:sym typeface="Calibri"/>
              </a:rPr>
              <a:t>Response Arrival</a:t>
            </a:r>
            <a:endParaRPr/>
          </a:p>
        </p:txBody>
      </p:sp>
      <p:sp>
        <p:nvSpPr>
          <p:cNvPr id="1373" name="Google Shape;1373;p118"/>
          <p:cNvSpPr/>
          <p:nvPr/>
        </p:nvSpPr>
        <p:spPr>
          <a:xfrm>
            <a:off x="8013939" y="5429143"/>
            <a:ext cx="254000" cy="276409"/>
          </a:xfrm>
          <a:custGeom>
            <a:rect b="b" l="l" r="r" t="t"/>
            <a:pathLst>
              <a:path extrusionOk="0" h="254000" w="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0B5F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Meddon"/>
              <a:buNone/>
            </a:pPr>
            <a:r>
              <a:t/>
            </a:r>
            <a:endParaRPr b="0" i="0" sz="1800" u="none" cap="none" strike="noStrike">
              <a:solidFill>
                <a:srgbClr val="000000"/>
              </a:solidFill>
              <a:latin typeface="Calibri"/>
              <a:ea typeface="Calibri"/>
              <a:cs typeface="Calibri"/>
              <a:sym typeface="Calibri"/>
            </a:endParaRPr>
          </a:p>
        </p:txBody>
      </p:sp>
      <p:sp>
        <p:nvSpPr>
          <p:cNvPr id="1374" name="Google Shape;1374;p118"/>
          <p:cNvSpPr/>
          <p:nvPr/>
        </p:nvSpPr>
        <p:spPr>
          <a:xfrm>
            <a:off x="7982189" y="5419907"/>
            <a:ext cx="317500" cy="276409"/>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FFFFFF"/>
              </a:buClr>
              <a:buSzPts val="1000"/>
              <a:buFont typeface="Quattrocento Sans"/>
              <a:buNone/>
            </a:pPr>
            <a:r>
              <a:rPr b="1" lang="en-US" sz="1000">
                <a:solidFill>
                  <a:srgbClr val="FFFFFF"/>
                </a:solidFill>
                <a:latin typeface="Quattrocento Sans"/>
                <a:ea typeface="Quattrocento Sans"/>
                <a:cs typeface="Quattrocento Sans"/>
                <a:sym typeface="Quattrocento Sans"/>
              </a:rPr>
              <a:t>3</a:t>
            </a:r>
            <a:endParaRPr b="0" i="0" sz="1600" u="none" cap="none" strike="noStrike">
              <a:solidFill>
                <a:srgbClr val="000000"/>
              </a:solidFill>
              <a:latin typeface="Calibri"/>
              <a:ea typeface="Calibri"/>
              <a:cs typeface="Calibri"/>
              <a:sym typeface="Calibri"/>
            </a:endParaRPr>
          </a:p>
        </p:txBody>
      </p:sp>
      <p:sp>
        <p:nvSpPr>
          <p:cNvPr id="1375" name="Google Shape;1375;p118"/>
          <p:cNvSpPr/>
          <p:nvPr/>
        </p:nvSpPr>
        <p:spPr>
          <a:xfrm>
            <a:off x="8299689" y="5429144"/>
            <a:ext cx="1122105" cy="27640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B5F9F"/>
              </a:buClr>
              <a:buSzPts val="1400"/>
              <a:buFont typeface="Calibri"/>
              <a:buNone/>
            </a:pPr>
            <a:r>
              <a:rPr b="1" i="1" lang="en-US" sz="1400">
                <a:solidFill>
                  <a:srgbClr val="0B5F9F"/>
                </a:solidFill>
                <a:latin typeface="Calibri"/>
                <a:ea typeface="Calibri"/>
                <a:cs typeface="Calibri"/>
                <a:sym typeface="Calibri"/>
              </a:rPr>
              <a:t>Data Response</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9" name="Shape 1379"/>
        <p:cNvGrpSpPr/>
        <p:nvPr/>
      </p:nvGrpSpPr>
      <p:grpSpPr>
        <a:xfrm>
          <a:off x="0" y="0"/>
          <a:ext cx="0" cy="0"/>
          <a:chOff x="0" y="0"/>
          <a:chExt cx="0" cy="0"/>
        </a:xfrm>
      </p:grpSpPr>
      <p:sp>
        <p:nvSpPr>
          <p:cNvPr id="1380" name="Google Shape;1380;p119"/>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600"/>
              <a:buFont typeface="Times New Roman"/>
              <a:buNone/>
            </a:pPr>
            <a:r>
              <a:rPr i="0" lang="en-US" sz="3600">
                <a:latin typeface="Times New Roman"/>
                <a:ea typeface="Times New Roman"/>
                <a:cs typeface="Times New Roman"/>
                <a:sym typeface="Times New Roman"/>
              </a:rPr>
              <a:t>Tag Management System</a:t>
            </a:r>
            <a:endParaRPr/>
          </a:p>
        </p:txBody>
      </p:sp>
      <p:sp>
        <p:nvSpPr>
          <p:cNvPr id="1381" name="Google Shape;1381;p119"/>
          <p:cNvSpPr txBox="1"/>
          <p:nvPr>
            <p:ph idx="1" type="body"/>
          </p:nvPr>
        </p:nvSpPr>
        <p:spPr>
          <a:xfrm>
            <a:off x="644747" y="1487621"/>
            <a:ext cx="11547253" cy="91295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600"/>
              <a:buNone/>
            </a:pPr>
            <a:r>
              <a:rPr i="1" lang="en-US" sz="2600">
                <a:latin typeface="Calibri"/>
                <a:ea typeface="Calibri"/>
                <a:cs typeface="Calibri"/>
                <a:sym typeface="Calibri"/>
              </a:rPr>
              <a:t>Unique Tracking Numbers for Each Request:</a:t>
            </a:r>
            <a:endParaRPr/>
          </a:p>
          <a:p>
            <a:pPr indent="0" lvl="0" marL="0" rtl="0" algn="l">
              <a:spcBef>
                <a:spcPts val="480"/>
              </a:spcBef>
              <a:spcAft>
                <a:spcPts val="0"/>
              </a:spcAft>
              <a:buSzPts val="2400"/>
              <a:buNone/>
            </a:pPr>
            <a:r>
              <a:rPr b="0" lang="en-US" sz="2400">
                <a:solidFill>
                  <a:schemeClr val="dk1"/>
                </a:solidFill>
                <a:latin typeface="Times New Roman"/>
                <a:ea typeface="Times New Roman"/>
                <a:cs typeface="Times New Roman"/>
                <a:sym typeface="Times New Roman"/>
              </a:rPr>
              <a:t>Each request is assigned a unique tag that identifies it and ensures correct response routing.</a:t>
            </a:r>
            <a:endParaRPr/>
          </a:p>
        </p:txBody>
      </p:sp>
      <p:sp>
        <p:nvSpPr>
          <p:cNvPr id="1382" name="Google Shape;1382;p119"/>
          <p:cNvSpPr/>
          <p:nvPr/>
        </p:nvSpPr>
        <p:spPr>
          <a:xfrm>
            <a:off x="644748" y="2295526"/>
            <a:ext cx="6565676" cy="1340233"/>
          </a:xfrm>
          <a:prstGeom prst="rect">
            <a:avLst/>
          </a:prstGeom>
          <a:noFill/>
          <a:ln>
            <a:noFill/>
          </a:ln>
        </p:spPr>
        <p:txBody>
          <a:bodyPr anchorCtr="0" anchor="ctr" bIns="71975" lIns="71975" spcFirstLastPara="1" rIns="71975" wrap="square" tIns="71975">
            <a:noAutofit/>
          </a:bodyPr>
          <a:lstStyle/>
          <a:p>
            <a:pPr indent="0" lvl="0" marL="0" marR="0" rtl="0" algn="l">
              <a:lnSpc>
                <a:spcPct val="130000"/>
              </a:lnSpc>
              <a:spcBef>
                <a:spcPts val="0"/>
              </a:spcBef>
              <a:spcAft>
                <a:spcPts val="0"/>
              </a:spcAft>
              <a:buNone/>
            </a:pPr>
            <a:r>
              <a:t/>
            </a:r>
            <a:endParaRPr sz="2800">
              <a:solidFill>
                <a:schemeClr val="dk1"/>
              </a:solidFill>
              <a:latin typeface="Meddon"/>
              <a:ea typeface="Meddon"/>
              <a:cs typeface="Meddon"/>
              <a:sym typeface="Meddon"/>
            </a:endParaRPr>
          </a:p>
        </p:txBody>
      </p:sp>
      <p:sp>
        <p:nvSpPr>
          <p:cNvPr id="1383" name="Google Shape;1383;p119"/>
          <p:cNvSpPr txBox="1"/>
          <p:nvPr/>
        </p:nvSpPr>
        <p:spPr>
          <a:xfrm>
            <a:off x="644746" y="2411374"/>
            <a:ext cx="10601104" cy="101762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600"/>
              <a:buFont typeface="Arial"/>
              <a:buNone/>
            </a:pPr>
            <a:r>
              <a:rPr b="1" i="1" lang="en-US" sz="2600">
                <a:solidFill>
                  <a:srgbClr val="0B5F9F"/>
                </a:solidFill>
                <a:latin typeface="Calibri"/>
                <a:ea typeface="Calibri"/>
                <a:cs typeface="Calibri"/>
                <a:sym typeface="Calibri"/>
              </a:rPr>
              <a:t>Purpose:</a:t>
            </a:r>
            <a:endParaRPr/>
          </a:p>
          <a:p>
            <a:pPr indent="0" lvl="0" marL="0" marR="0" rtl="0" algn="l">
              <a:lnSpc>
                <a:spcPct val="130000"/>
              </a:lnSpc>
              <a:spcBef>
                <a:spcPts val="0"/>
              </a:spcBef>
              <a:spcAft>
                <a:spcPts val="0"/>
              </a:spcAft>
              <a:buClr>
                <a:schemeClr val="dk1"/>
              </a:buClr>
              <a:buSzPts val="2400"/>
              <a:buFont typeface="Arial"/>
              <a:buNone/>
            </a:pPr>
            <a:r>
              <a:rPr b="0" lang="en-US" sz="2400">
                <a:solidFill>
                  <a:schemeClr val="dk1"/>
                </a:solidFill>
                <a:latin typeface="Times New Roman"/>
                <a:ea typeface="Times New Roman"/>
                <a:cs typeface="Times New Roman"/>
                <a:sym typeface="Times New Roman"/>
              </a:rPr>
              <a:t>Assigns a unique tag per request for correct response routing.</a:t>
            </a:r>
            <a:endParaRPr/>
          </a:p>
        </p:txBody>
      </p:sp>
      <p:sp>
        <p:nvSpPr>
          <p:cNvPr id="1384" name="Google Shape;1384;p119"/>
          <p:cNvSpPr txBox="1"/>
          <p:nvPr/>
        </p:nvSpPr>
        <p:spPr>
          <a:xfrm>
            <a:off x="644746" y="3425581"/>
            <a:ext cx="10601103" cy="101762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600"/>
              <a:buFont typeface="Arial"/>
              <a:buNone/>
            </a:pPr>
            <a:r>
              <a:rPr b="1" i="1" lang="en-US" sz="2600">
                <a:solidFill>
                  <a:srgbClr val="0B5F9F"/>
                </a:solidFill>
                <a:latin typeface="Calibri"/>
                <a:ea typeface="Calibri"/>
                <a:cs typeface="Calibri"/>
                <a:sym typeface="Calibri"/>
              </a:rPr>
              <a:t>Tag Contents:</a:t>
            </a:r>
            <a:endParaRPr/>
          </a:p>
          <a:p>
            <a:pPr indent="0" lvl="0" marL="0" marR="0" rtl="0" algn="l">
              <a:lnSpc>
                <a:spcPct val="130000"/>
              </a:lnSpc>
              <a:spcBef>
                <a:spcPts val="0"/>
              </a:spcBef>
              <a:spcAft>
                <a:spcPts val="0"/>
              </a:spcAft>
              <a:buClr>
                <a:schemeClr val="dk1"/>
              </a:buClr>
              <a:buSzPts val="2400"/>
              <a:buFont typeface="Arial"/>
              <a:buNone/>
            </a:pPr>
            <a:r>
              <a:rPr b="0" lang="en-US" sz="2400">
                <a:solidFill>
                  <a:schemeClr val="dk1"/>
                </a:solidFill>
                <a:latin typeface="Times New Roman"/>
                <a:ea typeface="Times New Roman"/>
                <a:cs typeface="Times New Roman"/>
                <a:sym typeface="Times New Roman"/>
              </a:rPr>
              <a:t>Request ID • Thread mask • Channel • Sequence</a:t>
            </a:r>
            <a:endParaRPr/>
          </a:p>
          <a:p>
            <a:pPr indent="0" lvl="0" marL="0" marR="0" rtl="0" algn="l">
              <a:lnSpc>
                <a:spcPct val="130000"/>
              </a:lnSpc>
              <a:spcBef>
                <a:spcPts val="0"/>
              </a:spcBef>
              <a:spcAft>
                <a:spcPts val="0"/>
              </a:spcAft>
              <a:buClr>
                <a:srgbClr val="0B5F9F"/>
              </a:buClr>
              <a:buSzPts val="2400"/>
              <a:buFont typeface="Arial"/>
              <a:buNone/>
            </a:pPr>
            <a:r>
              <a:t/>
            </a:r>
            <a:endParaRPr b="0" sz="2400">
              <a:solidFill>
                <a:schemeClr val="dk1"/>
              </a:solidFill>
              <a:latin typeface="Times New Roman"/>
              <a:ea typeface="Times New Roman"/>
              <a:cs typeface="Times New Roman"/>
              <a:sym typeface="Times New Roman"/>
            </a:endParaRPr>
          </a:p>
        </p:txBody>
      </p:sp>
      <p:sp>
        <p:nvSpPr>
          <p:cNvPr id="1385" name="Google Shape;1385;p119"/>
          <p:cNvSpPr txBox="1"/>
          <p:nvPr/>
        </p:nvSpPr>
        <p:spPr>
          <a:xfrm>
            <a:off x="644746" y="4472420"/>
            <a:ext cx="8884264" cy="87207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600"/>
              <a:buFont typeface="Arial"/>
              <a:buNone/>
            </a:pPr>
            <a:r>
              <a:rPr b="1" i="1" lang="en-US" sz="2600">
                <a:solidFill>
                  <a:srgbClr val="0B5F9F"/>
                </a:solidFill>
                <a:latin typeface="Calibri"/>
                <a:ea typeface="Calibri"/>
                <a:cs typeface="Calibri"/>
                <a:sym typeface="Calibri"/>
              </a:rPr>
              <a:t>Why It Matters:</a:t>
            </a:r>
            <a:endParaRPr/>
          </a:p>
          <a:p>
            <a:pPr indent="0" lvl="0" marL="0" marR="0" rtl="0" algn="l">
              <a:spcBef>
                <a:spcPts val="480"/>
              </a:spcBef>
              <a:spcAft>
                <a:spcPts val="0"/>
              </a:spcAft>
              <a:buClr>
                <a:srgbClr val="5D5D5E"/>
              </a:buClr>
              <a:buSzPts val="2400"/>
              <a:buFont typeface="Arial"/>
              <a:buNone/>
            </a:pPr>
            <a:r>
              <a:rPr b="0" lang="en-US" sz="2400">
                <a:solidFill>
                  <a:schemeClr val="dk1"/>
                </a:solidFill>
                <a:latin typeface="Times New Roman"/>
                <a:ea typeface="Times New Roman"/>
                <a:cs typeface="Times New Roman"/>
                <a:sym typeface="Times New Roman"/>
              </a:rPr>
              <a:t>Supports out-of-order returns and correct per-thread delivery.</a:t>
            </a:r>
            <a:endParaRPr/>
          </a:p>
        </p:txBody>
      </p:sp>
      <p:sp>
        <p:nvSpPr>
          <p:cNvPr id="1386" name="Google Shape;1386;p119"/>
          <p:cNvSpPr txBox="1"/>
          <p:nvPr/>
        </p:nvSpPr>
        <p:spPr>
          <a:xfrm>
            <a:off x="644746" y="5457414"/>
            <a:ext cx="8884264" cy="11517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D5D5E"/>
              </a:buClr>
              <a:buSzPts val="2600"/>
              <a:buFont typeface="Arial"/>
              <a:buNone/>
            </a:pPr>
            <a:r>
              <a:rPr b="1" i="1" lang="en-US" sz="2600">
                <a:solidFill>
                  <a:srgbClr val="0B5F9F"/>
                </a:solidFill>
                <a:latin typeface="Calibri"/>
                <a:ea typeface="Calibri"/>
                <a:cs typeface="Calibri"/>
                <a:sym typeface="Calibri"/>
              </a:rPr>
              <a:t>Tag Flow:</a:t>
            </a:r>
            <a:endParaRPr/>
          </a:p>
          <a:p>
            <a:pPr indent="0" lvl="0" marL="0" marR="0" rtl="0" algn="l">
              <a:spcBef>
                <a:spcPts val="480"/>
              </a:spcBef>
              <a:spcAft>
                <a:spcPts val="0"/>
              </a:spcAft>
              <a:buClr>
                <a:srgbClr val="5D5D5E"/>
              </a:buClr>
              <a:buSzPts val="2400"/>
              <a:buFont typeface="Arial"/>
              <a:buNone/>
            </a:pPr>
            <a:r>
              <a:rPr b="0" lang="en-US" sz="2400">
                <a:solidFill>
                  <a:schemeClr val="dk1"/>
                </a:solidFill>
                <a:latin typeface="Times New Roman"/>
                <a:ea typeface="Times New Roman"/>
                <a:cs typeface="Times New Roman"/>
                <a:sym typeface="Times New Roman"/>
              </a:rPr>
              <a:t>Assign 🡪 Send 🡪 Return with tag 🡪 Route back</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sp>
        <p:nvSpPr>
          <p:cNvPr id="1391" name="Google Shape;1391;p120"/>
          <p:cNvSpPr txBox="1"/>
          <p:nvPr>
            <p:ph type="ctrTitle"/>
          </p:nvPr>
        </p:nvSpPr>
        <p:spPr>
          <a:xfrm>
            <a:off x="1219200" y="2658529"/>
            <a:ext cx="9753600" cy="104933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Calibri"/>
                <a:ea typeface="Calibri"/>
                <a:cs typeface="Calibri"/>
                <a:sym typeface="Calibri"/>
              </a:rPr>
              <a:t>Project Master Plan</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95" name="Shape 1395"/>
        <p:cNvGrpSpPr/>
        <p:nvPr/>
      </p:nvGrpSpPr>
      <p:grpSpPr>
        <a:xfrm>
          <a:off x="0" y="0"/>
          <a:ext cx="0" cy="0"/>
          <a:chOff x="0" y="0"/>
          <a:chExt cx="0" cy="0"/>
        </a:xfrm>
      </p:grpSpPr>
      <p:sp>
        <p:nvSpPr>
          <p:cNvPr id="1396" name="Google Shape;1396;p121"/>
          <p:cNvSpPr txBox="1"/>
          <p:nvPr>
            <p:ph type="title"/>
          </p:nvPr>
        </p:nvSpPr>
        <p:spPr>
          <a:xfrm>
            <a:off x="946150" y="559454"/>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Project Master Plan</a:t>
            </a:r>
            <a:endParaRPr sz="3000">
              <a:latin typeface="Calibri"/>
              <a:ea typeface="Calibri"/>
              <a:cs typeface="Calibri"/>
              <a:sym typeface="Calibri"/>
            </a:endParaRPr>
          </a:p>
        </p:txBody>
      </p:sp>
      <p:cxnSp>
        <p:nvCxnSpPr>
          <p:cNvPr id="1397" name="Google Shape;1397;p121"/>
          <p:cNvCxnSpPr/>
          <p:nvPr/>
        </p:nvCxnSpPr>
        <p:spPr>
          <a:xfrm flipH="1" rot="10800000">
            <a:off x="1572955" y="4121380"/>
            <a:ext cx="10122221" cy="13063"/>
          </a:xfrm>
          <a:prstGeom prst="straightConnector1">
            <a:avLst/>
          </a:prstGeom>
          <a:solidFill>
            <a:schemeClr val="accent1"/>
          </a:solidFill>
          <a:ln cap="flat" cmpd="sng" w="57150">
            <a:solidFill>
              <a:srgbClr val="29385E"/>
            </a:solidFill>
            <a:prstDash val="solid"/>
            <a:round/>
            <a:headEnd len="sm" w="sm" type="none"/>
            <a:tailEnd len="med" w="med" type="triangle"/>
          </a:ln>
        </p:spPr>
      </p:cxnSp>
      <p:cxnSp>
        <p:nvCxnSpPr>
          <p:cNvPr id="1398" name="Google Shape;1398;p121"/>
          <p:cNvCxnSpPr>
            <a:endCxn id="1399" idx="2"/>
          </p:cNvCxnSpPr>
          <p:nvPr/>
        </p:nvCxnSpPr>
        <p:spPr>
          <a:xfrm rot="-5400000">
            <a:off x="925857" y="3474280"/>
            <a:ext cx="1293600" cy="600"/>
          </a:xfrm>
          <a:prstGeom prst="bentConnector3">
            <a:avLst>
              <a:gd fmla="val 50000" name="adj1"/>
            </a:avLst>
          </a:prstGeom>
          <a:solidFill>
            <a:schemeClr val="accent1"/>
          </a:solidFill>
          <a:ln cap="flat" cmpd="sng" w="57150">
            <a:solidFill>
              <a:srgbClr val="29385E"/>
            </a:solidFill>
            <a:prstDash val="solid"/>
            <a:round/>
            <a:headEnd len="sm" w="sm" type="none"/>
            <a:tailEnd len="med" w="med" type="triangle"/>
          </a:ln>
        </p:spPr>
      </p:cxnSp>
      <p:sp>
        <p:nvSpPr>
          <p:cNvPr id="1400" name="Google Shape;1400;p121"/>
          <p:cNvSpPr/>
          <p:nvPr/>
        </p:nvSpPr>
        <p:spPr>
          <a:xfrm>
            <a:off x="3069048" y="2326840"/>
            <a:ext cx="2535174" cy="1075380"/>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Phase II</a:t>
            </a:r>
            <a:endParaRPr/>
          </a:p>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 </a:t>
            </a:r>
            <a:r>
              <a:rPr i="1" lang="en-US" sz="2400">
                <a:solidFill>
                  <a:srgbClr val="29385E"/>
                </a:solidFill>
                <a:latin typeface="Calibri"/>
                <a:ea typeface="Calibri"/>
                <a:cs typeface="Calibri"/>
                <a:sym typeface="Calibri"/>
              </a:rPr>
              <a:t>Synthesis &amp; DFT</a:t>
            </a:r>
            <a:endParaRPr/>
          </a:p>
        </p:txBody>
      </p:sp>
      <p:sp>
        <p:nvSpPr>
          <p:cNvPr id="1399" name="Google Shape;1399;p121"/>
          <p:cNvSpPr/>
          <p:nvPr/>
        </p:nvSpPr>
        <p:spPr>
          <a:xfrm>
            <a:off x="224216" y="1501900"/>
            <a:ext cx="2697481" cy="1325880"/>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Phase I </a:t>
            </a:r>
            <a:endParaRPr/>
          </a:p>
          <a:p>
            <a:pPr indent="0" lvl="0" marL="0" marR="0" rtl="0" algn="ctr">
              <a:spcBef>
                <a:spcPts val="0"/>
              </a:spcBef>
              <a:spcAft>
                <a:spcPts val="0"/>
              </a:spcAft>
              <a:buNone/>
            </a:pPr>
            <a:r>
              <a:rPr i="1" lang="en-US" sz="2400">
                <a:solidFill>
                  <a:srgbClr val="29385E"/>
                </a:solidFill>
                <a:latin typeface="Calibri"/>
                <a:ea typeface="Calibri"/>
                <a:cs typeface="Calibri"/>
                <a:sym typeface="Calibri"/>
              </a:rPr>
              <a:t>Preparation &amp; Infrastructure</a:t>
            </a:r>
            <a:endParaRPr/>
          </a:p>
        </p:txBody>
      </p:sp>
      <p:cxnSp>
        <p:nvCxnSpPr>
          <p:cNvPr id="1401" name="Google Shape;1401;p121"/>
          <p:cNvCxnSpPr/>
          <p:nvPr/>
        </p:nvCxnSpPr>
        <p:spPr>
          <a:xfrm rot="-5400000">
            <a:off x="3990735" y="3774880"/>
            <a:ext cx="692400" cy="600"/>
          </a:xfrm>
          <a:prstGeom prst="bentConnector3">
            <a:avLst>
              <a:gd fmla="val 49998" name="adj1"/>
            </a:avLst>
          </a:prstGeom>
          <a:solidFill>
            <a:schemeClr val="accent1"/>
          </a:solidFill>
          <a:ln cap="flat" cmpd="sng" w="57150">
            <a:solidFill>
              <a:srgbClr val="29385E"/>
            </a:solidFill>
            <a:prstDash val="solid"/>
            <a:round/>
            <a:headEnd len="sm" w="sm" type="none"/>
            <a:tailEnd len="med" w="med" type="triangle"/>
          </a:ln>
        </p:spPr>
      </p:cxnSp>
      <p:sp>
        <p:nvSpPr>
          <p:cNvPr id="1402" name="Google Shape;1402;p121"/>
          <p:cNvSpPr/>
          <p:nvPr/>
        </p:nvSpPr>
        <p:spPr>
          <a:xfrm>
            <a:off x="3184491" y="4948811"/>
            <a:ext cx="2304288" cy="1349735"/>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Phase II</a:t>
            </a:r>
            <a:endParaRPr/>
          </a:p>
          <a:p>
            <a:pPr indent="0" lvl="0" marL="0" marR="0" rtl="0" algn="ctr">
              <a:spcBef>
                <a:spcPts val="0"/>
              </a:spcBef>
              <a:spcAft>
                <a:spcPts val="0"/>
              </a:spcAft>
              <a:buNone/>
            </a:pPr>
            <a:r>
              <a:rPr i="1" lang="en-US" sz="2400">
                <a:solidFill>
                  <a:srgbClr val="29385E"/>
                </a:solidFill>
                <a:latin typeface="Calibri"/>
                <a:ea typeface="Calibri"/>
                <a:cs typeface="Calibri"/>
                <a:sym typeface="Calibri"/>
              </a:rPr>
              <a:t>Post-Synthesis Verification</a:t>
            </a:r>
            <a:endParaRPr/>
          </a:p>
        </p:txBody>
      </p:sp>
      <p:cxnSp>
        <p:nvCxnSpPr>
          <p:cNvPr id="1403" name="Google Shape;1403;p121"/>
          <p:cNvCxnSpPr/>
          <p:nvPr/>
        </p:nvCxnSpPr>
        <p:spPr>
          <a:xfrm flipH="1" rot="-5400000">
            <a:off x="3990735" y="4480343"/>
            <a:ext cx="692400" cy="600"/>
          </a:xfrm>
          <a:prstGeom prst="bentConnector3">
            <a:avLst>
              <a:gd fmla="val 49998" name="adj1"/>
            </a:avLst>
          </a:prstGeom>
          <a:solidFill>
            <a:schemeClr val="accent1"/>
          </a:solidFill>
          <a:ln cap="flat" cmpd="sng" w="57150">
            <a:solidFill>
              <a:srgbClr val="29385E"/>
            </a:solidFill>
            <a:prstDash val="solid"/>
            <a:round/>
            <a:headEnd len="sm" w="sm" type="none"/>
            <a:tailEnd len="med" w="med" type="triangle"/>
          </a:ln>
        </p:spPr>
      </p:cxnSp>
      <p:cxnSp>
        <p:nvCxnSpPr>
          <p:cNvPr id="1404" name="Google Shape;1404;p121"/>
          <p:cNvCxnSpPr/>
          <p:nvPr/>
        </p:nvCxnSpPr>
        <p:spPr>
          <a:xfrm rot="-5400000">
            <a:off x="6822327" y="3781411"/>
            <a:ext cx="692400" cy="600"/>
          </a:xfrm>
          <a:prstGeom prst="bentConnector3">
            <a:avLst>
              <a:gd fmla="val 49998" name="adj1"/>
            </a:avLst>
          </a:prstGeom>
          <a:solidFill>
            <a:schemeClr val="accent1"/>
          </a:solidFill>
          <a:ln cap="flat" cmpd="sng" w="57150">
            <a:solidFill>
              <a:srgbClr val="29385E"/>
            </a:solidFill>
            <a:prstDash val="solid"/>
            <a:round/>
            <a:headEnd len="sm" w="sm" type="none"/>
            <a:tailEnd len="med" w="med" type="triangle"/>
          </a:ln>
        </p:spPr>
      </p:cxnSp>
      <p:sp>
        <p:nvSpPr>
          <p:cNvPr id="1405" name="Google Shape;1405;p121"/>
          <p:cNvSpPr/>
          <p:nvPr/>
        </p:nvSpPr>
        <p:spPr>
          <a:xfrm>
            <a:off x="5900640" y="2326840"/>
            <a:ext cx="2535174" cy="1075380"/>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Phase III</a:t>
            </a:r>
            <a:endParaRPr/>
          </a:p>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 </a:t>
            </a:r>
            <a:r>
              <a:rPr i="1" lang="en-US" sz="2400">
                <a:solidFill>
                  <a:srgbClr val="29385E"/>
                </a:solidFill>
                <a:latin typeface="Calibri"/>
                <a:ea typeface="Calibri"/>
                <a:cs typeface="Calibri"/>
                <a:sym typeface="Calibri"/>
              </a:rPr>
              <a:t>Synthesis &amp; DFT</a:t>
            </a:r>
            <a:endParaRPr/>
          </a:p>
        </p:txBody>
      </p:sp>
      <p:sp>
        <p:nvSpPr>
          <p:cNvPr id="1406" name="Google Shape;1406;p121"/>
          <p:cNvSpPr/>
          <p:nvPr/>
        </p:nvSpPr>
        <p:spPr>
          <a:xfrm>
            <a:off x="8732232" y="2326840"/>
            <a:ext cx="2535174" cy="1075380"/>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Phase IV</a:t>
            </a:r>
            <a:endParaRPr/>
          </a:p>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 </a:t>
            </a:r>
            <a:r>
              <a:rPr i="1" lang="en-US" sz="2400">
                <a:solidFill>
                  <a:srgbClr val="29385E"/>
                </a:solidFill>
                <a:latin typeface="Calibri"/>
                <a:ea typeface="Calibri"/>
                <a:cs typeface="Calibri"/>
                <a:sym typeface="Calibri"/>
              </a:rPr>
              <a:t>Synthesis &amp; DFT</a:t>
            </a:r>
            <a:endParaRPr/>
          </a:p>
        </p:txBody>
      </p:sp>
      <p:sp>
        <p:nvSpPr>
          <p:cNvPr id="1407" name="Google Shape;1407;p121"/>
          <p:cNvSpPr/>
          <p:nvPr/>
        </p:nvSpPr>
        <p:spPr>
          <a:xfrm>
            <a:off x="6290403" y="4879366"/>
            <a:ext cx="2304288" cy="1349735"/>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Phase III</a:t>
            </a:r>
            <a:endParaRPr/>
          </a:p>
          <a:p>
            <a:pPr indent="0" lvl="0" marL="0" marR="0" rtl="0" algn="ctr">
              <a:spcBef>
                <a:spcPts val="0"/>
              </a:spcBef>
              <a:spcAft>
                <a:spcPts val="0"/>
              </a:spcAft>
              <a:buNone/>
            </a:pPr>
            <a:r>
              <a:rPr i="1" lang="en-US" sz="2400">
                <a:solidFill>
                  <a:srgbClr val="29385E"/>
                </a:solidFill>
                <a:latin typeface="Calibri"/>
                <a:ea typeface="Calibri"/>
                <a:cs typeface="Calibri"/>
                <a:sym typeface="Calibri"/>
              </a:rPr>
              <a:t>Post-Synthesis Verification</a:t>
            </a:r>
            <a:endParaRPr/>
          </a:p>
        </p:txBody>
      </p:sp>
      <p:cxnSp>
        <p:nvCxnSpPr>
          <p:cNvPr id="1408" name="Google Shape;1408;p121"/>
          <p:cNvCxnSpPr/>
          <p:nvPr/>
        </p:nvCxnSpPr>
        <p:spPr>
          <a:xfrm flipH="1" rot="-5400000">
            <a:off x="6822327" y="4486295"/>
            <a:ext cx="692400" cy="600"/>
          </a:xfrm>
          <a:prstGeom prst="bentConnector3">
            <a:avLst>
              <a:gd fmla="val 49998" name="adj1"/>
            </a:avLst>
          </a:prstGeom>
          <a:solidFill>
            <a:schemeClr val="accent1"/>
          </a:solidFill>
          <a:ln cap="flat" cmpd="sng" w="57150">
            <a:solidFill>
              <a:srgbClr val="29385E"/>
            </a:solidFill>
            <a:prstDash val="solid"/>
            <a:round/>
            <a:headEnd len="sm" w="sm" type="none"/>
            <a:tailEnd len="med" w="med" type="triangle"/>
          </a:ln>
        </p:spPr>
      </p:cxnSp>
      <p:sp>
        <p:nvSpPr>
          <p:cNvPr id="1409" name="Google Shape;1409;p121"/>
          <p:cNvSpPr/>
          <p:nvPr/>
        </p:nvSpPr>
        <p:spPr>
          <a:xfrm>
            <a:off x="8891108" y="4826822"/>
            <a:ext cx="2535174" cy="1075380"/>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Phase IV</a:t>
            </a:r>
            <a:endParaRPr/>
          </a:p>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 </a:t>
            </a:r>
            <a:r>
              <a:rPr i="1" lang="en-US" sz="2400">
                <a:solidFill>
                  <a:srgbClr val="29385E"/>
                </a:solidFill>
                <a:latin typeface="Calibri"/>
                <a:ea typeface="Calibri"/>
                <a:cs typeface="Calibri"/>
                <a:sym typeface="Calibri"/>
              </a:rPr>
              <a:t>Synthesis &amp; DFT</a:t>
            </a:r>
            <a:endParaRPr/>
          </a:p>
        </p:txBody>
      </p:sp>
      <p:cxnSp>
        <p:nvCxnSpPr>
          <p:cNvPr id="1410" name="Google Shape;1410;p121"/>
          <p:cNvCxnSpPr/>
          <p:nvPr/>
        </p:nvCxnSpPr>
        <p:spPr>
          <a:xfrm rot="-5400000">
            <a:off x="9772791" y="3748099"/>
            <a:ext cx="692400" cy="600"/>
          </a:xfrm>
          <a:prstGeom prst="bentConnector3">
            <a:avLst>
              <a:gd fmla="val 49998" name="adj1"/>
            </a:avLst>
          </a:prstGeom>
          <a:solidFill>
            <a:schemeClr val="accent1"/>
          </a:solidFill>
          <a:ln cap="flat" cmpd="sng" w="57150">
            <a:solidFill>
              <a:srgbClr val="29385E"/>
            </a:solidFill>
            <a:prstDash val="solid"/>
            <a:round/>
            <a:headEnd len="sm" w="sm" type="none"/>
            <a:tailEnd len="med" w="med" type="triangle"/>
          </a:ln>
        </p:spPr>
      </p:cxnSp>
      <p:cxnSp>
        <p:nvCxnSpPr>
          <p:cNvPr id="1411" name="Google Shape;1411;p121"/>
          <p:cNvCxnSpPr/>
          <p:nvPr/>
        </p:nvCxnSpPr>
        <p:spPr>
          <a:xfrm flipH="1" rot="-5400000">
            <a:off x="9772791" y="4452983"/>
            <a:ext cx="692400" cy="600"/>
          </a:xfrm>
          <a:prstGeom prst="bentConnector3">
            <a:avLst>
              <a:gd fmla="val 49998" name="adj1"/>
            </a:avLst>
          </a:prstGeom>
          <a:solidFill>
            <a:schemeClr val="accent1"/>
          </a:solidFill>
          <a:ln cap="flat" cmpd="sng" w="57150">
            <a:solidFill>
              <a:srgbClr val="29385E"/>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97"/>
                                        </p:tgtEl>
                                        <p:attrNameLst>
                                          <p:attrName>style.visibility</p:attrName>
                                        </p:attrNameLst>
                                      </p:cBhvr>
                                      <p:to>
                                        <p:strVal val="visible"/>
                                      </p:to>
                                    </p:set>
                                    <p:animEffect filter="fade" transition="in">
                                      <p:cBhvr>
                                        <p:cTn dur="1000"/>
                                        <p:tgtEl>
                                          <p:spTgt spid="1397"/>
                                        </p:tgtEl>
                                      </p:cBhvr>
                                    </p:animEffect>
                                  </p:childTnLst>
                                </p:cTn>
                              </p:par>
                              <p:par>
                                <p:cTn fill="hold" nodeType="withEffect" presetClass="entr" presetID="10" presetSubtype="0">
                                  <p:stCondLst>
                                    <p:cond delay="0"/>
                                  </p:stCondLst>
                                  <p:childTnLst>
                                    <p:set>
                                      <p:cBhvr>
                                        <p:cTn dur="1" fill="hold">
                                          <p:stCondLst>
                                            <p:cond delay="0"/>
                                          </p:stCondLst>
                                        </p:cTn>
                                        <p:tgtEl>
                                          <p:spTgt spid="1398"/>
                                        </p:tgtEl>
                                        <p:attrNameLst>
                                          <p:attrName>style.visibility</p:attrName>
                                        </p:attrNameLst>
                                      </p:cBhvr>
                                      <p:to>
                                        <p:strVal val="visible"/>
                                      </p:to>
                                    </p:set>
                                    <p:animEffect filter="fade" transition="in">
                                      <p:cBhvr>
                                        <p:cTn dur="1000"/>
                                        <p:tgtEl>
                                          <p:spTgt spid="1398"/>
                                        </p:tgtEl>
                                      </p:cBhvr>
                                    </p:animEffect>
                                  </p:childTnLst>
                                </p:cTn>
                              </p:par>
                              <p:par>
                                <p:cTn fill="hold" nodeType="withEffect" presetClass="entr" presetID="10" presetSubtype="0">
                                  <p:stCondLst>
                                    <p:cond delay="0"/>
                                  </p:stCondLst>
                                  <p:childTnLst>
                                    <p:set>
                                      <p:cBhvr>
                                        <p:cTn dur="1" fill="hold">
                                          <p:stCondLst>
                                            <p:cond delay="0"/>
                                          </p:stCondLst>
                                        </p:cTn>
                                        <p:tgtEl>
                                          <p:spTgt spid="1401"/>
                                        </p:tgtEl>
                                        <p:attrNameLst>
                                          <p:attrName>style.visibility</p:attrName>
                                        </p:attrNameLst>
                                      </p:cBhvr>
                                      <p:to>
                                        <p:strVal val="visible"/>
                                      </p:to>
                                    </p:set>
                                    <p:animEffect filter="fade" transition="in">
                                      <p:cBhvr>
                                        <p:cTn dur="1000"/>
                                        <p:tgtEl>
                                          <p:spTgt spid="1401"/>
                                        </p:tgtEl>
                                      </p:cBhvr>
                                    </p:animEffect>
                                  </p:childTnLst>
                                </p:cTn>
                              </p:par>
                              <p:par>
                                <p:cTn fill="hold" nodeType="withEffect" presetClass="entr" presetID="10" presetSubtype="0">
                                  <p:stCondLst>
                                    <p:cond delay="0"/>
                                  </p:stCondLst>
                                  <p:childTnLst>
                                    <p:set>
                                      <p:cBhvr>
                                        <p:cTn dur="1" fill="hold">
                                          <p:stCondLst>
                                            <p:cond delay="0"/>
                                          </p:stCondLst>
                                        </p:cTn>
                                        <p:tgtEl>
                                          <p:spTgt spid="1403"/>
                                        </p:tgtEl>
                                        <p:attrNameLst>
                                          <p:attrName>style.visibility</p:attrName>
                                        </p:attrNameLst>
                                      </p:cBhvr>
                                      <p:to>
                                        <p:strVal val="visible"/>
                                      </p:to>
                                    </p:set>
                                    <p:animEffect filter="fade" transition="in">
                                      <p:cBhvr>
                                        <p:cTn dur="1000"/>
                                        <p:tgtEl>
                                          <p:spTgt spid="1403"/>
                                        </p:tgtEl>
                                      </p:cBhvr>
                                    </p:animEffect>
                                  </p:childTnLst>
                                </p:cTn>
                              </p:par>
                              <p:par>
                                <p:cTn fill="hold" nodeType="withEffect" presetClass="entr" presetID="10" presetSubtype="0">
                                  <p:stCondLst>
                                    <p:cond delay="0"/>
                                  </p:stCondLst>
                                  <p:childTnLst>
                                    <p:set>
                                      <p:cBhvr>
                                        <p:cTn dur="1" fill="hold">
                                          <p:stCondLst>
                                            <p:cond delay="0"/>
                                          </p:stCondLst>
                                        </p:cTn>
                                        <p:tgtEl>
                                          <p:spTgt spid="1404"/>
                                        </p:tgtEl>
                                        <p:attrNameLst>
                                          <p:attrName>style.visibility</p:attrName>
                                        </p:attrNameLst>
                                      </p:cBhvr>
                                      <p:to>
                                        <p:strVal val="visible"/>
                                      </p:to>
                                    </p:set>
                                    <p:animEffect filter="fade" transition="in">
                                      <p:cBhvr>
                                        <p:cTn dur="1000"/>
                                        <p:tgtEl>
                                          <p:spTgt spid="1404"/>
                                        </p:tgtEl>
                                      </p:cBhvr>
                                    </p:animEffect>
                                  </p:childTnLst>
                                </p:cTn>
                              </p:par>
                              <p:par>
                                <p:cTn fill="hold" nodeType="withEffect" presetClass="entr" presetID="10" presetSubtype="0">
                                  <p:stCondLst>
                                    <p:cond delay="0"/>
                                  </p:stCondLst>
                                  <p:childTnLst>
                                    <p:set>
                                      <p:cBhvr>
                                        <p:cTn dur="1" fill="hold">
                                          <p:stCondLst>
                                            <p:cond delay="0"/>
                                          </p:stCondLst>
                                        </p:cTn>
                                        <p:tgtEl>
                                          <p:spTgt spid="1408"/>
                                        </p:tgtEl>
                                        <p:attrNameLst>
                                          <p:attrName>style.visibility</p:attrName>
                                        </p:attrNameLst>
                                      </p:cBhvr>
                                      <p:to>
                                        <p:strVal val="visible"/>
                                      </p:to>
                                    </p:set>
                                    <p:animEffect filter="fade" transition="in">
                                      <p:cBhvr>
                                        <p:cTn dur="1000"/>
                                        <p:tgtEl>
                                          <p:spTgt spid="1408"/>
                                        </p:tgtEl>
                                      </p:cBhvr>
                                    </p:animEffect>
                                  </p:childTnLst>
                                </p:cTn>
                              </p:par>
                              <p:par>
                                <p:cTn fill="hold" nodeType="withEffect" presetClass="entr" presetID="10" presetSubtype="0">
                                  <p:stCondLst>
                                    <p:cond delay="0"/>
                                  </p:stCondLst>
                                  <p:childTnLst>
                                    <p:set>
                                      <p:cBhvr>
                                        <p:cTn dur="1" fill="hold">
                                          <p:stCondLst>
                                            <p:cond delay="0"/>
                                          </p:stCondLst>
                                        </p:cTn>
                                        <p:tgtEl>
                                          <p:spTgt spid="1410"/>
                                        </p:tgtEl>
                                        <p:attrNameLst>
                                          <p:attrName>style.visibility</p:attrName>
                                        </p:attrNameLst>
                                      </p:cBhvr>
                                      <p:to>
                                        <p:strVal val="visible"/>
                                      </p:to>
                                    </p:set>
                                    <p:animEffect filter="fade" transition="in">
                                      <p:cBhvr>
                                        <p:cTn dur="1000"/>
                                        <p:tgtEl>
                                          <p:spTgt spid="1410"/>
                                        </p:tgtEl>
                                      </p:cBhvr>
                                    </p:animEffect>
                                  </p:childTnLst>
                                </p:cTn>
                              </p:par>
                              <p:par>
                                <p:cTn fill="hold" nodeType="withEffect" presetClass="entr" presetID="10" presetSubtype="0">
                                  <p:stCondLst>
                                    <p:cond delay="0"/>
                                  </p:stCondLst>
                                  <p:childTnLst>
                                    <p:set>
                                      <p:cBhvr>
                                        <p:cTn dur="1" fill="hold">
                                          <p:stCondLst>
                                            <p:cond delay="0"/>
                                          </p:stCondLst>
                                        </p:cTn>
                                        <p:tgtEl>
                                          <p:spTgt spid="1411"/>
                                        </p:tgtEl>
                                        <p:attrNameLst>
                                          <p:attrName>style.visibility</p:attrName>
                                        </p:attrNameLst>
                                      </p:cBhvr>
                                      <p:to>
                                        <p:strVal val="visible"/>
                                      </p:to>
                                    </p:set>
                                    <p:animEffect filter="fade" transition="in">
                                      <p:cBhvr>
                                        <p:cTn dur="1000"/>
                                        <p:tgtEl>
                                          <p:spTgt spid="1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15" name="Shape 1415"/>
        <p:cNvGrpSpPr/>
        <p:nvPr/>
      </p:nvGrpSpPr>
      <p:grpSpPr>
        <a:xfrm>
          <a:off x="0" y="0"/>
          <a:ext cx="0" cy="0"/>
          <a:chOff x="0" y="0"/>
          <a:chExt cx="0" cy="0"/>
        </a:xfrm>
      </p:grpSpPr>
      <p:sp>
        <p:nvSpPr>
          <p:cNvPr id="1416" name="Google Shape;1416;p122"/>
          <p:cNvSpPr txBox="1"/>
          <p:nvPr>
            <p:ph type="title"/>
          </p:nvPr>
        </p:nvSpPr>
        <p:spPr>
          <a:xfrm>
            <a:off x="946150" y="559454"/>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ASIC Design Master Plan</a:t>
            </a:r>
            <a:endParaRPr/>
          </a:p>
        </p:txBody>
      </p:sp>
      <p:sp>
        <p:nvSpPr>
          <p:cNvPr id="1417" name="Google Shape;1417;p122"/>
          <p:cNvSpPr/>
          <p:nvPr/>
        </p:nvSpPr>
        <p:spPr>
          <a:xfrm>
            <a:off x="1497423" y="1411104"/>
            <a:ext cx="9197153" cy="580959"/>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3200">
                <a:solidFill>
                  <a:srgbClr val="29385E"/>
                </a:solidFill>
                <a:latin typeface="Calibri"/>
                <a:ea typeface="Calibri"/>
                <a:cs typeface="Calibri"/>
                <a:sym typeface="Calibri"/>
              </a:rPr>
              <a:t>Two Parallel Tracks</a:t>
            </a:r>
            <a:endParaRPr/>
          </a:p>
        </p:txBody>
      </p:sp>
      <p:cxnSp>
        <p:nvCxnSpPr>
          <p:cNvPr id="1418" name="Google Shape;1418;p122"/>
          <p:cNvCxnSpPr>
            <a:stCxn id="1417" idx="1"/>
          </p:cNvCxnSpPr>
          <p:nvPr/>
        </p:nvCxnSpPr>
        <p:spPr>
          <a:xfrm>
            <a:off x="1497423" y="1701584"/>
            <a:ext cx="1218300" cy="1727400"/>
          </a:xfrm>
          <a:prstGeom prst="bentConnector4">
            <a:avLst>
              <a:gd fmla="val -18764" name="adj1"/>
              <a:gd fmla="val 58409" name="adj2"/>
            </a:avLst>
          </a:prstGeom>
          <a:solidFill>
            <a:schemeClr val="accent1"/>
          </a:solidFill>
          <a:ln cap="flat" cmpd="sng" w="57150">
            <a:solidFill>
              <a:srgbClr val="29385E"/>
            </a:solidFill>
            <a:prstDash val="solid"/>
            <a:round/>
            <a:headEnd len="sm" w="sm" type="none"/>
            <a:tailEnd len="med" w="med" type="triangle"/>
          </a:ln>
        </p:spPr>
      </p:cxnSp>
      <p:cxnSp>
        <p:nvCxnSpPr>
          <p:cNvPr id="1419" name="Google Shape;1419;p122"/>
          <p:cNvCxnSpPr>
            <a:stCxn id="1417" idx="3"/>
          </p:cNvCxnSpPr>
          <p:nvPr/>
        </p:nvCxnSpPr>
        <p:spPr>
          <a:xfrm flipH="1">
            <a:off x="9683576" y="1701584"/>
            <a:ext cx="1011000" cy="1727400"/>
          </a:xfrm>
          <a:prstGeom prst="bentConnector4">
            <a:avLst>
              <a:gd fmla="val -22611" name="adj1"/>
              <a:gd fmla="val 58409" name="adj2"/>
            </a:avLst>
          </a:prstGeom>
          <a:solidFill>
            <a:schemeClr val="accent1"/>
          </a:solidFill>
          <a:ln cap="flat" cmpd="sng" w="57150">
            <a:solidFill>
              <a:srgbClr val="29385E"/>
            </a:solidFill>
            <a:prstDash val="solid"/>
            <a:round/>
            <a:headEnd len="sm" w="sm" type="none"/>
            <a:tailEnd len="med" w="med" type="triangle"/>
          </a:ln>
        </p:spPr>
      </p:cxnSp>
      <p:sp>
        <p:nvSpPr>
          <p:cNvPr id="1420" name="Google Shape;1420;p122"/>
          <p:cNvSpPr/>
          <p:nvPr/>
        </p:nvSpPr>
        <p:spPr>
          <a:xfrm>
            <a:off x="946150" y="3429000"/>
            <a:ext cx="4661488" cy="1436938"/>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3200">
                <a:solidFill>
                  <a:srgbClr val="29385E"/>
                </a:solidFill>
                <a:latin typeface="Calibri"/>
                <a:ea typeface="Calibri"/>
                <a:cs typeface="Calibri"/>
                <a:sym typeface="Calibri"/>
              </a:rPr>
              <a:t>ASIC Design Master Plan</a:t>
            </a:r>
            <a:endParaRPr/>
          </a:p>
        </p:txBody>
      </p:sp>
      <p:sp>
        <p:nvSpPr>
          <p:cNvPr id="1421" name="Google Shape;1421;p122"/>
          <p:cNvSpPr/>
          <p:nvPr/>
        </p:nvSpPr>
        <p:spPr>
          <a:xfrm>
            <a:off x="6958585" y="3429000"/>
            <a:ext cx="4661488" cy="1436938"/>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3200">
                <a:solidFill>
                  <a:srgbClr val="29385E"/>
                </a:solidFill>
                <a:latin typeface="Calibri"/>
                <a:ea typeface="Calibri"/>
                <a:cs typeface="Calibri"/>
                <a:sym typeface="Calibri"/>
              </a:rPr>
              <a:t>Verification Master Plan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18"/>
                                        </p:tgtEl>
                                        <p:attrNameLst>
                                          <p:attrName>style.visibility</p:attrName>
                                        </p:attrNameLst>
                                      </p:cBhvr>
                                      <p:to>
                                        <p:strVal val="visible"/>
                                      </p:to>
                                    </p:set>
                                    <p:animEffect filter="fade" transition="in">
                                      <p:cBhvr>
                                        <p:cTn dur="1000"/>
                                        <p:tgtEl>
                                          <p:spTgt spid="1418"/>
                                        </p:tgtEl>
                                      </p:cBhvr>
                                    </p:animEffect>
                                  </p:childTnLst>
                                </p:cTn>
                              </p:par>
                              <p:par>
                                <p:cTn fill="hold" nodeType="withEffect" presetClass="entr" presetID="10" presetSubtype="0">
                                  <p:stCondLst>
                                    <p:cond delay="0"/>
                                  </p:stCondLst>
                                  <p:childTnLst>
                                    <p:set>
                                      <p:cBhvr>
                                        <p:cTn dur="1" fill="hold">
                                          <p:stCondLst>
                                            <p:cond delay="0"/>
                                          </p:stCondLst>
                                        </p:cTn>
                                        <p:tgtEl>
                                          <p:spTgt spid="1419"/>
                                        </p:tgtEl>
                                        <p:attrNameLst>
                                          <p:attrName>style.visibility</p:attrName>
                                        </p:attrNameLst>
                                      </p:cBhvr>
                                      <p:to>
                                        <p:strVal val="visible"/>
                                      </p:to>
                                    </p:set>
                                    <p:animEffect filter="fade" transition="in">
                                      <p:cBhvr>
                                        <p:cTn dur="1000"/>
                                        <p:tgtEl>
                                          <p:spTgt spid="14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123"/>
          <p:cNvSpPr txBox="1"/>
          <p:nvPr>
            <p:ph type="title"/>
          </p:nvPr>
        </p:nvSpPr>
        <p:spPr>
          <a:xfrm>
            <a:off x="946150" y="559454"/>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ASIC Design Master Plan</a:t>
            </a:r>
            <a:endParaRPr/>
          </a:p>
        </p:txBody>
      </p:sp>
      <p:sp>
        <p:nvSpPr>
          <p:cNvPr id="1427" name="Google Shape;1427;p123"/>
          <p:cNvSpPr/>
          <p:nvPr/>
        </p:nvSpPr>
        <p:spPr>
          <a:xfrm>
            <a:off x="1418842" y="2274393"/>
            <a:ext cx="9354312" cy="1349788"/>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Roboto"/>
                <a:ea typeface="Roboto"/>
                <a:cs typeface="Roboto"/>
                <a:sym typeface="Roboto"/>
              </a:rPr>
              <a:t>Study architecture</a:t>
            </a:r>
            <a:endParaRPr/>
          </a:p>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Roboto"/>
                <a:ea typeface="Roboto"/>
                <a:cs typeface="Roboto"/>
                <a:sym typeface="Roboto"/>
              </a:rPr>
              <a:t>Setup project management (GitHub) and install tools.</a:t>
            </a:r>
            <a:endParaRPr/>
          </a:p>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Roboto"/>
                <a:ea typeface="Roboto"/>
                <a:cs typeface="Roboto"/>
                <a:sym typeface="Roboto"/>
              </a:rPr>
              <a:t>Build simulation environment and verify functional correctness.</a:t>
            </a:r>
            <a:endParaRPr/>
          </a:p>
        </p:txBody>
      </p:sp>
      <p:sp>
        <p:nvSpPr>
          <p:cNvPr id="1428" name="Google Shape;1428;p123"/>
          <p:cNvSpPr/>
          <p:nvPr/>
        </p:nvSpPr>
        <p:spPr>
          <a:xfrm>
            <a:off x="1497422" y="1409453"/>
            <a:ext cx="9197153" cy="580959"/>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3200">
                <a:solidFill>
                  <a:srgbClr val="29385E"/>
                </a:solidFill>
                <a:latin typeface="Calibri"/>
                <a:ea typeface="Calibri"/>
                <a:cs typeface="Calibri"/>
                <a:sym typeface="Calibri"/>
              </a:rPr>
              <a:t>Phase I: </a:t>
            </a:r>
            <a:r>
              <a:rPr i="1" lang="en-US" sz="3200">
                <a:solidFill>
                  <a:srgbClr val="29385E"/>
                </a:solidFill>
                <a:latin typeface="Calibri"/>
                <a:ea typeface="Calibri"/>
                <a:cs typeface="Calibri"/>
                <a:sym typeface="Calibri"/>
              </a:rPr>
              <a:t>Preparation &amp; Infrastructure</a:t>
            </a:r>
            <a:endParaRPr i="1" sz="2933">
              <a:solidFill>
                <a:srgbClr val="29385E"/>
              </a:solidFill>
              <a:latin typeface="Calibri"/>
              <a:ea typeface="Calibri"/>
              <a:cs typeface="Calibri"/>
              <a:sym typeface="Calibri"/>
            </a:endParaRPr>
          </a:p>
        </p:txBody>
      </p:sp>
      <p:sp>
        <p:nvSpPr>
          <p:cNvPr id="1429" name="Google Shape;1429;p123"/>
          <p:cNvSpPr/>
          <p:nvPr/>
        </p:nvSpPr>
        <p:spPr>
          <a:xfrm>
            <a:off x="1418842" y="4773102"/>
            <a:ext cx="9633204" cy="1068178"/>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Roboto"/>
                <a:ea typeface="Roboto"/>
                <a:cs typeface="Roboto"/>
                <a:sym typeface="Roboto"/>
              </a:rPr>
              <a:t>Adapt full RTL for ASIC flow (convert from FPGA code to ASIC).</a:t>
            </a:r>
            <a:endParaRPr/>
          </a:p>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Roboto"/>
                <a:ea typeface="Roboto"/>
                <a:cs typeface="Roboto"/>
                <a:sym typeface="Roboto"/>
              </a:rPr>
              <a:t>Generate gate-level netlists and clean timing reports for the Core and Full Chip.</a:t>
            </a:r>
            <a:endParaRPr/>
          </a:p>
        </p:txBody>
      </p:sp>
      <p:sp>
        <p:nvSpPr>
          <p:cNvPr id="1430" name="Google Shape;1430;p123"/>
          <p:cNvSpPr/>
          <p:nvPr/>
        </p:nvSpPr>
        <p:spPr>
          <a:xfrm>
            <a:off x="1497422" y="3908162"/>
            <a:ext cx="9197153" cy="580959"/>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3200">
                <a:solidFill>
                  <a:srgbClr val="29385E"/>
                </a:solidFill>
                <a:latin typeface="Calibri"/>
                <a:ea typeface="Calibri"/>
                <a:cs typeface="Calibri"/>
                <a:sym typeface="Calibri"/>
              </a:rPr>
              <a:t>Phase II: </a:t>
            </a:r>
            <a:r>
              <a:rPr i="1" lang="en-US" sz="3200">
                <a:solidFill>
                  <a:srgbClr val="29385E"/>
                </a:solidFill>
                <a:latin typeface="Calibri"/>
                <a:ea typeface="Calibri"/>
                <a:cs typeface="Calibri"/>
                <a:sym typeface="Calibri"/>
              </a:rPr>
              <a:t>Synthesis &amp; DFT</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4" name="Shape 1434"/>
        <p:cNvGrpSpPr/>
        <p:nvPr/>
      </p:nvGrpSpPr>
      <p:grpSpPr>
        <a:xfrm>
          <a:off x="0" y="0"/>
          <a:ext cx="0" cy="0"/>
          <a:chOff x="0" y="0"/>
          <a:chExt cx="0" cy="0"/>
        </a:xfrm>
      </p:grpSpPr>
      <p:sp>
        <p:nvSpPr>
          <p:cNvPr id="1435" name="Google Shape;1435;p124"/>
          <p:cNvSpPr txBox="1"/>
          <p:nvPr>
            <p:ph type="title"/>
          </p:nvPr>
        </p:nvSpPr>
        <p:spPr>
          <a:xfrm>
            <a:off x="946150" y="559454"/>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ASIC Design Master Plan</a:t>
            </a:r>
            <a:endParaRPr/>
          </a:p>
        </p:txBody>
      </p:sp>
      <p:sp>
        <p:nvSpPr>
          <p:cNvPr id="1436" name="Google Shape;1436;p124"/>
          <p:cNvSpPr/>
          <p:nvPr/>
        </p:nvSpPr>
        <p:spPr>
          <a:xfrm>
            <a:off x="2733828" y="2183830"/>
            <a:ext cx="6724341" cy="1008003"/>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Roboto"/>
                <a:ea typeface="Roboto"/>
                <a:cs typeface="Roboto"/>
                <a:sym typeface="Roboto"/>
              </a:rPr>
              <a:t>Floorplanning (macro placement, power grid).</a:t>
            </a:r>
            <a:endParaRPr/>
          </a:p>
          <a:p>
            <a:pPr indent="-196850" lvl="0" marL="285750" marR="0" rtl="0" algn="l">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Roboto"/>
                <a:ea typeface="Roboto"/>
                <a:cs typeface="Roboto"/>
                <a:sym typeface="Roboto"/>
              </a:rPr>
              <a:t>Place &amp; Route (Standard cells, Clock Tree Synthesis, Routing).</a:t>
            </a:r>
            <a:endParaRPr/>
          </a:p>
        </p:txBody>
      </p:sp>
      <p:sp>
        <p:nvSpPr>
          <p:cNvPr id="1437" name="Google Shape;1437;p124"/>
          <p:cNvSpPr/>
          <p:nvPr/>
        </p:nvSpPr>
        <p:spPr>
          <a:xfrm>
            <a:off x="1497423" y="1411104"/>
            <a:ext cx="9197153" cy="580959"/>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800">
                <a:solidFill>
                  <a:srgbClr val="29385E"/>
                </a:solidFill>
                <a:latin typeface="Calibri"/>
                <a:ea typeface="Calibri"/>
                <a:cs typeface="Calibri"/>
                <a:sym typeface="Calibri"/>
              </a:rPr>
              <a:t>Phase III: Physical Design (Backend)</a:t>
            </a:r>
            <a:endParaRPr/>
          </a:p>
        </p:txBody>
      </p:sp>
      <p:sp>
        <p:nvSpPr>
          <p:cNvPr id="1438" name="Google Shape;1438;p124"/>
          <p:cNvSpPr/>
          <p:nvPr/>
        </p:nvSpPr>
        <p:spPr>
          <a:xfrm>
            <a:off x="2733828" y="4666406"/>
            <a:ext cx="6724341" cy="1332058"/>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Roboto"/>
                <a:ea typeface="Roboto"/>
                <a:cs typeface="Roboto"/>
                <a:sym typeface="Roboto"/>
              </a:rPr>
              <a:t>Architectural Optimizations (Opt1 &amp; Opt2) to improve PPA (Power, Performance, Area).</a:t>
            </a:r>
            <a:endParaRPr/>
          </a:p>
          <a:p>
            <a:pPr indent="-196850" lvl="0" marL="285750" marR="0" rtl="0" algn="l">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Roboto"/>
                <a:ea typeface="Roboto"/>
                <a:cs typeface="Roboto"/>
                <a:sym typeface="Roboto"/>
              </a:rPr>
              <a:t>Final Signoff (Static Timing Analysis, DRC/LVS, Power Analysis) and Documentation.</a:t>
            </a:r>
            <a:endParaRPr/>
          </a:p>
        </p:txBody>
      </p:sp>
      <p:sp>
        <p:nvSpPr>
          <p:cNvPr id="1439" name="Google Shape;1439;p124"/>
          <p:cNvSpPr/>
          <p:nvPr/>
        </p:nvSpPr>
        <p:spPr>
          <a:xfrm>
            <a:off x="1497423" y="3893680"/>
            <a:ext cx="9197153" cy="580959"/>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3200">
                <a:solidFill>
                  <a:srgbClr val="29385E"/>
                </a:solidFill>
                <a:latin typeface="Calibri"/>
                <a:ea typeface="Calibri"/>
                <a:cs typeface="Calibri"/>
                <a:sym typeface="Calibri"/>
              </a:rPr>
              <a:t>Phase IV: Optimization &amp; Signoff</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43" name="Shape 1443"/>
        <p:cNvGrpSpPr/>
        <p:nvPr/>
      </p:nvGrpSpPr>
      <p:grpSpPr>
        <a:xfrm>
          <a:off x="0" y="0"/>
          <a:ext cx="0" cy="0"/>
          <a:chOff x="0" y="0"/>
          <a:chExt cx="0" cy="0"/>
        </a:xfrm>
      </p:grpSpPr>
      <p:sp>
        <p:nvSpPr>
          <p:cNvPr id="1444" name="Google Shape;1444;p125"/>
          <p:cNvSpPr txBox="1"/>
          <p:nvPr>
            <p:ph type="ctrTitle"/>
          </p:nvPr>
        </p:nvSpPr>
        <p:spPr>
          <a:xfrm>
            <a:off x="1219200" y="2658529"/>
            <a:ext cx="9753600" cy="104933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Calibri"/>
                <a:ea typeface="Calibri"/>
                <a:cs typeface="Calibri"/>
                <a:sym typeface="Calibri"/>
              </a:rPr>
              <a:t>Semester (1) Status Report</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48" name="Shape 1448"/>
        <p:cNvGrpSpPr/>
        <p:nvPr/>
      </p:nvGrpSpPr>
      <p:grpSpPr>
        <a:xfrm>
          <a:off x="0" y="0"/>
          <a:ext cx="0" cy="0"/>
          <a:chOff x="0" y="0"/>
          <a:chExt cx="0" cy="0"/>
        </a:xfrm>
      </p:grpSpPr>
      <p:sp>
        <p:nvSpPr>
          <p:cNvPr id="1449" name="Google Shape;1449;p126"/>
          <p:cNvSpPr txBox="1"/>
          <p:nvPr>
            <p:ph type="ctrTitle"/>
          </p:nvPr>
        </p:nvSpPr>
        <p:spPr>
          <a:xfrm>
            <a:off x="1219200" y="2658529"/>
            <a:ext cx="9753600" cy="104933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Calibri"/>
                <a:ea typeface="Calibri"/>
                <a:cs typeface="Calibri"/>
                <a:sym typeface="Calibri"/>
              </a:rPr>
              <a:t>Initial Synthesis</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p127"/>
          <p:cNvSpPr txBox="1"/>
          <p:nvPr/>
        </p:nvSpPr>
        <p:spPr>
          <a:xfrm>
            <a:off x="1219200" y="2379663"/>
            <a:ext cx="9753600" cy="1049337"/>
          </a:xfrm>
          <a:prstGeom prst="rect">
            <a:avLst/>
          </a:prstGeom>
          <a:noFill/>
          <a:ln>
            <a:noFill/>
          </a:ln>
        </p:spPr>
        <p:txBody>
          <a:bodyPr anchorCtr="0" anchor="ctr" bIns="45700" lIns="91425" spcFirstLastPara="1" rIns="91425" wrap="square" tIns="45700">
            <a:noAutofit/>
          </a:bodyPr>
          <a:lstStyle/>
          <a:p>
            <a:pPr indent="0" lvl="0" marL="0" marR="0" rtl="0" algn="ctr">
              <a:lnSpc>
                <a:spcPct val="149000"/>
              </a:lnSpc>
              <a:spcBef>
                <a:spcPts val="0"/>
              </a:spcBef>
              <a:spcAft>
                <a:spcPts val="0"/>
              </a:spcAft>
              <a:buNone/>
            </a:pPr>
            <a:r>
              <a:rPr b="1" i="0" lang="en-US" sz="3600">
                <a:solidFill>
                  <a:schemeClr val="dk1"/>
                </a:solidFill>
                <a:latin typeface="Calibri"/>
                <a:ea typeface="Calibri"/>
                <a:cs typeface="Calibri"/>
                <a:sym typeface="Calibri"/>
              </a:rPr>
              <a:t>VX_fpu_unit RTL-to-ASIC Synthesis</a:t>
            </a:r>
            <a:endParaRPr b="1" i="1" sz="3600">
              <a:solidFill>
                <a:srgbClr val="000000"/>
              </a:solidFill>
              <a:latin typeface="Arial"/>
              <a:ea typeface="Arial"/>
              <a:cs typeface="Arial"/>
              <a:sym typeface="Aria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128"/>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Design Overview</a:t>
            </a:r>
            <a:endParaRPr/>
          </a:p>
        </p:txBody>
      </p:sp>
      <p:sp>
        <p:nvSpPr>
          <p:cNvPr id="1460" name="Google Shape;1460;p128"/>
          <p:cNvSpPr txBox="1"/>
          <p:nvPr>
            <p:ph idx="1" type="body"/>
          </p:nvPr>
        </p:nvSpPr>
        <p:spPr>
          <a:xfrm>
            <a:off x="749506" y="3262366"/>
            <a:ext cx="5346494" cy="1506279"/>
          </a:xfrm>
          <a:prstGeom prst="rect">
            <a:avLst/>
          </a:prstGeom>
          <a:noFill/>
          <a:ln>
            <a:noFill/>
          </a:ln>
        </p:spPr>
        <p:txBody>
          <a:bodyPr anchorCtr="0" anchor="t" bIns="45700" lIns="91425" spcFirstLastPara="1" rIns="91425" wrap="square" tIns="45700">
            <a:noAutofit/>
          </a:bodyPr>
          <a:lstStyle/>
          <a:p>
            <a:pPr indent="-457223" lvl="0" marL="457223" rtl="0" algn="l">
              <a:lnSpc>
                <a:spcPct val="135000"/>
              </a:lnSpc>
              <a:spcBef>
                <a:spcPts val="0"/>
              </a:spcBef>
              <a:spcAft>
                <a:spcPts val="0"/>
              </a:spcAft>
              <a:buSzPts val="2400"/>
              <a:buFont typeface="Arial"/>
              <a:buChar char="•"/>
            </a:pPr>
            <a:r>
              <a:rPr b="0" lang="en-US" sz="2400">
                <a:solidFill>
                  <a:schemeClr val="dk2"/>
                </a:solidFill>
                <a:latin typeface="Arial"/>
                <a:ea typeface="Arial"/>
                <a:cs typeface="Arial"/>
                <a:sym typeface="Arial"/>
              </a:rPr>
              <a:t>5–8 stage pipelined architecture </a:t>
            </a:r>
            <a:r>
              <a:rPr lang="en-US" sz="2400">
                <a:solidFill>
                  <a:schemeClr val="dk2"/>
                </a:solidFill>
                <a:latin typeface="Arial"/>
                <a:ea typeface="Arial"/>
                <a:cs typeface="Arial"/>
                <a:sym typeface="Arial"/>
              </a:rPr>
              <a:t>targeting</a:t>
            </a:r>
            <a:r>
              <a:rPr b="0" lang="en-US" sz="2400">
                <a:solidFill>
                  <a:schemeClr val="dk2"/>
                </a:solidFill>
                <a:latin typeface="Arial"/>
                <a:ea typeface="Arial"/>
                <a:cs typeface="Arial"/>
                <a:sym typeface="Arial"/>
              </a:rPr>
              <a:t> 10 ns clock period (100 MHz) at TSMC 7-nm, 0.75 V, 25°C.</a:t>
            </a:r>
            <a:endParaRPr b="0" sz="2400">
              <a:solidFill>
                <a:schemeClr val="dk2"/>
              </a:solidFill>
              <a:latin typeface="Calibri"/>
              <a:ea typeface="Calibri"/>
              <a:cs typeface="Calibri"/>
              <a:sym typeface="Calibri"/>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190500" lvl="0" marL="342900" rtl="0" algn="l">
              <a:spcBef>
                <a:spcPts val="0"/>
              </a:spcBef>
              <a:spcAft>
                <a:spcPts val="0"/>
              </a:spcAft>
              <a:buSzPts val="2400"/>
              <a:buNone/>
            </a:pPr>
            <a:r>
              <a:t/>
            </a:r>
            <a:endParaRPr b="0" sz="2400">
              <a:solidFill>
                <a:srgbClr val="000000"/>
              </a:solidFill>
              <a:latin typeface="Calibri"/>
              <a:ea typeface="Calibri"/>
              <a:cs typeface="Calibri"/>
              <a:sym typeface="Calibri"/>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p:txBody>
      </p:sp>
      <p:sp>
        <p:nvSpPr>
          <p:cNvPr id="1461" name="Google Shape;1461;p128"/>
          <p:cNvSpPr/>
          <p:nvPr/>
        </p:nvSpPr>
        <p:spPr>
          <a:xfrm>
            <a:off x="1212849" y="1555836"/>
            <a:ext cx="10033002" cy="736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lang="en-US" sz="1800">
                <a:solidFill>
                  <a:schemeClr val="dk2"/>
                </a:solidFill>
                <a:latin typeface="Arial"/>
                <a:ea typeface="Arial"/>
                <a:cs typeface="Arial"/>
                <a:sym typeface="Arial"/>
              </a:rPr>
              <a:t>VX_fpu_unit is a single-precision floating-point execution unit for the Vortex GPU, implemented in generic System Verilog with no vendor-specific IP.</a:t>
            </a:r>
            <a:endParaRPr sz="1800">
              <a:solidFill>
                <a:schemeClr val="dk2"/>
              </a:solidFill>
              <a:latin typeface="Calibri"/>
              <a:ea typeface="Calibri"/>
              <a:cs typeface="Calibri"/>
              <a:sym typeface="Calibri"/>
            </a:endParaRPr>
          </a:p>
        </p:txBody>
      </p:sp>
      <p:pic>
        <p:nvPicPr>
          <p:cNvPr id="1462" name="Google Shape;1462;p128"/>
          <p:cNvPicPr preferRelativeResize="0"/>
          <p:nvPr/>
        </p:nvPicPr>
        <p:blipFill rotWithShape="1">
          <a:blip r:embed="rId3">
            <a:alphaModFix/>
          </a:blip>
          <a:srcRect b="0" l="0" r="0" t="0"/>
          <a:stretch/>
        </p:blipFill>
        <p:spPr>
          <a:xfrm>
            <a:off x="6027174" y="2389163"/>
            <a:ext cx="6163590" cy="3365284"/>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66" name="Shape 1466"/>
        <p:cNvGrpSpPr/>
        <p:nvPr/>
      </p:nvGrpSpPr>
      <p:grpSpPr>
        <a:xfrm>
          <a:off x="0" y="0"/>
          <a:ext cx="0" cy="0"/>
          <a:chOff x="0" y="0"/>
          <a:chExt cx="0" cy="0"/>
        </a:xfrm>
      </p:grpSpPr>
      <p:sp>
        <p:nvSpPr>
          <p:cNvPr id="1467" name="Google Shape;1467;p129"/>
          <p:cNvSpPr txBox="1"/>
          <p:nvPr>
            <p:ph type="title"/>
          </p:nvPr>
        </p:nvSpPr>
        <p:spPr>
          <a:xfrm>
            <a:off x="2547681" y="699222"/>
            <a:ext cx="7096638"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RTL-to-ASIC Synthesis Flow</a:t>
            </a:r>
            <a:endParaRPr/>
          </a:p>
        </p:txBody>
      </p:sp>
      <p:sp>
        <p:nvSpPr>
          <p:cNvPr id="1468" name="Google Shape;1468;p129"/>
          <p:cNvSpPr txBox="1"/>
          <p:nvPr>
            <p:ph idx="1" type="body"/>
          </p:nvPr>
        </p:nvSpPr>
        <p:spPr>
          <a:xfrm>
            <a:off x="825909" y="2228503"/>
            <a:ext cx="9802761" cy="4984947"/>
          </a:xfrm>
          <a:prstGeom prst="rect">
            <a:avLst/>
          </a:prstGeom>
          <a:noFill/>
          <a:ln>
            <a:noFill/>
          </a:ln>
        </p:spPr>
        <p:txBody>
          <a:bodyPr anchorCtr="0" anchor="t" bIns="45700" lIns="91425" spcFirstLastPara="1" rIns="91425" wrap="square" tIns="45700">
            <a:noAutofit/>
          </a:bodyPr>
          <a:lstStyle/>
          <a:p>
            <a:pPr indent="-457223" lvl="0" marL="457223" rtl="0" algn="l">
              <a:lnSpc>
                <a:spcPct val="162000"/>
              </a:lnSpc>
              <a:spcBef>
                <a:spcPts val="0"/>
              </a:spcBef>
              <a:spcAft>
                <a:spcPts val="0"/>
              </a:spcAft>
              <a:buSzPts val="2000"/>
              <a:buFont typeface="Arial"/>
              <a:buChar char="•"/>
            </a:pPr>
            <a:r>
              <a:rPr lang="en-US">
                <a:solidFill>
                  <a:schemeClr val="dk2"/>
                </a:solidFill>
                <a:latin typeface="Arial"/>
                <a:ea typeface="Arial"/>
                <a:cs typeface="Arial"/>
                <a:sym typeface="Arial"/>
              </a:rPr>
              <a:t>Configure</a:t>
            </a:r>
            <a:r>
              <a:rPr b="0" lang="en-US">
                <a:solidFill>
                  <a:schemeClr val="dk2"/>
                </a:solidFill>
                <a:latin typeface="Arial"/>
                <a:ea typeface="Arial"/>
                <a:cs typeface="Arial"/>
                <a:sym typeface="Arial"/>
              </a:rPr>
              <a:t> TSMC 7-nm libraries and analyze all FPU RTL files.</a:t>
            </a:r>
            <a:endParaRPr b="0">
              <a:solidFill>
                <a:schemeClr val="dk2"/>
              </a:solidFill>
              <a:latin typeface="Calibri"/>
              <a:ea typeface="Calibri"/>
              <a:cs typeface="Calibri"/>
              <a:sym typeface="Calibri"/>
            </a:endParaRPr>
          </a:p>
          <a:p>
            <a:pPr indent="-457223" lvl="0" marL="457223" rtl="0" algn="l">
              <a:lnSpc>
                <a:spcPct val="162000"/>
              </a:lnSpc>
              <a:spcBef>
                <a:spcPts val="400"/>
              </a:spcBef>
              <a:spcAft>
                <a:spcPts val="0"/>
              </a:spcAft>
              <a:buSzPts val="2000"/>
              <a:buFont typeface="Arial"/>
              <a:buChar char="•"/>
            </a:pPr>
            <a:r>
              <a:rPr lang="en-US">
                <a:solidFill>
                  <a:schemeClr val="dk2"/>
                </a:solidFill>
                <a:latin typeface="Arial"/>
                <a:ea typeface="Arial"/>
                <a:cs typeface="Arial"/>
                <a:sym typeface="Arial"/>
              </a:rPr>
              <a:t>Elaborate design</a:t>
            </a:r>
            <a:r>
              <a:rPr b="0" lang="en-US">
                <a:solidFill>
                  <a:schemeClr val="dk2"/>
                </a:solidFill>
                <a:latin typeface="Arial"/>
                <a:ea typeface="Arial"/>
                <a:cs typeface="Arial"/>
                <a:sym typeface="Arial"/>
              </a:rPr>
              <a:t>, apply 10 ns clock constraint, and run  with clock gating.</a:t>
            </a:r>
            <a:endParaRPr b="0">
              <a:solidFill>
                <a:schemeClr val="dk2"/>
              </a:solidFill>
              <a:latin typeface="Calibri"/>
              <a:ea typeface="Calibri"/>
              <a:cs typeface="Calibri"/>
              <a:sym typeface="Calibri"/>
            </a:endParaRPr>
          </a:p>
          <a:p>
            <a:pPr indent="-457223" lvl="0" marL="457223" rtl="0" algn="l">
              <a:lnSpc>
                <a:spcPct val="135000"/>
              </a:lnSpc>
              <a:spcBef>
                <a:spcPts val="480"/>
              </a:spcBef>
              <a:spcAft>
                <a:spcPts val="0"/>
              </a:spcAft>
              <a:buSzPts val="2000"/>
              <a:buFont typeface="Arial"/>
              <a:buChar char="•"/>
            </a:pPr>
            <a:r>
              <a:rPr lang="en-US">
                <a:solidFill>
                  <a:schemeClr val="dk2"/>
                </a:solidFill>
                <a:latin typeface="Arial"/>
                <a:ea typeface="Arial"/>
                <a:cs typeface="Arial"/>
                <a:sym typeface="Arial"/>
              </a:rPr>
              <a:t>Generate gate-level netlist</a:t>
            </a:r>
            <a:r>
              <a:rPr b="0" lang="en-US">
                <a:solidFill>
                  <a:schemeClr val="dk2"/>
                </a:solidFill>
                <a:latin typeface="Arial"/>
                <a:ea typeface="Arial"/>
                <a:cs typeface="Arial"/>
                <a:sym typeface="Arial"/>
              </a:rPr>
              <a:t>, SDC file, and timing/area/power reports</a:t>
            </a:r>
            <a:r>
              <a:rPr b="0" lang="en-US" sz="2400">
                <a:solidFill>
                  <a:schemeClr val="dk2"/>
                </a:solidFill>
                <a:latin typeface="Arial"/>
                <a:ea typeface="Arial"/>
                <a:cs typeface="Arial"/>
                <a:sym typeface="Arial"/>
              </a:rPr>
              <a:t>.</a:t>
            </a:r>
            <a:endParaRPr b="0" sz="2400">
              <a:solidFill>
                <a:schemeClr val="dk2"/>
              </a:solidFill>
              <a:latin typeface="Calibri"/>
              <a:ea typeface="Calibri"/>
              <a:cs typeface="Calibri"/>
              <a:sym typeface="Calibri"/>
            </a:endParaRPr>
          </a:p>
        </p:txBody>
      </p:sp>
      <p:sp>
        <p:nvSpPr>
          <p:cNvPr id="1469" name="Google Shape;1469;p129"/>
          <p:cNvSpPr/>
          <p:nvPr/>
        </p:nvSpPr>
        <p:spPr>
          <a:xfrm>
            <a:off x="825910" y="1429984"/>
            <a:ext cx="10566400" cy="6400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lang="en-US" sz="1800">
                <a:solidFill>
                  <a:schemeClr val="dk2"/>
                </a:solidFill>
                <a:latin typeface="Arial"/>
                <a:ea typeface="Arial"/>
                <a:cs typeface="Arial"/>
                <a:sym typeface="Arial"/>
              </a:rPr>
              <a:t>Automated Tcl flow in Synopsys Design Compiler (T-2022.03-SP2) to map technology-agnostic RTL to TSMC 7-nm standard cells.</a:t>
            </a:r>
            <a:endParaRPr sz="1800">
              <a:solidFill>
                <a:schemeClr val="dk2"/>
              </a:solidFill>
              <a:latin typeface="Calibri"/>
              <a:ea typeface="Calibri"/>
              <a:cs typeface="Calibri"/>
              <a:sym typeface="Calibri"/>
            </a:endParaRPr>
          </a:p>
        </p:txBody>
      </p:sp>
      <p:pic>
        <p:nvPicPr>
          <p:cNvPr id="1470" name="Google Shape;1470;p129"/>
          <p:cNvPicPr preferRelativeResize="0"/>
          <p:nvPr/>
        </p:nvPicPr>
        <p:blipFill rotWithShape="1">
          <a:blip r:embed="rId3">
            <a:alphaModFix/>
          </a:blip>
          <a:srcRect b="0" l="0" r="0" t="0"/>
          <a:stretch/>
        </p:blipFill>
        <p:spPr>
          <a:xfrm>
            <a:off x="3076112" y="4077725"/>
            <a:ext cx="5456393" cy="2414225"/>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4" name="Shape 1474"/>
        <p:cNvGrpSpPr/>
        <p:nvPr/>
      </p:nvGrpSpPr>
      <p:grpSpPr>
        <a:xfrm>
          <a:off x="0" y="0"/>
          <a:ext cx="0" cy="0"/>
          <a:chOff x="0" y="0"/>
          <a:chExt cx="0" cy="0"/>
        </a:xfrm>
      </p:grpSpPr>
      <p:sp>
        <p:nvSpPr>
          <p:cNvPr id="1475" name="Google Shape;1475;p130"/>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i="0" lang="en-US"/>
              <a:t>ASIC-Friendly Changes</a:t>
            </a:r>
            <a:endParaRPr/>
          </a:p>
        </p:txBody>
      </p:sp>
      <p:pic>
        <p:nvPicPr>
          <p:cNvPr id="1476" name="Google Shape;1476;p130"/>
          <p:cNvPicPr preferRelativeResize="0"/>
          <p:nvPr>
            <p:ph idx="1" type="body"/>
          </p:nvPr>
        </p:nvPicPr>
        <p:blipFill rotWithShape="1">
          <a:blip r:embed="rId3">
            <a:alphaModFix/>
          </a:blip>
          <a:srcRect b="0" l="0" r="0" t="0"/>
          <a:stretch/>
        </p:blipFill>
        <p:spPr>
          <a:xfrm>
            <a:off x="1738574" y="2179234"/>
            <a:ext cx="8714851" cy="4757424"/>
          </a:xfrm>
          <a:prstGeom prst="rect">
            <a:avLst/>
          </a:prstGeom>
          <a:noFill/>
          <a:ln>
            <a:noFill/>
          </a:ln>
        </p:spPr>
      </p:pic>
      <p:sp>
        <p:nvSpPr>
          <p:cNvPr id="1477" name="Google Shape;1477;p130"/>
          <p:cNvSpPr txBox="1"/>
          <p:nvPr/>
        </p:nvSpPr>
        <p:spPr>
          <a:xfrm>
            <a:off x="1061884" y="1256448"/>
            <a:ext cx="1004856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a:solidFill>
                  <a:schemeClr val="dk1"/>
                </a:solidFill>
                <a:latin typeface="Arial"/>
                <a:ea typeface="Arial"/>
                <a:cs typeface="Arial"/>
                <a:sym typeface="Arial"/>
              </a:rPr>
              <a:t>we removed all vendor-specific primitives and FPGA IP blocks – everything is now generic System Verilog.</a:t>
            </a:r>
            <a:endParaRPr sz="2400">
              <a:solidFill>
                <a:schemeClr val="dk1"/>
              </a:solidFill>
              <a:latin typeface="Meddon"/>
              <a:ea typeface="Meddon"/>
              <a:cs typeface="Meddon"/>
              <a:sym typeface="Meddo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131"/>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i="0" lang="en-US"/>
              <a:t>ASIC-Friendly</a:t>
            </a:r>
            <a:r>
              <a:rPr b="0" i="0" lang="en-US"/>
              <a:t> </a:t>
            </a:r>
            <a:r>
              <a:rPr i="0" lang="en-US"/>
              <a:t>Changes</a:t>
            </a:r>
            <a:endParaRPr/>
          </a:p>
        </p:txBody>
      </p:sp>
      <p:sp>
        <p:nvSpPr>
          <p:cNvPr id="1483" name="Google Shape;1483;p131"/>
          <p:cNvSpPr txBox="1"/>
          <p:nvPr>
            <p:ph idx="1" type="body"/>
          </p:nvPr>
        </p:nvSpPr>
        <p:spPr>
          <a:xfrm>
            <a:off x="914400" y="1510748"/>
            <a:ext cx="10363200" cy="498494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00"/>
              <a:buChar char="•"/>
            </a:pPr>
            <a:r>
              <a:rPr lang="en-US">
                <a:solidFill>
                  <a:schemeClr val="dk1"/>
                </a:solidFill>
              </a:rPr>
              <a:t>Removed</a:t>
            </a:r>
            <a:r>
              <a:rPr b="0" lang="en-US">
                <a:solidFill>
                  <a:schemeClr val="dk1"/>
                </a:solidFill>
              </a:rPr>
              <a:t> FPGA‑specific DSP usage – </a:t>
            </a:r>
            <a:r>
              <a:rPr lang="en-US">
                <a:solidFill>
                  <a:schemeClr val="dk1"/>
                </a:solidFill>
              </a:rPr>
              <a:t>Replaced</a:t>
            </a:r>
            <a:r>
              <a:rPr b="0" lang="en-US">
                <a:solidFill>
                  <a:schemeClr val="dk1"/>
                </a:solidFill>
              </a:rPr>
              <a:t> vendor‑style DSP slice assumptions with pure SystemVerilog multipliers/adders that map to standard cells.</a:t>
            </a:r>
            <a:endParaRPr/>
          </a:p>
          <a:p>
            <a:pPr indent="0" lvl="0" marL="0" rtl="0" algn="l">
              <a:spcBef>
                <a:spcPts val="400"/>
              </a:spcBef>
              <a:spcAft>
                <a:spcPts val="0"/>
              </a:spcAft>
              <a:buSzPts val="2000"/>
              <a:buNone/>
            </a:pPr>
            <a:r>
              <a:rPr b="0" lang="en-US"/>
              <a:t> </a:t>
            </a:r>
            <a:r>
              <a:rPr lang="en-US"/>
              <a:t>Ex: </a:t>
            </a:r>
            <a:r>
              <a:rPr b="0" lang="en-US"/>
              <a:t>vx_fpu_dsp_core.sv – </a:t>
            </a:r>
            <a:r>
              <a:rPr lang="en-US"/>
              <a:t>rewrote</a:t>
            </a:r>
            <a:r>
              <a:rPr b="0" lang="en-US"/>
              <a:t> the FMA datapath using plain </a:t>
            </a:r>
            <a:r>
              <a:rPr lang="en-US"/>
              <a:t>*</a:t>
            </a:r>
            <a:r>
              <a:rPr b="0" lang="en-US"/>
              <a:t> and </a:t>
            </a:r>
            <a:r>
              <a:rPr lang="en-US"/>
              <a:t>+</a:t>
            </a:r>
            <a:r>
              <a:rPr b="0" lang="en-US"/>
              <a:t> operators </a:t>
            </a:r>
            <a:r>
              <a:rPr lang="en-US"/>
              <a:t>instead</a:t>
            </a:r>
            <a:r>
              <a:rPr b="0" lang="en-US"/>
              <a:t> of      inferred FPGA DSP blocks, with technology‑independent parameters</a:t>
            </a:r>
            <a:endParaRPr/>
          </a:p>
          <a:p>
            <a:pPr indent="-215900" lvl="0" marL="342900" rtl="0" algn="l">
              <a:spcBef>
                <a:spcPts val="400"/>
              </a:spcBef>
              <a:spcAft>
                <a:spcPts val="0"/>
              </a:spcAft>
              <a:buSzPts val="2000"/>
              <a:buNone/>
            </a:pPr>
            <a:r>
              <a:t/>
            </a:r>
            <a:endParaRPr b="0">
              <a:solidFill>
                <a:schemeClr val="dk1"/>
              </a:solidFill>
            </a:endParaRPr>
          </a:p>
          <a:p>
            <a:pPr indent="-342900" lvl="0" marL="342900" rtl="0" algn="l">
              <a:spcBef>
                <a:spcPts val="400"/>
              </a:spcBef>
              <a:spcAft>
                <a:spcPts val="0"/>
              </a:spcAft>
              <a:buSzPts val="2000"/>
              <a:buChar char="•"/>
            </a:pPr>
            <a:r>
              <a:rPr lang="en-US">
                <a:solidFill>
                  <a:schemeClr val="dk1"/>
                </a:solidFill>
              </a:rPr>
              <a:t>Re‑pipelined </a:t>
            </a:r>
            <a:r>
              <a:rPr b="0" lang="en-US">
                <a:solidFill>
                  <a:schemeClr val="dk1"/>
                </a:solidFill>
              </a:rPr>
              <a:t>for 7‑nm timing – Broke long combinational paths and redistributed registers so the FMA meets 10 ns in an ASIC clock tree, not just in FPGA fabric.</a:t>
            </a:r>
            <a:endParaRPr/>
          </a:p>
          <a:p>
            <a:pPr indent="0" lvl="0" marL="0" rtl="0" algn="l">
              <a:spcBef>
                <a:spcPts val="400"/>
              </a:spcBef>
              <a:spcAft>
                <a:spcPts val="0"/>
              </a:spcAft>
              <a:buSzPts val="2000"/>
              <a:buNone/>
            </a:pPr>
            <a:r>
              <a:rPr lang="en-US"/>
              <a:t>Ex:  </a:t>
            </a:r>
            <a:r>
              <a:rPr b="0" lang="en-US"/>
              <a:t>vx_fpu_dsp_core.sv and vx_fpu_pipeline.sv – </a:t>
            </a:r>
            <a:r>
              <a:rPr lang="en-US"/>
              <a:t>inserted</a:t>
            </a:r>
            <a:r>
              <a:rPr b="0" lang="en-US"/>
              <a:t> extra pipeline registers around the multiplier and adder stages to </a:t>
            </a:r>
            <a:r>
              <a:rPr lang="en-US"/>
              <a:t>break</a:t>
            </a:r>
            <a:r>
              <a:rPr b="0" lang="en-US"/>
              <a:t> the longest combinational paths</a:t>
            </a:r>
            <a:endParaRPr/>
          </a:p>
          <a:p>
            <a:pPr indent="-342900" lvl="0" marL="342900" rtl="0" algn="l">
              <a:spcBef>
                <a:spcPts val="400"/>
              </a:spcBef>
              <a:spcAft>
                <a:spcPts val="0"/>
              </a:spcAft>
              <a:buSzPts val="2000"/>
              <a:buChar char="•"/>
            </a:pPr>
            <a:r>
              <a:rPr lang="en-US">
                <a:solidFill>
                  <a:schemeClr val="dk1"/>
                </a:solidFill>
              </a:rPr>
              <a:t>Clean clock/reset scheme </a:t>
            </a:r>
            <a:r>
              <a:rPr b="0" lang="en-US">
                <a:solidFill>
                  <a:schemeClr val="dk1"/>
                </a:solidFill>
              </a:rPr>
              <a:t>– Unified a single clock domain, converted most async resets to synchronous, and simplified enables so STA and synthesis are stable.</a:t>
            </a:r>
            <a:endParaRPr/>
          </a:p>
          <a:p>
            <a:pPr indent="0" lvl="0" marL="0" rtl="0" algn="l">
              <a:spcBef>
                <a:spcPts val="400"/>
              </a:spcBef>
              <a:spcAft>
                <a:spcPts val="0"/>
              </a:spcAft>
              <a:buSzPts val="2000"/>
              <a:buNone/>
            </a:pPr>
            <a:r>
              <a:rPr lang="en-US"/>
              <a:t>Ex </a:t>
            </a:r>
            <a:r>
              <a:rPr b="0" lang="en-US"/>
              <a:t>: vx_fpu_regs.sv – </a:t>
            </a:r>
            <a:r>
              <a:rPr lang="en-US"/>
              <a:t>standardized</a:t>
            </a:r>
            <a:r>
              <a:rPr b="0" lang="en-US"/>
              <a:t> all flip‑flops to one always_ff @(posedge clk) with </a:t>
            </a:r>
            <a:r>
              <a:rPr lang="en-US"/>
              <a:t>synchronous</a:t>
            </a:r>
            <a:r>
              <a:rPr b="0" lang="en-US"/>
              <a:t> reset and simple enables, </a:t>
            </a:r>
            <a:r>
              <a:rPr lang="en-US"/>
              <a:t>removing</a:t>
            </a:r>
            <a:r>
              <a:rPr b="0" lang="en-US"/>
              <a:t> scattered async resets.”</a:t>
            </a:r>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7" name="Shape 1487"/>
        <p:cNvGrpSpPr/>
        <p:nvPr/>
      </p:nvGrpSpPr>
      <p:grpSpPr>
        <a:xfrm>
          <a:off x="0" y="0"/>
          <a:ext cx="0" cy="0"/>
          <a:chOff x="0" y="0"/>
          <a:chExt cx="0" cy="0"/>
        </a:xfrm>
      </p:grpSpPr>
      <p:sp>
        <p:nvSpPr>
          <p:cNvPr id="1488" name="Google Shape;1488;p132"/>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Synthesis Results</a:t>
            </a:r>
            <a:endParaRPr/>
          </a:p>
        </p:txBody>
      </p:sp>
      <p:sp>
        <p:nvSpPr>
          <p:cNvPr id="1489" name="Google Shape;1489;p132"/>
          <p:cNvSpPr txBox="1"/>
          <p:nvPr>
            <p:ph idx="1" type="body"/>
          </p:nvPr>
        </p:nvSpPr>
        <p:spPr>
          <a:xfrm>
            <a:off x="619433" y="2216178"/>
            <a:ext cx="6502400" cy="1933036"/>
          </a:xfrm>
          <a:prstGeom prst="rect">
            <a:avLst/>
          </a:prstGeom>
          <a:noFill/>
          <a:ln>
            <a:noFill/>
          </a:ln>
        </p:spPr>
        <p:txBody>
          <a:bodyPr anchorCtr="0" anchor="t" bIns="45700" lIns="91425" spcFirstLastPara="1" rIns="91425" wrap="square" tIns="45700">
            <a:noAutofit/>
          </a:bodyPr>
          <a:lstStyle/>
          <a:p>
            <a:pPr indent="-457223" lvl="0" marL="457223" marR="0" rtl="0" algn="l">
              <a:lnSpc>
                <a:spcPct val="180000"/>
              </a:lnSpc>
              <a:spcBef>
                <a:spcPts val="0"/>
              </a:spcBef>
              <a:spcAft>
                <a:spcPts val="0"/>
              </a:spcAft>
              <a:buClr>
                <a:srgbClr val="000000"/>
              </a:buClr>
              <a:buSzPts val="1800"/>
              <a:buFont typeface="Arial"/>
              <a:buChar char="•"/>
            </a:pPr>
            <a:r>
              <a:rPr i="0" lang="en-US" sz="1800" u="none" cap="none" strike="noStrike">
                <a:solidFill>
                  <a:srgbClr val="000000"/>
                </a:solidFill>
                <a:latin typeface="Arial"/>
                <a:ea typeface="Arial"/>
                <a:cs typeface="Arial"/>
                <a:sym typeface="Arial"/>
              </a:rPr>
              <a:t>Target clock: </a:t>
            </a:r>
            <a:r>
              <a:rPr b="0" i="0" lang="en-US" sz="1800" u="none" cap="none" strike="noStrike">
                <a:solidFill>
                  <a:srgbClr val="000000"/>
                </a:solidFill>
                <a:latin typeface="Arial"/>
                <a:ea typeface="Arial"/>
                <a:cs typeface="Arial"/>
                <a:sym typeface="Arial"/>
              </a:rPr>
              <a:t>10 ns (100 MHz) with worst-case</a:t>
            </a:r>
            <a:endParaRPr/>
          </a:p>
          <a:p>
            <a:pPr indent="0" lvl="0" marL="0" marR="0" rtl="0" algn="l">
              <a:lnSpc>
                <a:spcPct val="18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setup slack of +6.69 ns.</a:t>
            </a:r>
            <a:endParaRPr b="0" i="0" sz="1800" u="none" cap="none" strike="noStrike">
              <a:solidFill>
                <a:srgbClr val="000000"/>
              </a:solidFill>
              <a:latin typeface="Calibri"/>
              <a:ea typeface="Calibri"/>
              <a:cs typeface="Calibri"/>
              <a:sym typeface="Calibri"/>
            </a:endParaRPr>
          </a:p>
          <a:p>
            <a:pPr indent="-457223" lvl="0" marL="457223" marR="0" rtl="0" algn="l">
              <a:lnSpc>
                <a:spcPct val="180000"/>
              </a:lnSpc>
              <a:spcBef>
                <a:spcPts val="0"/>
              </a:spcBef>
              <a:spcAft>
                <a:spcPts val="0"/>
              </a:spcAft>
              <a:buClr>
                <a:srgbClr val="000000"/>
              </a:buClr>
              <a:buSzPts val="1800"/>
              <a:buFont typeface="Arial"/>
              <a:buChar char="•"/>
            </a:pPr>
            <a:r>
              <a:rPr i="0" lang="en-US" sz="1800" u="none" cap="none" strike="noStrike">
                <a:solidFill>
                  <a:srgbClr val="000000"/>
                </a:solidFill>
                <a:latin typeface="Arial"/>
                <a:ea typeface="Arial"/>
                <a:cs typeface="Arial"/>
                <a:sym typeface="Arial"/>
              </a:rPr>
              <a:t>Internal FF-to-FF slack: </a:t>
            </a:r>
            <a:r>
              <a:rPr b="0" i="0" lang="en-US" sz="1800" u="none" cap="none" strike="noStrike">
                <a:solidFill>
                  <a:srgbClr val="000000"/>
                </a:solidFill>
                <a:latin typeface="Arial"/>
                <a:ea typeface="Arial"/>
                <a:cs typeface="Arial"/>
                <a:sym typeface="Arial"/>
              </a:rPr>
              <a:t>+8.80 ns → &gt;67% frequency margin.</a:t>
            </a:r>
            <a:endParaRPr b="0" sz="2400"/>
          </a:p>
        </p:txBody>
      </p:sp>
      <p:sp>
        <p:nvSpPr>
          <p:cNvPr id="1490" name="Google Shape;1490;p132"/>
          <p:cNvSpPr/>
          <p:nvPr/>
        </p:nvSpPr>
        <p:spPr>
          <a:xfrm>
            <a:off x="812800" y="1508760"/>
            <a:ext cx="10777728" cy="426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lang="en-US" sz="2800">
                <a:solidFill>
                  <a:schemeClr val="dk1"/>
                </a:solidFill>
                <a:latin typeface="Arial"/>
                <a:ea typeface="Arial"/>
                <a:cs typeface="Arial"/>
                <a:sym typeface="Arial"/>
              </a:rPr>
              <a:t>Timing</a:t>
            </a:r>
            <a:endParaRPr sz="2800">
              <a:solidFill>
                <a:schemeClr val="dk1"/>
              </a:solidFill>
              <a:latin typeface="Calibri"/>
              <a:ea typeface="Calibri"/>
              <a:cs typeface="Calibri"/>
              <a:sym typeface="Calibri"/>
            </a:endParaRPr>
          </a:p>
        </p:txBody>
      </p:sp>
      <p:sp>
        <p:nvSpPr>
          <p:cNvPr id="1491" name="Google Shape;1491;p132"/>
          <p:cNvSpPr/>
          <p:nvPr/>
        </p:nvSpPr>
        <p:spPr>
          <a:xfrm>
            <a:off x="812800" y="4032690"/>
            <a:ext cx="10777728" cy="426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lang="en-US" sz="2800">
                <a:solidFill>
                  <a:schemeClr val="dk1"/>
                </a:solidFill>
                <a:latin typeface="Arial"/>
                <a:ea typeface="Arial"/>
                <a:cs typeface="Arial"/>
                <a:sym typeface="Arial"/>
              </a:rPr>
              <a:t>Area</a:t>
            </a:r>
            <a:endParaRPr sz="2800">
              <a:solidFill>
                <a:schemeClr val="dk1"/>
              </a:solidFill>
              <a:latin typeface="Calibri"/>
              <a:ea typeface="Calibri"/>
              <a:cs typeface="Calibri"/>
              <a:sym typeface="Calibri"/>
            </a:endParaRPr>
          </a:p>
        </p:txBody>
      </p:sp>
      <p:sp>
        <p:nvSpPr>
          <p:cNvPr id="1492" name="Google Shape;1492;p132"/>
          <p:cNvSpPr/>
          <p:nvPr/>
        </p:nvSpPr>
        <p:spPr>
          <a:xfrm>
            <a:off x="619433" y="4693595"/>
            <a:ext cx="6292644" cy="975360"/>
          </a:xfrm>
          <a:prstGeom prst="rect">
            <a:avLst/>
          </a:prstGeom>
          <a:noFill/>
          <a:ln>
            <a:noFill/>
          </a:ln>
        </p:spPr>
        <p:txBody>
          <a:bodyPr anchorCtr="0" anchor="t" bIns="0" lIns="0" spcFirstLastPara="1" rIns="0" wrap="square" tIns="0">
            <a:noAutofit/>
          </a:bodyPr>
          <a:lstStyle/>
          <a:p>
            <a:pPr indent="-457223" lvl="0" marL="457223" marR="0" rtl="0" algn="l">
              <a:lnSpc>
                <a:spcPct val="180000"/>
              </a:lnSpc>
              <a:spcBef>
                <a:spcPts val="0"/>
              </a:spcBef>
              <a:spcAft>
                <a:spcPts val="0"/>
              </a:spcAft>
              <a:buClr>
                <a:schemeClr val="dk2"/>
              </a:buClr>
              <a:buSzPts val="1800"/>
              <a:buFont typeface="Arial"/>
              <a:buChar char="•"/>
            </a:pPr>
            <a:r>
              <a:rPr b="1" lang="en-US" sz="1800">
                <a:solidFill>
                  <a:schemeClr val="dk2"/>
                </a:solidFill>
                <a:latin typeface="Arial"/>
                <a:ea typeface="Arial"/>
                <a:cs typeface="Arial"/>
                <a:sym typeface="Arial"/>
              </a:rPr>
              <a:t>Total area: </a:t>
            </a:r>
            <a:r>
              <a:rPr lang="en-US" sz="1800">
                <a:solidFill>
                  <a:schemeClr val="dk2"/>
                </a:solidFill>
                <a:latin typeface="Arial"/>
                <a:ea typeface="Arial"/>
                <a:cs typeface="Arial"/>
                <a:sym typeface="Arial"/>
              </a:rPr>
              <a:t>385.75 µm² (~0.04 mm²) at TSMC 7-nm.</a:t>
            </a:r>
            <a:endParaRPr sz="1800">
              <a:solidFill>
                <a:schemeClr val="dk2"/>
              </a:solidFill>
              <a:latin typeface="Calibri"/>
              <a:ea typeface="Calibri"/>
              <a:cs typeface="Calibri"/>
              <a:sym typeface="Calibri"/>
            </a:endParaRPr>
          </a:p>
          <a:p>
            <a:pPr indent="-457223" lvl="0" marL="457223" marR="0" rtl="0" algn="l">
              <a:lnSpc>
                <a:spcPct val="180000"/>
              </a:lnSpc>
              <a:spcBef>
                <a:spcPts val="0"/>
              </a:spcBef>
              <a:spcAft>
                <a:spcPts val="0"/>
              </a:spcAft>
              <a:buClr>
                <a:schemeClr val="dk2"/>
              </a:buClr>
              <a:buSzPts val="1800"/>
              <a:buFont typeface="Arial"/>
              <a:buChar char="•"/>
            </a:pPr>
            <a:r>
              <a:rPr b="1" lang="en-US" sz="1800">
                <a:solidFill>
                  <a:schemeClr val="dk2"/>
                </a:solidFill>
                <a:latin typeface="Arial"/>
                <a:ea typeface="Arial"/>
                <a:cs typeface="Arial"/>
                <a:sym typeface="Arial"/>
              </a:rPr>
              <a:t>2,388 cells: </a:t>
            </a:r>
            <a:r>
              <a:rPr lang="en-US" sz="1800">
                <a:solidFill>
                  <a:schemeClr val="dk2"/>
                </a:solidFill>
                <a:latin typeface="Arial"/>
                <a:ea typeface="Arial"/>
                <a:cs typeface="Arial"/>
                <a:sym typeface="Arial"/>
              </a:rPr>
              <a:t>1,682 </a:t>
            </a:r>
            <a:r>
              <a:rPr b="1" lang="en-US" sz="1800">
                <a:solidFill>
                  <a:schemeClr val="dk2"/>
                </a:solidFill>
                <a:latin typeface="Arial"/>
                <a:ea typeface="Arial"/>
                <a:cs typeface="Arial"/>
                <a:sym typeface="Arial"/>
              </a:rPr>
              <a:t>combinational</a:t>
            </a:r>
            <a:r>
              <a:rPr lang="en-US" sz="1800">
                <a:solidFill>
                  <a:schemeClr val="dk2"/>
                </a:solidFill>
                <a:latin typeface="Arial"/>
                <a:ea typeface="Arial"/>
                <a:cs typeface="Arial"/>
                <a:sym typeface="Arial"/>
              </a:rPr>
              <a:t>, 577 </a:t>
            </a:r>
            <a:r>
              <a:rPr b="1" lang="en-US" sz="1800">
                <a:solidFill>
                  <a:schemeClr val="dk2"/>
                </a:solidFill>
                <a:latin typeface="Arial"/>
                <a:ea typeface="Arial"/>
                <a:cs typeface="Arial"/>
                <a:sym typeface="Arial"/>
              </a:rPr>
              <a:t>sequential</a:t>
            </a:r>
            <a:r>
              <a:rPr lang="en-US" sz="1800">
                <a:solidFill>
                  <a:schemeClr val="dk2"/>
                </a:solidFill>
                <a:latin typeface="Arial"/>
                <a:ea typeface="Arial"/>
                <a:cs typeface="Arial"/>
                <a:sym typeface="Arial"/>
              </a:rPr>
              <a:t>, 252 </a:t>
            </a:r>
            <a:r>
              <a:rPr b="1" lang="en-US" sz="1800">
                <a:solidFill>
                  <a:schemeClr val="dk2"/>
                </a:solidFill>
                <a:latin typeface="Arial"/>
                <a:ea typeface="Arial"/>
                <a:cs typeface="Arial"/>
                <a:sym typeface="Arial"/>
              </a:rPr>
              <a:t>buffers/inverters.</a:t>
            </a:r>
            <a:endParaRPr b="1" sz="1800">
              <a:solidFill>
                <a:schemeClr val="dk2"/>
              </a:solidFill>
              <a:latin typeface="Calibri"/>
              <a:ea typeface="Calibri"/>
              <a:cs typeface="Calibri"/>
              <a:sym typeface="Calibri"/>
            </a:endParaRPr>
          </a:p>
        </p:txBody>
      </p:sp>
      <p:pic>
        <p:nvPicPr>
          <p:cNvPr id="1493" name="Google Shape;1493;p132"/>
          <p:cNvPicPr preferRelativeResize="0"/>
          <p:nvPr/>
        </p:nvPicPr>
        <p:blipFill rotWithShape="1">
          <a:blip r:embed="rId3">
            <a:alphaModFix/>
          </a:blip>
          <a:srcRect b="0" l="0" r="0" t="0"/>
          <a:stretch/>
        </p:blipFill>
        <p:spPr>
          <a:xfrm>
            <a:off x="7365514" y="1786052"/>
            <a:ext cx="3560373" cy="1944793"/>
          </a:xfrm>
          <a:prstGeom prst="rect">
            <a:avLst/>
          </a:prstGeom>
          <a:noFill/>
          <a:ln>
            <a:noFill/>
          </a:ln>
        </p:spPr>
      </p:pic>
      <p:pic>
        <p:nvPicPr>
          <p:cNvPr id="1494" name="Google Shape;1494;p132"/>
          <p:cNvPicPr preferRelativeResize="0"/>
          <p:nvPr/>
        </p:nvPicPr>
        <p:blipFill rotWithShape="1">
          <a:blip r:embed="rId4">
            <a:alphaModFix/>
          </a:blip>
          <a:srcRect b="0" l="0" r="0" t="0"/>
          <a:stretch/>
        </p:blipFill>
        <p:spPr>
          <a:xfrm>
            <a:off x="7770374" y="3864077"/>
            <a:ext cx="3287274" cy="2665240"/>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8" name="Shape 1498"/>
        <p:cNvGrpSpPr/>
        <p:nvPr/>
      </p:nvGrpSpPr>
      <p:grpSpPr>
        <a:xfrm>
          <a:off x="0" y="0"/>
          <a:ext cx="0" cy="0"/>
          <a:chOff x="0" y="0"/>
          <a:chExt cx="0" cy="0"/>
        </a:xfrm>
      </p:grpSpPr>
      <p:sp>
        <p:nvSpPr>
          <p:cNvPr id="1499" name="Google Shape;1499;p133"/>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Synthesis Results</a:t>
            </a:r>
            <a:endParaRPr/>
          </a:p>
        </p:txBody>
      </p:sp>
      <p:sp>
        <p:nvSpPr>
          <p:cNvPr id="1500" name="Google Shape;1500;p133"/>
          <p:cNvSpPr txBox="1"/>
          <p:nvPr>
            <p:ph idx="1" type="body"/>
          </p:nvPr>
        </p:nvSpPr>
        <p:spPr>
          <a:xfrm>
            <a:off x="619433" y="2216178"/>
            <a:ext cx="6502400" cy="1933036"/>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00"/>
              <a:buChar char="•"/>
            </a:pPr>
            <a:r>
              <a:rPr lang="en-US">
                <a:solidFill>
                  <a:schemeClr val="dk1"/>
                </a:solidFill>
              </a:rPr>
              <a:t>Total dynamic power: </a:t>
            </a:r>
            <a:r>
              <a:rPr b="0" lang="en-US">
                <a:solidFill>
                  <a:schemeClr val="dk1"/>
                </a:solidFill>
              </a:rPr>
              <a:t>59.71 µW at 0.75 V, 25°C, 100 MHz; leakage &lt; 0.3%.</a:t>
            </a:r>
            <a:endParaRPr/>
          </a:p>
          <a:p>
            <a:pPr indent="-342900" lvl="0" marL="342900" rtl="0" algn="l">
              <a:spcBef>
                <a:spcPts val="400"/>
              </a:spcBef>
              <a:spcAft>
                <a:spcPts val="0"/>
              </a:spcAft>
              <a:buSzPts val="2000"/>
              <a:buChar char="•"/>
            </a:pPr>
            <a:r>
              <a:rPr lang="en-US">
                <a:solidFill>
                  <a:schemeClr val="dk1"/>
                </a:solidFill>
              </a:rPr>
              <a:t>Power dominated by pipeline registers </a:t>
            </a:r>
            <a:r>
              <a:rPr b="0" lang="en-US">
                <a:solidFill>
                  <a:schemeClr val="dk1"/>
                </a:solidFill>
              </a:rPr>
              <a:t>(~71%) and clock network (~20%).</a:t>
            </a:r>
            <a:endParaRPr b="0" sz="1800">
              <a:solidFill>
                <a:schemeClr val="dk1"/>
              </a:solidFill>
            </a:endParaRPr>
          </a:p>
        </p:txBody>
      </p:sp>
      <p:sp>
        <p:nvSpPr>
          <p:cNvPr id="1501" name="Google Shape;1501;p133"/>
          <p:cNvSpPr/>
          <p:nvPr/>
        </p:nvSpPr>
        <p:spPr>
          <a:xfrm>
            <a:off x="812800" y="1508760"/>
            <a:ext cx="10777728" cy="426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lang="en-US" sz="2800">
                <a:solidFill>
                  <a:schemeClr val="dk1"/>
                </a:solidFill>
                <a:latin typeface="Arial"/>
                <a:ea typeface="Arial"/>
                <a:cs typeface="Arial"/>
                <a:sym typeface="Arial"/>
              </a:rPr>
              <a:t>Power</a:t>
            </a:r>
            <a:endParaRPr/>
          </a:p>
        </p:txBody>
      </p:sp>
      <p:sp>
        <p:nvSpPr>
          <p:cNvPr id="1502" name="Google Shape;1502;p133"/>
          <p:cNvSpPr/>
          <p:nvPr/>
        </p:nvSpPr>
        <p:spPr>
          <a:xfrm>
            <a:off x="812800" y="4032690"/>
            <a:ext cx="10777728" cy="426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t/>
            </a:r>
            <a:endParaRPr sz="2800">
              <a:solidFill>
                <a:schemeClr val="dk1"/>
              </a:solidFill>
              <a:latin typeface="Calibri"/>
              <a:ea typeface="Calibri"/>
              <a:cs typeface="Calibri"/>
              <a:sym typeface="Calibri"/>
            </a:endParaRPr>
          </a:p>
        </p:txBody>
      </p:sp>
      <p:sp>
        <p:nvSpPr>
          <p:cNvPr id="1503" name="Google Shape;1503;p133"/>
          <p:cNvSpPr/>
          <p:nvPr/>
        </p:nvSpPr>
        <p:spPr>
          <a:xfrm>
            <a:off x="619433" y="4693595"/>
            <a:ext cx="6292644" cy="975360"/>
          </a:xfrm>
          <a:prstGeom prst="rect">
            <a:avLst/>
          </a:prstGeom>
          <a:noFill/>
          <a:ln>
            <a:noFill/>
          </a:ln>
        </p:spPr>
        <p:txBody>
          <a:bodyPr anchorCtr="0" anchor="t" bIns="0" lIns="0" spcFirstLastPara="1" rIns="0" wrap="square" tIns="0">
            <a:noAutofit/>
          </a:bodyPr>
          <a:lstStyle/>
          <a:p>
            <a:pPr indent="-342923" lvl="0" marL="457223" marR="0" rtl="0" algn="l">
              <a:lnSpc>
                <a:spcPct val="180000"/>
              </a:lnSpc>
              <a:spcBef>
                <a:spcPts val="0"/>
              </a:spcBef>
              <a:spcAft>
                <a:spcPts val="0"/>
              </a:spcAft>
              <a:buClr>
                <a:schemeClr val="dk1"/>
              </a:buClr>
              <a:buSzPts val="1800"/>
              <a:buFont typeface="Meddon"/>
              <a:buNone/>
            </a:pPr>
            <a:r>
              <a:t/>
            </a:r>
            <a:endParaRPr b="1" sz="1800">
              <a:solidFill>
                <a:schemeClr val="dk2"/>
              </a:solidFill>
              <a:latin typeface="Calibri"/>
              <a:ea typeface="Calibri"/>
              <a:cs typeface="Calibri"/>
              <a:sym typeface="Calibri"/>
            </a:endParaRPr>
          </a:p>
        </p:txBody>
      </p:sp>
      <p:pic>
        <p:nvPicPr>
          <p:cNvPr id="1504" name="Google Shape;1504;p133"/>
          <p:cNvPicPr preferRelativeResize="0"/>
          <p:nvPr/>
        </p:nvPicPr>
        <p:blipFill rotWithShape="1">
          <a:blip r:embed="rId3">
            <a:alphaModFix/>
          </a:blip>
          <a:srcRect b="0" l="0" r="0" t="0"/>
          <a:stretch/>
        </p:blipFill>
        <p:spPr>
          <a:xfrm>
            <a:off x="3219756" y="3649368"/>
            <a:ext cx="5383469" cy="2940820"/>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sp>
        <p:nvSpPr>
          <p:cNvPr id="1509" name="Google Shape;1509;p134"/>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Design Quality &amp; Insights</a:t>
            </a:r>
            <a:endParaRPr/>
          </a:p>
        </p:txBody>
      </p:sp>
      <p:sp>
        <p:nvSpPr>
          <p:cNvPr id="1510" name="Google Shape;1510;p134"/>
          <p:cNvSpPr txBox="1"/>
          <p:nvPr>
            <p:ph idx="1" type="body"/>
          </p:nvPr>
        </p:nvSpPr>
        <p:spPr>
          <a:xfrm>
            <a:off x="1238865" y="1500017"/>
            <a:ext cx="9640201" cy="4959777"/>
          </a:xfrm>
          <a:prstGeom prst="rect">
            <a:avLst/>
          </a:prstGeom>
          <a:noFill/>
          <a:ln>
            <a:noFill/>
          </a:ln>
        </p:spPr>
        <p:txBody>
          <a:bodyPr anchorCtr="0" anchor="t" bIns="45700" lIns="91425" spcFirstLastPara="1" rIns="91425" wrap="square" tIns="45700">
            <a:noAutofit/>
          </a:bodyPr>
          <a:lstStyle/>
          <a:p>
            <a:pPr indent="-457223" lvl="0" marL="457223" rtl="0" algn="l">
              <a:lnSpc>
                <a:spcPct val="135000"/>
              </a:lnSpc>
              <a:spcBef>
                <a:spcPts val="0"/>
              </a:spcBef>
              <a:spcAft>
                <a:spcPts val="0"/>
              </a:spcAft>
              <a:buSzPts val="2400"/>
              <a:buFont typeface="Arial"/>
              <a:buChar char="•"/>
            </a:pPr>
            <a:r>
              <a:rPr lang="en-US" sz="2400">
                <a:solidFill>
                  <a:schemeClr val="dk2"/>
                </a:solidFill>
                <a:latin typeface="Arial"/>
                <a:ea typeface="Arial"/>
                <a:cs typeface="Arial"/>
                <a:sym typeface="Arial"/>
              </a:rPr>
              <a:t>Zero critical errors</a:t>
            </a:r>
            <a:r>
              <a:rPr b="0" lang="en-US" sz="2400">
                <a:solidFill>
                  <a:schemeClr val="dk2"/>
                </a:solidFill>
                <a:latin typeface="Arial"/>
                <a:ea typeface="Arial"/>
                <a:cs typeface="Arial"/>
                <a:sym typeface="Arial"/>
              </a:rPr>
              <a:t>, 100% module resolution, no black-box cells.</a:t>
            </a:r>
            <a:endParaRPr b="0" sz="2400">
              <a:solidFill>
                <a:schemeClr val="dk2"/>
              </a:solidFill>
              <a:latin typeface="Calibri"/>
              <a:ea typeface="Calibri"/>
              <a:cs typeface="Calibri"/>
              <a:sym typeface="Calibri"/>
            </a:endParaRPr>
          </a:p>
          <a:p>
            <a:pPr indent="-457223" lvl="0" marL="457223" rtl="0" algn="l">
              <a:lnSpc>
                <a:spcPct val="135000"/>
              </a:lnSpc>
              <a:spcBef>
                <a:spcPts val="480"/>
              </a:spcBef>
              <a:spcAft>
                <a:spcPts val="0"/>
              </a:spcAft>
              <a:buSzPts val="2400"/>
              <a:buFont typeface="Arial"/>
              <a:buChar char="•"/>
            </a:pPr>
            <a:r>
              <a:rPr lang="en-US" sz="2400">
                <a:solidFill>
                  <a:schemeClr val="dk2"/>
                </a:solidFill>
                <a:latin typeface="Arial"/>
                <a:ea typeface="Arial"/>
                <a:cs typeface="Arial"/>
                <a:sym typeface="Arial"/>
              </a:rPr>
              <a:t>Only non-critical warnings </a:t>
            </a:r>
            <a:r>
              <a:rPr b="0" lang="en-US" sz="2400">
                <a:solidFill>
                  <a:schemeClr val="dk2"/>
                </a:solidFill>
                <a:latin typeface="Arial"/>
                <a:ea typeface="Arial"/>
                <a:cs typeface="Arial"/>
                <a:sym typeface="Arial"/>
              </a:rPr>
              <a:t>(optional debug and configuration-dependent signals).</a:t>
            </a:r>
            <a:endParaRPr b="0" sz="2400">
              <a:solidFill>
                <a:schemeClr val="accent4"/>
              </a:solidFill>
              <a:latin typeface="Calibri"/>
              <a:ea typeface="Calibri"/>
              <a:cs typeface="Calibri"/>
              <a:sym typeface="Calibri"/>
            </a:endParaRPr>
          </a:p>
          <a:p>
            <a:pPr indent="-457223" lvl="0" marL="457223" rtl="0" algn="l">
              <a:lnSpc>
                <a:spcPct val="135000"/>
              </a:lnSpc>
              <a:spcBef>
                <a:spcPts val="480"/>
              </a:spcBef>
              <a:spcAft>
                <a:spcPts val="0"/>
              </a:spcAft>
              <a:buSzPts val="2400"/>
              <a:buFont typeface="Arial"/>
              <a:buChar char="•"/>
            </a:pPr>
            <a:r>
              <a:rPr lang="en-US" sz="2400">
                <a:solidFill>
                  <a:schemeClr val="dk2"/>
                </a:solidFill>
                <a:latin typeface="Arial"/>
                <a:ea typeface="Arial"/>
                <a:cs typeface="Arial"/>
                <a:sym typeface="Arial"/>
              </a:rPr>
              <a:t>Pipeline efficiency</a:t>
            </a:r>
            <a:r>
              <a:rPr b="0" lang="en-US" sz="2400">
                <a:solidFill>
                  <a:schemeClr val="dk2"/>
                </a:solidFill>
                <a:latin typeface="Arial"/>
                <a:ea typeface="Arial"/>
                <a:cs typeface="Arial"/>
                <a:sym typeface="Arial"/>
              </a:rPr>
              <a:t>: 5–8 stage pipeline achieves timing closure with large slack at 100 MHz.</a:t>
            </a:r>
            <a:endParaRPr b="0" sz="2400">
              <a:solidFill>
                <a:schemeClr val="dk2"/>
              </a:solidFill>
              <a:latin typeface="Calibri"/>
              <a:ea typeface="Calibri"/>
              <a:cs typeface="Calibri"/>
              <a:sym typeface="Calibri"/>
            </a:endParaRPr>
          </a:p>
          <a:p>
            <a:pPr indent="-457223" lvl="0" marL="457223" rtl="0" algn="l">
              <a:lnSpc>
                <a:spcPct val="135000"/>
              </a:lnSpc>
              <a:spcBef>
                <a:spcPts val="480"/>
              </a:spcBef>
              <a:spcAft>
                <a:spcPts val="0"/>
              </a:spcAft>
              <a:buSzPts val="2400"/>
              <a:buFont typeface="Arial"/>
              <a:buChar char="•"/>
            </a:pPr>
            <a:r>
              <a:rPr lang="en-US" sz="2400">
                <a:solidFill>
                  <a:schemeClr val="dk2"/>
                </a:solidFill>
                <a:latin typeface="Arial"/>
                <a:ea typeface="Arial"/>
                <a:cs typeface="Arial"/>
                <a:sym typeface="Arial"/>
              </a:rPr>
              <a:t>Technology independence</a:t>
            </a:r>
            <a:r>
              <a:rPr b="0" lang="en-US" sz="2400">
                <a:solidFill>
                  <a:schemeClr val="dk2"/>
                </a:solidFill>
                <a:latin typeface="Arial"/>
                <a:ea typeface="Arial"/>
                <a:cs typeface="Arial"/>
                <a:sym typeface="Arial"/>
              </a:rPr>
              <a:t>: pure SystemVerilog RTL retargeted from FPGA-style design to 7-nm ASIC by library substitution.</a:t>
            </a:r>
            <a:endParaRPr b="0" sz="2400">
              <a:solidFill>
                <a:schemeClr val="dk2"/>
              </a:solidFill>
              <a:latin typeface="Calibri"/>
              <a:ea typeface="Calibri"/>
              <a:cs typeface="Calibri"/>
              <a:sym typeface="Calibri"/>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a:p>
            <a:pPr indent="-190500" lvl="0" marL="342900" rtl="0" algn="l">
              <a:spcBef>
                <a:spcPts val="0"/>
              </a:spcBef>
              <a:spcAft>
                <a:spcPts val="0"/>
              </a:spcAft>
              <a:buSzPts val="2400"/>
              <a:buNone/>
            </a:pPr>
            <a:r>
              <a:t/>
            </a:r>
            <a:endParaRPr b="0" sz="2400">
              <a:solidFill>
                <a:srgbClr val="000000"/>
              </a:solidFill>
              <a:latin typeface="Calibri"/>
              <a:ea typeface="Calibri"/>
              <a:cs typeface="Calibri"/>
              <a:sym typeface="Calibri"/>
            </a:endParaRPr>
          </a:p>
          <a:p>
            <a:pPr indent="-190500" lvl="0" marL="342900" rtl="0" algn="l">
              <a:spcBef>
                <a:spcPts val="0"/>
              </a:spcBef>
              <a:spcAft>
                <a:spcPts val="0"/>
              </a:spcAft>
              <a:buSzPts val="2400"/>
              <a:buNone/>
            </a:pPr>
            <a:r>
              <a:t/>
            </a:r>
            <a:endParaRPr b="0" sz="2400">
              <a:solidFill>
                <a:schemeClr val="accent4"/>
              </a:solidFill>
              <a:latin typeface="Calibri"/>
              <a:ea typeface="Calibri"/>
              <a:cs typeface="Calibri"/>
              <a:sym typeface="Calibri"/>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4" name="Shape 1514"/>
        <p:cNvGrpSpPr/>
        <p:nvPr/>
      </p:nvGrpSpPr>
      <p:grpSpPr>
        <a:xfrm>
          <a:off x="0" y="0"/>
          <a:ext cx="0" cy="0"/>
          <a:chOff x="0" y="0"/>
          <a:chExt cx="0" cy="0"/>
        </a:xfrm>
      </p:grpSpPr>
      <p:sp>
        <p:nvSpPr>
          <p:cNvPr id="1515" name="Google Shape;1515;p135"/>
          <p:cNvSpPr txBox="1"/>
          <p:nvPr/>
        </p:nvSpPr>
        <p:spPr>
          <a:xfrm>
            <a:off x="1219200" y="2379663"/>
            <a:ext cx="9753600" cy="1049337"/>
          </a:xfrm>
          <a:prstGeom prst="rect">
            <a:avLst/>
          </a:prstGeom>
          <a:noFill/>
          <a:ln>
            <a:noFill/>
          </a:ln>
        </p:spPr>
        <p:txBody>
          <a:bodyPr anchorCtr="0" anchor="ctr" bIns="45700" lIns="91425" spcFirstLastPara="1" rIns="91425" wrap="square" tIns="45700">
            <a:noAutofit/>
          </a:bodyPr>
          <a:lstStyle/>
          <a:p>
            <a:pPr indent="0" lvl="0" marL="0" marR="0" rtl="0" algn="ctr">
              <a:lnSpc>
                <a:spcPct val="149000"/>
              </a:lnSpc>
              <a:spcBef>
                <a:spcPts val="0"/>
              </a:spcBef>
              <a:spcAft>
                <a:spcPts val="0"/>
              </a:spcAft>
              <a:buNone/>
            </a:pPr>
            <a:r>
              <a:rPr b="1" i="0" lang="en-US" sz="3600">
                <a:solidFill>
                  <a:schemeClr val="dk1"/>
                </a:solidFill>
                <a:latin typeface="Calibri"/>
                <a:ea typeface="Calibri"/>
                <a:cs typeface="Calibri"/>
                <a:sym typeface="Calibri"/>
              </a:rPr>
              <a:t>SFU Unit RTL-to-ASIC Synthesis</a:t>
            </a:r>
            <a:endParaRPr b="1" i="1" sz="3600">
              <a:solidFill>
                <a:srgbClr val="000000"/>
              </a:solidFill>
              <a:latin typeface="Arial"/>
              <a:ea typeface="Arial"/>
              <a:cs typeface="Arial"/>
              <a:sym typeface="Aria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sp>
        <p:nvSpPr>
          <p:cNvPr id="1520" name="Google Shape;1520;p136"/>
          <p:cNvSpPr txBox="1"/>
          <p:nvPr>
            <p:ph type="title"/>
          </p:nvPr>
        </p:nvSpPr>
        <p:spPr>
          <a:xfrm>
            <a:off x="2547681" y="699222"/>
            <a:ext cx="7096638"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RTL-to-ASIC Synthesis Flow</a:t>
            </a:r>
            <a:endParaRPr/>
          </a:p>
        </p:txBody>
      </p:sp>
      <p:sp>
        <p:nvSpPr>
          <p:cNvPr id="1521" name="Google Shape;1521;p136"/>
          <p:cNvSpPr txBox="1"/>
          <p:nvPr>
            <p:ph idx="1" type="body"/>
          </p:nvPr>
        </p:nvSpPr>
        <p:spPr>
          <a:xfrm>
            <a:off x="825909" y="1463787"/>
            <a:ext cx="9802761" cy="4984947"/>
          </a:xfrm>
          <a:prstGeom prst="rect">
            <a:avLst/>
          </a:prstGeom>
          <a:noFill/>
          <a:ln>
            <a:noFill/>
          </a:ln>
        </p:spPr>
        <p:txBody>
          <a:bodyPr anchorCtr="0" anchor="t" bIns="45700" lIns="91425" spcFirstLastPara="1" rIns="91425" wrap="square" tIns="45700">
            <a:noAutofit/>
          </a:bodyPr>
          <a:lstStyle/>
          <a:p>
            <a:pPr indent="-304823" lvl="0" marL="457223" rtl="0" algn="l">
              <a:lnSpc>
                <a:spcPct val="135000"/>
              </a:lnSpc>
              <a:spcBef>
                <a:spcPts val="0"/>
              </a:spcBef>
              <a:spcAft>
                <a:spcPts val="0"/>
              </a:spcAft>
              <a:buSzPts val="2400"/>
              <a:buFont typeface="Calibri"/>
              <a:buNone/>
            </a:pPr>
            <a:r>
              <a:t/>
            </a:r>
            <a:endParaRPr b="0" sz="2400">
              <a:solidFill>
                <a:schemeClr val="dk2"/>
              </a:solidFill>
              <a:latin typeface="Calibri"/>
              <a:ea typeface="Calibri"/>
              <a:cs typeface="Calibri"/>
              <a:sym typeface="Calibri"/>
            </a:endParaRPr>
          </a:p>
          <a:p>
            <a:pPr indent="-457223" lvl="0" marL="457223" rtl="0" algn="l">
              <a:lnSpc>
                <a:spcPct val="135000"/>
              </a:lnSpc>
              <a:spcBef>
                <a:spcPts val="480"/>
              </a:spcBef>
              <a:spcAft>
                <a:spcPts val="0"/>
              </a:spcAft>
              <a:buSzPts val="2400"/>
              <a:buFont typeface="Calibri"/>
              <a:buChar char="•"/>
            </a:pPr>
            <a:r>
              <a:rPr b="0" lang="en-US" sz="2400">
                <a:solidFill>
                  <a:schemeClr val="dk2"/>
                </a:solidFill>
                <a:latin typeface="Calibri"/>
                <a:ea typeface="Calibri"/>
                <a:cs typeface="Calibri"/>
                <a:sym typeface="Calibri"/>
              </a:rPr>
              <a:t>Successfully converted macros that have function to modules such as the popcount. </a:t>
            </a:r>
            <a:endParaRPr/>
          </a:p>
          <a:p>
            <a:pPr indent="-304823" lvl="0" marL="457223" rtl="0" algn="l">
              <a:lnSpc>
                <a:spcPct val="135000"/>
              </a:lnSpc>
              <a:spcBef>
                <a:spcPts val="480"/>
              </a:spcBef>
              <a:spcAft>
                <a:spcPts val="0"/>
              </a:spcAft>
              <a:buSzPts val="2400"/>
              <a:buFont typeface="Calibri"/>
              <a:buNone/>
            </a:pPr>
            <a:r>
              <a:t/>
            </a:r>
            <a:endParaRPr b="0" sz="2400">
              <a:solidFill>
                <a:schemeClr val="dk2"/>
              </a:solidFill>
              <a:latin typeface="Calibri"/>
              <a:ea typeface="Calibri"/>
              <a:cs typeface="Calibri"/>
              <a:sym typeface="Calibri"/>
            </a:endParaRPr>
          </a:p>
          <a:p>
            <a:pPr indent="-457223" lvl="0" marL="457223" rtl="0" algn="l">
              <a:lnSpc>
                <a:spcPct val="135000"/>
              </a:lnSpc>
              <a:spcBef>
                <a:spcPts val="480"/>
              </a:spcBef>
              <a:spcAft>
                <a:spcPts val="0"/>
              </a:spcAft>
              <a:buSzPts val="2400"/>
              <a:buFont typeface="Calibri"/>
              <a:buChar char="•"/>
            </a:pPr>
            <a:r>
              <a:rPr b="0" lang="en-US" sz="2400">
                <a:solidFill>
                  <a:schemeClr val="dk2"/>
                </a:solidFill>
                <a:latin typeface="Calibri"/>
                <a:ea typeface="Calibri"/>
                <a:cs typeface="Calibri"/>
                <a:sym typeface="Calibri"/>
              </a:rPr>
              <a:t>Popcount purpose is to count the number of bits set to 1 in an input bit-vector of length</a:t>
            </a:r>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id="1526" name="Google Shape;1526;p137"/>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Synthesis Results</a:t>
            </a:r>
            <a:endParaRPr/>
          </a:p>
        </p:txBody>
      </p:sp>
      <p:sp>
        <p:nvSpPr>
          <p:cNvPr id="1527" name="Google Shape;1527;p137"/>
          <p:cNvSpPr txBox="1"/>
          <p:nvPr>
            <p:ph idx="1" type="body"/>
          </p:nvPr>
        </p:nvSpPr>
        <p:spPr>
          <a:xfrm>
            <a:off x="946151" y="2383327"/>
            <a:ext cx="8298426" cy="975360"/>
          </a:xfrm>
          <a:prstGeom prst="rect">
            <a:avLst/>
          </a:prstGeom>
          <a:noFill/>
          <a:ln>
            <a:noFill/>
          </a:ln>
        </p:spPr>
        <p:txBody>
          <a:bodyPr anchorCtr="0" anchor="t" bIns="45700" lIns="91425" spcFirstLastPara="1" rIns="91425" wrap="square" tIns="45700">
            <a:noAutofit/>
          </a:bodyPr>
          <a:lstStyle/>
          <a:p>
            <a:pPr indent="-457223" lvl="0" marL="457223" marR="0" rtl="0" algn="l">
              <a:lnSpc>
                <a:spcPct val="135000"/>
              </a:lnSpc>
              <a:spcBef>
                <a:spcPts val="0"/>
              </a:spcBef>
              <a:spcAft>
                <a:spcPts val="0"/>
              </a:spcAft>
              <a:buClr>
                <a:srgbClr val="000000"/>
              </a:buClr>
              <a:buSzPts val="2400"/>
              <a:buFont typeface="Calibri"/>
              <a:buChar char="•"/>
            </a:pPr>
            <a:r>
              <a:rPr b="0" i="0" lang="en-US" sz="2400" u="none" cap="none" strike="noStrike">
                <a:solidFill>
                  <a:srgbClr val="000000"/>
                </a:solidFill>
              </a:rPr>
              <a:t>Target clock: 100 ns (10 MHz) with worst-case</a:t>
            </a:r>
            <a:endParaRPr/>
          </a:p>
          <a:p>
            <a:pPr indent="0" lvl="0" marL="0" rtl="0" algn="l">
              <a:lnSpc>
                <a:spcPct val="135000"/>
              </a:lnSpc>
              <a:spcBef>
                <a:spcPts val="0"/>
              </a:spcBef>
              <a:spcAft>
                <a:spcPts val="0"/>
              </a:spcAft>
              <a:buClr>
                <a:srgbClr val="000000"/>
              </a:buClr>
              <a:buSzPts val="2400"/>
              <a:buNone/>
            </a:pPr>
            <a:r>
              <a:rPr b="0" i="0" lang="en-US" sz="2400" u="none" cap="none" strike="noStrike">
                <a:solidFill>
                  <a:srgbClr val="000000"/>
                </a:solidFill>
              </a:rPr>
              <a:t>      setup slack of +</a:t>
            </a:r>
            <a:r>
              <a:rPr b="0" lang="en-US" sz="2400">
                <a:solidFill>
                  <a:srgbClr val="000000"/>
                </a:solidFill>
              </a:rPr>
              <a:t>99.15</a:t>
            </a:r>
            <a:r>
              <a:rPr b="0" i="0" lang="en-US" sz="2400" u="none" cap="none" strike="noStrike">
                <a:solidFill>
                  <a:srgbClr val="000000"/>
                </a:solidFill>
              </a:rPr>
              <a:t> ns.</a:t>
            </a:r>
            <a:endParaRPr/>
          </a:p>
        </p:txBody>
      </p:sp>
      <p:sp>
        <p:nvSpPr>
          <p:cNvPr id="1528" name="Google Shape;1528;p137"/>
          <p:cNvSpPr/>
          <p:nvPr/>
        </p:nvSpPr>
        <p:spPr>
          <a:xfrm>
            <a:off x="1139518" y="1675909"/>
            <a:ext cx="10777728" cy="426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lang="en-US" sz="2800">
                <a:solidFill>
                  <a:schemeClr val="dk1"/>
                </a:solidFill>
                <a:latin typeface="Arial"/>
                <a:ea typeface="Arial"/>
                <a:cs typeface="Arial"/>
                <a:sym typeface="Arial"/>
              </a:rPr>
              <a:t>Timing</a:t>
            </a:r>
            <a:endParaRPr sz="2800">
              <a:solidFill>
                <a:schemeClr val="dk1"/>
              </a:solidFill>
              <a:latin typeface="Calibri"/>
              <a:ea typeface="Calibri"/>
              <a:cs typeface="Calibri"/>
              <a:sym typeface="Calibri"/>
            </a:endParaRPr>
          </a:p>
        </p:txBody>
      </p:sp>
      <p:sp>
        <p:nvSpPr>
          <p:cNvPr id="1529" name="Google Shape;1529;p137"/>
          <p:cNvSpPr/>
          <p:nvPr/>
        </p:nvSpPr>
        <p:spPr>
          <a:xfrm>
            <a:off x="1139518" y="3596149"/>
            <a:ext cx="10777728" cy="426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lang="en-US" sz="2800">
                <a:solidFill>
                  <a:schemeClr val="dk1"/>
                </a:solidFill>
                <a:latin typeface="Calibri"/>
                <a:ea typeface="Calibri"/>
                <a:cs typeface="Calibri"/>
                <a:sym typeface="Calibri"/>
              </a:rPr>
              <a:t>Area</a:t>
            </a:r>
            <a:endParaRPr sz="2800">
              <a:solidFill>
                <a:schemeClr val="dk1"/>
              </a:solidFill>
              <a:latin typeface="Calibri"/>
              <a:ea typeface="Calibri"/>
              <a:cs typeface="Calibri"/>
              <a:sym typeface="Calibri"/>
            </a:endParaRPr>
          </a:p>
        </p:txBody>
      </p:sp>
      <p:sp>
        <p:nvSpPr>
          <p:cNvPr id="1530" name="Google Shape;1530;p137"/>
          <p:cNvSpPr/>
          <p:nvPr/>
        </p:nvSpPr>
        <p:spPr>
          <a:xfrm>
            <a:off x="1024809" y="4109381"/>
            <a:ext cx="10874477" cy="975360"/>
          </a:xfrm>
          <a:prstGeom prst="rect">
            <a:avLst/>
          </a:prstGeom>
          <a:noFill/>
          <a:ln>
            <a:noFill/>
          </a:ln>
        </p:spPr>
        <p:txBody>
          <a:bodyPr anchorCtr="0" anchor="t" bIns="0" lIns="0" spcFirstLastPara="1" rIns="0" wrap="square" tIns="0">
            <a:noAutofit/>
          </a:bodyPr>
          <a:lstStyle/>
          <a:p>
            <a:pPr indent="-457223" lvl="0" marL="457223" marR="0" rtl="0" algn="l">
              <a:lnSpc>
                <a:spcPct val="135000"/>
              </a:lnSpc>
              <a:spcBef>
                <a:spcPts val="0"/>
              </a:spcBef>
              <a:spcAft>
                <a:spcPts val="0"/>
              </a:spcAft>
              <a:buClr>
                <a:schemeClr val="dk2"/>
              </a:buClr>
              <a:buSzPts val="2400"/>
              <a:buFont typeface="Calibri"/>
              <a:buChar char="•"/>
            </a:pPr>
            <a:r>
              <a:rPr lang="en-US" sz="2400">
                <a:solidFill>
                  <a:schemeClr val="dk2"/>
                </a:solidFill>
                <a:latin typeface="Calibri"/>
                <a:ea typeface="Calibri"/>
                <a:cs typeface="Calibri"/>
                <a:sym typeface="Calibri"/>
              </a:rPr>
              <a:t>Total area: 1239.7 µm² at TSMC 7-nm.</a:t>
            </a:r>
            <a:endParaRPr/>
          </a:p>
          <a:p>
            <a:pPr indent="-457223" lvl="0" marL="457223" marR="0" rtl="0" algn="l">
              <a:lnSpc>
                <a:spcPct val="135000"/>
              </a:lnSpc>
              <a:spcBef>
                <a:spcPts val="0"/>
              </a:spcBef>
              <a:spcAft>
                <a:spcPts val="0"/>
              </a:spcAft>
              <a:buClr>
                <a:schemeClr val="dk2"/>
              </a:buClr>
              <a:buSzPts val="2400"/>
              <a:buFont typeface="Calibri"/>
              <a:buChar char="•"/>
            </a:pPr>
            <a:r>
              <a:rPr lang="en-US" sz="2400">
                <a:solidFill>
                  <a:schemeClr val="dk2"/>
                </a:solidFill>
                <a:latin typeface="Calibri"/>
                <a:ea typeface="Calibri"/>
                <a:cs typeface="Calibri"/>
                <a:sym typeface="Calibri"/>
              </a:rPr>
              <a:t>6586 cells: 4537 combinational, 1907 sequential, 1055 buffers/inverters.</a:t>
            </a:r>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4" name="Shape 1534"/>
        <p:cNvGrpSpPr/>
        <p:nvPr/>
      </p:nvGrpSpPr>
      <p:grpSpPr>
        <a:xfrm>
          <a:off x="0" y="0"/>
          <a:ext cx="0" cy="0"/>
          <a:chOff x="0" y="0"/>
          <a:chExt cx="0" cy="0"/>
        </a:xfrm>
      </p:grpSpPr>
      <p:sp>
        <p:nvSpPr>
          <p:cNvPr id="1535" name="Google Shape;1535;p138"/>
          <p:cNvSpPr txBox="1"/>
          <p:nvPr/>
        </p:nvSpPr>
        <p:spPr>
          <a:xfrm>
            <a:off x="1219200" y="2379663"/>
            <a:ext cx="9753600" cy="1049337"/>
          </a:xfrm>
          <a:prstGeom prst="rect">
            <a:avLst/>
          </a:prstGeom>
          <a:noFill/>
          <a:ln>
            <a:noFill/>
          </a:ln>
        </p:spPr>
        <p:txBody>
          <a:bodyPr anchorCtr="0" anchor="ctr" bIns="45700" lIns="91425" spcFirstLastPara="1" rIns="91425" wrap="square" tIns="45700">
            <a:noAutofit/>
          </a:bodyPr>
          <a:lstStyle/>
          <a:p>
            <a:pPr indent="0" lvl="0" marL="0" marR="0" rtl="0" algn="ctr">
              <a:lnSpc>
                <a:spcPct val="149000"/>
              </a:lnSpc>
              <a:spcBef>
                <a:spcPts val="0"/>
              </a:spcBef>
              <a:spcAft>
                <a:spcPts val="0"/>
              </a:spcAft>
              <a:buNone/>
            </a:pPr>
            <a:r>
              <a:rPr b="1" i="0" lang="en-US" sz="3600">
                <a:solidFill>
                  <a:schemeClr val="dk1"/>
                </a:solidFill>
                <a:latin typeface="Calibri"/>
                <a:ea typeface="Calibri"/>
                <a:cs typeface="Calibri"/>
                <a:sym typeface="Calibri"/>
              </a:rPr>
              <a:t>LSU Unit RTL-to-ASIC Synthesis</a:t>
            </a:r>
            <a:endParaRPr b="1" i="1" sz="3600">
              <a:solidFill>
                <a:srgbClr val="000000"/>
              </a:solidFill>
              <a:latin typeface="Arial"/>
              <a:ea typeface="Arial"/>
              <a:cs typeface="Arial"/>
              <a:sym typeface="Arial"/>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9" name="Shape 1539"/>
        <p:cNvGrpSpPr/>
        <p:nvPr/>
      </p:nvGrpSpPr>
      <p:grpSpPr>
        <a:xfrm>
          <a:off x="0" y="0"/>
          <a:ext cx="0" cy="0"/>
          <a:chOff x="0" y="0"/>
          <a:chExt cx="0" cy="0"/>
        </a:xfrm>
      </p:grpSpPr>
      <p:sp>
        <p:nvSpPr>
          <p:cNvPr id="1540" name="Google Shape;1540;p139"/>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Synthesis Results</a:t>
            </a:r>
            <a:endParaRPr/>
          </a:p>
        </p:txBody>
      </p:sp>
      <p:sp>
        <p:nvSpPr>
          <p:cNvPr id="1541" name="Google Shape;1541;p139"/>
          <p:cNvSpPr txBox="1"/>
          <p:nvPr>
            <p:ph idx="1" type="body"/>
          </p:nvPr>
        </p:nvSpPr>
        <p:spPr>
          <a:xfrm>
            <a:off x="619433" y="2216178"/>
            <a:ext cx="8298426" cy="975360"/>
          </a:xfrm>
          <a:prstGeom prst="rect">
            <a:avLst/>
          </a:prstGeom>
          <a:noFill/>
          <a:ln>
            <a:noFill/>
          </a:ln>
        </p:spPr>
        <p:txBody>
          <a:bodyPr anchorCtr="0" anchor="t" bIns="45700" lIns="91425" spcFirstLastPara="1" rIns="91425" wrap="square" tIns="45700">
            <a:noAutofit/>
          </a:bodyPr>
          <a:lstStyle/>
          <a:p>
            <a:pPr indent="-457223" lvl="0" marL="457223" marR="0" rtl="0" algn="l">
              <a:lnSpc>
                <a:spcPct val="135000"/>
              </a:lnSpc>
              <a:spcBef>
                <a:spcPts val="0"/>
              </a:spcBef>
              <a:spcAft>
                <a:spcPts val="0"/>
              </a:spcAft>
              <a:buClr>
                <a:srgbClr val="000000"/>
              </a:buClr>
              <a:buSzPts val="2400"/>
              <a:buFont typeface="Calibri"/>
              <a:buChar char="•"/>
            </a:pPr>
            <a:r>
              <a:rPr b="0" i="0" lang="en-US" sz="2400" u="none" cap="none" strike="noStrike">
                <a:solidFill>
                  <a:srgbClr val="000000"/>
                </a:solidFill>
              </a:rPr>
              <a:t>Target clock: </a:t>
            </a:r>
            <a:r>
              <a:rPr b="0" lang="en-US" sz="2400">
                <a:solidFill>
                  <a:srgbClr val="000000"/>
                </a:solidFill>
              </a:rPr>
              <a:t>50</a:t>
            </a:r>
            <a:r>
              <a:rPr b="0" i="0" lang="en-US" sz="2400" u="none" cap="none" strike="noStrike">
                <a:solidFill>
                  <a:srgbClr val="000000"/>
                </a:solidFill>
              </a:rPr>
              <a:t> ns (20 MHz) with worst-case</a:t>
            </a:r>
            <a:endParaRPr/>
          </a:p>
          <a:p>
            <a:pPr indent="0" lvl="0" marL="0" rtl="0" algn="l">
              <a:lnSpc>
                <a:spcPct val="135000"/>
              </a:lnSpc>
              <a:spcBef>
                <a:spcPts val="0"/>
              </a:spcBef>
              <a:spcAft>
                <a:spcPts val="0"/>
              </a:spcAft>
              <a:buClr>
                <a:srgbClr val="000000"/>
              </a:buClr>
              <a:buSzPts val="2400"/>
              <a:buNone/>
            </a:pPr>
            <a:r>
              <a:rPr b="0" i="0" lang="en-US" sz="2400" u="none" cap="none" strike="noStrike">
                <a:solidFill>
                  <a:srgbClr val="000000"/>
                </a:solidFill>
              </a:rPr>
              <a:t>      setup slack of +48.56 ns.</a:t>
            </a:r>
            <a:endParaRPr/>
          </a:p>
        </p:txBody>
      </p:sp>
      <p:sp>
        <p:nvSpPr>
          <p:cNvPr id="1542" name="Google Shape;1542;p139"/>
          <p:cNvSpPr/>
          <p:nvPr/>
        </p:nvSpPr>
        <p:spPr>
          <a:xfrm>
            <a:off x="812800" y="1508760"/>
            <a:ext cx="10777728" cy="426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Timing</a:t>
            </a:r>
            <a:endParaRPr b="0" i="0" sz="2800" u="none" cap="none" strike="noStrike">
              <a:solidFill>
                <a:srgbClr val="000000"/>
              </a:solidFill>
              <a:latin typeface="Calibri"/>
              <a:ea typeface="Calibri"/>
              <a:cs typeface="Calibri"/>
              <a:sym typeface="Calibri"/>
            </a:endParaRPr>
          </a:p>
        </p:txBody>
      </p:sp>
      <p:sp>
        <p:nvSpPr>
          <p:cNvPr id="1543" name="Google Shape;1543;p139"/>
          <p:cNvSpPr/>
          <p:nvPr/>
        </p:nvSpPr>
        <p:spPr>
          <a:xfrm>
            <a:off x="812800" y="3429000"/>
            <a:ext cx="10777728" cy="426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Area</a:t>
            </a:r>
            <a:endParaRPr b="0" i="0" sz="2800" u="none" cap="none" strike="noStrike">
              <a:solidFill>
                <a:srgbClr val="000000"/>
              </a:solidFill>
              <a:latin typeface="Calibri"/>
              <a:ea typeface="Calibri"/>
              <a:cs typeface="Calibri"/>
              <a:sym typeface="Calibri"/>
            </a:endParaRPr>
          </a:p>
        </p:txBody>
      </p:sp>
      <p:sp>
        <p:nvSpPr>
          <p:cNvPr id="1544" name="Google Shape;1544;p139"/>
          <p:cNvSpPr/>
          <p:nvPr/>
        </p:nvSpPr>
        <p:spPr>
          <a:xfrm>
            <a:off x="698091" y="3942232"/>
            <a:ext cx="10874477" cy="426720"/>
          </a:xfrm>
          <a:prstGeom prst="rect">
            <a:avLst/>
          </a:prstGeom>
          <a:noFill/>
          <a:ln>
            <a:noFill/>
          </a:ln>
        </p:spPr>
        <p:txBody>
          <a:bodyPr anchorCtr="0" anchor="t" bIns="0" lIns="0" spcFirstLastPara="1" rIns="0" wrap="square" tIns="0">
            <a:noAutofit/>
          </a:bodyPr>
          <a:lstStyle/>
          <a:p>
            <a:pPr indent="-457223" lvl="0" marL="457223" marR="0" rtl="0" algn="l">
              <a:lnSpc>
                <a:spcPct val="135000"/>
              </a:lnSpc>
              <a:spcBef>
                <a:spcPts val="0"/>
              </a:spcBef>
              <a:spcAft>
                <a:spcPts val="0"/>
              </a:spcAft>
              <a:buClr>
                <a:srgbClr val="000000"/>
              </a:buClr>
              <a:buSzPts val="2400"/>
              <a:buFont typeface="Calibri"/>
              <a:buChar char="•"/>
            </a:pPr>
            <a:r>
              <a:rPr b="0" i="0" lang="en-US" sz="2400" u="none" cap="none" strike="noStrike">
                <a:solidFill>
                  <a:srgbClr val="000000"/>
                </a:solidFill>
                <a:latin typeface="Calibri"/>
                <a:ea typeface="Calibri"/>
                <a:cs typeface="Calibri"/>
                <a:sym typeface="Calibri"/>
              </a:rPr>
              <a:t>Total area: </a:t>
            </a:r>
            <a:r>
              <a:rPr lang="en-US" sz="2400">
                <a:solidFill>
                  <a:srgbClr val="000000"/>
                </a:solidFill>
                <a:latin typeface="Calibri"/>
                <a:ea typeface="Calibri"/>
                <a:cs typeface="Calibri"/>
                <a:sym typeface="Calibri"/>
              </a:rPr>
              <a:t>126,397.6 </a:t>
            </a:r>
            <a:r>
              <a:rPr b="0" i="0" lang="en-US" sz="2400" u="none" cap="none" strike="noStrike">
                <a:solidFill>
                  <a:srgbClr val="000000"/>
                </a:solidFill>
                <a:latin typeface="Calibri"/>
                <a:ea typeface="Calibri"/>
                <a:cs typeface="Calibri"/>
                <a:sym typeface="Calibri"/>
              </a:rPr>
              <a:t>µm² at TSMC 130-nm.</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8" name="Shape 1548"/>
        <p:cNvGrpSpPr/>
        <p:nvPr/>
      </p:nvGrpSpPr>
      <p:grpSpPr>
        <a:xfrm>
          <a:off x="0" y="0"/>
          <a:ext cx="0" cy="0"/>
          <a:chOff x="0" y="0"/>
          <a:chExt cx="0" cy="0"/>
        </a:xfrm>
      </p:grpSpPr>
      <p:sp>
        <p:nvSpPr>
          <p:cNvPr id="1549" name="Google Shape;1549;p140"/>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Formality Results</a:t>
            </a:r>
            <a:endParaRPr/>
          </a:p>
        </p:txBody>
      </p:sp>
      <p:sp>
        <p:nvSpPr>
          <p:cNvPr id="1550" name="Google Shape;1550;p140"/>
          <p:cNvSpPr/>
          <p:nvPr/>
        </p:nvSpPr>
        <p:spPr>
          <a:xfrm>
            <a:off x="812800" y="1508760"/>
            <a:ext cx="10777728" cy="426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Failing Points:</a:t>
            </a:r>
            <a:endParaRPr/>
          </a:p>
        </p:txBody>
      </p:sp>
      <p:sp>
        <p:nvSpPr>
          <p:cNvPr id="1551" name="Google Shape;1551;p140"/>
          <p:cNvSpPr/>
          <p:nvPr/>
        </p:nvSpPr>
        <p:spPr>
          <a:xfrm>
            <a:off x="812800" y="4032690"/>
            <a:ext cx="10777728" cy="426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800"/>
              <a:buFont typeface="Meddon"/>
              <a:buNone/>
            </a:pPr>
            <a:r>
              <a:t/>
            </a:r>
            <a:endParaRPr b="0" i="0" sz="2800" u="none" cap="none" strike="noStrike">
              <a:solidFill>
                <a:srgbClr val="000000"/>
              </a:solidFill>
              <a:latin typeface="Calibri"/>
              <a:ea typeface="Calibri"/>
              <a:cs typeface="Calibri"/>
              <a:sym typeface="Calibri"/>
            </a:endParaRPr>
          </a:p>
        </p:txBody>
      </p:sp>
      <p:sp>
        <p:nvSpPr>
          <p:cNvPr id="1552" name="Google Shape;1552;p140"/>
          <p:cNvSpPr/>
          <p:nvPr/>
        </p:nvSpPr>
        <p:spPr>
          <a:xfrm>
            <a:off x="619433" y="4693595"/>
            <a:ext cx="6292644" cy="975360"/>
          </a:xfrm>
          <a:prstGeom prst="rect">
            <a:avLst/>
          </a:prstGeom>
          <a:noFill/>
          <a:ln>
            <a:noFill/>
          </a:ln>
        </p:spPr>
        <p:txBody>
          <a:bodyPr anchorCtr="0" anchor="t" bIns="0" lIns="0" spcFirstLastPara="1" rIns="0" wrap="square" tIns="0">
            <a:noAutofit/>
          </a:bodyPr>
          <a:lstStyle/>
          <a:p>
            <a:pPr indent="-342923" lvl="0" marL="457223" marR="0" rtl="0" algn="l">
              <a:lnSpc>
                <a:spcPct val="180000"/>
              </a:lnSpc>
              <a:spcBef>
                <a:spcPts val="0"/>
              </a:spcBef>
              <a:spcAft>
                <a:spcPts val="0"/>
              </a:spcAft>
              <a:buClr>
                <a:schemeClr val="dk1"/>
              </a:buClr>
              <a:buSzPts val="1800"/>
              <a:buFont typeface="Meddon"/>
              <a:buNone/>
            </a:pPr>
            <a:r>
              <a:t/>
            </a:r>
            <a:endParaRPr b="1" i="0" sz="1800" u="none" cap="none" strike="noStrike">
              <a:solidFill>
                <a:srgbClr val="000000"/>
              </a:solidFill>
              <a:latin typeface="Calibri"/>
              <a:ea typeface="Calibri"/>
              <a:cs typeface="Calibri"/>
              <a:sym typeface="Calibri"/>
            </a:endParaRPr>
          </a:p>
        </p:txBody>
      </p:sp>
      <p:pic>
        <p:nvPicPr>
          <p:cNvPr id="1553" name="Google Shape;1553;p140"/>
          <p:cNvPicPr preferRelativeResize="0"/>
          <p:nvPr/>
        </p:nvPicPr>
        <p:blipFill rotWithShape="1">
          <a:blip r:embed="rId3">
            <a:alphaModFix/>
          </a:blip>
          <a:srcRect b="0" l="0" r="0" t="0"/>
          <a:stretch/>
        </p:blipFill>
        <p:spPr>
          <a:xfrm>
            <a:off x="2420790" y="2314071"/>
            <a:ext cx="7350420" cy="3181293"/>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7" name="Shape 1557"/>
        <p:cNvGrpSpPr/>
        <p:nvPr/>
      </p:nvGrpSpPr>
      <p:grpSpPr>
        <a:xfrm>
          <a:off x="0" y="0"/>
          <a:ext cx="0" cy="0"/>
          <a:chOff x="0" y="0"/>
          <a:chExt cx="0" cy="0"/>
        </a:xfrm>
      </p:grpSpPr>
      <p:sp>
        <p:nvSpPr>
          <p:cNvPr id="1558" name="Google Shape;1558;p141"/>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Formality Results</a:t>
            </a:r>
            <a:endParaRPr/>
          </a:p>
        </p:txBody>
      </p:sp>
      <p:sp>
        <p:nvSpPr>
          <p:cNvPr id="1559" name="Google Shape;1559;p141"/>
          <p:cNvSpPr/>
          <p:nvPr/>
        </p:nvSpPr>
        <p:spPr>
          <a:xfrm>
            <a:off x="812800" y="1508760"/>
            <a:ext cx="10777728" cy="426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Passing Points:</a:t>
            </a:r>
            <a:endParaRPr/>
          </a:p>
        </p:txBody>
      </p:sp>
      <p:sp>
        <p:nvSpPr>
          <p:cNvPr id="1560" name="Google Shape;1560;p141"/>
          <p:cNvSpPr/>
          <p:nvPr/>
        </p:nvSpPr>
        <p:spPr>
          <a:xfrm>
            <a:off x="812800" y="4032690"/>
            <a:ext cx="10777728" cy="426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800"/>
              <a:buFont typeface="Meddon"/>
              <a:buNone/>
            </a:pPr>
            <a:r>
              <a:t/>
            </a:r>
            <a:endParaRPr b="0" i="0" sz="2800" u="none" cap="none" strike="noStrike">
              <a:solidFill>
                <a:srgbClr val="000000"/>
              </a:solidFill>
              <a:latin typeface="Calibri"/>
              <a:ea typeface="Calibri"/>
              <a:cs typeface="Calibri"/>
              <a:sym typeface="Calibri"/>
            </a:endParaRPr>
          </a:p>
        </p:txBody>
      </p:sp>
      <p:sp>
        <p:nvSpPr>
          <p:cNvPr id="1561" name="Google Shape;1561;p141"/>
          <p:cNvSpPr/>
          <p:nvPr/>
        </p:nvSpPr>
        <p:spPr>
          <a:xfrm>
            <a:off x="619433" y="4693595"/>
            <a:ext cx="6292644" cy="975360"/>
          </a:xfrm>
          <a:prstGeom prst="rect">
            <a:avLst/>
          </a:prstGeom>
          <a:noFill/>
          <a:ln>
            <a:noFill/>
          </a:ln>
        </p:spPr>
        <p:txBody>
          <a:bodyPr anchorCtr="0" anchor="t" bIns="0" lIns="0" spcFirstLastPara="1" rIns="0" wrap="square" tIns="0">
            <a:noAutofit/>
          </a:bodyPr>
          <a:lstStyle/>
          <a:p>
            <a:pPr indent="-342923" lvl="0" marL="457223" marR="0" rtl="0" algn="l">
              <a:lnSpc>
                <a:spcPct val="180000"/>
              </a:lnSpc>
              <a:spcBef>
                <a:spcPts val="0"/>
              </a:spcBef>
              <a:spcAft>
                <a:spcPts val="0"/>
              </a:spcAft>
              <a:buClr>
                <a:schemeClr val="dk1"/>
              </a:buClr>
              <a:buSzPts val="1800"/>
              <a:buFont typeface="Meddon"/>
              <a:buNone/>
            </a:pPr>
            <a:r>
              <a:t/>
            </a:r>
            <a:endParaRPr b="1" i="0" sz="1800" u="none" cap="none" strike="noStrike">
              <a:solidFill>
                <a:srgbClr val="000000"/>
              </a:solidFill>
              <a:latin typeface="Calibri"/>
              <a:ea typeface="Calibri"/>
              <a:cs typeface="Calibri"/>
              <a:sym typeface="Calibri"/>
            </a:endParaRPr>
          </a:p>
        </p:txBody>
      </p:sp>
      <p:pic>
        <p:nvPicPr>
          <p:cNvPr id="1562" name="Google Shape;1562;p141"/>
          <p:cNvPicPr preferRelativeResize="0"/>
          <p:nvPr/>
        </p:nvPicPr>
        <p:blipFill rotWithShape="1">
          <a:blip r:embed="rId3">
            <a:alphaModFix/>
          </a:blip>
          <a:srcRect b="0" l="0" r="0" t="0"/>
          <a:stretch/>
        </p:blipFill>
        <p:spPr>
          <a:xfrm>
            <a:off x="2465942" y="2450446"/>
            <a:ext cx="7260116" cy="2775978"/>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6" name="Shape 1566"/>
        <p:cNvGrpSpPr/>
        <p:nvPr/>
      </p:nvGrpSpPr>
      <p:grpSpPr>
        <a:xfrm>
          <a:off x="0" y="0"/>
          <a:ext cx="0" cy="0"/>
          <a:chOff x="0" y="0"/>
          <a:chExt cx="0" cy="0"/>
        </a:xfrm>
      </p:grpSpPr>
      <p:sp>
        <p:nvSpPr>
          <p:cNvPr id="1567" name="Google Shape;1567;p142"/>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Formality Results</a:t>
            </a:r>
            <a:endParaRPr/>
          </a:p>
        </p:txBody>
      </p:sp>
      <p:sp>
        <p:nvSpPr>
          <p:cNvPr id="1568" name="Google Shape;1568;p142"/>
          <p:cNvSpPr/>
          <p:nvPr/>
        </p:nvSpPr>
        <p:spPr>
          <a:xfrm>
            <a:off x="812800" y="1508760"/>
            <a:ext cx="10777728" cy="426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Unverified Points:</a:t>
            </a:r>
            <a:endParaRPr/>
          </a:p>
        </p:txBody>
      </p:sp>
      <p:sp>
        <p:nvSpPr>
          <p:cNvPr id="1569" name="Google Shape;1569;p142"/>
          <p:cNvSpPr/>
          <p:nvPr/>
        </p:nvSpPr>
        <p:spPr>
          <a:xfrm>
            <a:off x="812800" y="4032690"/>
            <a:ext cx="10777728" cy="426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800"/>
              <a:buFont typeface="Meddon"/>
              <a:buNone/>
            </a:pPr>
            <a:r>
              <a:t/>
            </a:r>
            <a:endParaRPr b="0" i="0" sz="2800" u="none" cap="none" strike="noStrike">
              <a:solidFill>
                <a:srgbClr val="000000"/>
              </a:solidFill>
              <a:latin typeface="Calibri"/>
              <a:ea typeface="Calibri"/>
              <a:cs typeface="Calibri"/>
              <a:sym typeface="Calibri"/>
            </a:endParaRPr>
          </a:p>
        </p:txBody>
      </p:sp>
      <p:sp>
        <p:nvSpPr>
          <p:cNvPr id="1570" name="Google Shape;1570;p142"/>
          <p:cNvSpPr/>
          <p:nvPr/>
        </p:nvSpPr>
        <p:spPr>
          <a:xfrm>
            <a:off x="619433" y="4693595"/>
            <a:ext cx="6292644" cy="975360"/>
          </a:xfrm>
          <a:prstGeom prst="rect">
            <a:avLst/>
          </a:prstGeom>
          <a:noFill/>
          <a:ln>
            <a:noFill/>
          </a:ln>
        </p:spPr>
        <p:txBody>
          <a:bodyPr anchorCtr="0" anchor="t" bIns="0" lIns="0" spcFirstLastPara="1" rIns="0" wrap="square" tIns="0">
            <a:noAutofit/>
          </a:bodyPr>
          <a:lstStyle/>
          <a:p>
            <a:pPr indent="-342923" lvl="0" marL="457223" marR="0" rtl="0" algn="l">
              <a:lnSpc>
                <a:spcPct val="180000"/>
              </a:lnSpc>
              <a:spcBef>
                <a:spcPts val="0"/>
              </a:spcBef>
              <a:spcAft>
                <a:spcPts val="0"/>
              </a:spcAft>
              <a:buClr>
                <a:schemeClr val="dk1"/>
              </a:buClr>
              <a:buSzPts val="1800"/>
              <a:buFont typeface="Meddon"/>
              <a:buNone/>
            </a:pPr>
            <a:r>
              <a:t/>
            </a:r>
            <a:endParaRPr b="1" i="0" sz="1800" u="none" cap="none" strike="noStrike">
              <a:solidFill>
                <a:srgbClr val="000000"/>
              </a:solidFill>
              <a:latin typeface="Calibri"/>
              <a:ea typeface="Calibri"/>
              <a:cs typeface="Calibri"/>
              <a:sym typeface="Calibri"/>
            </a:endParaRPr>
          </a:p>
        </p:txBody>
      </p:sp>
      <p:pic>
        <p:nvPicPr>
          <p:cNvPr id="1571" name="Google Shape;1571;p142"/>
          <p:cNvPicPr preferRelativeResize="0"/>
          <p:nvPr/>
        </p:nvPicPr>
        <p:blipFill rotWithShape="1">
          <a:blip r:embed="rId3">
            <a:alphaModFix/>
          </a:blip>
          <a:srcRect b="0" l="0" r="0" t="0"/>
          <a:stretch/>
        </p:blipFill>
        <p:spPr>
          <a:xfrm>
            <a:off x="2879353" y="2251336"/>
            <a:ext cx="6433294" cy="3097904"/>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5" name="Shape 1575"/>
        <p:cNvGrpSpPr/>
        <p:nvPr/>
      </p:nvGrpSpPr>
      <p:grpSpPr>
        <a:xfrm>
          <a:off x="0" y="0"/>
          <a:ext cx="0" cy="0"/>
          <a:chOff x="0" y="0"/>
          <a:chExt cx="0" cy="0"/>
        </a:xfrm>
      </p:grpSpPr>
      <p:sp>
        <p:nvSpPr>
          <p:cNvPr id="1576" name="Google Shape;1576;p143"/>
          <p:cNvSpPr txBox="1"/>
          <p:nvPr>
            <p:ph type="ctrTitle"/>
          </p:nvPr>
        </p:nvSpPr>
        <p:spPr>
          <a:xfrm>
            <a:off x="1219200" y="2658529"/>
            <a:ext cx="9753600" cy="104933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Calibri"/>
                <a:ea typeface="Calibri"/>
                <a:cs typeface="Calibri"/>
                <a:sym typeface="Calibri"/>
              </a:rPr>
              <a:t>ASIC Roadmap</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0" name="Shape 1580"/>
        <p:cNvGrpSpPr/>
        <p:nvPr/>
      </p:nvGrpSpPr>
      <p:grpSpPr>
        <a:xfrm>
          <a:off x="0" y="0"/>
          <a:ext cx="0" cy="0"/>
          <a:chOff x="0" y="0"/>
          <a:chExt cx="0" cy="0"/>
        </a:xfrm>
      </p:grpSpPr>
      <p:sp>
        <p:nvSpPr>
          <p:cNvPr id="1581" name="Google Shape;1581;p144"/>
          <p:cNvSpPr txBox="1"/>
          <p:nvPr>
            <p:ph type="title"/>
          </p:nvPr>
        </p:nvSpPr>
        <p:spPr>
          <a:xfrm>
            <a:off x="946150" y="559454"/>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Next Semester Roadmap (To-Do)</a:t>
            </a:r>
            <a:endParaRPr/>
          </a:p>
        </p:txBody>
      </p:sp>
      <p:sp>
        <p:nvSpPr>
          <p:cNvPr id="1582" name="Google Shape;1582;p144"/>
          <p:cNvSpPr/>
          <p:nvPr/>
        </p:nvSpPr>
        <p:spPr>
          <a:xfrm>
            <a:off x="1488279" y="2183831"/>
            <a:ext cx="4032732" cy="897698"/>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u="sng">
                <a:solidFill>
                  <a:srgbClr val="0070C0"/>
                </a:solidFill>
                <a:latin typeface="Roboto"/>
                <a:ea typeface="Roboto"/>
                <a:cs typeface="Roboto"/>
                <a:sym typeface="Roboto"/>
              </a:rPr>
              <a:t>GOAL:</a:t>
            </a:r>
            <a:endParaRPr/>
          </a:p>
          <a:p>
            <a:pPr indent="0" lvl="0" marL="0" marR="0" rtl="0" algn="ctr">
              <a:spcBef>
                <a:spcPts val="0"/>
              </a:spcBef>
              <a:spcAft>
                <a:spcPts val="0"/>
              </a:spcAft>
              <a:buNone/>
            </a:pPr>
            <a:r>
              <a:rPr lang="en-US" sz="1400">
                <a:solidFill>
                  <a:schemeClr val="dk1"/>
                </a:solidFill>
                <a:latin typeface="Roboto"/>
                <a:ea typeface="Roboto"/>
                <a:cs typeface="Roboto"/>
                <a:sym typeface="Roboto"/>
              </a:rPr>
              <a:t>• Ensure the entire Vortex architecture (not just the core) is synthesizable</a:t>
            </a:r>
            <a:endParaRPr/>
          </a:p>
        </p:txBody>
      </p:sp>
      <p:sp>
        <p:nvSpPr>
          <p:cNvPr id="1583" name="Google Shape;1583;p144"/>
          <p:cNvSpPr/>
          <p:nvPr/>
        </p:nvSpPr>
        <p:spPr>
          <a:xfrm>
            <a:off x="1497423" y="1411104"/>
            <a:ext cx="9197153" cy="580959"/>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dk1"/>
                </a:solidFill>
                <a:latin typeface="Roboto"/>
                <a:ea typeface="Roboto"/>
                <a:cs typeface="Roboto"/>
                <a:sym typeface="Roboto"/>
              </a:rPr>
              <a:t>Milestone 1: Complete Full-Chip Synthesis</a:t>
            </a:r>
            <a:endParaRPr i="1" sz="2933">
              <a:solidFill>
                <a:schemeClr val="dk1"/>
              </a:solidFill>
              <a:latin typeface="Meddon"/>
              <a:ea typeface="Meddon"/>
              <a:cs typeface="Meddon"/>
              <a:sym typeface="Meddon"/>
            </a:endParaRPr>
          </a:p>
        </p:txBody>
      </p:sp>
      <p:sp>
        <p:nvSpPr>
          <p:cNvPr id="1584" name="Google Shape;1584;p144"/>
          <p:cNvSpPr/>
          <p:nvPr/>
        </p:nvSpPr>
        <p:spPr>
          <a:xfrm>
            <a:off x="1497423" y="3893680"/>
            <a:ext cx="9197153" cy="580959"/>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dk1"/>
                </a:solidFill>
                <a:latin typeface="Roboto"/>
                <a:ea typeface="Roboto"/>
                <a:cs typeface="Roboto"/>
                <a:sym typeface="Roboto"/>
              </a:rPr>
              <a:t>Milestone 2: Baseline Physical Implementation </a:t>
            </a:r>
            <a:endParaRPr i="1" sz="2933">
              <a:solidFill>
                <a:schemeClr val="dk1"/>
              </a:solidFill>
              <a:latin typeface="Meddon"/>
              <a:ea typeface="Meddon"/>
              <a:cs typeface="Meddon"/>
              <a:sym typeface="Meddon"/>
            </a:endParaRPr>
          </a:p>
        </p:txBody>
      </p:sp>
      <p:sp>
        <p:nvSpPr>
          <p:cNvPr id="1585" name="Google Shape;1585;p144"/>
          <p:cNvSpPr/>
          <p:nvPr/>
        </p:nvSpPr>
        <p:spPr>
          <a:xfrm>
            <a:off x="6020654" y="2183831"/>
            <a:ext cx="4673921" cy="1518082"/>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u="sng">
                <a:solidFill>
                  <a:srgbClr val="0070C0"/>
                </a:solidFill>
                <a:latin typeface="Roboto"/>
                <a:ea typeface="Roboto"/>
                <a:cs typeface="Roboto"/>
                <a:sym typeface="Roboto"/>
              </a:rPr>
              <a:t>Action:</a:t>
            </a:r>
            <a:endParaRPr/>
          </a:p>
          <a:p>
            <a:pPr indent="0" lvl="0" marL="0" marR="0" rtl="0" algn="l">
              <a:spcBef>
                <a:spcPts val="0"/>
              </a:spcBef>
              <a:spcAft>
                <a:spcPts val="0"/>
              </a:spcAft>
              <a:buNone/>
            </a:pPr>
            <a:r>
              <a:rPr lang="en-US" sz="1400">
                <a:solidFill>
                  <a:schemeClr val="dk1"/>
                </a:solidFill>
                <a:latin typeface="Roboto"/>
                <a:ea typeface="Roboto"/>
                <a:cs typeface="Roboto"/>
                <a:sym typeface="Roboto"/>
              </a:rPr>
              <a:t>• Modify the remaining RTL blocks to be synthesis-friendly.</a:t>
            </a:r>
            <a:endParaRPr/>
          </a:p>
          <a:p>
            <a:pPr indent="0" lvl="0" marL="0" marR="0" rtl="0" algn="l">
              <a:spcBef>
                <a:spcPts val="0"/>
              </a:spcBef>
              <a:spcAft>
                <a:spcPts val="0"/>
              </a:spcAft>
              <a:buNone/>
            </a:pPr>
            <a:r>
              <a:t/>
            </a:r>
            <a:endParaRPr sz="1400">
              <a:solidFill>
                <a:schemeClr val="dk1"/>
              </a:solidFill>
              <a:latin typeface="Roboto"/>
              <a:ea typeface="Roboto"/>
              <a:cs typeface="Roboto"/>
              <a:sym typeface="Roboto"/>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Roboto"/>
                <a:ea typeface="Roboto"/>
                <a:cs typeface="Roboto"/>
                <a:sym typeface="Roboto"/>
              </a:rPr>
              <a:t>Finalize SDC constraints (clock speeds, I/O delays) and generate the full gate-level netlist.</a:t>
            </a:r>
            <a:endParaRPr/>
          </a:p>
        </p:txBody>
      </p:sp>
      <p:sp>
        <p:nvSpPr>
          <p:cNvPr id="1586" name="Google Shape;1586;p144"/>
          <p:cNvSpPr/>
          <p:nvPr/>
        </p:nvSpPr>
        <p:spPr>
          <a:xfrm>
            <a:off x="1488279" y="4858174"/>
            <a:ext cx="4032732" cy="897698"/>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u="sng">
                <a:solidFill>
                  <a:srgbClr val="0070C0"/>
                </a:solidFill>
                <a:latin typeface="Roboto"/>
                <a:ea typeface="Roboto"/>
                <a:cs typeface="Roboto"/>
                <a:sym typeface="Roboto"/>
              </a:rPr>
              <a:t>GOAL:</a:t>
            </a:r>
            <a:endParaRPr/>
          </a:p>
          <a:p>
            <a:pPr indent="0" lvl="0" marL="0" marR="0" rtl="0" algn="ctr">
              <a:spcBef>
                <a:spcPts val="0"/>
              </a:spcBef>
              <a:spcAft>
                <a:spcPts val="0"/>
              </a:spcAft>
              <a:buNone/>
            </a:pPr>
            <a:r>
              <a:rPr lang="en-US" sz="1400">
                <a:solidFill>
                  <a:schemeClr val="dk1"/>
                </a:solidFill>
                <a:latin typeface="Roboto"/>
                <a:ea typeface="Roboto"/>
                <a:cs typeface="Roboto"/>
                <a:sym typeface="Roboto"/>
              </a:rPr>
              <a:t>• Move the synthesized netlist into a physical layout.</a:t>
            </a:r>
            <a:endParaRPr/>
          </a:p>
        </p:txBody>
      </p:sp>
      <p:sp>
        <p:nvSpPr>
          <p:cNvPr id="1587" name="Google Shape;1587;p144"/>
          <p:cNvSpPr/>
          <p:nvPr/>
        </p:nvSpPr>
        <p:spPr>
          <a:xfrm>
            <a:off x="6020654" y="4687855"/>
            <a:ext cx="4683067" cy="1518082"/>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u="sng">
                <a:solidFill>
                  <a:srgbClr val="0070C0"/>
                </a:solidFill>
                <a:latin typeface="Roboto"/>
                <a:ea typeface="Roboto"/>
                <a:cs typeface="Roboto"/>
                <a:sym typeface="Roboto"/>
              </a:rPr>
              <a:t>Action:</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Roboto"/>
                <a:ea typeface="Roboto"/>
                <a:cs typeface="Roboto"/>
                <a:sym typeface="Roboto"/>
              </a:rPr>
              <a:t>Floorplanning</a:t>
            </a:r>
            <a:r>
              <a:rPr lang="en-US" sz="1400">
                <a:solidFill>
                  <a:schemeClr val="dk1"/>
                </a:solidFill>
                <a:latin typeface="Roboto"/>
                <a:ea typeface="Roboto"/>
                <a:cs typeface="Roboto"/>
                <a:sym typeface="Roboto"/>
              </a:rPr>
              <a:t>: Define the chip size, place pins, and arrange memory macros.</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Roboto"/>
                <a:ea typeface="Roboto"/>
                <a:cs typeface="Roboto"/>
                <a:sym typeface="Roboto"/>
              </a:rPr>
              <a:t>Place &amp; Route: </a:t>
            </a:r>
            <a:r>
              <a:rPr lang="en-US" sz="1400">
                <a:solidFill>
                  <a:schemeClr val="dk1"/>
                </a:solidFill>
                <a:latin typeface="Roboto"/>
                <a:ea typeface="Roboto"/>
                <a:cs typeface="Roboto"/>
                <a:sym typeface="Roboto"/>
              </a:rPr>
              <a:t>Run automated placement of standard cells, build the clock tree (CTS), and route the wires.</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1" name="Shape 1591"/>
        <p:cNvGrpSpPr/>
        <p:nvPr/>
      </p:nvGrpSpPr>
      <p:grpSpPr>
        <a:xfrm>
          <a:off x="0" y="0"/>
          <a:ext cx="0" cy="0"/>
          <a:chOff x="0" y="0"/>
          <a:chExt cx="0" cy="0"/>
        </a:xfrm>
      </p:grpSpPr>
      <p:sp>
        <p:nvSpPr>
          <p:cNvPr id="1592" name="Google Shape;1592;p145"/>
          <p:cNvSpPr txBox="1"/>
          <p:nvPr>
            <p:ph type="title"/>
          </p:nvPr>
        </p:nvSpPr>
        <p:spPr>
          <a:xfrm>
            <a:off x="946150" y="559454"/>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Next Semester Roadmap (To-Do)</a:t>
            </a:r>
            <a:endParaRPr/>
          </a:p>
        </p:txBody>
      </p:sp>
      <p:sp>
        <p:nvSpPr>
          <p:cNvPr id="1593" name="Google Shape;1593;p145"/>
          <p:cNvSpPr/>
          <p:nvPr/>
        </p:nvSpPr>
        <p:spPr>
          <a:xfrm>
            <a:off x="1488279" y="2183831"/>
            <a:ext cx="4032732" cy="730762"/>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u="sng">
                <a:solidFill>
                  <a:srgbClr val="0070C0"/>
                </a:solidFill>
                <a:latin typeface="Roboto"/>
                <a:ea typeface="Roboto"/>
                <a:cs typeface="Roboto"/>
                <a:sym typeface="Roboto"/>
              </a:rPr>
              <a:t>GOAL:</a:t>
            </a:r>
            <a:endParaRPr/>
          </a:p>
          <a:p>
            <a:pPr indent="0" lvl="0" marL="0" marR="0" rtl="0" algn="ctr">
              <a:spcBef>
                <a:spcPts val="0"/>
              </a:spcBef>
              <a:spcAft>
                <a:spcPts val="0"/>
              </a:spcAft>
              <a:buNone/>
            </a:pPr>
            <a:r>
              <a:rPr lang="en-US" sz="1400">
                <a:solidFill>
                  <a:schemeClr val="dk1"/>
                </a:solidFill>
                <a:latin typeface="Roboto"/>
                <a:ea typeface="Roboto"/>
                <a:cs typeface="Roboto"/>
                <a:sym typeface="Roboto"/>
              </a:rPr>
              <a:t>• Improve the design based on your analysis.</a:t>
            </a:r>
            <a:endParaRPr/>
          </a:p>
        </p:txBody>
      </p:sp>
      <p:sp>
        <p:nvSpPr>
          <p:cNvPr id="1594" name="Google Shape;1594;p145"/>
          <p:cNvSpPr/>
          <p:nvPr/>
        </p:nvSpPr>
        <p:spPr>
          <a:xfrm>
            <a:off x="1497423" y="1411104"/>
            <a:ext cx="9197153" cy="580959"/>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dk1"/>
                </a:solidFill>
                <a:latin typeface="Roboto"/>
                <a:ea typeface="Roboto"/>
                <a:cs typeface="Roboto"/>
                <a:sym typeface="Roboto"/>
              </a:rPr>
              <a:t>Milestone 3: Microarchitectural Optimizations </a:t>
            </a:r>
            <a:endParaRPr i="1" sz="2933">
              <a:solidFill>
                <a:schemeClr val="dk1"/>
              </a:solidFill>
              <a:latin typeface="Meddon"/>
              <a:ea typeface="Meddon"/>
              <a:cs typeface="Meddon"/>
              <a:sym typeface="Meddon"/>
            </a:endParaRPr>
          </a:p>
        </p:txBody>
      </p:sp>
      <p:sp>
        <p:nvSpPr>
          <p:cNvPr id="1595" name="Google Shape;1595;p145"/>
          <p:cNvSpPr/>
          <p:nvPr/>
        </p:nvSpPr>
        <p:spPr>
          <a:xfrm>
            <a:off x="1497423" y="3893680"/>
            <a:ext cx="9197153" cy="580959"/>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dk1"/>
                </a:solidFill>
                <a:latin typeface="Roboto"/>
                <a:ea typeface="Roboto"/>
                <a:cs typeface="Roboto"/>
                <a:sym typeface="Roboto"/>
              </a:rPr>
              <a:t>Milestone 4: Signoff &amp; Documentation</a:t>
            </a:r>
            <a:endParaRPr i="1" sz="2933">
              <a:solidFill>
                <a:schemeClr val="dk1"/>
              </a:solidFill>
              <a:latin typeface="Meddon"/>
              <a:ea typeface="Meddon"/>
              <a:cs typeface="Meddon"/>
              <a:sym typeface="Meddon"/>
            </a:endParaRPr>
          </a:p>
        </p:txBody>
      </p:sp>
      <p:sp>
        <p:nvSpPr>
          <p:cNvPr id="1596" name="Google Shape;1596;p145"/>
          <p:cNvSpPr/>
          <p:nvPr/>
        </p:nvSpPr>
        <p:spPr>
          <a:xfrm>
            <a:off x="6020654" y="2112951"/>
            <a:ext cx="4673921" cy="1588962"/>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u="sng">
                <a:solidFill>
                  <a:srgbClr val="0070C0"/>
                </a:solidFill>
                <a:latin typeface="Roboto"/>
                <a:ea typeface="Roboto"/>
                <a:cs typeface="Roboto"/>
                <a:sym typeface="Roboto"/>
              </a:rPr>
              <a:t>Action:</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Roboto"/>
                <a:ea typeface="Roboto"/>
                <a:cs typeface="Roboto"/>
                <a:sym typeface="Roboto"/>
              </a:rPr>
              <a:t>Implement specific RTL changes (e.g., scheduler or cache logic) to improve performance or area.</a:t>
            </a:r>
            <a:endParaRPr/>
          </a:p>
          <a:p>
            <a:pPr indent="-196850" lvl="0" marL="285750" marR="0" rtl="0" algn="l">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Roboto"/>
                <a:ea typeface="Roboto"/>
                <a:cs typeface="Roboto"/>
                <a:sym typeface="Roboto"/>
              </a:rPr>
              <a:t>Compare the PPA (Power, Performance, Area) of your optimized design against the baseline you created in Milestone 2.</a:t>
            </a:r>
            <a:endParaRPr/>
          </a:p>
        </p:txBody>
      </p:sp>
      <p:sp>
        <p:nvSpPr>
          <p:cNvPr id="1597" name="Google Shape;1597;p145"/>
          <p:cNvSpPr/>
          <p:nvPr/>
        </p:nvSpPr>
        <p:spPr>
          <a:xfrm>
            <a:off x="1488279" y="4858174"/>
            <a:ext cx="4032732" cy="897698"/>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u="sng">
                <a:solidFill>
                  <a:srgbClr val="0070C0"/>
                </a:solidFill>
                <a:latin typeface="Roboto"/>
                <a:ea typeface="Roboto"/>
                <a:cs typeface="Roboto"/>
                <a:sym typeface="Roboto"/>
              </a:rPr>
              <a:t>GOAL:</a:t>
            </a:r>
            <a:endParaRPr/>
          </a:p>
          <a:p>
            <a:pPr indent="0" lvl="0" marL="0" marR="0" rtl="0" algn="ctr">
              <a:spcBef>
                <a:spcPts val="0"/>
              </a:spcBef>
              <a:spcAft>
                <a:spcPts val="0"/>
              </a:spcAft>
              <a:buNone/>
            </a:pPr>
            <a:r>
              <a:rPr lang="en-US" sz="1400">
                <a:solidFill>
                  <a:schemeClr val="dk1"/>
                </a:solidFill>
                <a:latin typeface="Roboto"/>
                <a:ea typeface="Roboto"/>
                <a:cs typeface="Roboto"/>
                <a:sym typeface="Roboto"/>
              </a:rPr>
              <a:t>• Verify the chip works at the target frequency and write the report.</a:t>
            </a:r>
            <a:endParaRPr/>
          </a:p>
        </p:txBody>
      </p:sp>
      <p:sp>
        <p:nvSpPr>
          <p:cNvPr id="1598" name="Google Shape;1598;p145"/>
          <p:cNvSpPr/>
          <p:nvPr/>
        </p:nvSpPr>
        <p:spPr>
          <a:xfrm>
            <a:off x="6020654" y="4687854"/>
            <a:ext cx="4683067" cy="1588961"/>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u="sng">
                <a:solidFill>
                  <a:srgbClr val="0070C0"/>
                </a:solidFill>
                <a:latin typeface="Roboto"/>
                <a:ea typeface="Roboto"/>
                <a:cs typeface="Roboto"/>
                <a:sym typeface="Roboto"/>
              </a:rPr>
              <a:t>Action:</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Roboto"/>
                <a:ea typeface="Roboto"/>
                <a:cs typeface="Roboto"/>
                <a:sym typeface="Roboto"/>
              </a:rPr>
              <a:t>Run Static Timing Analysis (STA) to ensure no setup/hold violations exist at your target frequency.</a:t>
            </a:r>
            <a:endParaRPr/>
          </a:p>
          <a:p>
            <a:pPr indent="-196850" lvl="0" marL="285750" marR="0" rtl="0" algn="l">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Roboto"/>
                <a:ea typeface="Roboto"/>
                <a:cs typeface="Roboto"/>
                <a:sym typeface="Roboto"/>
              </a:rPr>
              <a:t>Complete the final report/paper summarizing the flow and PPA results.</a:t>
            </a:r>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2" name="Shape 1602"/>
        <p:cNvGrpSpPr/>
        <p:nvPr/>
      </p:nvGrpSpPr>
      <p:grpSpPr>
        <a:xfrm>
          <a:off x="0" y="0"/>
          <a:ext cx="0" cy="0"/>
          <a:chOff x="0" y="0"/>
          <a:chExt cx="0" cy="0"/>
        </a:xfrm>
      </p:grpSpPr>
      <p:sp>
        <p:nvSpPr>
          <p:cNvPr id="1603" name="Google Shape;1603;p146"/>
          <p:cNvSpPr txBox="1"/>
          <p:nvPr>
            <p:ph type="ctrTitle"/>
          </p:nvPr>
        </p:nvSpPr>
        <p:spPr>
          <a:xfrm>
            <a:off x="1219200" y="2658529"/>
            <a:ext cx="9753600" cy="104933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Calibri"/>
                <a:ea typeface="Calibri"/>
                <a:cs typeface="Calibri"/>
                <a:sym typeface="Calibri"/>
              </a:rPr>
              <a:t>Verification Master Plan</a:t>
            </a:r>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7" name="Shape 1607"/>
        <p:cNvGrpSpPr/>
        <p:nvPr/>
      </p:nvGrpSpPr>
      <p:grpSpPr>
        <a:xfrm>
          <a:off x="0" y="0"/>
          <a:ext cx="0" cy="0"/>
          <a:chOff x="0" y="0"/>
          <a:chExt cx="0" cy="0"/>
        </a:xfrm>
      </p:grpSpPr>
      <p:sp>
        <p:nvSpPr>
          <p:cNvPr id="1608" name="Google Shape;1608;p147"/>
          <p:cNvSpPr txBox="1"/>
          <p:nvPr>
            <p:ph type="title"/>
          </p:nvPr>
        </p:nvSpPr>
        <p:spPr>
          <a:xfrm>
            <a:off x="946150" y="559454"/>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latin typeface="Calibri"/>
                <a:ea typeface="Calibri"/>
                <a:cs typeface="Calibri"/>
                <a:sym typeface="Calibri"/>
              </a:rPr>
              <a:t>Verification Master Plan</a:t>
            </a:r>
            <a:endParaRPr sz="3000">
              <a:latin typeface="Calibri"/>
              <a:ea typeface="Calibri"/>
              <a:cs typeface="Calibri"/>
              <a:sym typeface="Calibri"/>
            </a:endParaRPr>
          </a:p>
        </p:txBody>
      </p:sp>
      <p:cxnSp>
        <p:nvCxnSpPr>
          <p:cNvPr id="1609" name="Google Shape;1609;p147"/>
          <p:cNvCxnSpPr/>
          <p:nvPr/>
        </p:nvCxnSpPr>
        <p:spPr>
          <a:xfrm>
            <a:off x="1524761" y="4879570"/>
            <a:ext cx="9905100" cy="12600"/>
          </a:xfrm>
          <a:prstGeom prst="bentConnector3">
            <a:avLst>
              <a:gd fmla="val 99" name="adj1"/>
            </a:avLst>
          </a:prstGeom>
          <a:solidFill>
            <a:schemeClr val="accent1"/>
          </a:solidFill>
          <a:ln cap="flat" cmpd="sng" w="57150">
            <a:solidFill>
              <a:srgbClr val="29385E"/>
            </a:solidFill>
            <a:prstDash val="solid"/>
            <a:round/>
            <a:headEnd len="sm" w="sm" type="none"/>
            <a:tailEnd len="med" w="med" type="triangle"/>
          </a:ln>
        </p:spPr>
      </p:cxnSp>
      <p:sp>
        <p:nvSpPr>
          <p:cNvPr id="1610" name="Google Shape;1610;p147"/>
          <p:cNvSpPr/>
          <p:nvPr/>
        </p:nvSpPr>
        <p:spPr>
          <a:xfrm>
            <a:off x="569213" y="2636010"/>
            <a:ext cx="2304288" cy="1325880"/>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Phase I </a:t>
            </a:r>
            <a:endParaRPr/>
          </a:p>
          <a:p>
            <a:pPr indent="0" lvl="0" marL="0" marR="0" rtl="0" algn="ctr">
              <a:spcBef>
                <a:spcPts val="0"/>
              </a:spcBef>
              <a:spcAft>
                <a:spcPts val="0"/>
              </a:spcAft>
              <a:buNone/>
            </a:pPr>
            <a:r>
              <a:rPr i="1" lang="en-US" sz="2400">
                <a:solidFill>
                  <a:srgbClr val="29385E"/>
                </a:solidFill>
                <a:latin typeface="Calibri"/>
                <a:ea typeface="Calibri"/>
                <a:cs typeface="Calibri"/>
                <a:sym typeface="Calibri"/>
              </a:rPr>
              <a:t>Preparation &amp; Infrastructure</a:t>
            </a:r>
            <a:endParaRPr/>
          </a:p>
        </p:txBody>
      </p:sp>
      <p:cxnSp>
        <p:nvCxnSpPr>
          <p:cNvPr id="1611" name="Google Shape;1611;p147"/>
          <p:cNvCxnSpPr/>
          <p:nvPr/>
        </p:nvCxnSpPr>
        <p:spPr>
          <a:xfrm rot="-5400000">
            <a:off x="3865935" y="4438970"/>
            <a:ext cx="906000" cy="600"/>
          </a:xfrm>
          <a:prstGeom prst="bentConnector3">
            <a:avLst>
              <a:gd fmla="val 50003" name="adj1"/>
            </a:avLst>
          </a:prstGeom>
          <a:solidFill>
            <a:schemeClr val="accent1"/>
          </a:solidFill>
          <a:ln cap="flat" cmpd="sng" w="57150">
            <a:solidFill>
              <a:srgbClr val="29385E"/>
            </a:solidFill>
            <a:prstDash val="solid"/>
            <a:round/>
            <a:headEnd len="sm" w="sm" type="none"/>
            <a:tailEnd len="med" w="med" type="triangle"/>
          </a:ln>
        </p:spPr>
      </p:cxnSp>
      <p:sp>
        <p:nvSpPr>
          <p:cNvPr id="1612" name="Google Shape;1612;p147"/>
          <p:cNvSpPr/>
          <p:nvPr/>
        </p:nvSpPr>
        <p:spPr>
          <a:xfrm>
            <a:off x="6151867" y="2758566"/>
            <a:ext cx="2304288" cy="1174121"/>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Phase III</a:t>
            </a:r>
            <a:endParaRPr/>
          </a:p>
          <a:p>
            <a:pPr indent="0" lvl="0" marL="0" marR="0" rtl="0" algn="ctr">
              <a:spcBef>
                <a:spcPts val="0"/>
              </a:spcBef>
              <a:spcAft>
                <a:spcPts val="0"/>
              </a:spcAft>
              <a:buNone/>
            </a:pPr>
            <a:r>
              <a:rPr i="1" lang="en-US" sz="2400">
                <a:solidFill>
                  <a:srgbClr val="29385E"/>
                </a:solidFill>
                <a:latin typeface="Calibri"/>
                <a:ea typeface="Calibri"/>
                <a:cs typeface="Calibri"/>
                <a:sym typeface="Calibri"/>
              </a:rPr>
              <a:t>Physical Verification </a:t>
            </a:r>
            <a:endParaRPr/>
          </a:p>
        </p:txBody>
      </p:sp>
      <p:sp>
        <p:nvSpPr>
          <p:cNvPr id="1613" name="Google Shape;1613;p147"/>
          <p:cNvSpPr/>
          <p:nvPr/>
        </p:nvSpPr>
        <p:spPr>
          <a:xfrm>
            <a:off x="3255264" y="2652396"/>
            <a:ext cx="2304288" cy="1349735"/>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Phase II</a:t>
            </a:r>
            <a:endParaRPr/>
          </a:p>
          <a:p>
            <a:pPr indent="0" lvl="0" marL="0" marR="0" rtl="0" algn="ctr">
              <a:spcBef>
                <a:spcPts val="0"/>
              </a:spcBef>
              <a:spcAft>
                <a:spcPts val="0"/>
              </a:spcAft>
              <a:buNone/>
            </a:pPr>
            <a:r>
              <a:rPr i="1" lang="en-US" sz="2400">
                <a:solidFill>
                  <a:srgbClr val="29385E"/>
                </a:solidFill>
                <a:latin typeface="Calibri"/>
                <a:ea typeface="Calibri"/>
                <a:cs typeface="Calibri"/>
                <a:sym typeface="Calibri"/>
              </a:rPr>
              <a:t>Post-Synthesis Verification</a:t>
            </a:r>
            <a:endParaRPr/>
          </a:p>
        </p:txBody>
      </p:sp>
      <p:cxnSp>
        <p:nvCxnSpPr>
          <p:cNvPr id="1614" name="Google Shape;1614;p147"/>
          <p:cNvCxnSpPr/>
          <p:nvPr/>
        </p:nvCxnSpPr>
        <p:spPr>
          <a:xfrm rot="-5400000">
            <a:off x="1075108" y="4447853"/>
            <a:ext cx="906000" cy="600"/>
          </a:xfrm>
          <a:prstGeom prst="bentConnector3">
            <a:avLst>
              <a:gd fmla="val 50003" name="adj1"/>
            </a:avLst>
          </a:prstGeom>
          <a:solidFill>
            <a:schemeClr val="accent1"/>
          </a:solidFill>
          <a:ln cap="flat" cmpd="sng" w="57150">
            <a:solidFill>
              <a:srgbClr val="29385E"/>
            </a:solidFill>
            <a:prstDash val="solid"/>
            <a:round/>
            <a:headEnd len="sm" w="sm" type="none"/>
            <a:tailEnd len="med" w="med" type="triangle"/>
          </a:ln>
        </p:spPr>
      </p:cxnSp>
      <p:cxnSp>
        <p:nvCxnSpPr>
          <p:cNvPr id="1615" name="Google Shape;1615;p147"/>
          <p:cNvCxnSpPr/>
          <p:nvPr/>
        </p:nvCxnSpPr>
        <p:spPr>
          <a:xfrm rot="-5400000">
            <a:off x="6851312" y="4468173"/>
            <a:ext cx="906000" cy="600"/>
          </a:xfrm>
          <a:prstGeom prst="bentConnector3">
            <a:avLst>
              <a:gd fmla="val 50003" name="adj1"/>
            </a:avLst>
          </a:prstGeom>
          <a:solidFill>
            <a:schemeClr val="accent1"/>
          </a:solidFill>
          <a:ln cap="flat" cmpd="sng" w="57150">
            <a:solidFill>
              <a:srgbClr val="29385E"/>
            </a:solidFill>
            <a:prstDash val="solid"/>
            <a:round/>
            <a:headEnd len="sm" w="sm" type="none"/>
            <a:tailEnd len="med" w="med" type="triangle"/>
          </a:ln>
        </p:spPr>
      </p:cxnSp>
      <p:sp>
        <p:nvSpPr>
          <p:cNvPr id="1616" name="Google Shape;1616;p147"/>
          <p:cNvSpPr/>
          <p:nvPr/>
        </p:nvSpPr>
        <p:spPr>
          <a:xfrm>
            <a:off x="9048470" y="2716078"/>
            <a:ext cx="2304288" cy="1286053"/>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a:solidFill>
                  <a:srgbClr val="29385E"/>
                </a:solidFill>
                <a:latin typeface="Calibri"/>
                <a:ea typeface="Calibri"/>
                <a:cs typeface="Calibri"/>
                <a:sym typeface="Calibri"/>
              </a:rPr>
              <a:t>Phase IV</a:t>
            </a:r>
            <a:endParaRPr/>
          </a:p>
          <a:p>
            <a:pPr indent="0" lvl="0" marL="0" marR="0" rtl="0" algn="ctr">
              <a:spcBef>
                <a:spcPts val="0"/>
              </a:spcBef>
              <a:spcAft>
                <a:spcPts val="0"/>
              </a:spcAft>
              <a:buNone/>
            </a:pPr>
            <a:r>
              <a:rPr i="1" lang="en-US" sz="2400">
                <a:solidFill>
                  <a:srgbClr val="29385E"/>
                </a:solidFill>
                <a:latin typeface="Calibri"/>
                <a:ea typeface="Calibri"/>
                <a:cs typeface="Calibri"/>
                <a:sym typeface="Calibri"/>
              </a:rPr>
              <a:t>Optimization &amp; Signoff</a:t>
            </a:r>
            <a:endParaRPr/>
          </a:p>
        </p:txBody>
      </p:sp>
      <p:cxnSp>
        <p:nvCxnSpPr>
          <p:cNvPr id="1617" name="Google Shape;1617;p147"/>
          <p:cNvCxnSpPr/>
          <p:nvPr/>
        </p:nvCxnSpPr>
        <p:spPr>
          <a:xfrm rot="-5400000">
            <a:off x="9641008" y="4469450"/>
            <a:ext cx="906000" cy="600"/>
          </a:xfrm>
          <a:prstGeom prst="bentConnector3">
            <a:avLst>
              <a:gd fmla="val 50003" name="adj1"/>
            </a:avLst>
          </a:prstGeom>
          <a:solidFill>
            <a:schemeClr val="accent1"/>
          </a:solidFill>
          <a:ln cap="flat" cmpd="sng" w="57150">
            <a:solidFill>
              <a:srgbClr val="29385E"/>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09"/>
                                        </p:tgtEl>
                                        <p:attrNameLst>
                                          <p:attrName>style.visibility</p:attrName>
                                        </p:attrNameLst>
                                      </p:cBhvr>
                                      <p:to>
                                        <p:strVal val="visible"/>
                                      </p:to>
                                    </p:set>
                                    <p:animEffect filter="fade" transition="in">
                                      <p:cBhvr>
                                        <p:cTn dur="1000"/>
                                        <p:tgtEl>
                                          <p:spTgt spid="1609"/>
                                        </p:tgtEl>
                                      </p:cBhvr>
                                    </p:animEffect>
                                  </p:childTnLst>
                                </p:cTn>
                              </p:par>
                              <p:par>
                                <p:cTn fill="hold" nodeType="withEffect" presetClass="entr" presetID="10" presetSubtype="0">
                                  <p:stCondLst>
                                    <p:cond delay="0"/>
                                  </p:stCondLst>
                                  <p:childTnLst>
                                    <p:set>
                                      <p:cBhvr>
                                        <p:cTn dur="1" fill="hold">
                                          <p:stCondLst>
                                            <p:cond delay="0"/>
                                          </p:stCondLst>
                                        </p:cTn>
                                        <p:tgtEl>
                                          <p:spTgt spid="1611"/>
                                        </p:tgtEl>
                                        <p:attrNameLst>
                                          <p:attrName>style.visibility</p:attrName>
                                        </p:attrNameLst>
                                      </p:cBhvr>
                                      <p:to>
                                        <p:strVal val="visible"/>
                                      </p:to>
                                    </p:set>
                                    <p:animEffect filter="fade" transition="in">
                                      <p:cBhvr>
                                        <p:cTn dur="1000"/>
                                        <p:tgtEl>
                                          <p:spTgt spid="1611"/>
                                        </p:tgtEl>
                                      </p:cBhvr>
                                    </p:animEffect>
                                  </p:childTnLst>
                                </p:cTn>
                              </p:par>
                              <p:par>
                                <p:cTn fill="hold" nodeType="withEffect" presetClass="entr" presetID="10" presetSubtype="0">
                                  <p:stCondLst>
                                    <p:cond delay="0"/>
                                  </p:stCondLst>
                                  <p:childTnLst>
                                    <p:set>
                                      <p:cBhvr>
                                        <p:cTn dur="1" fill="hold">
                                          <p:stCondLst>
                                            <p:cond delay="0"/>
                                          </p:stCondLst>
                                        </p:cTn>
                                        <p:tgtEl>
                                          <p:spTgt spid="1614"/>
                                        </p:tgtEl>
                                        <p:attrNameLst>
                                          <p:attrName>style.visibility</p:attrName>
                                        </p:attrNameLst>
                                      </p:cBhvr>
                                      <p:to>
                                        <p:strVal val="visible"/>
                                      </p:to>
                                    </p:set>
                                    <p:animEffect filter="fade" transition="in">
                                      <p:cBhvr>
                                        <p:cTn dur="1000"/>
                                        <p:tgtEl>
                                          <p:spTgt spid="1614"/>
                                        </p:tgtEl>
                                      </p:cBhvr>
                                    </p:animEffect>
                                  </p:childTnLst>
                                </p:cTn>
                              </p:par>
                              <p:par>
                                <p:cTn fill="hold" nodeType="withEffect" presetClass="entr" presetID="10" presetSubtype="0">
                                  <p:stCondLst>
                                    <p:cond delay="0"/>
                                  </p:stCondLst>
                                  <p:childTnLst>
                                    <p:set>
                                      <p:cBhvr>
                                        <p:cTn dur="1" fill="hold">
                                          <p:stCondLst>
                                            <p:cond delay="0"/>
                                          </p:stCondLst>
                                        </p:cTn>
                                        <p:tgtEl>
                                          <p:spTgt spid="1615"/>
                                        </p:tgtEl>
                                        <p:attrNameLst>
                                          <p:attrName>style.visibility</p:attrName>
                                        </p:attrNameLst>
                                      </p:cBhvr>
                                      <p:to>
                                        <p:strVal val="visible"/>
                                      </p:to>
                                    </p:set>
                                    <p:animEffect filter="fade" transition="in">
                                      <p:cBhvr>
                                        <p:cTn dur="1000"/>
                                        <p:tgtEl>
                                          <p:spTgt spid="1615"/>
                                        </p:tgtEl>
                                      </p:cBhvr>
                                    </p:animEffect>
                                  </p:childTnLst>
                                </p:cTn>
                              </p:par>
                              <p:par>
                                <p:cTn fill="hold" nodeType="withEffect" presetClass="entr" presetID="10" presetSubtype="0">
                                  <p:stCondLst>
                                    <p:cond delay="0"/>
                                  </p:stCondLst>
                                  <p:childTnLst>
                                    <p:set>
                                      <p:cBhvr>
                                        <p:cTn dur="1" fill="hold">
                                          <p:stCondLst>
                                            <p:cond delay="0"/>
                                          </p:stCondLst>
                                        </p:cTn>
                                        <p:tgtEl>
                                          <p:spTgt spid="1617"/>
                                        </p:tgtEl>
                                        <p:attrNameLst>
                                          <p:attrName>style.visibility</p:attrName>
                                        </p:attrNameLst>
                                      </p:cBhvr>
                                      <p:to>
                                        <p:strVal val="visible"/>
                                      </p:to>
                                    </p:set>
                                    <p:animEffect filter="fade" transition="in">
                                      <p:cBhvr>
                                        <p:cTn dur="1000"/>
                                        <p:tgtEl>
                                          <p:spTgt spid="16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1" name="Shape 1621"/>
        <p:cNvGrpSpPr/>
        <p:nvPr/>
      </p:nvGrpSpPr>
      <p:grpSpPr>
        <a:xfrm>
          <a:off x="0" y="0"/>
          <a:ext cx="0" cy="0"/>
          <a:chOff x="0" y="0"/>
          <a:chExt cx="0" cy="0"/>
        </a:xfrm>
      </p:grpSpPr>
      <p:sp>
        <p:nvSpPr>
          <p:cNvPr id="1622" name="Google Shape;1622;p148"/>
          <p:cNvSpPr txBox="1"/>
          <p:nvPr/>
        </p:nvSpPr>
        <p:spPr>
          <a:xfrm>
            <a:off x="1219200" y="2379663"/>
            <a:ext cx="9753600" cy="1049337"/>
          </a:xfrm>
          <a:prstGeom prst="rect">
            <a:avLst/>
          </a:prstGeom>
          <a:noFill/>
          <a:ln>
            <a:noFill/>
          </a:ln>
        </p:spPr>
        <p:txBody>
          <a:bodyPr anchorCtr="0" anchor="ctr" bIns="45700" lIns="91425" spcFirstLastPara="1" rIns="91425" wrap="square" tIns="45700">
            <a:noAutofit/>
          </a:bodyPr>
          <a:lstStyle/>
          <a:p>
            <a:pPr indent="0" lvl="0" marL="0" marR="0" rtl="0" algn="ctr">
              <a:lnSpc>
                <a:spcPct val="149000"/>
              </a:lnSpc>
              <a:spcBef>
                <a:spcPts val="0"/>
              </a:spcBef>
              <a:spcAft>
                <a:spcPts val="0"/>
              </a:spcAft>
              <a:buNone/>
            </a:pPr>
            <a:r>
              <a:rPr b="1" i="0" lang="en-US" sz="3600">
                <a:solidFill>
                  <a:schemeClr val="dk1"/>
                </a:solidFill>
                <a:latin typeface="Calibri"/>
                <a:ea typeface="Calibri"/>
                <a:cs typeface="Calibri"/>
                <a:sym typeface="Calibri"/>
              </a:rPr>
              <a:t>Verification Strategy</a:t>
            </a:r>
            <a:endParaRPr b="1" i="1" sz="3600">
              <a:solidFill>
                <a:srgbClr val="000000"/>
              </a:solidFill>
              <a:latin typeface="Arial"/>
              <a:ea typeface="Arial"/>
              <a:cs typeface="Arial"/>
              <a:sym typeface="Arial"/>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6" name="Shape 1626"/>
        <p:cNvGrpSpPr/>
        <p:nvPr/>
      </p:nvGrpSpPr>
      <p:grpSpPr>
        <a:xfrm>
          <a:off x="0" y="0"/>
          <a:ext cx="0" cy="0"/>
          <a:chOff x="0" y="0"/>
          <a:chExt cx="0" cy="0"/>
        </a:xfrm>
      </p:grpSpPr>
      <p:sp>
        <p:nvSpPr>
          <p:cNvPr id="1627" name="Google Shape;1627;p149"/>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System-Level Sanity Check</a:t>
            </a:r>
            <a:endParaRPr/>
          </a:p>
        </p:txBody>
      </p:sp>
      <p:sp>
        <p:nvSpPr>
          <p:cNvPr id="1628" name="Google Shape;1628;p149"/>
          <p:cNvSpPr/>
          <p:nvPr/>
        </p:nvSpPr>
        <p:spPr>
          <a:xfrm>
            <a:off x="3277358" y="3105959"/>
            <a:ext cx="941379" cy="406146"/>
          </a:xfrm>
          <a:prstGeom prst="leftRightArrow">
            <a:avLst>
              <a:gd fmla="val 50000" name="adj1"/>
              <a:gd fmla="val 50000" name="adj2"/>
            </a:avLst>
          </a:prstGeom>
          <a:solidFill>
            <a:schemeClr val="accent1"/>
          </a:solidFill>
          <a:ln cap="flat" cmpd="sng" w="25400">
            <a:solidFill>
              <a:srgbClr val="67635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Meddon"/>
              <a:ea typeface="Meddon"/>
              <a:cs typeface="Meddon"/>
              <a:sym typeface="Meddon"/>
            </a:endParaRPr>
          </a:p>
        </p:txBody>
      </p:sp>
      <p:sp>
        <p:nvSpPr>
          <p:cNvPr id="1629" name="Google Shape;1629;p149"/>
          <p:cNvSpPr/>
          <p:nvPr/>
        </p:nvSpPr>
        <p:spPr>
          <a:xfrm>
            <a:off x="7875442" y="3104173"/>
            <a:ext cx="941379" cy="406146"/>
          </a:xfrm>
          <a:prstGeom prst="leftRightArrow">
            <a:avLst>
              <a:gd fmla="val 50000" name="adj1"/>
              <a:gd fmla="val 50000" name="adj2"/>
            </a:avLst>
          </a:prstGeom>
          <a:solidFill>
            <a:schemeClr val="accent1"/>
          </a:solidFill>
          <a:ln cap="flat" cmpd="sng" w="25400">
            <a:solidFill>
              <a:srgbClr val="67635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Meddon"/>
              <a:ea typeface="Meddon"/>
              <a:cs typeface="Meddon"/>
              <a:sym typeface="Meddon"/>
            </a:endParaRPr>
          </a:p>
        </p:txBody>
      </p:sp>
      <p:grpSp>
        <p:nvGrpSpPr>
          <p:cNvPr id="1630" name="Google Shape;1630;p149"/>
          <p:cNvGrpSpPr/>
          <p:nvPr/>
        </p:nvGrpSpPr>
        <p:grpSpPr>
          <a:xfrm>
            <a:off x="69950" y="2284810"/>
            <a:ext cx="2919519" cy="2054668"/>
            <a:chOff x="259699" y="2771725"/>
            <a:chExt cx="3302686" cy="2202441"/>
          </a:xfrm>
        </p:grpSpPr>
        <p:sp>
          <p:nvSpPr>
            <p:cNvPr id="1631" name="Google Shape;1631;p149"/>
            <p:cNvSpPr/>
            <p:nvPr/>
          </p:nvSpPr>
          <p:spPr>
            <a:xfrm>
              <a:off x="259699" y="2771725"/>
              <a:ext cx="3302686" cy="2202441"/>
            </a:xfrm>
            <a:prstGeom prst="roundRect">
              <a:avLst>
                <a:gd fmla="val 11149"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Meddon"/>
                <a:ea typeface="Meddon"/>
                <a:cs typeface="Meddon"/>
                <a:sym typeface="Meddon"/>
              </a:endParaRPr>
            </a:p>
          </p:txBody>
        </p:sp>
        <p:sp>
          <p:nvSpPr>
            <p:cNvPr id="1632" name="Google Shape;1632;p149"/>
            <p:cNvSpPr/>
            <p:nvPr/>
          </p:nvSpPr>
          <p:spPr>
            <a:xfrm>
              <a:off x="960978" y="3230673"/>
              <a:ext cx="1900742" cy="1315842"/>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Vortex Host</a:t>
              </a:r>
              <a:endParaRPr sz="2400">
                <a:solidFill>
                  <a:schemeClr val="dk1"/>
                </a:solidFill>
                <a:latin typeface="Times New Roman"/>
                <a:ea typeface="Times New Roman"/>
                <a:cs typeface="Times New Roman"/>
                <a:sym typeface="Times New Roman"/>
              </a:endParaRPr>
            </a:p>
          </p:txBody>
        </p:sp>
      </p:grpSp>
      <p:grpSp>
        <p:nvGrpSpPr>
          <p:cNvPr id="1633" name="Google Shape;1633;p149"/>
          <p:cNvGrpSpPr/>
          <p:nvPr/>
        </p:nvGrpSpPr>
        <p:grpSpPr>
          <a:xfrm>
            <a:off x="4453128" y="2202513"/>
            <a:ext cx="3230290" cy="2136965"/>
            <a:chOff x="259699" y="2771725"/>
            <a:chExt cx="3302686" cy="2202441"/>
          </a:xfrm>
        </p:grpSpPr>
        <p:sp>
          <p:nvSpPr>
            <p:cNvPr id="1634" name="Google Shape;1634;p149"/>
            <p:cNvSpPr/>
            <p:nvPr/>
          </p:nvSpPr>
          <p:spPr>
            <a:xfrm>
              <a:off x="259699" y="2771725"/>
              <a:ext cx="3302686" cy="2202441"/>
            </a:xfrm>
            <a:prstGeom prst="roundRect">
              <a:avLst>
                <a:gd fmla="val 11149"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Meddon"/>
                <a:ea typeface="Meddon"/>
                <a:cs typeface="Meddon"/>
                <a:sym typeface="Meddon"/>
              </a:endParaRPr>
            </a:p>
          </p:txBody>
        </p:sp>
        <p:sp>
          <p:nvSpPr>
            <p:cNvPr id="1635" name="Google Shape;1635;p149"/>
            <p:cNvSpPr/>
            <p:nvPr/>
          </p:nvSpPr>
          <p:spPr>
            <a:xfrm>
              <a:off x="960978" y="3230673"/>
              <a:ext cx="1900742" cy="1315842"/>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Translator</a:t>
              </a:r>
              <a:endParaRPr sz="2400">
                <a:solidFill>
                  <a:schemeClr val="dk1"/>
                </a:solidFill>
                <a:latin typeface="Times New Roman"/>
                <a:ea typeface="Times New Roman"/>
                <a:cs typeface="Times New Roman"/>
                <a:sym typeface="Times New Roman"/>
              </a:endParaRPr>
            </a:p>
          </p:txBody>
        </p:sp>
      </p:grpSp>
      <p:grpSp>
        <p:nvGrpSpPr>
          <p:cNvPr id="1636" name="Google Shape;1636;p149"/>
          <p:cNvGrpSpPr/>
          <p:nvPr/>
        </p:nvGrpSpPr>
        <p:grpSpPr>
          <a:xfrm>
            <a:off x="8920806" y="2202513"/>
            <a:ext cx="3109590" cy="2136965"/>
            <a:chOff x="259699" y="2771725"/>
            <a:chExt cx="3302686" cy="2202441"/>
          </a:xfrm>
        </p:grpSpPr>
        <p:sp>
          <p:nvSpPr>
            <p:cNvPr id="1637" name="Google Shape;1637;p149"/>
            <p:cNvSpPr/>
            <p:nvPr/>
          </p:nvSpPr>
          <p:spPr>
            <a:xfrm>
              <a:off x="259699" y="2771725"/>
              <a:ext cx="3302686" cy="2202441"/>
            </a:xfrm>
            <a:prstGeom prst="roundRect">
              <a:avLst>
                <a:gd fmla="val 11149"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Meddon"/>
                <a:ea typeface="Meddon"/>
                <a:cs typeface="Meddon"/>
                <a:sym typeface="Meddon"/>
              </a:endParaRPr>
            </a:p>
          </p:txBody>
        </p:sp>
        <p:sp>
          <p:nvSpPr>
            <p:cNvPr id="1638" name="Google Shape;1638;p149"/>
            <p:cNvSpPr/>
            <p:nvPr/>
          </p:nvSpPr>
          <p:spPr>
            <a:xfrm>
              <a:off x="960978" y="3230673"/>
              <a:ext cx="1900742" cy="1315842"/>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Vortex Processor</a:t>
              </a:r>
              <a:endParaRPr sz="2400">
                <a:solidFill>
                  <a:schemeClr val="dk1"/>
                </a:solidFill>
                <a:latin typeface="Times New Roman"/>
                <a:ea typeface="Times New Roman"/>
                <a:cs typeface="Times New Roman"/>
                <a:sym typeface="Times New Roman"/>
              </a:endParaRPr>
            </a:p>
          </p:txBody>
        </p:sp>
      </p:grpSp>
      <p:sp>
        <p:nvSpPr>
          <p:cNvPr id="1639" name="Google Shape;1639;p149"/>
          <p:cNvSpPr/>
          <p:nvPr/>
        </p:nvSpPr>
        <p:spPr>
          <a:xfrm>
            <a:off x="4556277" y="5015049"/>
            <a:ext cx="3319165" cy="580959"/>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3200">
                <a:solidFill>
                  <a:schemeClr val="dk1"/>
                </a:solidFill>
                <a:latin typeface="Roboto"/>
                <a:ea typeface="Roboto"/>
                <a:cs typeface="Roboto"/>
                <a:sym typeface="Roboto"/>
              </a:rPr>
              <a:t>Software Stack</a:t>
            </a:r>
            <a:endParaRPr i="1" sz="2933">
              <a:solidFill>
                <a:schemeClr val="dk1"/>
              </a:solidFill>
              <a:latin typeface="Meddon"/>
              <a:ea typeface="Meddon"/>
              <a:cs typeface="Meddon"/>
              <a:sym typeface="Meddo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0"/>
                                        </p:tgtEl>
                                        <p:attrNameLst>
                                          <p:attrName>style.visibility</p:attrName>
                                        </p:attrNameLst>
                                      </p:cBhvr>
                                      <p:to>
                                        <p:strVal val="visible"/>
                                      </p:to>
                                    </p:set>
                                    <p:animEffect filter="fade" transition="in">
                                      <p:cBhvr>
                                        <p:cTn dur="500"/>
                                        <p:tgtEl>
                                          <p:spTgt spid="16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6"/>
                                        </p:tgtEl>
                                        <p:attrNameLst>
                                          <p:attrName>style.visibility</p:attrName>
                                        </p:attrNameLst>
                                      </p:cBhvr>
                                      <p:to>
                                        <p:strVal val="visible"/>
                                      </p:to>
                                    </p:set>
                                    <p:animEffect filter="fade" transition="in">
                                      <p:cBhvr>
                                        <p:cTn dur="500"/>
                                        <p:tgtEl>
                                          <p:spTgt spid="16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8"/>
                                        </p:tgtEl>
                                        <p:attrNameLst>
                                          <p:attrName>style.visibility</p:attrName>
                                        </p:attrNameLst>
                                      </p:cBhvr>
                                      <p:to>
                                        <p:strVal val="visible"/>
                                      </p:to>
                                    </p:set>
                                    <p:animEffect filter="fade" transition="in">
                                      <p:cBhvr>
                                        <p:cTn dur="500"/>
                                        <p:tgtEl>
                                          <p:spTgt spid="1628"/>
                                        </p:tgtEl>
                                      </p:cBhvr>
                                    </p:animEffect>
                                  </p:childTnLst>
                                </p:cTn>
                              </p:par>
                              <p:par>
                                <p:cTn fill="hold" nodeType="withEffect" presetClass="entr" presetID="10" presetSubtype="0">
                                  <p:stCondLst>
                                    <p:cond delay="0"/>
                                  </p:stCondLst>
                                  <p:childTnLst>
                                    <p:set>
                                      <p:cBhvr>
                                        <p:cTn dur="1" fill="hold">
                                          <p:stCondLst>
                                            <p:cond delay="0"/>
                                          </p:stCondLst>
                                        </p:cTn>
                                        <p:tgtEl>
                                          <p:spTgt spid="1633"/>
                                        </p:tgtEl>
                                        <p:attrNameLst>
                                          <p:attrName>style.visibility</p:attrName>
                                        </p:attrNameLst>
                                      </p:cBhvr>
                                      <p:to>
                                        <p:strVal val="visible"/>
                                      </p:to>
                                    </p:set>
                                    <p:animEffect filter="fade" transition="in">
                                      <p:cBhvr>
                                        <p:cTn dur="500"/>
                                        <p:tgtEl>
                                          <p:spTgt spid="1633"/>
                                        </p:tgtEl>
                                      </p:cBhvr>
                                    </p:animEffect>
                                  </p:childTnLst>
                                </p:cTn>
                              </p:par>
                              <p:par>
                                <p:cTn fill="hold" nodeType="withEffect" presetClass="entr" presetID="10" presetSubtype="0">
                                  <p:stCondLst>
                                    <p:cond delay="0"/>
                                  </p:stCondLst>
                                  <p:childTnLst>
                                    <p:set>
                                      <p:cBhvr>
                                        <p:cTn dur="1" fill="hold">
                                          <p:stCondLst>
                                            <p:cond delay="0"/>
                                          </p:stCondLst>
                                        </p:cTn>
                                        <p:tgtEl>
                                          <p:spTgt spid="1629"/>
                                        </p:tgtEl>
                                        <p:attrNameLst>
                                          <p:attrName>style.visibility</p:attrName>
                                        </p:attrNameLst>
                                      </p:cBhvr>
                                      <p:to>
                                        <p:strVal val="visible"/>
                                      </p:to>
                                    </p:set>
                                    <p:animEffect filter="fade" transition="in">
                                      <p:cBhvr>
                                        <p:cTn dur="500"/>
                                        <p:tgtEl>
                                          <p:spTgt spid="16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9"/>
                                        </p:tgtEl>
                                        <p:attrNameLst>
                                          <p:attrName>style.visibility</p:attrName>
                                        </p:attrNameLst>
                                      </p:cBhvr>
                                      <p:to>
                                        <p:strVal val="visible"/>
                                      </p:to>
                                    </p:set>
                                    <p:animEffect filter="fade" transition="in">
                                      <p:cBhvr>
                                        <p:cTn dur="500"/>
                                        <p:tgtEl>
                                          <p:spTgt spid="16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3" name="Shape 1643"/>
        <p:cNvGrpSpPr/>
        <p:nvPr/>
      </p:nvGrpSpPr>
      <p:grpSpPr>
        <a:xfrm>
          <a:off x="0" y="0"/>
          <a:ext cx="0" cy="0"/>
          <a:chOff x="0" y="0"/>
          <a:chExt cx="0" cy="0"/>
        </a:xfrm>
      </p:grpSpPr>
      <p:sp>
        <p:nvSpPr>
          <p:cNvPr id="1644" name="Google Shape;1644;p150"/>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Software Stack</a:t>
            </a:r>
            <a:endParaRPr/>
          </a:p>
        </p:txBody>
      </p:sp>
      <p:pic>
        <p:nvPicPr>
          <p:cNvPr id="1645" name="Google Shape;1645;p150"/>
          <p:cNvPicPr preferRelativeResize="0"/>
          <p:nvPr/>
        </p:nvPicPr>
        <p:blipFill rotWithShape="1">
          <a:blip r:embed="rId3">
            <a:alphaModFix/>
          </a:blip>
          <a:srcRect b="0" l="0" r="0" t="0"/>
          <a:stretch/>
        </p:blipFill>
        <p:spPr>
          <a:xfrm>
            <a:off x="7254221" y="1665410"/>
            <a:ext cx="4161112" cy="1675592"/>
          </a:xfrm>
          <a:prstGeom prst="rect">
            <a:avLst/>
          </a:prstGeom>
          <a:noFill/>
          <a:ln>
            <a:noFill/>
          </a:ln>
        </p:spPr>
      </p:pic>
      <p:pic>
        <p:nvPicPr>
          <p:cNvPr id="1646" name="Google Shape;1646;p150"/>
          <p:cNvPicPr preferRelativeResize="0"/>
          <p:nvPr/>
        </p:nvPicPr>
        <p:blipFill rotWithShape="1">
          <a:blip r:embed="rId4">
            <a:alphaModFix/>
          </a:blip>
          <a:srcRect b="0" l="0" r="0" t="0"/>
          <a:stretch/>
        </p:blipFill>
        <p:spPr>
          <a:xfrm>
            <a:off x="6829024" y="4313937"/>
            <a:ext cx="5011504" cy="1757306"/>
          </a:xfrm>
          <a:prstGeom prst="rect">
            <a:avLst/>
          </a:prstGeom>
          <a:noFill/>
          <a:ln>
            <a:noFill/>
          </a:ln>
        </p:spPr>
      </p:pic>
      <p:sp>
        <p:nvSpPr>
          <p:cNvPr id="1647" name="Google Shape;1647;p150"/>
          <p:cNvSpPr/>
          <p:nvPr/>
        </p:nvSpPr>
        <p:spPr>
          <a:xfrm>
            <a:off x="118160" y="1665410"/>
            <a:ext cx="6191046" cy="1567387"/>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67" u="sng">
                <a:solidFill>
                  <a:srgbClr val="0070C0"/>
                </a:solidFill>
                <a:latin typeface="Roboto"/>
                <a:ea typeface="Roboto"/>
                <a:cs typeface="Roboto"/>
                <a:sym typeface="Roboto"/>
              </a:rPr>
              <a:t>Host Code</a:t>
            </a:r>
            <a:r>
              <a:rPr lang="en-US" sz="1667" u="sng">
                <a:solidFill>
                  <a:srgbClr val="0070C0"/>
                </a:solidFill>
                <a:latin typeface="Roboto"/>
                <a:ea typeface="Roboto"/>
                <a:cs typeface="Roboto"/>
                <a:sym typeface="Roboto"/>
              </a:rPr>
              <a:t>:</a:t>
            </a:r>
            <a:r>
              <a:rPr lang="en-US" sz="1067" u="sng">
                <a:solidFill>
                  <a:srgbClr val="0070C0"/>
                </a:solidFill>
                <a:latin typeface="Roboto"/>
                <a:ea typeface="Roboto"/>
                <a:cs typeface="Roboto"/>
                <a:sym typeface="Roboto"/>
              </a:rPr>
              <a:t> </a:t>
            </a:r>
            <a:endParaRPr sz="1667" u="sng">
              <a:solidFill>
                <a:srgbClr val="0070C0"/>
              </a:solidFill>
              <a:latin typeface="Roboto"/>
              <a:ea typeface="Roboto"/>
              <a:cs typeface="Roboto"/>
              <a:sym typeface="Roboto"/>
            </a:endParaRPr>
          </a:p>
          <a:p>
            <a:pPr indent="0" lvl="0" marL="0" marR="0" rtl="0" algn="l">
              <a:spcBef>
                <a:spcPts val="0"/>
              </a:spcBef>
              <a:spcAft>
                <a:spcPts val="0"/>
              </a:spcAft>
              <a:buNone/>
            </a:pPr>
            <a:r>
              <a:rPr lang="en-US" sz="1400">
                <a:solidFill>
                  <a:schemeClr val="dk1"/>
                </a:solidFill>
                <a:latin typeface="Roboto"/>
                <a:ea typeface="Roboto"/>
                <a:cs typeface="Roboto"/>
                <a:sym typeface="Roboto"/>
              </a:rPr>
              <a:t>Acts as the orchestrator, it manages the following in the host side: </a:t>
            </a:r>
            <a:endParaRPr/>
          </a:p>
          <a:p>
            <a:pPr indent="-285750" lvl="2" marL="12001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Roboto"/>
                <a:ea typeface="Roboto"/>
                <a:cs typeface="Roboto"/>
                <a:sym typeface="Roboto"/>
              </a:rPr>
              <a:t>memory allocation</a:t>
            </a:r>
            <a:endParaRPr/>
          </a:p>
          <a:p>
            <a:pPr indent="-285750" lvl="2" marL="12001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Roboto"/>
                <a:ea typeface="Roboto"/>
                <a:cs typeface="Roboto"/>
                <a:sym typeface="Roboto"/>
              </a:rPr>
              <a:t>data transfer</a:t>
            </a:r>
            <a:endParaRPr/>
          </a:p>
          <a:p>
            <a:pPr indent="-285750" lvl="2" marL="12001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Roboto"/>
                <a:ea typeface="Roboto"/>
                <a:cs typeface="Roboto"/>
                <a:sym typeface="Roboto"/>
              </a:rPr>
              <a:t>program flow using sequential logic—like a standard for loop that processes data one element at a time</a:t>
            </a:r>
            <a:endParaRPr/>
          </a:p>
        </p:txBody>
      </p:sp>
      <p:sp>
        <p:nvSpPr>
          <p:cNvPr id="1648" name="Google Shape;1648;p150"/>
          <p:cNvSpPr/>
          <p:nvPr/>
        </p:nvSpPr>
        <p:spPr>
          <a:xfrm>
            <a:off x="118160" y="4408896"/>
            <a:ext cx="6191046" cy="1946184"/>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67" u="sng">
                <a:solidFill>
                  <a:srgbClr val="0070C0"/>
                </a:solidFill>
                <a:latin typeface="Roboto"/>
                <a:ea typeface="Roboto"/>
                <a:cs typeface="Roboto"/>
                <a:sym typeface="Roboto"/>
              </a:rPr>
              <a:t>Kernal Code</a:t>
            </a:r>
            <a:r>
              <a:rPr lang="en-US" sz="1667" u="sng">
                <a:solidFill>
                  <a:srgbClr val="0070C0"/>
                </a:solidFill>
                <a:latin typeface="Roboto"/>
                <a:ea typeface="Roboto"/>
                <a:cs typeface="Roboto"/>
                <a:sym typeface="Roboto"/>
              </a:rPr>
              <a:t>:</a:t>
            </a:r>
            <a:r>
              <a:rPr lang="en-US" sz="1067" u="sng">
                <a:solidFill>
                  <a:srgbClr val="0070C0"/>
                </a:solidFill>
                <a:latin typeface="Roboto"/>
                <a:ea typeface="Roboto"/>
                <a:cs typeface="Roboto"/>
                <a:sym typeface="Roboto"/>
              </a:rPr>
              <a:t> </a:t>
            </a:r>
            <a:endParaRPr sz="1667" u="sng">
              <a:solidFill>
                <a:srgbClr val="0070C0"/>
              </a:solidFill>
              <a:latin typeface="Roboto"/>
              <a:ea typeface="Roboto"/>
              <a:cs typeface="Roboto"/>
              <a:sym typeface="Roboto"/>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Roboto"/>
                <a:ea typeface="Roboto"/>
                <a:cs typeface="Roboto"/>
                <a:sym typeface="Roboto"/>
              </a:rPr>
              <a:t>Focuses purely on computation. Instead of iterating through data, it defines a single operation that is executed simultaneously across a grid of threads.</a:t>
            </a:r>
            <a:endParaRPr/>
          </a:p>
          <a:p>
            <a:pPr indent="-196850" lvl="0" marL="285750" marR="0" rtl="0" algn="l">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Roboto"/>
                <a:ea typeface="Roboto"/>
                <a:cs typeface="Roboto"/>
                <a:sym typeface="Roboto"/>
              </a:rPr>
              <a:t>In this model, the concept of a loop is replaced by hardware parallelism, where thousands of threads (organized into warps) process individual data elements at the exact same moment.</a:t>
            </a:r>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2" name="Shape 1652"/>
        <p:cNvGrpSpPr/>
        <p:nvPr/>
      </p:nvGrpSpPr>
      <p:grpSpPr>
        <a:xfrm>
          <a:off x="0" y="0"/>
          <a:ext cx="0" cy="0"/>
          <a:chOff x="0" y="0"/>
          <a:chExt cx="0" cy="0"/>
        </a:xfrm>
      </p:grpSpPr>
      <p:sp>
        <p:nvSpPr>
          <p:cNvPr id="1653" name="Google Shape;1653;p151"/>
          <p:cNvSpPr txBox="1"/>
          <p:nvPr>
            <p:ph type="title"/>
          </p:nvPr>
        </p:nvSpPr>
        <p:spPr>
          <a:xfrm>
            <a:off x="946150" y="559454"/>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Compilation Flow </a:t>
            </a:r>
            <a:endParaRPr/>
          </a:p>
        </p:txBody>
      </p:sp>
      <p:sp>
        <p:nvSpPr>
          <p:cNvPr id="1654" name="Google Shape;1654;p151"/>
          <p:cNvSpPr/>
          <p:nvPr/>
        </p:nvSpPr>
        <p:spPr>
          <a:xfrm>
            <a:off x="7544802" y="3055442"/>
            <a:ext cx="4175126" cy="3233822"/>
          </a:xfrm>
          <a:prstGeom prst="roundRect">
            <a:avLst>
              <a:gd fmla="val 11149"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Meddon"/>
              <a:ea typeface="Meddon"/>
              <a:cs typeface="Meddon"/>
              <a:sym typeface="Meddon"/>
            </a:endParaRPr>
          </a:p>
        </p:txBody>
      </p:sp>
      <p:sp>
        <p:nvSpPr>
          <p:cNvPr id="1655" name="Google Shape;1655;p151"/>
          <p:cNvSpPr/>
          <p:nvPr/>
        </p:nvSpPr>
        <p:spPr>
          <a:xfrm>
            <a:off x="1761579" y="3055442"/>
            <a:ext cx="9958350" cy="3233822"/>
          </a:xfrm>
          <a:prstGeom prst="roundRect">
            <a:avLst>
              <a:gd fmla="val 11149"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Meddon"/>
              <a:ea typeface="Meddon"/>
              <a:cs typeface="Meddon"/>
              <a:sym typeface="Meddon"/>
            </a:endParaRPr>
          </a:p>
        </p:txBody>
      </p:sp>
      <p:sp>
        <p:nvSpPr>
          <p:cNvPr id="1656" name="Google Shape;1656;p151"/>
          <p:cNvSpPr/>
          <p:nvPr/>
        </p:nvSpPr>
        <p:spPr>
          <a:xfrm>
            <a:off x="4800599" y="3306344"/>
            <a:ext cx="1850848" cy="750850"/>
          </a:xfrm>
          <a:prstGeom prst="rect">
            <a:avLst/>
          </a:prstGeom>
          <a:solidFill>
            <a:srgbClr val="F2F2F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IR </a:t>
            </a:r>
            <a:endParaRPr sz="2400">
              <a:solidFill>
                <a:schemeClr val="dk1"/>
              </a:solidFill>
              <a:latin typeface="Times New Roman"/>
              <a:ea typeface="Times New Roman"/>
              <a:cs typeface="Times New Roman"/>
              <a:sym typeface="Times New Roman"/>
            </a:endParaRPr>
          </a:p>
        </p:txBody>
      </p:sp>
      <p:cxnSp>
        <p:nvCxnSpPr>
          <p:cNvPr id="1657" name="Google Shape;1657;p151"/>
          <p:cNvCxnSpPr>
            <a:stCxn id="1656" idx="3"/>
            <a:endCxn id="1658" idx="1"/>
          </p:cNvCxnSpPr>
          <p:nvPr/>
        </p:nvCxnSpPr>
        <p:spPr>
          <a:xfrm>
            <a:off x="6651447" y="3681769"/>
            <a:ext cx="588900" cy="0"/>
          </a:xfrm>
          <a:prstGeom prst="straightConnector1">
            <a:avLst/>
          </a:prstGeom>
          <a:noFill/>
          <a:ln cap="flat" cmpd="sng" w="9525">
            <a:solidFill>
              <a:srgbClr val="F0E5BA"/>
            </a:solidFill>
            <a:prstDash val="solid"/>
            <a:round/>
            <a:headEnd len="sm" w="sm" type="none"/>
            <a:tailEnd len="med" w="med" type="triangle"/>
          </a:ln>
        </p:spPr>
      </p:cxnSp>
      <p:sp>
        <p:nvSpPr>
          <p:cNvPr id="1659" name="Google Shape;1659;p151"/>
          <p:cNvSpPr/>
          <p:nvPr/>
        </p:nvSpPr>
        <p:spPr>
          <a:xfrm>
            <a:off x="2272934" y="4481684"/>
            <a:ext cx="1442224" cy="1452772"/>
          </a:xfrm>
          <a:prstGeom prst="rect">
            <a:avLst/>
          </a:prstGeom>
          <a:solidFill>
            <a:srgbClr val="F2F2F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Built-in Library</a:t>
            </a:r>
            <a:endParaRPr>
              <a:latin typeface="Times New Roman"/>
              <a:ea typeface="Times New Roman"/>
              <a:cs typeface="Times New Roman"/>
              <a:sym typeface="Times New Roman"/>
            </a:endParaRPr>
          </a:p>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(e,g. math functions)</a:t>
            </a:r>
            <a:endParaRPr sz="2400">
              <a:solidFill>
                <a:schemeClr val="dk1"/>
              </a:solidFill>
              <a:latin typeface="Times New Roman"/>
              <a:ea typeface="Times New Roman"/>
              <a:cs typeface="Times New Roman"/>
              <a:sym typeface="Times New Roman"/>
            </a:endParaRPr>
          </a:p>
        </p:txBody>
      </p:sp>
      <p:cxnSp>
        <p:nvCxnSpPr>
          <p:cNvPr id="1660" name="Google Shape;1660;p151"/>
          <p:cNvCxnSpPr>
            <a:stCxn id="1659" idx="0"/>
          </p:cNvCxnSpPr>
          <p:nvPr/>
        </p:nvCxnSpPr>
        <p:spPr>
          <a:xfrm rot="10800000">
            <a:off x="2994046" y="4139084"/>
            <a:ext cx="0" cy="342600"/>
          </a:xfrm>
          <a:prstGeom prst="straightConnector1">
            <a:avLst/>
          </a:prstGeom>
          <a:noFill/>
          <a:ln cap="flat" cmpd="sng" w="9525">
            <a:solidFill>
              <a:srgbClr val="F0E5BA"/>
            </a:solidFill>
            <a:prstDash val="solid"/>
            <a:round/>
            <a:headEnd len="sm" w="sm" type="none"/>
            <a:tailEnd len="med" w="med" type="triangle"/>
          </a:ln>
        </p:spPr>
      </p:cxnSp>
      <p:sp>
        <p:nvSpPr>
          <p:cNvPr id="1661" name="Google Shape;1661;p151"/>
          <p:cNvSpPr/>
          <p:nvPr/>
        </p:nvSpPr>
        <p:spPr>
          <a:xfrm>
            <a:off x="9902560" y="3306344"/>
            <a:ext cx="1569979" cy="750850"/>
          </a:xfrm>
          <a:prstGeom prst="rect">
            <a:avLst/>
          </a:prstGeom>
          <a:solidFill>
            <a:srgbClr val="F2F2F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Kernel executable</a:t>
            </a:r>
            <a:endParaRPr>
              <a:latin typeface="Times New Roman"/>
              <a:ea typeface="Times New Roman"/>
              <a:cs typeface="Times New Roman"/>
              <a:sym typeface="Times New Roman"/>
            </a:endParaRPr>
          </a:p>
        </p:txBody>
      </p:sp>
      <p:sp>
        <p:nvSpPr>
          <p:cNvPr id="1662" name="Google Shape;1662;p151"/>
          <p:cNvSpPr/>
          <p:nvPr/>
        </p:nvSpPr>
        <p:spPr>
          <a:xfrm>
            <a:off x="7953254" y="4498039"/>
            <a:ext cx="1056024" cy="1315842"/>
          </a:xfrm>
          <a:prstGeom prst="rect">
            <a:avLst/>
          </a:prstGeom>
          <a:solidFill>
            <a:srgbClr val="F2F2F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Vortex ISA</a:t>
            </a:r>
            <a:endParaRPr>
              <a:latin typeface="Times New Roman"/>
              <a:ea typeface="Times New Roman"/>
              <a:cs typeface="Times New Roman"/>
              <a:sym typeface="Times New Roman"/>
            </a:endParaRPr>
          </a:p>
        </p:txBody>
      </p:sp>
      <p:sp>
        <p:nvSpPr>
          <p:cNvPr id="1663" name="Google Shape;1663;p151"/>
          <p:cNvSpPr/>
          <p:nvPr/>
        </p:nvSpPr>
        <p:spPr>
          <a:xfrm>
            <a:off x="2696467" y="3224570"/>
            <a:ext cx="1678541" cy="914399"/>
          </a:xfrm>
          <a:prstGeom prst="roundRect">
            <a:avLst>
              <a:gd fmla="val 16667"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Front-end compiler</a:t>
            </a:r>
            <a:endParaRPr>
              <a:latin typeface="Times New Roman"/>
              <a:ea typeface="Times New Roman"/>
              <a:cs typeface="Times New Roman"/>
              <a:sym typeface="Times New Roman"/>
            </a:endParaRPr>
          </a:p>
        </p:txBody>
      </p:sp>
      <p:cxnSp>
        <p:nvCxnSpPr>
          <p:cNvPr id="1664" name="Google Shape;1664;p151"/>
          <p:cNvCxnSpPr>
            <a:stCxn id="1663" idx="3"/>
            <a:endCxn id="1656" idx="1"/>
          </p:cNvCxnSpPr>
          <p:nvPr/>
        </p:nvCxnSpPr>
        <p:spPr>
          <a:xfrm>
            <a:off x="4375008" y="3681770"/>
            <a:ext cx="425700" cy="0"/>
          </a:xfrm>
          <a:prstGeom prst="straightConnector1">
            <a:avLst/>
          </a:prstGeom>
          <a:noFill/>
          <a:ln cap="flat" cmpd="sng" w="9525">
            <a:solidFill>
              <a:srgbClr val="F0E5BA"/>
            </a:solidFill>
            <a:prstDash val="solid"/>
            <a:round/>
            <a:headEnd len="sm" w="sm" type="none"/>
            <a:tailEnd len="med" w="med" type="triangle"/>
          </a:ln>
        </p:spPr>
      </p:cxnSp>
      <p:sp>
        <p:nvSpPr>
          <p:cNvPr id="1658" name="Google Shape;1658;p151"/>
          <p:cNvSpPr/>
          <p:nvPr/>
        </p:nvSpPr>
        <p:spPr>
          <a:xfrm>
            <a:off x="7240339" y="3224570"/>
            <a:ext cx="1678541" cy="914399"/>
          </a:xfrm>
          <a:prstGeom prst="roundRect">
            <a:avLst>
              <a:gd fmla="val 16667"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Back-end compiler</a:t>
            </a:r>
            <a:endParaRPr>
              <a:latin typeface="Times New Roman"/>
              <a:ea typeface="Times New Roman"/>
              <a:cs typeface="Times New Roman"/>
              <a:sym typeface="Times New Roman"/>
            </a:endParaRPr>
          </a:p>
        </p:txBody>
      </p:sp>
      <p:cxnSp>
        <p:nvCxnSpPr>
          <p:cNvPr id="1665" name="Google Shape;1665;p151"/>
          <p:cNvCxnSpPr>
            <a:stCxn id="1658" idx="3"/>
            <a:endCxn id="1661" idx="1"/>
          </p:cNvCxnSpPr>
          <p:nvPr/>
        </p:nvCxnSpPr>
        <p:spPr>
          <a:xfrm>
            <a:off x="8918880" y="3681770"/>
            <a:ext cx="983700" cy="0"/>
          </a:xfrm>
          <a:prstGeom prst="straightConnector1">
            <a:avLst/>
          </a:prstGeom>
          <a:noFill/>
          <a:ln cap="flat" cmpd="sng" w="9525">
            <a:solidFill>
              <a:srgbClr val="F0E5BA"/>
            </a:solidFill>
            <a:prstDash val="solid"/>
            <a:round/>
            <a:headEnd len="sm" w="sm" type="none"/>
            <a:tailEnd len="med" w="med" type="triangle"/>
          </a:ln>
        </p:spPr>
      </p:cxnSp>
      <p:sp>
        <p:nvSpPr>
          <p:cNvPr id="1666" name="Google Shape;1666;p151"/>
          <p:cNvSpPr txBox="1"/>
          <p:nvPr/>
        </p:nvSpPr>
        <p:spPr>
          <a:xfrm>
            <a:off x="3809563" y="4596617"/>
            <a:ext cx="2852068" cy="18288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3057"/>
              </a:buClr>
              <a:buSzPts val="1700"/>
              <a:buFont typeface="Arial"/>
              <a:buChar char="•"/>
            </a:pPr>
            <a:r>
              <a:rPr b="0" lang="en-US" sz="1700">
                <a:solidFill>
                  <a:srgbClr val="003057"/>
                </a:solidFill>
                <a:latin typeface="Roboto"/>
                <a:ea typeface="Roboto"/>
                <a:cs typeface="Roboto"/>
                <a:sym typeface="Roboto"/>
              </a:rPr>
              <a:t>Analyze program semantics</a:t>
            </a:r>
            <a:endParaRPr/>
          </a:p>
          <a:p>
            <a:pPr indent="-228600" lvl="0" marL="228600" marR="0" rtl="0" algn="l">
              <a:lnSpc>
                <a:spcPct val="90000"/>
              </a:lnSpc>
              <a:spcBef>
                <a:spcPts val="1000"/>
              </a:spcBef>
              <a:spcAft>
                <a:spcPts val="0"/>
              </a:spcAft>
              <a:buClr>
                <a:srgbClr val="003057"/>
              </a:buClr>
              <a:buSzPts val="1700"/>
              <a:buFont typeface="Arial"/>
              <a:buChar char="•"/>
            </a:pPr>
            <a:r>
              <a:rPr b="0" lang="en-US" sz="1700">
                <a:solidFill>
                  <a:srgbClr val="003057"/>
                </a:solidFill>
                <a:latin typeface="Roboto"/>
                <a:ea typeface="Roboto"/>
                <a:cs typeface="Roboto"/>
                <a:sym typeface="Roboto"/>
              </a:rPr>
              <a:t>Lower functions with built-in library</a:t>
            </a:r>
            <a:endParaRPr/>
          </a:p>
        </p:txBody>
      </p:sp>
      <p:cxnSp>
        <p:nvCxnSpPr>
          <p:cNvPr id="1667" name="Google Shape;1667;p151"/>
          <p:cNvCxnSpPr>
            <a:stCxn id="1662" idx="0"/>
          </p:cNvCxnSpPr>
          <p:nvPr/>
        </p:nvCxnSpPr>
        <p:spPr>
          <a:xfrm rot="10800000">
            <a:off x="8375666" y="4122739"/>
            <a:ext cx="105600" cy="375300"/>
          </a:xfrm>
          <a:prstGeom prst="straightConnector1">
            <a:avLst/>
          </a:prstGeom>
          <a:noFill/>
          <a:ln cap="flat" cmpd="sng" w="9525">
            <a:solidFill>
              <a:srgbClr val="F0E5BA"/>
            </a:solidFill>
            <a:prstDash val="solid"/>
            <a:round/>
            <a:headEnd len="sm" w="sm" type="none"/>
            <a:tailEnd len="med" w="med" type="triangle"/>
          </a:ln>
        </p:spPr>
      </p:cxnSp>
      <p:sp>
        <p:nvSpPr>
          <p:cNvPr id="1668" name="Google Shape;1668;p151"/>
          <p:cNvSpPr txBox="1"/>
          <p:nvPr/>
        </p:nvSpPr>
        <p:spPr>
          <a:xfrm>
            <a:off x="9000810" y="4489227"/>
            <a:ext cx="2581590" cy="1371736"/>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3057"/>
              </a:buClr>
              <a:buSzPts val="1700"/>
              <a:buFont typeface="Arial"/>
              <a:buChar char="•"/>
            </a:pPr>
            <a:r>
              <a:rPr b="0" lang="en-US" sz="1700">
                <a:solidFill>
                  <a:srgbClr val="003057"/>
                </a:solidFill>
                <a:latin typeface="Roboto"/>
                <a:ea typeface="Roboto"/>
                <a:cs typeface="Roboto"/>
                <a:sym typeface="Roboto"/>
              </a:rPr>
              <a:t>Lower IR to Vortex ISA using Vortex intrinsic </a:t>
            </a:r>
            <a:endParaRPr/>
          </a:p>
          <a:p>
            <a:pPr indent="-228600" lvl="0" marL="228600" marR="0" rtl="0" algn="l">
              <a:lnSpc>
                <a:spcPct val="90000"/>
              </a:lnSpc>
              <a:spcBef>
                <a:spcPts val="1000"/>
              </a:spcBef>
              <a:spcAft>
                <a:spcPts val="0"/>
              </a:spcAft>
              <a:buClr>
                <a:srgbClr val="003057"/>
              </a:buClr>
              <a:buSzPts val="1700"/>
              <a:buFont typeface="Arial"/>
              <a:buChar char="•"/>
            </a:pPr>
            <a:r>
              <a:rPr b="0" lang="en-US" sz="1700">
                <a:solidFill>
                  <a:srgbClr val="003057"/>
                </a:solidFill>
                <a:latin typeface="Roboto"/>
                <a:ea typeface="Roboto"/>
                <a:cs typeface="Roboto"/>
                <a:sym typeface="Roboto"/>
              </a:rPr>
              <a:t>Perform vortex-specific optimization </a:t>
            </a:r>
            <a:endParaRPr/>
          </a:p>
          <a:p>
            <a:pPr indent="-120650" lvl="0" marL="228600" marR="0" rtl="0" algn="l">
              <a:lnSpc>
                <a:spcPct val="90000"/>
              </a:lnSpc>
              <a:spcBef>
                <a:spcPts val="1000"/>
              </a:spcBef>
              <a:spcAft>
                <a:spcPts val="0"/>
              </a:spcAft>
              <a:buClr>
                <a:srgbClr val="003057"/>
              </a:buClr>
              <a:buSzPts val="1700"/>
              <a:buFont typeface="Arial"/>
              <a:buNone/>
            </a:pPr>
            <a:r>
              <a:t/>
            </a:r>
            <a:endParaRPr b="0" sz="1700">
              <a:solidFill>
                <a:srgbClr val="003057"/>
              </a:solidFill>
              <a:latin typeface="Roboto"/>
              <a:ea typeface="Roboto"/>
              <a:cs typeface="Roboto"/>
              <a:sym typeface="Roboto"/>
            </a:endParaRPr>
          </a:p>
        </p:txBody>
      </p:sp>
      <p:sp>
        <p:nvSpPr>
          <p:cNvPr id="1669" name="Google Shape;1669;p151"/>
          <p:cNvSpPr/>
          <p:nvPr/>
        </p:nvSpPr>
        <p:spPr>
          <a:xfrm>
            <a:off x="6820697" y="4498039"/>
            <a:ext cx="1036602" cy="1315842"/>
          </a:xfrm>
          <a:prstGeom prst="rect">
            <a:avLst/>
          </a:prstGeom>
          <a:solidFill>
            <a:srgbClr val="F2F2F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Vortex</a:t>
            </a:r>
            <a:endParaRPr>
              <a:latin typeface="Times New Roman"/>
              <a:ea typeface="Times New Roman"/>
              <a:cs typeface="Times New Roman"/>
              <a:sym typeface="Times New Roman"/>
            </a:endParaRPr>
          </a:p>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Kernel library</a:t>
            </a:r>
            <a:endParaRPr sz="2400">
              <a:solidFill>
                <a:schemeClr val="dk1"/>
              </a:solidFill>
              <a:latin typeface="Times New Roman"/>
              <a:ea typeface="Times New Roman"/>
              <a:cs typeface="Times New Roman"/>
              <a:sym typeface="Times New Roman"/>
            </a:endParaRPr>
          </a:p>
        </p:txBody>
      </p:sp>
      <p:cxnSp>
        <p:nvCxnSpPr>
          <p:cNvPr id="1670" name="Google Shape;1670;p151"/>
          <p:cNvCxnSpPr>
            <a:stCxn id="1669" idx="0"/>
          </p:cNvCxnSpPr>
          <p:nvPr/>
        </p:nvCxnSpPr>
        <p:spPr>
          <a:xfrm flipH="1" rot="10800000">
            <a:off x="7338998" y="4138939"/>
            <a:ext cx="109800" cy="359100"/>
          </a:xfrm>
          <a:prstGeom prst="straightConnector1">
            <a:avLst/>
          </a:prstGeom>
          <a:noFill/>
          <a:ln cap="flat" cmpd="sng" w="9525">
            <a:solidFill>
              <a:srgbClr val="F0E5BA"/>
            </a:solidFill>
            <a:prstDash val="solid"/>
            <a:round/>
            <a:headEnd len="sm" w="sm" type="none"/>
            <a:tailEnd len="med" w="med" type="triangle"/>
          </a:ln>
        </p:spPr>
      </p:cxnSp>
      <p:sp>
        <p:nvSpPr>
          <p:cNvPr id="1671" name="Google Shape;1671;p151"/>
          <p:cNvSpPr/>
          <p:nvPr/>
        </p:nvSpPr>
        <p:spPr>
          <a:xfrm>
            <a:off x="2367774" y="1561177"/>
            <a:ext cx="9251797" cy="1135195"/>
          </a:xfrm>
          <a:prstGeom prst="roundRect">
            <a:avLst>
              <a:gd fmla="val 11149"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Meddon"/>
              <a:ea typeface="Meddon"/>
              <a:cs typeface="Meddon"/>
              <a:sym typeface="Meddon"/>
            </a:endParaRPr>
          </a:p>
        </p:txBody>
      </p:sp>
      <p:sp>
        <p:nvSpPr>
          <p:cNvPr id="1672" name="Google Shape;1672;p151"/>
          <p:cNvSpPr/>
          <p:nvPr/>
        </p:nvSpPr>
        <p:spPr>
          <a:xfrm>
            <a:off x="5209223" y="1812080"/>
            <a:ext cx="1619348" cy="750850"/>
          </a:xfrm>
          <a:prstGeom prst="rect">
            <a:avLst/>
          </a:prstGeom>
          <a:solidFill>
            <a:srgbClr val="F2F2F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Host</a:t>
            </a:r>
            <a:endParaRPr>
              <a:latin typeface="Times New Roman"/>
              <a:ea typeface="Times New Roman"/>
              <a:cs typeface="Times New Roman"/>
              <a:sym typeface="Times New Roman"/>
            </a:endParaRPr>
          </a:p>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Executable </a:t>
            </a:r>
            <a:endParaRPr sz="2400">
              <a:solidFill>
                <a:schemeClr val="dk1"/>
              </a:solidFill>
              <a:latin typeface="Times New Roman"/>
              <a:ea typeface="Times New Roman"/>
              <a:cs typeface="Times New Roman"/>
              <a:sym typeface="Times New Roman"/>
            </a:endParaRPr>
          </a:p>
        </p:txBody>
      </p:sp>
      <p:sp>
        <p:nvSpPr>
          <p:cNvPr id="1673" name="Google Shape;1673;p151"/>
          <p:cNvSpPr/>
          <p:nvPr/>
        </p:nvSpPr>
        <p:spPr>
          <a:xfrm>
            <a:off x="2819128" y="1730305"/>
            <a:ext cx="1879872" cy="414453"/>
          </a:xfrm>
          <a:prstGeom prst="roundRect">
            <a:avLst>
              <a:gd fmla="val 16667"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Compiler</a:t>
            </a:r>
            <a:endParaRPr>
              <a:latin typeface="Times New Roman"/>
              <a:ea typeface="Times New Roman"/>
              <a:cs typeface="Times New Roman"/>
              <a:sym typeface="Times New Roman"/>
            </a:endParaRPr>
          </a:p>
        </p:txBody>
      </p:sp>
      <p:cxnSp>
        <p:nvCxnSpPr>
          <p:cNvPr id="1674" name="Google Shape;1674;p151"/>
          <p:cNvCxnSpPr>
            <a:stCxn id="1673" idx="3"/>
            <a:endCxn id="1672" idx="1"/>
          </p:cNvCxnSpPr>
          <p:nvPr/>
        </p:nvCxnSpPr>
        <p:spPr>
          <a:xfrm>
            <a:off x="4699000" y="1937532"/>
            <a:ext cx="510300" cy="249900"/>
          </a:xfrm>
          <a:prstGeom prst="straightConnector1">
            <a:avLst/>
          </a:prstGeom>
          <a:noFill/>
          <a:ln cap="flat" cmpd="sng" w="9525">
            <a:solidFill>
              <a:srgbClr val="F0E5BA"/>
            </a:solidFill>
            <a:prstDash val="solid"/>
            <a:round/>
            <a:headEnd len="sm" w="sm" type="none"/>
            <a:tailEnd len="med" w="med" type="triangle"/>
          </a:ln>
        </p:spPr>
      </p:cxnSp>
      <p:sp>
        <p:nvSpPr>
          <p:cNvPr id="1675" name="Google Shape;1675;p151"/>
          <p:cNvSpPr txBox="1"/>
          <p:nvPr/>
        </p:nvSpPr>
        <p:spPr>
          <a:xfrm>
            <a:off x="6828571" y="1821005"/>
            <a:ext cx="4645694" cy="1022192"/>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3057"/>
              </a:buClr>
              <a:buSzPts val="1700"/>
              <a:buFont typeface="Arial"/>
              <a:buChar char="•"/>
            </a:pPr>
            <a:r>
              <a:rPr b="0" lang="en-US" sz="1700">
                <a:solidFill>
                  <a:srgbClr val="003057"/>
                </a:solidFill>
                <a:latin typeface="Roboto"/>
                <a:ea typeface="Roboto"/>
                <a:cs typeface="Roboto"/>
                <a:sym typeface="Roboto"/>
              </a:rPr>
              <a:t>Lower device communication functions with runtime library </a:t>
            </a:r>
            <a:endParaRPr/>
          </a:p>
        </p:txBody>
      </p:sp>
      <p:sp>
        <p:nvSpPr>
          <p:cNvPr id="1676" name="Google Shape;1676;p151"/>
          <p:cNvSpPr/>
          <p:nvPr/>
        </p:nvSpPr>
        <p:spPr>
          <a:xfrm>
            <a:off x="2654535" y="2198656"/>
            <a:ext cx="2212971" cy="414452"/>
          </a:xfrm>
          <a:prstGeom prst="rect">
            <a:avLst/>
          </a:prstGeom>
          <a:solidFill>
            <a:srgbClr val="F2F2F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Vortex Runtime</a:t>
            </a:r>
            <a:endParaRPr sz="2400">
              <a:solidFill>
                <a:schemeClr val="dk1"/>
              </a:solidFill>
              <a:latin typeface="Times New Roman"/>
              <a:ea typeface="Times New Roman"/>
              <a:cs typeface="Times New Roman"/>
              <a:sym typeface="Times New Roman"/>
            </a:endParaRPr>
          </a:p>
        </p:txBody>
      </p:sp>
      <p:sp>
        <p:nvSpPr>
          <p:cNvPr id="1677" name="Google Shape;1677;p151"/>
          <p:cNvSpPr/>
          <p:nvPr/>
        </p:nvSpPr>
        <p:spPr>
          <a:xfrm>
            <a:off x="412595" y="1561177"/>
            <a:ext cx="1795346" cy="2598230"/>
          </a:xfrm>
          <a:prstGeom prst="roundRect">
            <a:avLst>
              <a:gd fmla="val 16667"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Meddon"/>
              <a:ea typeface="Meddon"/>
              <a:cs typeface="Meddon"/>
              <a:sym typeface="Meddon"/>
            </a:endParaRPr>
          </a:p>
        </p:txBody>
      </p:sp>
      <p:sp>
        <p:nvSpPr>
          <p:cNvPr id="1678" name="Google Shape;1678;p151"/>
          <p:cNvSpPr/>
          <p:nvPr/>
        </p:nvSpPr>
        <p:spPr>
          <a:xfrm>
            <a:off x="572428" y="1802787"/>
            <a:ext cx="1442224" cy="750850"/>
          </a:xfrm>
          <a:prstGeom prst="rect">
            <a:avLst/>
          </a:prstGeom>
          <a:solidFill>
            <a:srgbClr val="F2F2F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Host Code </a:t>
            </a:r>
            <a:endParaRPr sz="2400">
              <a:solidFill>
                <a:schemeClr val="dk1"/>
              </a:solidFill>
              <a:latin typeface="Times New Roman"/>
              <a:ea typeface="Times New Roman"/>
              <a:cs typeface="Times New Roman"/>
              <a:sym typeface="Times New Roman"/>
            </a:endParaRPr>
          </a:p>
        </p:txBody>
      </p:sp>
      <p:sp>
        <p:nvSpPr>
          <p:cNvPr id="1679" name="Google Shape;1679;p151"/>
          <p:cNvSpPr/>
          <p:nvPr/>
        </p:nvSpPr>
        <p:spPr>
          <a:xfrm>
            <a:off x="609600" y="3094469"/>
            <a:ext cx="1442224" cy="750850"/>
          </a:xfrm>
          <a:prstGeom prst="rect">
            <a:avLst/>
          </a:prstGeom>
          <a:solidFill>
            <a:srgbClr val="F2F2F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Kernel Code</a:t>
            </a:r>
            <a:endParaRPr sz="2400">
              <a:solidFill>
                <a:schemeClr val="dk1"/>
              </a:solidFill>
              <a:latin typeface="Times New Roman"/>
              <a:ea typeface="Times New Roman"/>
              <a:cs typeface="Times New Roman"/>
              <a:sym typeface="Times New Roman"/>
            </a:endParaRPr>
          </a:p>
        </p:txBody>
      </p:sp>
      <p:cxnSp>
        <p:nvCxnSpPr>
          <p:cNvPr id="1680" name="Google Shape;1680;p151"/>
          <p:cNvCxnSpPr>
            <a:stCxn id="1678" idx="3"/>
            <a:endCxn id="1673" idx="1"/>
          </p:cNvCxnSpPr>
          <p:nvPr/>
        </p:nvCxnSpPr>
        <p:spPr>
          <a:xfrm flipH="1" rot="10800000">
            <a:off x="2014652" y="1937612"/>
            <a:ext cx="804600" cy="240600"/>
          </a:xfrm>
          <a:prstGeom prst="straightConnector1">
            <a:avLst/>
          </a:prstGeom>
          <a:noFill/>
          <a:ln cap="flat" cmpd="sng" w="9525">
            <a:solidFill>
              <a:srgbClr val="F0E5BA"/>
            </a:solidFill>
            <a:prstDash val="solid"/>
            <a:round/>
            <a:headEnd len="sm" w="sm" type="none"/>
            <a:tailEnd len="med" w="med" type="triangle"/>
          </a:ln>
        </p:spPr>
      </p:cxnSp>
      <p:cxnSp>
        <p:nvCxnSpPr>
          <p:cNvPr id="1681" name="Google Shape;1681;p151"/>
          <p:cNvCxnSpPr>
            <a:endCxn id="1663" idx="1"/>
          </p:cNvCxnSpPr>
          <p:nvPr/>
        </p:nvCxnSpPr>
        <p:spPr>
          <a:xfrm>
            <a:off x="2051767" y="3428870"/>
            <a:ext cx="644700" cy="252900"/>
          </a:xfrm>
          <a:prstGeom prst="straightConnector1">
            <a:avLst/>
          </a:prstGeom>
          <a:noFill/>
          <a:ln cap="flat" cmpd="sng" w="9525">
            <a:solidFill>
              <a:srgbClr val="F0E5BA"/>
            </a:solidFill>
            <a:prstDash val="solid"/>
            <a:round/>
            <a:headEnd len="sm" w="sm" type="none"/>
            <a:tailEnd len="med" w="med" type="triangle"/>
          </a:ln>
        </p:spPr>
      </p:cxn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5" name="Shape 1685"/>
        <p:cNvGrpSpPr/>
        <p:nvPr/>
      </p:nvGrpSpPr>
      <p:grpSpPr>
        <a:xfrm>
          <a:off x="0" y="0"/>
          <a:ext cx="0" cy="0"/>
          <a:chOff x="0" y="0"/>
          <a:chExt cx="0" cy="0"/>
        </a:xfrm>
      </p:grpSpPr>
      <p:sp>
        <p:nvSpPr>
          <p:cNvPr id="1686" name="Google Shape;1686;p152"/>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System-Level Sanity Check</a:t>
            </a:r>
            <a:endParaRPr/>
          </a:p>
        </p:txBody>
      </p:sp>
      <p:grpSp>
        <p:nvGrpSpPr>
          <p:cNvPr id="1687" name="Google Shape;1687;p152"/>
          <p:cNvGrpSpPr/>
          <p:nvPr/>
        </p:nvGrpSpPr>
        <p:grpSpPr>
          <a:xfrm>
            <a:off x="292016" y="1105222"/>
            <a:ext cx="4161112" cy="2554611"/>
            <a:chOff x="292016" y="874389"/>
            <a:chExt cx="3427581" cy="2316637"/>
          </a:xfrm>
        </p:grpSpPr>
        <p:pic>
          <p:nvPicPr>
            <p:cNvPr id="1688" name="Google Shape;1688;p152"/>
            <p:cNvPicPr preferRelativeResize="0"/>
            <p:nvPr/>
          </p:nvPicPr>
          <p:blipFill rotWithShape="1">
            <a:blip r:embed="rId3">
              <a:alphaModFix/>
            </a:blip>
            <a:srcRect b="0" l="0" r="0" t="0"/>
            <a:stretch/>
          </p:blipFill>
          <p:spPr>
            <a:xfrm>
              <a:off x="292016" y="1671523"/>
              <a:ext cx="3427581" cy="1519503"/>
            </a:xfrm>
            <a:prstGeom prst="rect">
              <a:avLst/>
            </a:prstGeom>
            <a:noFill/>
            <a:ln>
              <a:noFill/>
            </a:ln>
          </p:spPr>
        </p:pic>
        <p:sp>
          <p:nvSpPr>
            <p:cNvPr id="1689" name="Google Shape;1689;p152"/>
            <p:cNvSpPr txBox="1"/>
            <p:nvPr/>
          </p:nvSpPr>
          <p:spPr>
            <a:xfrm>
              <a:off x="639554" y="874389"/>
              <a:ext cx="2167503" cy="1118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2400">
                <a:solidFill>
                  <a:schemeClr val="dk1"/>
                </a:solidFill>
                <a:latin typeface="Poppins"/>
                <a:ea typeface="Poppins"/>
                <a:cs typeface="Poppins"/>
                <a:sym typeface="Poppins"/>
              </a:endParaRPr>
            </a:p>
            <a:p>
              <a:pPr indent="0" lvl="0" marL="0" marR="0" rtl="0" algn="ctr">
                <a:spcBef>
                  <a:spcPts val="0"/>
                </a:spcBef>
                <a:spcAft>
                  <a:spcPts val="0"/>
                </a:spcAft>
                <a:buNone/>
              </a:pPr>
              <a:r>
                <a:rPr b="1" lang="en-US" sz="1867">
                  <a:solidFill>
                    <a:srgbClr val="0070C0"/>
                  </a:solidFill>
                  <a:latin typeface="Poppins"/>
                  <a:ea typeface="Poppins"/>
                  <a:cs typeface="Poppins"/>
                  <a:sym typeface="Poppins"/>
                </a:rPr>
                <a:t>Host Code</a:t>
              </a:r>
              <a:endParaRPr/>
            </a:p>
            <a:p>
              <a:pPr indent="-106694" lvl="0" marL="304815" marR="0" rtl="0" algn="l">
                <a:spcBef>
                  <a:spcPts val="0"/>
                </a:spcBef>
                <a:spcAft>
                  <a:spcPts val="0"/>
                </a:spcAft>
                <a:buClr>
                  <a:schemeClr val="dk2"/>
                </a:buClr>
                <a:buSzPts val="3120"/>
                <a:buFont typeface="Noto Sans Symbols"/>
                <a:buNone/>
              </a:pPr>
              <a:r>
                <a:t/>
              </a:r>
              <a:endParaRPr b="1" sz="2400">
                <a:solidFill>
                  <a:schemeClr val="dk1"/>
                </a:solidFill>
                <a:latin typeface="Poppins"/>
                <a:ea typeface="Poppins"/>
                <a:cs typeface="Poppins"/>
                <a:sym typeface="Poppins"/>
              </a:endParaRPr>
            </a:p>
          </p:txBody>
        </p:sp>
      </p:grpSp>
      <p:grpSp>
        <p:nvGrpSpPr>
          <p:cNvPr id="1690" name="Google Shape;1690;p152"/>
          <p:cNvGrpSpPr/>
          <p:nvPr/>
        </p:nvGrpSpPr>
        <p:grpSpPr>
          <a:xfrm>
            <a:off x="292016" y="3553586"/>
            <a:ext cx="5011504" cy="2679192"/>
            <a:chOff x="292016" y="3429000"/>
            <a:chExt cx="4385123" cy="2316637"/>
          </a:xfrm>
        </p:grpSpPr>
        <p:pic>
          <p:nvPicPr>
            <p:cNvPr id="1691" name="Google Shape;1691;p152"/>
            <p:cNvPicPr preferRelativeResize="0"/>
            <p:nvPr/>
          </p:nvPicPr>
          <p:blipFill rotWithShape="1">
            <a:blip r:embed="rId4">
              <a:alphaModFix/>
            </a:blip>
            <a:srcRect b="0" l="0" r="0" t="0"/>
            <a:stretch/>
          </p:blipFill>
          <p:spPr>
            <a:xfrm>
              <a:off x="292016" y="4226134"/>
              <a:ext cx="4385123" cy="1519503"/>
            </a:xfrm>
            <a:prstGeom prst="rect">
              <a:avLst/>
            </a:prstGeom>
            <a:noFill/>
            <a:ln>
              <a:noFill/>
            </a:ln>
          </p:spPr>
        </p:pic>
        <p:sp>
          <p:nvSpPr>
            <p:cNvPr id="1692" name="Google Shape;1692;p152"/>
            <p:cNvSpPr txBox="1"/>
            <p:nvPr/>
          </p:nvSpPr>
          <p:spPr>
            <a:xfrm>
              <a:off x="1233473" y="3429000"/>
              <a:ext cx="2122013" cy="1118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2400">
                <a:solidFill>
                  <a:schemeClr val="dk1"/>
                </a:solidFill>
                <a:latin typeface="Poppins"/>
                <a:ea typeface="Poppins"/>
                <a:cs typeface="Poppins"/>
                <a:sym typeface="Poppins"/>
              </a:endParaRPr>
            </a:p>
            <a:p>
              <a:pPr indent="0" lvl="0" marL="0" marR="0" rtl="0" algn="ctr">
                <a:spcBef>
                  <a:spcPts val="0"/>
                </a:spcBef>
                <a:spcAft>
                  <a:spcPts val="0"/>
                </a:spcAft>
                <a:buNone/>
              </a:pPr>
              <a:r>
                <a:rPr b="1" lang="en-US" sz="1867">
                  <a:solidFill>
                    <a:srgbClr val="0070C0"/>
                  </a:solidFill>
                  <a:latin typeface="Poppins"/>
                  <a:ea typeface="Poppins"/>
                  <a:cs typeface="Poppins"/>
                  <a:sym typeface="Poppins"/>
                </a:rPr>
                <a:t>Kernel Code</a:t>
              </a:r>
              <a:endParaRPr/>
            </a:p>
            <a:p>
              <a:pPr indent="-106694" lvl="0" marL="304815" marR="0" rtl="0" algn="l">
                <a:spcBef>
                  <a:spcPts val="0"/>
                </a:spcBef>
                <a:spcAft>
                  <a:spcPts val="0"/>
                </a:spcAft>
                <a:buClr>
                  <a:schemeClr val="dk2"/>
                </a:buClr>
                <a:buSzPts val="3120"/>
                <a:buFont typeface="Noto Sans Symbols"/>
                <a:buNone/>
              </a:pPr>
              <a:r>
                <a:t/>
              </a:r>
              <a:endParaRPr b="1" sz="2400">
                <a:solidFill>
                  <a:schemeClr val="dk1"/>
                </a:solidFill>
                <a:latin typeface="Poppins"/>
                <a:ea typeface="Poppins"/>
                <a:cs typeface="Poppins"/>
                <a:sym typeface="Poppins"/>
              </a:endParaRPr>
            </a:p>
          </p:txBody>
        </p:sp>
      </p:grpSp>
      <p:pic>
        <p:nvPicPr>
          <p:cNvPr id="1693" name="Google Shape;1693;p152"/>
          <p:cNvPicPr preferRelativeResize="0"/>
          <p:nvPr/>
        </p:nvPicPr>
        <p:blipFill rotWithShape="1">
          <a:blip r:embed="rId5">
            <a:alphaModFix/>
          </a:blip>
          <a:srcRect b="3688" l="0" r="0" t="8411"/>
          <a:stretch/>
        </p:blipFill>
        <p:spPr>
          <a:xfrm>
            <a:off x="5846257" y="1984241"/>
            <a:ext cx="6154245" cy="3920952"/>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7" name="Shape 1697"/>
        <p:cNvGrpSpPr/>
        <p:nvPr/>
      </p:nvGrpSpPr>
      <p:grpSpPr>
        <a:xfrm>
          <a:off x="0" y="0"/>
          <a:ext cx="0" cy="0"/>
          <a:chOff x="0" y="0"/>
          <a:chExt cx="0" cy="0"/>
        </a:xfrm>
      </p:grpSpPr>
      <p:sp>
        <p:nvSpPr>
          <p:cNvPr id="1698" name="Google Shape;1698;p153"/>
          <p:cNvSpPr txBox="1"/>
          <p:nvPr>
            <p:ph type="title"/>
          </p:nvPr>
        </p:nvSpPr>
        <p:spPr>
          <a:xfrm>
            <a:off x="946150" y="559454"/>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Unit Decomposition</a:t>
            </a:r>
            <a:endParaRPr/>
          </a:p>
        </p:txBody>
      </p:sp>
      <p:sp>
        <p:nvSpPr>
          <p:cNvPr id="1699" name="Google Shape;1699;p153"/>
          <p:cNvSpPr/>
          <p:nvPr/>
        </p:nvSpPr>
        <p:spPr>
          <a:xfrm>
            <a:off x="6667017" y="2274018"/>
            <a:ext cx="5197139" cy="1418521"/>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67" u="sng">
                <a:solidFill>
                  <a:srgbClr val="0070C0"/>
                </a:solidFill>
                <a:latin typeface="Roboto"/>
                <a:ea typeface="Roboto"/>
                <a:cs typeface="Roboto"/>
                <a:sym typeface="Roboto"/>
              </a:rPr>
              <a:t>Isolation</a:t>
            </a:r>
            <a:r>
              <a:rPr lang="en-US" sz="1667" u="sng">
                <a:solidFill>
                  <a:srgbClr val="0070C0"/>
                </a:solidFill>
                <a:latin typeface="Roboto"/>
                <a:ea typeface="Roboto"/>
                <a:cs typeface="Roboto"/>
                <a:sym typeface="Roboto"/>
              </a:rPr>
              <a:t>:</a:t>
            </a:r>
            <a:r>
              <a:rPr lang="en-US" sz="1067" u="sng">
                <a:solidFill>
                  <a:srgbClr val="0070C0"/>
                </a:solidFill>
                <a:latin typeface="Roboto"/>
                <a:ea typeface="Roboto"/>
                <a:cs typeface="Roboto"/>
                <a:sym typeface="Roboto"/>
              </a:rPr>
              <a:t> </a:t>
            </a:r>
            <a:endParaRPr/>
          </a:p>
          <a:p>
            <a:pPr indent="0" lvl="0" marL="0" marR="0" rtl="0" algn="l">
              <a:spcBef>
                <a:spcPts val="0"/>
              </a:spcBef>
              <a:spcAft>
                <a:spcPts val="0"/>
              </a:spcAft>
              <a:buNone/>
            </a:pPr>
            <a:r>
              <a:rPr lang="en-US" sz="1400">
                <a:solidFill>
                  <a:schemeClr val="dk1"/>
                </a:solidFill>
                <a:latin typeface="Roboto"/>
                <a:ea typeface="Roboto"/>
                <a:cs typeface="Roboto"/>
                <a:sym typeface="Roboto"/>
              </a:rPr>
              <a:t>Decouples execution units (ALU, FPU) from the complex top-level hierarchy. This guarantees that failures are due to logic bugs, not system-level interconnect or communication noise</a:t>
            </a:r>
            <a:endParaRPr/>
          </a:p>
        </p:txBody>
      </p:sp>
      <p:sp>
        <p:nvSpPr>
          <p:cNvPr id="1700" name="Google Shape;1700;p153"/>
          <p:cNvSpPr/>
          <p:nvPr/>
        </p:nvSpPr>
        <p:spPr>
          <a:xfrm>
            <a:off x="163880" y="4964680"/>
            <a:ext cx="6503137" cy="1467842"/>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67" u="sng">
                <a:solidFill>
                  <a:srgbClr val="0070C0"/>
                </a:solidFill>
                <a:latin typeface="Roboto"/>
                <a:ea typeface="Roboto"/>
                <a:cs typeface="Roboto"/>
                <a:sym typeface="Roboto"/>
              </a:rPr>
              <a:t>Code dependencies</a:t>
            </a:r>
            <a:r>
              <a:rPr lang="en-US" sz="1667" u="sng">
                <a:solidFill>
                  <a:srgbClr val="0070C0"/>
                </a:solidFill>
                <a:latin typeface="Roboto"/>
                <a:ea typeface="Roboto"/>
                <a:cs typeface="Roboto"/>
                <a:sym typeface="Roboto"/>
              </a:rPr>
              <a:t>:</a:t>
            </a:r>
            <a:r>
              <a:rPr lang="en-US" sz="1067" u="sng">
                <a:solidFill>
                  <a:srgbClr val="0070C0"/>
                </a:solidFill>
                <a:latin typeface="Roboto"/>
                <a:ea typeface="Roboto"/>
                <a:cs typeface="Roboto"/>
                <a:sym typeface="Roboto"/>
              </a:rPr>
              <a:t> </a:t>
            </a:r>
            <a:endParaRPr sz="1667" u="sng">
              <a:solidFill>
                <a:srgbClr val="0070C0"/>
              </a:solidFill>
              <a:latin typeface="Roboto"/>
              <a:ea typeface="Roboto"/>
              <a:cs typeface="Roboto"/>
              <a:sym typeface="Roboto"/>
            </a:endParaRPr>
          </a:p>
          <a:p>
            <a:pPr indent="0" lvl="0" marL="0" marR="0" rtl="0" algn="l">
              <a:spcBef>
                <a:spcPts val="0"/>
              </a:spcBef>
              <a:spcAft>
                <a:spcPts val="0"/>
              </a:spcAft>
              <a:buNone/>
            </a:pPr>
            <a:r>
              <a:rPr lang="en-US" sz="1400">
                <a:solidFill>
                  <a:schemeClr val="dk1"/>
                </a:solidFill>
                <a:latin typeface="Roboto"/>
                <a:ea typeface="Roboto"/>
                <a:cs typeface="Roboto"/>
                <a:sym typeface="Roboto"/>
              </a:rPr>
              <a:t>Because the Vortex RTL is deeply intertwined, extracting a single unit like the ALU breaks links to dozens of shared packages and header files scattered across the repository. Manually tracking these dependencies initially led to a cycle of constant 'File Not Found' errors and unstable simulation environments.</a:t>
            </a:r>
            <a:endParaRPr/>
          </a:p>
        </p:txBody>
      </p:sp>
      <p:sp>
        <p:nvSpPr>
          <p:cNvPr id="1701" name="Google Shape;1701;p153"/>
          <p:cNvSpPr/>
          <p:nvPr/>
        </p:nvSpPr>
        <p:spPr>
          <a:xfrm>
            <a:off x="7373074" y="4964680"/>
            <a:ext cx="4289466" cy="1418522"/>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67" u="sng">
                <a:solidFill>
                  <a:srgbClr val="0070C0"/>
                </a:solidFill>
                <a:latin typeface="Roboto"/>
                <a:ea typeface="Roboto"/>
                <a:cs typeface="Roboto"/>
                <a:sym typeface="Roboto"/>
              </a:rPr>
              <a:t>Automated MakeFile</a:t>
            </a:r>
            <a:r>
              <a:rPr lang="en-US" sz="1667" u="sng">
                <a:solidFill>
                  <a:srgbClr val="0070C0"/>
                </a:solidFill>
                <a:latin typeface="Roboto"/>
                <a:ea typeface="Roboto"/>
                <a:cs typeface="Roboto"/>
                <a:sym typeface="Roboto"/>
              </a:rPr>
              <a:t>:</a:t>
            </a:r>
            <a:r>
              <a:rPr lang="en-US" sz="1067" u="sng">
                <a:solidFill>
                  <a:srgbClr val="0070C0"/>
                </a:solidFill>
                <a:latin typeface="Roboto"/>
                <a:ea typeface="Roboto"/>
                <a:cs typeface="Roboto"/>
                <a:sym typeface="Roboto"/>
              </a:rPr>
              <a:t> </a:t>
            </a:r>
            <a:endParaRPr/>
          </a:p>
          <a:p>
            <a:pPr indent="0" lvl="0" marL="0" marR="0" rtl="0" algn="l">
              <a:spcBef>
                <a:spcPts val="0"/>
              </a:spcBef>
              <a:spcAft>
                <a:spcPts val="0"/>
              </a:spcAft>
              <a:buNone/>
            </a:pPr>
            <a:r>
              <a:rPr lang="en-US" sz="1400">
                <a:solidFill>
                  <a:schemeClr val="dk1"/>
                </a:solidFill>
                <a:latin typeface="Roboto"/>
                <a:ea typeface="Roboto"/>
                <a:cs typeface="Roboto"/>
                <a:sym typeface="Roboto"/>
              </a:rPr>
              <a:t>Instead of manually tracking files, the Makefile automatically identifies and aggregates the precise dependencies required for each specific unit's testbench</a:t>
            </a:r>
            <a:endParaRPr/>
          </a:p>
        </p:txBody>
      </p:sp>
      <p:sp>
        <p:nvSpPr>
          <p:cNvPr id="1702" name="Google Shape;1702;p153"/>
          <p:cNvSpPr/>
          <p:nvPr/>
        </p:nvSpPr>
        <p:spPr>
          <a:xfrm>
            <a:off x="163880" y="2236162"/>
            <a:ext cx="6191046" cy="1567387"/>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67" u="sng">
                <a:solidFill>
                  <a:srgbClr val="0070C0"/>
                </a:solidFill>
                <a:latin typeface="Roboto"/>
                <a:ea typeface="Roboto"/>
                <a:cs typeface="Roboto"/>
                <a:sym typeface="Roboto"/>
              </a:rPr>
              <a:t>Complexity Reduction</a:t>
            </a:r>
            <a:r>
              <a:rPr lang="en-US" sz="1667" u="sng">
                <a:solidFill>
                  <a:srgbClr val="0070C0"/>
                </a:solidFill>
                <a:latin typeface="Roboto"/>
                <a:ea typeface="Roboto"/>
                <a:cs typeface="Roboto"/>
                <a:sym typeface="Roboto"/>
              </a:rPr>
              <a:t>:</a:t>
            </a:r>
            <a:r>
              <a:rPr lang="en-US" sz="1067" u="sng">
                <a:solidFill>
                  <a:srgbClr val="0070C0"/>
                </a:solidFill>
                <a:latin typeface="Roboto"/>
                <a:ea typeface="Roboto"/>
                <a:cs typeface="Roboto"/>
                <a:sym typeface="Roboto"/>
              </a:rPr>
              <a:t> </a:t>
            </a:r>
            <a:endParaRPr sz="1667" u="sng">
              <a:solidFill>
                <a:srgbClr val="0070C0"/>
              </a:solidFill>
              <a:latin typeface="Roboto"/>
              <a:ea typeface="Roboto"/>
              <a:cs typeface="Roboto"/>
              <a:sym typeface="Roboto"/>
            </a:endParaRPr>
          </a:p>
          <a:p>
            <a:pPr indent="0" lvl="0" marL="0" marR="0" rtl="0" algn="l">
              <a:spcBef>
                <a:spcPts val="0"/>
              </a:spcBef>
              <a:spcAft>
                <a:spcPts val="0"/>
              </a:spcAft>
              <a:buNone/>
            </a:pPr>
            <a:r>
              <a:rPr lang="en-US" sz="1400">
                <a:solidFill>
                  <a:schemeClr val="dk1"/>
                </a:solidFill>
                <a:latin typeface="Roboto"/>
                <a:ea typeface="Roboto"/>
                <a:cs typeface="Roboto"/>
                <a:sym typeface="Roboto"/>
              </a:rPr>
              <a:t>As our focus is to make sure that they are the same functionality after the ASIC conversion currently or even in the optimization phase. So, there is no meaning to create a Testbench for the whole vortex or even optimize the rest of the units and there is a logical error in the main engine of the vortex.</a:t>
            </a:r>
            <a:endParaRPr/>
          </a:p>
        </p:txBody>
      </p:sp>
      <p:sp>
        <p:nvSpPr>
          <p:cNvPr id="1703" name="Google Shape;1703;p153"/>
          <p:cNvSpPr/>
          <p:nvPr/>
        </p:nvSpPr>
        <p:spPr>
          <a:xfrm>
            <a:off x="4939471" y="1365117"/>
            <a:ext cx="2313058" cy="580959"/>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dk1"/>
                </a:solidFill>
                <a:latin typeface="Roboto"/>
                <a:ea typeface="Roboto"/>
                <a:cs typeface="Roboto"/>
                <a:sym typeface="Roboto"/>
              </a:rPr>
              <a:t>PROS</a:t>
            </a:r>
            <a:endParaRPr i="1" sz="2933">
              <a:solidFill>
                <a:schemeClr val="dk1"/>
              </a:solidFill>
              <a:latin typeface="Meddon"/>
              <a:ea typeface="Meddon"/>
              <a:cs typeface="Meddon"/>
              <a:sym typeface="Meddon"/>
            </a:endParaRPr>
          </a:p>
        </p:txBody>
      </p:sp>
      <p:sp>
        <p:nvSpPr>
          <p:cNvPr id="1704" name="Google Shape;1704;p153"/>
          <p:cNvSpPr/>
          <p:nvPr/>
        </p:nvSpPr>
        <p:spPr>
          <a:xfrm>
            <a:off x="8361278" y="4090693"/>
            <a:ext cx="2313058" cy="583540"/>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dk1"/>
                </a:solidFill>
                <a:latin typeface="Roboto"/>
                <a:ea typeface="Roboto"/>
                <a:cs typeface="Roboto"/>
                <a:sym typeface="Roboto"/>
              </a:rPr>
              <a:t>Solution</a:t>
            </a:r>
            <a:endParaRPr i="1" sz="2933">
              <a:solidFill>
                <a:schemeClr val="dk1"/>
              </a:solidFill>
              <a:latin typeface="Meddon"/>
              <a:ea typeface="Meddon"/>
              <a:cs typeface="Meddon"/>
              <a:sym typeface="Meddon"/>
            </a:endParaRPr>
          </a:p>
        </p:txBody>
      </p:sp>
      <p:sp>
        <p:nvSpPr>
          <p:cNvPr id="1705" name="Google Shape;1705;p153"/>
          <p:cNvSpPr/>
          <p:nvPr/>
        </p:nvSpPr>
        <p:spPr>
          <a:xfrm>
            <a:off x="2102874" y="4119774"/>
            <a:ext cx="2313058" cy="525378"/>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dk1"/>
                </a:solidFill>
                <a:latin typeface="Roboto"/>
                <a:ea typeface="Roboto"/>
                <a:cs typeface="Roboto"/>
                <a:sym typeface="Roboto"/>
              </a:rPr>
              <a:t>Problem</a:t>
            </a:r>
            <a:endParaRPr i="1" sz="2933">
              <a:solidFill>
                <a:schemeClr val="dk1"/>
              </a:solidFill>
              <a:latin typeface="Meddon"/>
              <a:ea typeface="Meddon"/>
              <a:cs typeface="Meddon"/>
              <a:sym typeface="Meddo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9" name="Shape 1709"/>
        <p:cNvGrpSpPr/>
        <p:nvPr/>
      </p:nvGrpSpPr>
      <p:grpSpPr>
        <a:xfrm>
          <a:off x="0" y="0"/>
          <a:ext cx="0" cy="0"/>
          <a:chOff x="0" y="0"/>
          <a:chExt cx="0" cy="0"/>
        </a:xfrm>
      </p:grpSpPr>
      <p:sp>
        <p:nvSpPr>
          <p:cNvPr id="1710" name="Google Shape;1710;p154"/>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Verification Architecture &amp; Test Plan</a:t>
            </a:r>
            <a:endParaRPr/>
          </a:p>
        </p:txBody>
      </p:sp>
      <p:pic>
        <p:nvPicPr>
          <p:cNvPr id="1711" name="Google Shape;1711;p154"/>
          <p:cNvPicPr preferRelativeResize="0"/>
          <p:nvPr/>
        </p:nvPicPr>
        <p:blipFill rotWithShape="1">
          <a:blip r:embed="rId3">
            <a:alphaModFix/>
          </a:blip>
          <a:srcRect b="9625" l="8149" r="8663" t="22887"/>
          <a:stretch/>
        </p:blipFill>
        <p:spPr>
          <a:xfrm>
            <a:off x="207778" y="3148598"/>
            <a:ext cx="6171705" cy="2615877"/>
          </a:xfrm>
          <a:prstGeom prst="rect">
            <a:avLst/>
          </a:prstGeom>
          <a:noFill/>
          <a:ln>
            <a:noFill/>
          </a:ln>
        </p:spPr>
      </p:pic>
      <p:sp>
        <p:nvSpPr>
          <p:cNvPr id="1712" name="Google Shape;1712;p154"/>
          <p:cNvSpPr/>
          <p:nvPr/>
        </p:nvSpPr>
        <p:spPr>
          <a:xfrm>
            <a:off x="6787083" y="3148598"/>
            <a:ext cx="5197139" cy="1666471"/>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rgbClr val="0070C0"/>
              </a:buClr>
              <a:buSzPts val="1400"/>
              <a:buFont typeface="Arial"/>
              <a:buChar char="•"/>
            </a:pPr>
            <a:r>
              <a:rPr lang="en-US" sz="1400">
                <a:solidFill>
                  <a:srgbClr val="0070C0"/>
                </a:solidFill>
                <a:latin typeface="Roboto"/>
                <a:ea typeface="Roboto"/>
                <a:cs typeface="Roboto"/>
                <a:sym typeface="Roboto"/>
              </a:rPr>
              <a:t>Function-Level: Created dedicated test benches for every instruction supported by each block.</a:t>
            </a:r>
            <a:endParaRPr/>
          </a:p>
          <a:p>
            <a:pPr indent="-196850" lvl="0" marL="285750" marR="0" rtl="0" algn="l">
              <a:spcBef>
                <a:spcPts val="0"/>
              </a:spcBef>
              <a:spcAft>
                <a:spcPts val="0"/>
              </a:spcAft>
              <a:buClr>
                <a:schemeClr val="dk1"/>
              </a:buClr>
              <a:buSzPts val="1400"/>
              <a:buFont typeface="Arial"/>
              <a:buNone/>
            </a:pPr>
            <a:r>
              <a:t/>
            </a:r>
            <a:endParaRPr sz="1400">
              <a:solidFill>
                <a:srgbClr val="0070C0"/>
              </a:solidFill>
              <a:latin typeface="Roboto"/>
              <a:ea typeface="Roboto"/>
              <a:cs typeface="Roboto"/>
              <a:sym typeface="Roboto"/>
            </a:endParaRPr>
          </a:p>
          <a:p>
            <a:pPr indent="-285750" lvl="0" marL="285750" marR="0" rtl="0" algn="l">
              <a:spcBef>
                <a:spcPts val="0"/>
              </a:spcBef>
              <a:spcAft>
                <a:spcPts val="0"/>
              </a:spcAft>
              <a:buClr>
                <a:srgbClr val="0070C0"/>
              </a:buClr>
              <a:buSzPts val="1400"/>
              <a:buFont typeface="Arial"/>
              <a:buChar char="•"/>
            </a:pPr>
            <a:r>
              <a:rPr lang="en-US" sz="1400">
                <a:solidFill>
                  <a:srgbClr val="0070C0"/>
                </a:solidFill>
                <a:latin typeface="Roboto"/>
                <a:ea typeface="Roboto"/>
                <a:cs typeface="Roboto"/>
                <a:sym typeface="Roboto"/>
              </a:rPr>
              <a:t>Constraint Randomization: Injected randomized input vectors to uncover bugs that human-written tests might miss.</a:t>
            </a:r>
            <a:endParaRPr/>
          </a:p>
        </p:txBody>
      </p:sp>
      <p:sp>
        <p:nvSpPr>
          <p:cNvPr id="1713" name="Google Shape;1713;p154"/>
          <p:cNvSpPr/>
          <p:nvPr/>
        </p:nvSpPr>
        <p:spPr>
          <a:xfrm>
            <a:off x="695060" y="2005197"/>
            <a:ext cx="5197139" cy="580959"/>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dk1"/>
                </a:solidFill>
                <a:latin typeface="Roboto"/>
                <a:ea typeface="Roboto"/>
                <a:cs typeface="Roboto"/>
                <a:sym typeface="Roboto"/>
              </a:rPr>
              <a:t>Verification Environment </a:t>
            </a:r>
            <a:endParaRPr/>
          </a:p>
        </p:txBody>
      </p:sp>
      <p:sp>
        <p:nvSpPr>
          <p:cNvPr id="1714" name="Google Shape;1714;p154"/>
          <p:cNvSpPr/>
          <p:nvPr/>
        </p:nvSpPr>
        <p:spPr>
          <a:xfrm>
            <a:off x="6787082" y="2005197"/>
            <a:ext cx="5197139" cy="580959"/>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dk1"/>
                </a:solidFill>
                <a:latin typeface="Roboto"/>
                <a:ea typeface="Roboto"/>
                <a:cs typeface="Roboto"/>
                <a:sym typeface="Roboto"/>
              </a:rPr>
              <a:t>General Verification Plan</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8" name="Shape 1718"/>
        <p:cNvGrpSpPr/>
        <p:nvPr/>
      </p:nvGrpSpPr>
      <p:grpSpPr>
        <a:xfrm>
          <a:off x="0" y="0"/>
          <a:ext cx="0" cy="0"/>
          <a:chOff x="0" y="0"/>
          <a:chExt cx="0" cy="0"/>
        </a:xfrm>
      </p:grpSpPr>
      <p:sp>
        <p:nvSpPr>
          <p:cNvPr id="1719" name="Google Shape;1719;p155"/>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SFU</a:t>
            </a:r>
            <a:endParaRPr/>
          </a:p>
        </p:txBody>
      </p:sp>
      <p:pic>
        <p:nvPicPr>
          <p:cNvPr id="1720" name="Google Shape;1720;p155"/>
          <p:cNvPicPr preferRelativeResize="0"/>
          <p:nvPr/>
        </p:nvPicPr>
        <p:blipFill>
          <a:blip r:embed="rId3">
            <a:alphaModFix/>
          </a:blip>
          <a:stretch>
            <a:fillRect/>
          </a:stretch>
        </p:blipFill>
        <p:spPr>
          <a:xfrm>
            <a:off x="102275" y="1317318"/>
            <a:ext cx="11801376" cy="5244236"/>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4" name="Shape 1724"/>
        <p:cNvGrpSpPr/>
        <p:nvPr/>
      </p:nvGrpSpPr>
      <p:grpSpPr>
        <a:xfrm>
          <a:off x="0" y="0"/>
          <a:ext cx="0" cy="0"/>
          <a:chOff x="0" y="0"/>
          <a:chExt cx="0" cy="0"/>
        </a:xfrm>
      </p:grpSpPr>
      <p:sp>
        <p:nvSpPr>
          <p:cNvPr id="1725" name="Google Shape;1725;p156"/>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COVERAGE REPORT</a:t>
            </a:r>
            <a:endParaRPr/>
          </a:p>
        </p:txBody>
      </p:sp>
      <p:pic>
        <p:nvPicPr>
          <p:cNvPr id="1726" name="Google Shape;1726;p156"/>
          <p:cNvPicPr preferRelativeResize="0"/>
          <p:nvPr/>
        </p:nvPicPr>
        <p:blipFill>
          <a:blip r:embed="rId3">
            <a:alphaModFix/>
          </a:blip>
          <a:stretch>
            <a:fillRect/>
          </a:stretch>
        </p:blipFill>
        <p:spPr>
          <a:xfrm>
            <a:off x="1096625" y="4469105"/>
            <a:ext cx="9759224" cy="2320050"/>
          </a:xfrm>
          <a:prstGeom prst="rect">
            <a:avLst/>
          </a:prstGeom>
          <a:noFill/>
          <a:ln>
            <a:noFill/>
          </a:ln>
        </p:spPr>
      </p:pic>
      <p:pic>
        <p:nvPicPr>
          <p:cNvPr id="1727" name="Google Shape;1727;p156"/>
          <p:cNvPicPr preferRelativeResize="0"/>
          <p:nvPr/>
        </p:nvPicPr>
        <p:blipFill>
          <a:blip r:embed="rId4">
            <a:alphaModFix/>
          </a:blip>
          <a:stretch>
            <a:fillRect/>
          </a:stretch>
        </p:blipFill>
        <p:spPr>
          <a:xfrm>
            <a:off x="1096625" y="1494800"/>
            <a:ext cx="9759226" cy="2855324"/>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2" name="Shape 1732"/>
        <p:cNvGrpSpPr/>
        <p:nvPr/>
      </p:nvGrpSpPr>
      <p:grpSpPr>
        <a:xfrm>
          <a:off x="0" y="0"/>
          <a:ext cx="0" cy="0"/>
          <a:chOff x="0" y="0"/>
          <a:chExt cx="0" cy="0"/>
        </a:xfrm>
      </p:grpSpPr>
      <p:sp>
        <p:nvSpPr>
          <p:cNvPr id="1733" name="Google Shape;1733;g3bfb4d05fca_0_3"/>
          <p:cNvSpPr txBox="1"/>
          <p:nvPr>
            <p:ph type="title"/>
          </p:nvPr>
        </p:nvSpPr>
        <p:spPr>
          <a:xfrm>
            <a:off x="946151" y="578201"/>
            <a:ext cx="10299600" cy="7308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lang="en-US"/>
              <a:t>COVERAGE REPORT</a:t>
            </a:r>
            <a:endParaRPr/>
          </a:p>
          <a:p>
            <a:pPr indent="0" lvl="0" marL="0" rtl="0" algn="ctr">
              <a:spcBef>
                <a:spcPts val="0"/>
              </a:spcBef>
              <a:spcAft>
                <a:spcPts val="0"/>
              </a:spcAft>
              <a:buNone/>
            </a:pPr>
            <a:r>
              <a:t/>
            </a:r>
            <a:endParaRPr/>
          </a:p>
        </p:txBody>
      </p:sp>
      <p:pic>
        <p:nvPicPr>
          <p:cNvPr id="1734" name="Google Shape;1734;g3bfb4d05fca_0_3"/>
          <p:cNvPicPr preferRelativeResize="0"/>
          <p:nvPr/>
        </p:nvPicPr>
        <p:blipFill>
          <a:blip r:embed="rId3">
            <a:alphaModFix/>
          </a:blip>
          <a:stretch>
            <a:fillRect/>
          </a:stretch>
        </p:blipFill>
        <p:spPr>
          <a:xfrm>
            <a:off x="1202749" y="1548000"/>
            <a:ext cx="9387949" cy="2943225"/>
          </a:xfrm>
          <a:prstGeom prst="rect">
            <a:avLst/>
          </a:prstGeom>
          <a:noFill/>
          <a:ln>
            <a:noFill/>
          </a:ln>
        </p:spPr>
      </p:pic>
      <p:pic>
        <p:nvPicPr>
          <p:cNvPr id="1735" name="Google Shape;1735;g3bfb4d05fca_0_3"/>
          <p:cNvPicPr preferRelativeResize="0"/>
          <p:nvPr/>
        </p:nvPicPr>
        <p:blipFill>
          <a:blip r:embed="rId4">
            <a:alphaModFix/>
          </a:blip>
          <a:stretch>
            <a:fillRect/>
          </a:stretch>
        </p:blipFill>
        <p:spPr>
          <a:xfrm>
            <a:off x="1202750" y="4543350"/>
            <a:ext cx="9387951" cy="2254075"/>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9" name="Shape 1739"/>
        <p:cNvGrpSpPr/>
        <p:nvPr/>
      </p:nvGrpSpPr>
      <p:grpSpPr>
        <a:xfrm>
          <a:off x="0" y="0"/>
          <a:ext cx="0" cy="0"/>
          <a:chOff x="0" y="0"/>
          <a:chExt cx="0" cy="0"/>
        </a:xfrm>
      </p:grpSpPr>
      <p:sp>
        <p:nvSpPr>
          <p:cNvPr id="1740" name="Google Shape;1740;p157"/>
          <p:cNvSpPr txBox="1"/>
          <p:nvPr/>
        </p:nvSpPr>
        <p:spPr>
          <a:xfrm>
            <a:off x="1219200" y="2379663"/>
            <a:ext cx="9753600" cy="1049337"/>
          </a:xfrm>
          <a:prstGeom prst="rect">
            <a:avLst/>
          </a:prstGeom>
          <a:noFill/>
          <a:ln>
            <a:noFill/>
          </a:ln>
        </p:spPr>
        <p:txBody>
          <a:bodyPr anchorCtr="0" anchor="ctr" bIns="45700" lIns="91425" spcFirstLastPara="1" rIns="91425" wrap="square" tIns="45700">
            <a:noAutofit/>
          </a:bodyPr>
          <a:lstStyle/>
          <a:p>
            <a:pPr indent="0" lvl="0" marL="0" marR="0" rtl="0" algn="ctr">
              <a:lnSpc>
                <a:spcPct val="149000"/>
              </a:lnSpc>
              <a:spcBef>
                <a:spcPts val="0"/>
              </a:spcBef>
              <a:spcAft>
                <a:spcPts val="0"/>
              </a:spcAft>
              <a:buNone/>
            </a:pPr>
            <a:r>
              <a:rPr b="1" i="0" lang="en-US" sz="3600">
                <a:solidFill>
                  <a:schemeClr val="dk1"/>
                </a:solidFill>
                <a:latin typeface="Calibri"/>
                <a:ea typeface="Calibri"/>
                <a:cs typeface="Calibri"/>
                <a:sym typeface="Calibri"/>
              </a:rPr>
              <a:t>Verification Roadmap</a:t>
            </a:r>
            <a:endParaRPr b="1" i="1" sz="3600">
              <a:solidFill>
                <a:srgbClr val="000000"/>
              </a:solidFill>
              <a:latin typeface="Arial"/>
              <a:ea typeface="Arial"/>
              <a:cs typeface="Arial"/>
              <a:sym typeface="Arial"/>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4" name="Shape 1744"/>
        <p:cNvGrpSpPr/>
        <p:nvPr/>
      </p:nvGrpSpPr>
      <p:grpSpPr>
        <a:xfrm>
          <a:off x="0" y="0"/>
          <a:ext cx="0" cy="0"/>
          <a:chOff x="0" y="0"/>
          <a:chExt cx="0" cy="0"/>
        </a:xfrm>
      </p:grpSpPr>
      <p:sp>
        <p:nvSpPr>
          <p:cNvPr id="1745" name="Google Shape;1745;p158"/>
          <p:cNvSpPr txBox="1"/>
          <p:nvPr>
            <p:ph type="title"/>
          </p:nvPr>
        </p:nvSpPr>
        <p:spPr>
          <a:xfrm>
            <a:off x="946150" y="559454"/>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Next Semester Roadmap (To-Do)</a:t>
            </a:r>
            <a:endParaRPr/>
          </a:p>
        </p:txBody>
      </p:sp>
      <p:sp>
        <p:nvSpPr>
          <p:cNvPr id="1746" name="Google Shape;1746;p158"/>
          <p:cNvSpPr/>
          <p:nvPr/>
        </p:nvSpPr>
        <p:spPr>
          <a:xfrm>
            <a:off x="1488279" y="2183831"/>
            <a:ext cx="4032732" cy="1008002"/>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u="sng">
                <a:solidFill>
                  <a:srgbClr val="0070C0"/>
                </a:solidFill>
                <a:latin typeface="Roboto"/>
                <a:ea typeface="Roboto"/>
                <a:cs typeface="Roboto"/>
                <a:sym typeface="Roboto"/>
              </a:rPr>
              <a:t>GOAL:</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Roboto"/>
                <a:ea typeface="Roboto"/>
                <a:cs typeface="Roboto"/>
                <a:sym typeface="Roboto"/>
              </a:rPr>
              <a:t>Ensure the Synthesized Netlist is logically equivalent to the RTL and that new "Black Box" memory macros function correctly</a:t>
            </a:r>
            <a:endParaRPr/>
          </a:p>
        </p:txBody>
      </p:sp>
      <p:sp>
        <p:nvSpPr>
          <p:cNvPr id="1747" name="Google Shape;1747;p158"/>
          <p:cNvSpPr/>
          <p:nvPr/>
        </p:nvSpPr>
        <p:spPr>
          <a:xfrm>
            <a:off x="1497423" y="1411104"/>
            <a:ext cx="9197153" cy="580959"/>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3200">
                <a:solidFill>
                  <a:srgbClr val="29385E"/>
                </a:solidFill>
                <a:latin typeface="Calibri"/>
                <a:ea typeface="Calibri"/>
                <a:cs typeface="Calibri"/>
                <a:sym typeface="Calibri"/>
              </a:rPr>
              <a:t>Phase II: Post-Synthesis Verification</a:t>
            </a:r>
            <a:endParaRPr/>
          </a:p>
        </p:txBody>
      </p:sp>
      <p:sp>
        <p:nvSpPr>
          <p:cNvPr id="1748" name="Google Shape;1748;p158"/>
          <p:cNvSpPr/>
          <p:nvPr/>
        </p:nvSpPr>
        <p:spPr>
          <a:xfrm>
            <a:off x="1497423" y="3893680"/>
            <a:ext cx="9197153" cy="580959"/>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3200">
                <a:solidFill>
                  <a:srgbClr val="29385E"/>
                </a:solidFill>
                <a:latin typeface="Calibri"/>
                <a:ea typeface="Calibri"/>
                <a:cs typeface="Calibri"/>
                <a:sym typeface="Calibri"/>
              </a:rPr>
              <a:t>Phase III: Physical Verification </a:t>
            </a:r>
            <a:endParaRPr/>
          </a:p>
        </p:txBody>
      </p:sp>
      <p:sp>
        <p:nvSpPr>
          <p:cNvPr id="1749" name="Google Shape;1749;p158"/>
          <p:cNvSpPr/>
          <p:nvPr/>
        </p:nvSpPr>
        <p:spPr>
          <a:xfrm>
            <a:off x="6020654" y="2183831"/>
            <a:ext cx="5225196" cy="1518082"/>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u="sng">
                <a:solidFill>
                  <a:srgbClr val="0070C0"/>
                </a:solidFill>
                <a:latin typeface="Roboto"/>
                <a:ea typeface="Roboto"/>
                <a:cs typeface="Roboto"/>
                <a:sym typeface="Roboto"/>
              </a:rPr>
              <a:t>Action:</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Roboto"/>
                <a:ea typeface="Roboto"/>
                <a:cs typeface="Roboto"/>
                <a:sym typeface="Roboto"/>
              </a:rPr>
              <a:t> LEC to verify that  RTL == Netlist to catch synthesis bugs.</a:t>
            </a:r>
            <a:endParaRPr/>
          </a:p>
          <a:p>
            <a:pPr indent="-196850" lvl="0" marL="285750" marR="0" rtl="0" algn="l">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Roboto"/>
                <a:ea typeface="Roboto"/>
                <a:cs typeface="Roboto"/>
                <a:sym typeface="Roboto"/>
              </a:rPr>
              <a:t>Macro Integration</a:t>
            </a:r>
            <a:r>
              <a:rPr lang="en-US" sz="1400">
                <a:solidFill>
                  <a:schemeClr val="dk1"/>
                </a:solidFill>
                <a:latin typeface="Roboto"/>
                <a:ea typeface="Roboto"/>
                <a:cs typeface="Roboto"/>
                <a:sym typeface="Roboto"/>
              </a:rPr>
              <a:t>: Update the testbench hierarchy to replace behavioral models with hard macros and run sanity checks.</a:t>
            </a:r>
            <a:endParaRPr/>
          </a:p>
        </p:txBody>
      </p:sp>
      <p:sp>
        <p:nvSpPr>
          <p:cNvPr id="1750" name="Google Shape;1750;p158"/>
          <p:cNvSpPr/>
          <p:nvPr/>
        </p:nvSpPr>
        <p:spPr>
          <a:xfrm>
            <a:off x="1488279" y="4858174"/>
            <a:ext cx="4032732" cy="1008002"/>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u="sng">
                <a:solidFill>
                  <a:srgbClr val="0070C0"/>
                </a:solidFill>
                <a:latin typeface="Roboto"/>
                <a:ea typeface="Roboto"/>
                <a:cs typeface="Roboto"/>
                <a:sym typeface="Roboto"/>
              </a:rPr>
              <a:t>GOAL:</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Roboto"/>
                <a:ea typeface="Roboto"/>
                <a:cs typeface="Roboto"/>
                <a:sym typeface="Roboto"/>
              </a:rPr>
              <a:t> Validate the design under "real-world" conditions, detecting X-propagation issues and confirming timing constraints..</a:t>
            </a:r>
            <a:endParaRPr/>
          </a:p>
        </p:txBody>
      </p:sp>
      <p:sp>
        <p:nvSpPr>
          <p:cNvPr id="1751" name="Google Shape;1751;p158"/>
          <p:cNvSpPr/>
          <p:nvPr/>
        </p:nvSpPr>
        <p:spPr>
          <a:xfrm>
            <a:off x="6020654" y="4687855"/>
            <a:ext cx="4683067" cy="1518082"/>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u="sng">
                <a:solidFill>
                  <a:srgbClr val="0070C0"/>
                </a:solidFill>
                <a:latin typeface="Roboto"/>
                <a:ea typeface="Roboto"/>
                <a:cs typeface="Roboto"/>
                <a:sym typeface="Roboto"/>
              </a:rPr>
              <a:t>Action:</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Roboto"/>
                <a:ea typeface="Roboto"/>
                <a:cs typeface="Roboto"/>
                <a:sym typeface="Roboto"/>
              </a:rPr>
              <a:t>Debug uninitialized states ("X" values) that cause system hangs.</a:t>
            </a:r>
            <a:endParaRPr/>
          </a:p>
          <a:p>
            <a:pPr indent="-196850" lvl="0" marL="285750" marR="0" rtl="0" algn="l">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Roboto"/>
                <a:ea typeface="Roboto"/>
                <a:cs typeface="Roboto"/>
                <a:sym typeface="Roboto"/>
              </a:rPr>
              <a:t>Load timing delays to verify the chip works at the target frequency</a:t>
            </a:r>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5" name="Shape 1755"/>
        <p:cNvGrpSpPr/>
        <p:nvPr/>
      </p:nvGrpSpPr>
      <p:grpSpPr>
        <a:xfrm>
          <a:off x="0" y="0"/>
          <a:ext cx="0" cy="0"/>
          <a:chOff x="0" y="0"/>
          <a:chExt cx="0" cy="0"/>
        </a:xfrm>
      </p:grpSpPr>
      <p:sp>
        <p:nvSpPr>
          <p:cNvPr id="1756" name="Google Shape;1756;p159"/>
          <p:cNvSpPr txBox="1"/>
          <p:nvPr>
            <p:ph type="title"/>
          </p:nvPr>
        </p:nvSpPr>
        <p:spPr>
          <a:xfrm>
            <a:off x="946150" y="559454"/>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latin typeface="Calibri"/>
                <a:ea typeface="Calibri"/>
                <a:cs typeface="Calibri"/>
                <a:sym typeface="Calibri"/>
              </a:rPr>
              <a:t>Next Semester Roadmap (To-Do)</a:t>
            </a:r>
            <a:endParaRPr/>
          </a:p>
        </p:txBody>
      </p:sp>
      <p:sp>
        <p:nvSpPr>
          <p:cNvPr id="1757" name="Google Shape;1757;p159"/>
          <p:cNvSpPr/>
          <p:nvPr/>
        </p:nvSpPr>
        <p:spPr>
          <a:xfrm>
            <a:off x="1533999" y="2951926"/>
            <a:ext cx="4032732" cy="1117153"/>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u="sng">
                <a:solidFill>
                  <a:srgbClr val="0070C0"/>
                </a:solidFill>
                <a:latin typeface="Roboto"/>
                <a:ea typeface="Roboto"/>
                <a:cs typeface="Roboto"/>
                <a:sym typeface="Roboto"/>
              </a:rPr>
              <a:t>GOAL:</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Roboto"/>
                <a:ea typeface="Roboto"/>
                <a:cs typeface="Roboto"/>
                <a:sym typeface="Roboto"/>
              </a:rPr>
              <a:t>Support the Microarchitectural Optimization phase by ensuring stability and quantifying performance gains..</a:t>
            </a:r>
            <a:endParaRPr/>
          </a:p>
        </p:txBody>
      </p:sp>
      <p:sp>
        <p:nvSpPr>
          <p:cNvPr id="1758" name="Google Shape;1758;p159"/>
          <p:cNvSpPr/>
          <p:nvPr/>
        </p:nvSpPr>
        <p:spPr>
          <a:xfrm>
            <a:off x="1598007" y="1895736"/>
            <a:ext cx="9197153" cy="580959"/>
          </a:xfrm>
          <a:prstGeom prst="roundRect">
            <a:avLst>
              <a:gd fmla="val 34270" name="adj"/>
            </a:avLst>
          </a:prstGeom>
          <a:solidFill>
            <a:srgbClr val="F2F2F2"/>
          </a:solidFill>
          <a:ln>
            <a:noFill/>
          </a:ln>
          <a:effectLst>
            <a:outerShdw blurRad="149987" algn="ctr" dir="8460000" dist="250190">
              <a:srgbClr val="000000">
                <a:alpha val="2784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3200">
                <a:solidFill>
                  <a:srgbClr val="29385E"/>
                </a:solidFill>
                <a:latin typeface="Calibri"/>
                <a:ea typeface="Calibri"/>
                <a:cs typeface="Calibri"/>
                <a:sym typeface="Calibri"/>
              </a:rPr>
              <a:t>Phase IV: Optimization &amp; Signoff</a:t>
            </a:r>
            <a:endParaRPr/>
          </a:p>
        </p:txBody>
      </p:sp>
      <p:sp>
        <p:nvSpPr>
          <p:cNvPr id="1759" name="Google Shape;1759;p159"/>
          <p:cNvSpPr/>
          <p:nvPr/>
        </p:nvSpPr>
        <p:spPr>
          <a:xfrm>
            <a:off x="6121238" y="2725598"/>
            <a:ext cx="4673921" cy="1901265"/>
          </a:xfrm>
          <a:prstGeom prst="roundRect">
            <a:avLst>
              <a:gd fmla="val 16667" name="adj"/>
            </a:avLst>
          </a:prstGeom>
          <a:solidFill>
            <a:schemeClr val="lt1"/>
          </a:solidFill>
          <a:ln cap="flat" cmpd="sng" w="571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u="sng">
                <a:solidFill>
                  <a:srgbClr val="0070C0"/>
                </a:solidFill>
                <a:latin typeface="Roboto"/>
                <a:ea typeface="Roboto"/>
                <a:cs typeface="Roboto"/>
                <a:sym typeface="Roboto"/>
              </a:rPr>
              <a:t>Action:</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Roboto"/>
                <a:ea typeface="Roboto"/>
                <a:cs typeface="Roboto"/>
                <a:sym typeface="Roboto"/>
              </a:rPr>
              <a:t>Regression Testing</a:t>
            </a:r>
            <a:r>
              <a:rPr lang="en-US" sz="1400">
                <a:solidFill>
                  <a:schemeClr val="dk1"/>
                </a:solidFill>
                <a:latin typeface="Roboto"/>
                <a:ea typeface="Roboto"/>
                <a:cs typeface="Roboto"/>
                <a:sym typeface="Roboto"/>
              </a:rPr>
              <a:t>: Run full test suites on optimized version to prevent functional regressions.</a:t>
            </a:r>
            <a:endParaRPr/>
          </a:p>
          <a:p>
            <a:pPr indent="-196850" lvl="0" marL="285750" marR="0" rtl="0" algn="l">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Roboto"/>
                <a:ea typeface="Roboto"/>
                <a:cs typeface="Roboto"/>
                <a:sym typeface="Roboto"/>
              </a:rPr>
              <a:t>Performance Benchmarking: </a:t>
            </a:r>
            <a:r>
              <a:rPr lang="en-US" sz="1400">
                <a:solidFill>
                  <a:schemeClr val="dk1"/>
                </a:solidFill>
                <a:latin typeface="Roboto"/>
                <a:ea typeface="Roboto"/>
                <a:cs typeface="Roboto"/>
                <a:sym typeface="Roboto"/>
              </a:rPr>
              <a:t>Measure Cycle Counts of the optimized design to prove actual speedup against the baseline.</a:t>
            </a:r>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3" name="Shape 1763"/>
        <p:cNvGrpSpPr/>
        <p:nvPr/>
      </p:nvGrpSpPr>
      <p:grpSpPr>
        <a:xfrm>
          <a:off x="0" y="0"/>
          <a:ext cx="0" cy="0"/>
          <a:chOff x="0" y="0"/>
          <a:chExt cx="0" cy="0"/>
        </a:xfrm>
      </p:grpSpPr>
      <p:sp>
        <p:nvSpPr>
          <p:cNvPr id="1764" name="Google Shape;1764;p160"/>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t>References</a:t>
            </a:r>
            <a:r>
              <a:rPr lang="en-US"/>
              <a:t> </a:t>
            </a:r>
            <a:endParaRPr/>
          </a:p>
        </p:txBody>
      </p:sp>
      <p:sp>
        <p:nvSpPr>
          <p:cNvPr id="1765" name="Google Shape;1765;p160"/>
          <p:cNvSpPr txBox="1"/>
          <p:nvPr>
            <p:ph idx="1" type="body"/>
          </p:nvPr>
        </p:nvSpPr>
        <p:spPr>
          <a:xfrm>
            <a:off x="914400" y="1308963"/>
            <a:ext cx="10363200" cy="498494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400"/>
              <a:buNone/>
            </a:pPr>
            <a:r>
              <a:t/>
            </a:r>
            <a:endParaRPr b="0" sz="2400"/>
          </a:p>
          <a:p>
            <a:pPr indent="-342900" lvl="0" marL="342900" rtl="0" algn="l">
              <a:spcBef>
                <a:spcPts val="480"/>
              </a:spcBef>
              <a:spcAft>
                <a:spcPts val="0"/>
              </a:spcAft>
              <a:buSzPts val="2400"/>
              <a:buChar char="•"/>
            </a:pPr>
            <a:r>
              <a:rPr b="0" lang="en-US" sz="2400">
                <a:solidFill>
                  <a:schemeClr val="dk1"/>
                </a:solidFill>
              </a:rPr>
              <a:t>[</a:t>
            </a:r>
            <a:r>
              <a:rPr b="0" lang="en-US">
                <a:solidFill>
                  <a:schemeClr val="dk1"/>
                </a:solidFill>
              </a:rPr>
              <a:t>1] Tor M Aamodt, Wilson Wai Lun Fung, and Timothy G Rogers. General-Purpose Graphics Processor Architecture. Synthesis Lectures on Computer Architecture. Mor-gan &amp; Claypool Publishers, 2018.</a:t>
            </a:r>
            <a:endParaRPr/>
          </a:p>
          <a:p>
            <a:pPr indent="0" lvl="0" marL="0" rtl="0" algn="l">
              <a:spcBef>
                <a:spcPts val="400"/>
              </a:spcBef>
              <a:spcAft>
                <a:spcPts val="0"/>
              </a:spcAft>
              <a:buSzPts val="2000"/>
              <a:buNone/>
            </a:pPr>
            <a:r>
              <a:t/>
            </a:r>
            <a:endParaRPr b="0">
              <a:solidFill>
                <a:schemeClr val="dk1"/>
              </a:solidFill>
            </a:endParaRPr>
          </a:p>
          <a:p>
            <a:pPr indent="-342900" lvl="0" marL="342900" rtl="0" algn="l">
              <a:spcBef>
                <a:spcPts val="400"/>
              </a:spcBef>
              <a:spcAft>
                <a:spcPts val="0"/>
              </a:spcAft>
              <a:buSzPts val="2000"/>
              <a:buChar char="•"/>
            </a:pPr>
            <a:r>
              <a:rPr b="0" lang="en-US">
                <a:solidFill>
                  <a:schemeClr val="dk1"/>
                </a:solidFill>
              </a:rPr>
              <a:t>[2]  John L. Hennessy and David A. Patterson. Computer Architecture: A QuantitativeApproach. Morgan Kaufmann, San Francisco, CA, 5 edition, 2011.</a:t>
            </a:r>
            <a:endParaRPr/>
          </a:p>
          <a:p>
            <a:pPr indent="0" lvl="0" marL="0" rtl="0" algn="l">
              <a:spcBef>
                <a:spcPts val="400"/>
              </a:spcBef>
              <a:spcAft>
                <a:spcPts val="0"/>
              </a:spcAft>
              <a:buSzPts val="2000"/>
              <a:buNone/>
            </a:pPr>
            <a:r>
              <a:t/>
            </a:r>
            <a:endParaRPr b="0">
              <a:solidFill>
                <a:schemeClr val="dk1"/>
              </a:solidFill>
            </a:endParaRPr>
          </a:p>
          <a:p>
            <a:pPr indent="-342900" lvl="0" marL="342900" rtl="0" algn="l">
              <a:spcBef>
                <a:spcPts val="400"/>
              </a:spcBef>
              <a:spcAft>
                <a:spcPts val="0"/>
              </a:spcAft>
              <a:buSzPts val="2000"/>
              <a:buChar char="•"/>
            </a:pPr>
            <a:r>
              <a:rPr b="0" lang="en-US">
                <a:solidFill>
                  <a:schemeClr val="dk1"/>
                </a:solidFill>
              </a:rPr>
              <a:t>[3] Georgia Tech University. A general-purpose gpu accelerator. https://github.com/vortexgpgpu/vortex, 2023..</a:t>
            </a:r>
            <a:endParaRPr/>
          </a:p>
          <a:p>
            <a:pPr indent="0" lvl="0" marL="0" rtl="0" algn="l">
              <a:spcBef>
                <a:spcPts val="400"/>
              </a:spcBef>
              <a:spcAft>
                <a:spcPts val="0"/>
              </a:spcAft>
              <a:buSzPts val="2000"/>
              <a:buNone/>
            </a:pPr>
            <a:r>
              <a:t/>
            </a:r>
            <a:endParaRPr b="0">
              <a:solidFill>
                <a:schemeClr val="dk1"/>
              </a:solidFill>
            </a:endParaRPr>
          </a:p>
          <a:p>
            <a:pPr indent="-342900" lvl="0" marL="342900" rtl="0" algn="l">
              <a:spcBef>
                <a:spcPts val="400"/>
              </a:spcBef>
              <a:spcAft>
                <a:spcPts val="0"/>
              </a:spcAft>
              <a:buSzPts val="2000"/>
              <a:buChar char="•"/>
            </a:pPr>
            <a:r>
              <a:rPr b="0" lang="en-US">
                <a:solidFill>
                  <a:schemeClr val="dk1"/>
                </a:solidFill>
              </a:rPr>
              <a:t>[4] S. Dublish, V. Nagarajan, and N. Topham, “Characterizing mem-ory bottlenecks in GPGPU workloads,” in Proc. 2016 IEEE Int.Symp. Workload Characterization (IISWC), 2016. [Online].</a:t>
            </a:r>
            <a:endParaRPr b="0">
              <a:solidFill>
                <a:schemeClr val="dk1"/>
              </a:solidFill>
            </a:endParaRPr>
          </a:p>
          <a:p>
            <a:pPr indent="-190500" lvl="0" marL="342900" rtl="0" algn="l">
              <a:spcBef>
                <a:spcPts val="480"/>
              </a:spcBef>
              <a:spcAft>
                <a:spcPts val="0"/>
              </a:spcAft>
              <a:buSzPts val="2400"/>
              <a:buNone/>
            </a:pPr>
            <a:r>
              <a:t/>
            </a:r>
            <a:endParaRPr b="0" sz="2400"/>
          </a:p>
          <a:p>
            <a:pPr indent="-190500" lvl="0" marL="342900" rtl="0" algn="l">
              <a:spcBef>
                <a:spcPts val="480"/>
              </a:spcBef>
              <a:spcAft>
                <a:spcPts val="0"/>
              </a:spcAft>
              <a:buSzPts val="2400"/>
              <a:buNone/>
            </a:pPr>
            <a:r>
              <a:t/>
            </a:r>
            <a:endParaRPr b="0" sz="2400"/>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9" name="Shape 1769"/>
        <p:cNvGrpSpPr/>
        <p:nvPr/>
      </p:nvGrpSpPr>
      <p:grpSpPr>
        <a:xfrm>
          <a:off x="0" y="0"/>
          <a:ext cx="0" cy="0"/>
          <a:chOff x="0" y="0"/>
          <a:chExt cx="0" cy="0"/>
        </a:xfrm>
      </p:grpSpPr>
      <p:sp>
        <p:nvSpPr>
          <p:cNvPr id="1770" name="Google Shape;1770;p161"/>
          <p:cNvSpPr txBox="1"/>
          <p:nvPr>
            <p:ph type="title"/>
          </p:nvPr>
        </p:nvSpPr>
        <p:spPr>
          <a:xfrm>
            <a:off x="946151" y="578201"/>
            <a:ext cx="10299700" cy="73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t>References</a:t>
            </a:r>
            <a:r>
              <a:rPr lang="en-US"/>
              <a:t> </a:t>
            </a:r>
            <a:endParaRPr/>
          </a:p>
        </p:txBody>
      </p:sp>
      <p:sp>
        <p:nvSpPr>
          <p:cNvPr id="1771" name="Google Shape;1771;p161"/>
          <p:cNvSpPr txBox="1"/>
          <p:nvPr>
            <p:ph idx="1" type="body"/>
          </p:nvPr>
        </p:nvSpPr>
        <p:spPr>
          <a:xfrm>
            <a:off x="914400" y="1308963"/>
            <a:ext cx="10363200" cy="498494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400"/>
              <a:buNone/>
            </a:pPr>
            <a:r>
              <a:t/>
            </a:r>
            <a:endParaRPr b="0" sz="2400"/>
          </a:p>
          <a:p>
            <a:pPr indent="-342900" lvl="0" marL="342900" rtl="0" algn="l">
              <a:spcBef>
                <a:spcPts val="480"/>
              </a:spcBef>
              <a:spcAft>
                <a:spcPts val="0"/>
              </a:spcAft>
              <a:buSzPts val="2400"/>
              <a:buChar char="•"/>
            </a:pPr>
            <a:r>
              <a:rPr b="0" lang="en-US" sz="2400">
                <a:solidFill>
                  <a:schemeClr val="dk1"/>
                </a:solidFill>
              </a:rPr>
              <a:t>[5</a:t>
            </a:r>
            <a:r>
              <a:rPr b="0" lang="en-US">
                <a:solidFill>
                  <a:schemeClr val="dk1"/>
                </a:solidFill>
              </a:rPr>
              <a:t>] F. Elsabbagh, B. Asgari, H. Kim, and S. Yalamanchili, "Vortex RISC-V GPGPU System: Extending the ISA, Synthesizing the Microarchitecture, and Modeling the Software Stack," in Proc. 3rd Workshop Comput. Archit. Res. with RISC-V (CARRV), Phoenix, AZ, USA, Jun. 2019. [Online]. Available: </a:t>
            </a:r>
            <a:r>
              <a:rPr b="0" lang="en-US" u="sng">
                <a:solidFill>
                  <a:schemeClr val="dk1"/>
                </a:solidFill>
                <a:hlinkClick r:id="rId3">
                  <a:extLst>
                    <a:ext uri="{A12FA001-AC4F-418D-AE19-62706E023703}">
                      <ahyp:hlinkClr val="tx"/>
                    </a:ext>
                  </a:extLst>
                </a:hlinkClick>
              </a:rPr>
              <a:t>https://carrv.github.io/2019/papers/carrv2019_paper_10.pdf</a:t>
            </a:r>
            <a:endParaRPr b="0">
              <a:solidFill>
                <a:schemeClr val="dk1"/>
              </a:solidFill>
            </a:endParaRPr>
          </a:p>
          <a:p>
            <a:pPr indent="-215900" lvl="0" marL="342900" rtl="0" algn="l">
              <a:spcBef>
                <a:spcPts val="400"/>
              </a:spcBef>
              <a:spcAft>
                <a:spcPts val="0"/>
              </a:spcAft>
              <a:buSzPts val="2000"/>
              <a:buNone/>
            </a:pPr>
            <a:r>
              <a:t/>
            </a:r>
            <a:endParaRPr b="0">
              <a:solidFill>
                <a:schemeClr val="dk1"/>
              </a:solidFill>
            </a:endParaRPr>
          </a:p>
          <a:p>
            <a:pPr indent="-342900" lvl="0" marL="342900" rtl="0" algn="l">
              <a:spcBef>
                <a:spcPts val="400"/>
              </a:spcBef>
              <a:spcAft>
                <a:spcPts val="0"/>
              </a:spcAft>
              <a:buSzPts val="2000"/>
              <a:buChar char="•"/>
            </a:pPr>
            <a:r>
              <a:rPr b="0" lang="en-US">
                <a:solidFill>
                  <a:schemeClr val="dk1"/>
                </a:solidFill>
              </a:rPr>
              <a:t>[6] F. Elsabbagh et al., "Vortex: A Reconfigurable RISC-V GPGPU Accelerator for Architecture Research," Georgia Institute of Technology, [Poster], 2021. [Online].  https://vortex.cc.gatech.edu/publications/hotchips-poster.pdf.</a:t>
            </a:r>
            <a:endParaRPr/>
          </a:p>
          <a:p>
            <a:pPr indent="0" lvl="0" marL="0" rtl="0" algn="l">
              <a:spcBef>
                <a:spcPts val="400"/>
              </a:spcBef>
              <a:spcAft>
                <a:spcPts val="0"/>
              </a:spcAft>
              <a:buSzPts val="2000"/>
              <a:buNone/>
            </a:pPr>
            <a:r>
              <a:t/>
            </a:r>
            <a:endParaRPr b="0">
              <a:solidFill>
                <a:schemeClr val="dk1"/>
              </a:solidFill>
            </a:endParaRPr>
          </a:p>
          <a:p>
            <a:pPr indent="-342900" lvl="0" marL="342900" rtl="0" algn="l">
              <a:spcBef>
                <a:spcPts val="400"/>
              </a:spcBef>
              <a:spcAft>
                <a:spcPts val="0"/>
              </a:spcAft>
              <a:buSzPts val="2000"/>
              <a:buChar char="•"/>
            </a:pPr>
            <a:r>
              <a:rPr b="0" lang="en-US">
                <a:solidFill>
                  <a:schemeClr val="dk1"/>
                </a:solidFill>
              </a:rPr>
              <a:t>[7] F. Elsabbagh et al., "Vortex: Open Source RISC-V GPGPU Accelerator," Feb. 2020. [Online]. Available: https://arxiv.org/pdf/2002.12151.</a:t>
            </a:r>
            <a:endParaRPr/>
          </a:p>
          <a:p>
            <a:pPr indent="0" lvl="0" marL="0" rtl="0" algn="l">
              <a:spcBef>
                <a:spcPts val="480"/>
              </a:spcBef>
              <a:spcAft>
                <a:spcPts val="0"/>
              </a:spcAft>
              <a:buSzPts val="2400"/>
              <a:buNone/>
            </a:pPr>
            <a:r>
              <a:t/>
            </a:r>
            <a:endParaRPr b="0" sz="2400"/>
          </a:p>
          <a:p>
            <a:pPr indent="-190500" lvl="0" marL="342900" rtl="0" algn="l">
              <a:spcBef>
                <a:spcPts val="480"/>
              </a:spcBef>
              <a:spcAft>
                <a:spcPts val="0"/>
              </a:spcAft>
              <a:buSzPts val="2400"/>
              <a:buNone/>
            </a:pPr>
            <a:r>
              <a:t/>
            </a:r>
            <a:endParaRPr b="0" sz="2400"/>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5" name="Shape 1775"/>
        <p:cNvGrpSpPr/>
        <p:nvPr/>
      </p:nvGrpSpPr>
      <p:grpSpPr>
        <a:xfrm>
          <a:off x="0" y="0"/>
          <a:ext cx="0" cy="0"/>
          <a:chOff x="0" y="0"/>
          <a:chExt cx="0" cy="0"/>
        </a:xfrm>
      </p:grpSpPr>
      <p:sp>
        <p:nvSpPr>
          <p:cNvPr id="1776" name="Google Shape;1776;p162"/>
          <p:cNvSpPr txBox="1"/>
          <p:nvPr>
            <p:ph type="ctrTitle"/>
          </p:nvPr>
        </p:nvSpPr>
        <p:spPr>
          <a:xfrm>
            <a:off x="1219200" y="2708392"/>
            <a:ext cx="9753600" cy="144122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i="0" lang="en-US" sz="5400">
                <a:latin typeface="Calibri"/>
                <a:ea typeface="Calibri"/>
                <a:cs typeface="Calibri"/>
                <a:sym typeface="Calibri"/>
              </a:rPr>
              <a:t>Thanks!!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actus">
  <a:themeElements>
    <a:clrScheme name="Cactus 7">
      <a:dk1>
        <a:srgbClr val="000000"/>
      </a:dk1>
      <a:lt1>
        <a:srgbClr val="FFFFFF"/>
      </a:lt1>
      <a:dk2>
        <a:srgbClr val="000000"/>
      </a:dk2>
      <a:lt2>
        <a:srgbClr val="006600"/>
      </a:lt2>
      <a:accent1>
        <a:srgbClr val="F5EBC1"/>
      </a:accent1>
      <a:accent2>
        <a:srgbClr val="FFCC00"/>
      </a:accent2>
      <a:accent3>
        <a:srgbClr val="FFFFFF"/>
      </a:accent3>
      <a:accent4>
        <a:srgbClr val="000000"/>
      </a:accent4>
      <a:accent5>
        <a:srgbClr val="F9F3DD"/>
      </a:accent5>
      <a:accent6>
        <a:srgbClr val="E7B900"/>
      </a:accent6>
      <a:hlink>
        <a:srgbClr val="0066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2001-03-23T16:50:49Z</dcterms:created>
  <dc:creator>Tamer Elnady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0x0101003B367603989772468DDC748A5503702D</vt:lpwstr>
  </property>
</Properties>
</file>